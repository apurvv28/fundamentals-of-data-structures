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661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4000" cy="3429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200" y="45720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4000" y="3429000"/>
                </a:moveTo>
                <a:lnTo>
                  <a:pt x="0" y="3429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3429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687" y="527304"/>
            <a:ext cx="8956547" cy="19659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2732" y="723900"/>
            <a:ext cx="9014460" cy="31622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16636" y="521207"/>
            <a:ext cx="9027160" cy="3365500"/>
          </a:xfrm>
          <a:custGeom>
            <a:avLst/>
            <a:gdLst/>
            <a:ahLst/>
            <a:cxnLst/>
            <a:rect l="l" t="t" r="r" b="b"/>
            <a:pathLst>
              <a:path w="9027160" h="3365500">
                <a:moveTo>
                  <a:pt x="13715" y="3364992"/>
                </a:moveTo>
                <a:lnTo>
                  <a:pt x="0" y="3364992"/>
                </a:lnTo>
                <a:lnTo>
                  <a:pt x="0" y="318516"/>
                </a:lnTo>
                <a:lnTo>
                  <a:pt x="7619" y="268223"/>
                </a:lnTo>
                <a:lnTo>
                  <a:pt x="21335" y="220979"/>
                </a:lnTo>
                <a:lnTo>
                  <a:pt x="25907" y="205740"/>
                </a:lnTo>
                <a:lnTo>
                  <a:pt x="33527" y="190500"/>
                </a:lnTo>
                <a:lnTo>
                  <a:pt x="41147" y="176783"/>
                </a:lnTo>
                <a:lnTo>
                  <a:pt x="48767" y="161544"/>
                </a:lnTo>
                <a:lnTo>
                  <a:pt x="57911" y="147827"/>
                </a:lnTo>
                <a:lnTo>
                  <a:pt x="67055" y="135635"/>
                </a:lnTo>
                <a:lnTo>
                  <a:pt x="77724" y="121919"/>
                </a:lnTo>
                <a:lnTo>
                  <a:pt x="86867" y="109727"/>
                </a:lnTo>
                <a:lnTo>
                  <a:pt x="99059" y="99060"/>
                </a:lnTo>
                <a:lnTo>
                  <a:pt x="109728" y="86867"/>
                </a:lnTo>
                <a:lnTo>
                  <a:pt x="121919" y="77724"/>
                </a:lnTo>
                <a:lnTo>
                  <a:pt x="135636" y="67055"/>
                </a:lnTo>
                <a:lnTo>
                  <a:pt x="147828" y="57911"/>
                </a:lnTo>
                <a:lnTo>
                  <a:pt x="161543" y="48767"/>
                </a:lnTo>
                <a:lnTo>
                  <a:pt x="176784" y="41148"/>
                </a:lnTo>
                <a:lnTo>
                  <a:pt x="190499" y="33528"/>
                </a:lnTo>
                <a:lnTo>
                  <a:pt x="205739" y="25907"/>
                </a:lnTo>
                <a:lnTo>
                  <a:pt x="220980" y="21335"/>
                </a:lnTo>
                <a:lnTo>
                  <a:pt x="236220" y="15239"/>
                </a:lnTo>
                <a:lnTo>
                  <a:pt x="252984" y="10667"/>
                </a:lnTo>
                <a:lnTo>
                  <a:pt x="268224" y="7619"/>
                </a:lnTo>
                <a:lnTo>
                  <a:pt x="301751" y="1524"/>
                </a:lnTo>
                <a:lnTo>
                  <a:pt x="318515" y="0"/>
                </a:lnTo>
                <a:lnTo>
                  <a:pt x="8706612" y="0"/>
                </a:lnTo>
                <a:lnTo>
                  <a:pt x="8724900" y="1524"/>
                </a:lnTo>
                <a:lnTo>
                  <a:pt x="8758428" y="7619"/>
                </a:lnTo>
                <a:lnTo>
                  <a:pt x="8773668" y="10667"/>
                </a:lnTo>
                <a:lnTo>
                  <a:pt x="8779256" y="12191"/>
                </a:lnTo>
                <a:lnTo>
                  <a:pt x="336803" y="12191"/>
                </a:lnTo>
                <a:lnTo>
                  <a:pt x="288036" y="16763"/>
                </a:lnTo>
                <a:lnTo>
                  <a:pt x="225551" y="32004"/>
                </a:lnTo>
                <a:lnTo>
                  <a:pt x="169163" y="59435"/>
                </a:lnTo>
                <a:lnTo>
                  <a:pt x="118871" y="96012"/>
                </a:lnTo>
                <a:lnTo>
                  <a:pt x="108203" y="108204"/>
                </a:lnTo>
                <a:lnTo>
                  <a:pt x="97536" y="118871"/>
                </a:lnTo>
                <a:lnTo>
                  <a:pt x="68579" y="155448"/>
                </a:lnTo>
                <a:lnTo>
                  <a:pt x="45719" y="196596"/>
                </a:lnTo>
                <a:lnTo>
                  <a:pt x="38100" y="210312"/>
                </a:lnTo>
                <a:lnTo>
                  <a:pt x="22859" y="256031"/>
                </a:lnTo>
                <a:lnTo>
                  <a:pt x="13715" y="320040"/>
                </a:lnTo>
                <a:lnTo>
                  <a:pt x="13715" y="3364992"/>
                </a:lnTo>
                <a:close/>
              </a:path>
              <a:path w="9027160" h="3365500">
                <a:moveTo>
                  <a:pt x="9026652" y="3364992"/>
                </a:moveTo>
                <a:lnTo>
                  <a:pt x="9012936" y="3364992"/>
                </a:lnTo>
                <a:lnTo>
                  <a:pt x="9012936" y="320040"/>
                </a:lnTo>
                <a:lnTo>
                  <a:pt x="9009888" y="286512"/>
                </a:lnTo>
                <a:lnTo>
                  <a:pt x="8994648" y="225552"/>
                </a:lnTo>
                <a:lnTo>
                  <a:pt x="8967216" y="169164"/>
                </a:lnTo>
                <a:lnTo>
                  <a:pt x="8939784" y="131064"/>
                </a:lnTo>
                <a:lnTo>
                  <a:pt x="8907780" y="97535"/>
                </a:lnTo>
                <a:lnTo>
                  <a:pt x="8871204" y="68579"/>
                </a:lnTo>
                <a:lnTo>
                  <a:pt x="8830056" y="44196"/>
                </a:lnTo>
                <a:lnTo>
                  <a:pt x="8770620" y="22859"/>
                </a:lnTo>
                <a:lnTo>
                  <a:pt x="8689848" y="12191"/>
                </a:lnTo>
                <a:lnTo>
                  <a:pt x="8779256" y="12191"/>
                </a:lnTo>
                <a:lnTo>
                  <a:pt x="8820912" y="25907"/>
                </a:lnTo>
                <a:lnTo>
                  <a:pt x="8863584" y="48767"/>
                </a:lnTo>
                <a:lnTo>
                  <a:pt x="8903208" y="76200"/>
                </a:lnTo>
                <a:lnTo>
                  <a:pt x="8938260" y="109727"/>
                </a:lnTo>
                <a:lnTo>
                  <a:pt x="8968740" y="147827"/>
                </a:lnTo>
                <a:lnTo>
                  <a:pt x="8993124" y="190500"/>
                </a:lnTo>
                <a:lnTo>
                  <a:pt x="9011412" y="236219"/>
                </a:lnTo>
                <a:lnTo>
                  <a:pt x="9025128" y="301752"/>
                </a:lnTo>
                <a:lnTo>
                  <a:pt x="9025255" y="320040"/>
                </a:lnTo>
                <a:lnTo>
                  <a:pt x="9026652" y="336804"/>
                </a:lnTo>
                <a:lnTo>
                  <a:pt x="9026652" y="3364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21208" y="1854708"/>
            <a:ext cx="9020810" cy="120650"/>
          </a:xfrm>
          <a:custGeom>
            <a:avLst/>
            <a:gdLst/>
            <a:ahLst/>
            <a:cxnLst/>
            <a:rect l="l" t="t" r="r" b="b"/>
            <a:pathLst>
              <a:path w="9020810" h="120650">
                <a:moveTo>
                  <a:pt x="9020556" y="120396"/>
                </a:moveTo>
                <a:lnTo>
                  <a:pt x="0" y="120396"/>
                </a:lnTo>
                <a:lnTo>
                  <a:pt x="0" y="0"/>
                </a:lnTo>
                <a:lnTo>
                  <a:pt x="9020556" y="0"/>
                </a:lnTo>
                <a:lnTo>
                  <a:pt x="9020556" y="120396"/>
                </a:lnTo>
                <a:close/>
              </a:path>
            </a:pathLst>
          </a:custGeom>
          <a:solidFill>
            <a:srgbClr val="E6B1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521208" y="3435096"/>
            <a:ext cx="9020810" cy="109855"/>
          </a:xfrm>
          <a:custGeom>
            <a:avLst/>
            <a:gdLst/>
            <a:ahLst/>
            <a:cxnLst/>
            <a:rect l="l" t="t" r="r" b="b"/>
            <a:pathLst>
              <a:path w="9020810" h="109854">
                <a:moveTo>
                  <a:pt x="9020556" y="109727"/>
                </a:moveTo>
                <a:lnTo>
                  <a:pt x="0" y="109727"/>
                </a:lnTo>
                <a:lnTo>
                  <a:pt x="0" y="0"/>
                </a:lnTo>
                <a:lnTo>
                  <a:pt x="9020556" y="0"/>
                </a:lnTo>
                <a:lnTo>
                  <a:pt x="9020556" y="109727"/>
                </a:lnTo>
                <a:close/>
              </a:path>
            </a:pathLst>
          </a:custGeom>
          <a:solidFill>
            <a:srgbClr val="9083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6381" y="1975104"/>
            <a:ext cx="9025636" cy="146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6189" y="1906061"/>
            <a:ext cx="4172585" cy="526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86225" y="1906061"/>
            <a:ext cx="3913504" cy="526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15112" y="521207"/>
            <a:ext cx="9027160" cy="3365500"/>
          </a:xfrm>
          <a:custGeom>
            <a:avLst/>
            <a:gdLst/>
            <a:ahLst/>
            <a:cxnLst/>
            <a:rect l="l" t="t" r="r" b="b"/>
            <a:pathLst>
              <a:path w="9027160" h="3365500">
                <a:moveTo>
                  <a:pt x="13715" y="3364992"/>
                </a:moveTo>
                <a:lnTo>
                  <a:pt x="0" y="3364992"/>
                </a:lnTo>
                <a:lnTo>
                  <a:pt x="0" y="336804"/>
                </a:lnTo>
                <a:lnTo>
                  <a:pt x="1524" y="320040"/>
                </a:lnTo>
                <a:lnTo>
                  <a:pt x="1524" y="301752"/>
                </a:lnTo>
                <a:lnTo>
                  <a:pt x="10667" y="252983"/>
                </a:lnTo>
                <a:lnTo>
                  <a:pt x="33527" y="190500"/>
                </a:lnTo>
                <a:lnTo>
                  <a:pt x="41148" y="176783"/>
                </a:lnTo>
                <a:lnTo>
                  <a:pt x="48767" y="161544"/>
                </a:lnTo>
                <a:lnTo>
                  <a:pt x="57911" y="147827"/>
                </a:lnTo>
                <a:lnTo>
                  <a:pt x="67055" y="135635"/>
                </a:lnTo>
                <a:lnTo>
                  <a:pt x="77724" y="123443"/>
                </a:lnTo>
                <a:lnTo>
                  <a:pt x="88391" y="109727"/>
                </a:lnTo>
                <a:lnTo>
                  <a:pt x="99060" y="99060"/>
                </a:lnTo>
                <a:lnTo>
                  <a:pt x="135635" y="67055"/>
                </a:lnTo>
                <a:lnTo>
                  <a:pt x="149352" y="57911"/>
                </a:lnTo>
                <a:lnTo>
                  <a:pt x="161544" y="48767"/>
                </a:lnTo>
                <a:lnTo>
                  <a:pt x="176783" y="41148"/>
                </a:lnTo>
                <a:lnTo>
                  <a:pt x="190500" y="33528"/>
                </a:lnTo>
                <a:lnTo>
                  <a:pt x="205739" y="25907"/>
                </a:lnTo>
                <a:lnTo>
                  <a:pt x="220979" y="21335"/>
                </a:lnTo>
                <a:lnTo>
                  <a:pt x="236219" y="15239"/>
                </a:lnTo>
                <a:lnTo>
                  <a:pt x="252983" y="10667"/>
                </a:lnTo>
                <a:lnTo>
                  <a:pt x="268223" y="7619"/>
                </a:lnTo>
                <a:lnTo>
                  <a:pt x="301752" y="1524"/>
                </a:lnTo>
                <a:lnTo>
                  <a:pt x="318515" y="0"/>
                </a:lnTo>
                <a:lnTo>
                  <a:pt x="8708136" y="0"/>
                </a:lnTo>
                <a:lnTo>
                  <a:pt x="8724900" y="1524"/>
                </a:lnTo>
                <a:lnTo>
                  <a:pt x="8758428" y="7619"/>
                </a:lnTo>
                <a:lnTo>
                  <a:pt x="8773668" y="10667"/>
                </a:lnTo>
                <a:lnTo>
                  <a:pt x="8779256" y="12191"/>
                </a:lnTo>
                <a:lnTo>
                  <a:pt x="336804" y="12191"/>
                </a:lnTo>
                <a:lnTo>
                  <a:pt x="288035" y="16763"/>
                </a:lnTo>
                <a:lnTo>
                  <a:pt x="225552" y="32004"/>
                </a:lnTo>
                <a:lnTo>
                  <a:pt x="169163" y="59435"/>
                </a:lnTo>
                <a:lnTo>
                  <a:pt x="131063" y="86867"/>
                </a:lnTo>
                <a:lnTo>
                  <a:pt x="97535" y="118871"/>
                </a:lnTo>
                <a:lnTo>
                  <a:pt x="68579" y="155448"/>
                </a:lnTo>
                <a:lnTo>
                  <a:pt x="45719" y="196596"/>
                </a:lnTo>
                <a:lnTo>
                  <a:pt x="38100" y="210312"/>
                </a:lnTo>
                <a:lnTo>
                  <a:pt x="33527" y="225552"/>
                </a:lnTo>
                <a:lnTo>
                  <a:pt x="27431" y="240792"/>
                </a:lnTo>
                <a:lnTo>
                  <a:pt x="22859" y="256031"/>
                </a:lnTo>
                <a:lnTo>
                  <a:pt x="16763" y="286512"/>
                </a:lnTo>
                <a:lnTo>
                  <a:pt x="13715" y="320040"/>
                </a:lnTo>
                <a:lnTo>
                  <a:pt x="13715" y="3364992"/>
                </a:lnTo>
                <a:close/>
              </a:path>
              <a:path w="9027160" h="3365500">
                <a:moveTo>
                  <a:pt x="9026652" y="3364992"/>
                </a:moveTo>
                <a:lnTo>
                  <a:pt x="9014460" y="3364992"/>
                </a:lnTo>
                <a:lnTo>
                  <a:pt x="9014460" y="336804"/>
                </a:lnTo>
                <a:lnTo>
                  <a:pt x="9012936" y="320040"/>
                </a:lnTo>
                <a:lnTo>
                  <a:pt x="9012936" y="303275"/>
                </a:lnTo>
                <a:lnTo>
                  <a:pt x="9009888" y="288035"/>
                </a:lnTo>
                <a:lnTo>
                  <a:pt x="9006840" y="271271"/>
                </a:lnTo>
                <a:lnTo>
                  <a:pt x="8994648" y="225552"/>
                </a:lnTo>
                <a:lnTo>
                  <a:pt x="8967216" y="169164"/>
                </a:lnTo>
                <a:lnTo>
                  <a:pt x="8958072" y="155448"/>
                </a:lnTo>
                <a:lnTo>
                  <a:pt x="8950452" y="143256"/>
                </a:lnTo>
                <a:lnTo>
                  <a:pt x="8939784" y="131064"/>
                </a:lnTo>
                <a:lnTo>
                  <a:pt x="8930640" y="118871"/>
                </a:lnTo>
                <a:lnTo>
                  <a:pt x="8918448" y="108204"/>
                </a:lnTo>
                <a:lnTo>
                  <a:pt x="8871204" y="68579"/>
                </a:lnTo>
                <a:lnTo>
                  <a:pt x="8830056" y="44196"/>
                </a:lnTo>
                <a:lnTo>
                  <a:pt x="8787384" y="27431"/>
                </a:lnTo>
                <a:lnTo>
                  <a:pt x="8740140" y="16763"/>
                </a:lnTo>
                <a:lnTo>
                  <a:pt x="8689848" y="12191"/>
                </a:lnTo>
                <a:lnTo>
                  <a:pt x="8779256" y="12191"/>
                </a:lnTo>
                <a:lnTo>
                  <a:pt x="8820912" y="25907"/>
                </a:lnTo>
                <a:lnTo>
                  <a:pt x="8849868" y="41148"/>
                </a:lnTo>
                <a:lnTo>
                  <a:pt x="8865108" y="48767"/>
                </a:lnTo>
                <a:lnTo>
                  <a:pt x="8878824" y="57911"/>
                </a:lnTo>
                <a:lnTo>
                  <a:pt x="8891016" y="67055"/>
                </a:lnTo>
                <a:lnTo>
                  <a:pt x="8904732" y="76200"/>
                </a:lnTo>
                <a:lnTo>
                  <a:pt x="8916924" y="86867"/>
                </a:lnTo>
                <a:lnTo>
                  <a:pt x="8927592" y="99060"/>
                </a:lnTo>
                <a:lnTo>
                  <a:pt x="8939784" y="109727"/>
                </a:lnTo>
                <a:lnTo>
                  <a:pt x="8948928" y="121919"/>
                </a:lnTo>
                <a:lnTo>
                  <a:pt x="8959596" y="135635"/>
                </a:lnTo>
                <a:lnTo>
                  <a:pt x="8968740" y="147827"/>
                </a:lnTo>
                <a:lnTo>
                  <a:pt x="8977884" y="161544"/>
                </a:lnTo>
                <a:lnTo>
                  <a:pt x="8985504" y="176783"/>
                </a:lnTo>
                <a:lnTo>
                  <a:pt x="8993124" y="190500"/>
                </a:lnTo>
                <a:lnTo>
                  <a:pt x="9011412" y="236219"/>
                </a:lnTo>
                <a:lnTo>
                  <a:pt x="9025128" y="301752"/>
                </a:lnTo>
                <a:lnTo>
                  <a:pt x="9026652" y="318516"/>
                </a:lnTo>
                <a:lnTo>
                  <a:pt x="9026652" y="33649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0307" y="535927"/>
            <a:ext cx="7564120" cy="12462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696464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0320" y="1867860"/>
            <a:ext cx="7614920" cy="4493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0369" y="6785564"/>
            <a:ext cx="297604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enjoyalgorithms.com/blog/steps-of-problem-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3429000"/>
            <a:chOff x="457200" y="457200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3429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527304"/>
              <a:ext cx="8956547" cy="1965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732" y="723900"/>
              <a:ext cx="9014460" cy="3162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6636" y="521207"/>
              <a:ext cx="9027160" cy="3365500"/>
            </a:xfrm>
            <a:custGeom>
              <a:avLst/>
              <a:gdLst/>
              <a:ahLst/>
              <a:cxnLst/>
              <a:rect l="l" t="t" r="r" b="b"/>
              <a:pathLst>
                <a:path w="9027160" h="3365500">
                  <a:moveTo>
                    <a:pt x="13715" y="3364992"/>
                  </a:moveTo>
                  <a:lnTo>
                    <a:pt x="0" y="3364992"/>
                  </a:lnTo>
                  <a:lnTo>
                    <a:pt x="0" y="318516"/>
                  </a:lnTo>
                  <a:lnTo>
                    <a:pt x="7619" y="268223"/>
                  </a:lnTo>
                  <a:lnTo>
                    <a:pt x="21335" y="220979"/>
                  </a:lnTo>
                  <a:lnTo>
                    <a:pt x="25907" y="205740"/>
                  </a:lnTo>
                  <a:lnTo>
                    <a:pt x="33527" y="190500"/>
                  </a:lnTo>
                  <a:lnTo>
                    <a:pt x="41147" y="176783"/>
                  </a:lnTo>
                  <a:lnTo>
                    <a:pt x="48767" y="161544"/>
                  </a:lnTo>
                  <a:lnTo>
                    <a:pt x="57911" y="147827"/>
                  </a:lnTo>
                  <a:lnTo>
                    <a:pt x="67055" y="135635"/>
                  </a:lnTo>
                  <a:lnTo>
                    <a:pt x="77724" y="121919"/>
                  </a:lnTo>
                  <a:lnTo>
                    <a:pt x="86867" y="109727"/>
                  </a:lnTo>
                  <a:lnTo>
                    <a:pt x="99059" y="99060"/>
                  </a:lnTo>
                  <a:lnTo>
                    <a:pt x="109728" y="86867"/>
                  </a:lnTo>
                  <a:lnTo>
                    <a:pt x="121919" y="77724"/>
                  </a:lnTo>
                  <a:lnTo>
                    <a:pt x="135636" y="67055"/>
                  </a:lnTo>
                  <a:lnTo>
                    <a:pt x="147828" y="57911"/>
                  </a:lnTo>
                  <a:lnTo>
                    <a:pt x="161543" y="48767"/>
                  </a:lnTo>
                  <a:lnTo>
                    <a:pt x="176784" y="41148"/>
                  </a:lnTo>
                  <a:lnTo>
                    <a:pt x="190499" y="33528"/>
                  </a:lnTo>
                  <a:lnTo>
                    <a:pt x="205739" y="25907"/>
                  </a:lnTo>
                  <a:lnTo>
                    <a:pt x="220980" y="21335"/>
                  </a:lnTo>
                  <a:lnTo>
                    <a:pt x="236220" y="15239"/>
                  </a:lnTo>
                  <a:lnTo>
                    <a:pt x="252984" y="10667"/>
                  </a:lnTo>
                  <a:lnTo>
                    <a:pt x="268224" y="7619"/>
                  </a:lnTo>
                  <a:lnTo>
                    <a:pt x="301751" y="1524"/>
                  </a:lnTo>
                  <a:lnTo>
                    <a:pt x="318515" y="0"/>
                  </a:lnTo>
                  <a:lnTo>
                    <a:pt x="8706612" y="0"/>
                  </a:lnTo>
                  <a:lnTo>
                    <a:pt x="8724900" y="1524"/>
                  </a:lnTo>
                  <a:lnTo>
                    <a:pt x="8758428" y="7619"/>
                  </a:lnTo>
                  <a:lnTo>
                    <a:pt x="8773668" y="10667"/>
                  </a:lnTo>
                  <a:lnTo>
                    <a:pt x="8779256" y="12191"/>
                  </a:lnTo>
                  <a:lnTo>
                    <a:pt x="336803" y="12191"/>
                  </a:lnTo>
                  <a:lnTo>
                    <a:pt x="288036" y="16763"/>
                  </a:lnTo>
                  <a:lnTo>
                    <a:pt x="225551" y="32004"/>
                  </a:lnTo>
                  <a:lnTo>
                    <a:pt x="169163" y="59435"/>
                  </a:lnTo>
                  <a:lnTo>
                    <a:pt x="118871" y="96012"/>
                  </a:lnTo>
                  <a:lnTo>
                    <a:pt x="108203" y="108204"/>
                  </a:lnTo>
                  <a:lnTo>
                    <a:pt x="97536" y="118871"/>
                  </a:lnTo>
                  <a:lnTo>
                    <a:pt x="68579" y="155448"/>
                  </a:lnTo>
                  <a:lnTo>
                    <a:pt x="45719" y="196596"/>
                  </a:lnTo>
                  <a:lnTo>
                    <a:pt x="38100" y="210312"/>
                  </a:lnTo>
                  <a:lnTo>
                    <a:pt x="22859" y="256031"/>
                  </a:lnTo>
                  <a:lnTo>
                    <a:pt x="13715" y="320040"/>
                  </a:lnTo>
                  <a:lnTo>
                    <a:pt x="13715" y="3364992"/>
                  </a:lnTo>
                  <a:close/>
                </a:path>
                <a:path w="9027160" h="3365500">
                  <a:moveTo>
                    <a:pt x="9026652" y="3364992"/>
                  </a:moveTo>
                  <a:lnTo>
                    <a:pt x="9012936" y="3364992"/>
                  </a:lnTo>
                  <a:lnTo>
                    <a:pt x="9012936" y="320040"/>
                  </a:lnTo>
                  <a:lnTo>
                    <a:pt x="9009888" y="286512"/>
                  </a:lnTo>
                  <a:lnTo>
                    <a:pt x="8994648" y="225552"/>
                  </a:lnTo>
                  <a:lnTo>
                    <a:pt x="8967216" y="169164"/>
                  </a:lnTo>
                  <a:lnTo>
                    <a:pt x="8939784" y="131064"/>
                  </a:lnTo>
                  <a:lnTo>
                    <a:pt x="8907780" y="97535"/>
                  </a:lnTo>
                  <a:lnTo>
                    <a:pt x="8871204" y="68579"/>
                  </a:lnTo>
                  <a:lnTo>
                    <a:pt x="8830056" y="44196"/>
                  </a:lnTo>
                  <a:lnTo>
                    <a:pt x="8770620" y="22859"/>
                  </a:lnTo>
                  <a:lnTo>
                    <a:pt x="8689848" y="12191"/>
                  </a:lnTo>
                  <a:lnTo>
                    <a:pt x="8779256" y="12191"/>
                  </a:lnTo>
                  <a:lnTo>
                    <a:pt x="8820912" y="25907"/>
                  </a:lnTo>
                  <a:lnTo>
                    <a:pt x="8863584" y="48767"/>
                  </a:lnTo>
                  <a:lnTo>
                    <a:pt x="8903208" y="76200"/>
                  </a:lnTo>
                  <a:lnTo>
                    <a:pt x="8938260" y="109727"/>
                  </a:lnTo>
                  <a:lnTo>
                    <a:pt x="8968740" y="147827"/>
                  </a:lnTo>
                  <a:lnTo>
                    <a:pt x="8993124" y="190500"/>
                  </a:lnTo>
                  <a:lnTo>
                    <a:pt x="9011412" y="236219"/>
                  </a:lnTo>
                  <a:lnTo>
                    <a:pt x="9025128" y="301752"/>
                  </a:lnTo>
                  <a:lnTo>
                    <a:pt x="9025255" y="320040"/>
                  </a:lnTo>
                  <a:lnTo>
                    <a:pt x="9026652" y="336804"/>
                  </a:lnTo>
                  <a:lnTo>
                    <a:pt x="9026652" y="3364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1208" y="1854708"/>
              <a:ext cx="9020810" cy="120650"/>
            </a:xfrm>
            <a:custGeom>
              <a:avLst/>
              <a:gdLst/>
              <a:ahLst/>
              <a:cxnLst/>
              <a:rect l="l" t="t" r="r" b="b"/>
              <a:pathLst>
                <a:path w="9020810" h="120650">
                  <a:moveTo>
                    <a:pt x="9020556" y="120396"/>
                  </a:moveTo>
                  <a:lnTo>
                    <a:pt x="0" y="120396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20396"/>
                  </a:lnTo>
                  <a:close/>
                </a:path>
              </a:pathLst>
            </a:custGeom>
            <a:solidFill>
              <a:srgbClr val="E6B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208" y="3435096"/>
              <a:ext cx="9020810" cy="109855"/>
            </a:xfrm>
            <a:custGeom>
              <a:avLst/>
              <a:gdLst/>
              <a:ahLst/>
              <a:cxnLst/>
              <a:rect l="l" t="t" r="r" b="b"/>
              <a:pathLst>
                <a:path w="9020810" h="109854">
                  <a:moveTo>
                    <a:pt x="9020556" y="109727"/>
                  </a:moveTo>
                  <a:lnTo>
                    <a:pt x="0" y="109727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09727"/>
                  </a:lnTo>
                  <a:close/>
                </a:path>
              </a:pathLst>
            </a:custGeom>
            <a:solidFill>
              <a:srgbClr val="908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1208" y="1975104"/>
            <a:ext cx="9020810" cy="1306127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74295" rIns="0" bIns="0" rtlCol="0">
            <a:spAutoFit/>
          </a:bodyPr>
          <a:lstStyle/>
          <a:p>
            <a:pPr marL="1628775" marR="785495" indent="-841375">
              <a:lnSpc>
                <a:spcPct val="100000"/>
              </a:lnSpc>
              <a:spcBef>
                <a:spcPts val="585"/>
              </a:spcBef>
            </a:pPr>
            <a:r>
              <a:rPr dirty="0">
                <a:solidFill>
                  <a:srgbClr val="FFFFFF"/>
                </a:solidFill>
              </a:rPr>
              <a:t>Unit</a:t>
            </a:r>
            <a:r>
              <a:rPr spc="-16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</a:t>
            </a:r>
            <a:r>
              <a:rPr spc="-100" dirty="0">
                <a:solidFill>
                  <a:srgbClr val="FFFFFF"/>
                </a:solidFill>
              </a:rPr>
              <a:t> </a:t>
            </a:r>
            <a:r>
              <a:rPr spc="-30" dirty="0">
                <a:solidFill>
                  <a:srgbClr val="FFFFFF"/>
                </a:solidFill>
              </a:rPr>
              <a:t>Introduction</a:t>
            </a:r>
            <a:r>
              <a:rPr spc="-1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spc="-165" dirty="0">
                <a:solidFill>
                  <a:srgbClr val="FFFFFF"/>
                </a:solidFill>
              </a:rPr>
              <a:t> </a:t>
            </a:r>
            <a:r>
              <a:rPr spc="-85" dirty="0">
                <a:solidFill>
                  <a:srgbClr val="FFFFFF"/>
                </a:solidFill>
              </a:rPr>
              <a:t>Algorithm</a:t>
            </a:r>
            <a:r>
              <a:rPr spc="-145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and </a:t>
            </a:r>
            <a:r>
              <a:rPr spc="-10" dirty="0">
                <a:solidFill>
                  <a:srgbClr val="FFFFFF"/>
                </a:solidFill>
              </a:rPr>
              <a:t>Data</a:t>
            </a:r>
            <a:r>
              <a:rPr spc="-229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Structures</a:t>
            </a:r>
            <a:r>
              <a:rPr spc="-2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(0</a:t>
            </a:r>
            <a:r>
              <a:rPr lang="en-IN" spc="-10" dirty="0">
                <a:solidFill>
                  <a:srgbClr val="FFFFFF"/>
                </a:solidFill>
              </a:rPr>
              <a:t>5</a:t>
            </a:r>
            <a:r>
              <a:rPr spc="-22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Hours)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6092" y="6770676"/>
            <a:ext cx="130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80911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Syllabus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6092" y="6770676"/>
            <a:ext cx="1301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380" y="1901417"/>
            <a:ext cx="7626984" cy="437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620" indent="-274320" algn="just">
              <a:lnSpc>
                <a:spcPct val="100000"/>
              </a:lnSpc>
              <a:spcBef>
                <a:spcPts val="105"/>
              </a:spcBef>
              <a:buSzPct val="85000"/>
              <a:buFont typeface="Webdings"/>
              <a:buChar char="●"/>
              <a:tabLst>
                <a:tab pos="286385" algn="l"/>
                <a:tab pos="405765" algn="l"/>
              </a:tabLst>
            </a:pPr>
            <a:r>
              <a:rPr sz="20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000" b="1" dirty="0">
                <a:latin typeface="Perpetua"/>
                <a:cs typeface="Perpetua"/>
              </a:rPr>
              <a:t>Introduction:</a:t>
            </a:r>
            <a:r>
              <a:rPr sz="2000" b="1" spc="42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From</a:t>
            </a:r>
            <a:r>
              <a:rPr sz="2000" b="1" spc="2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Problem</a:t>
            </a:r>
            <a:r>
              <a:rPr sz="2000" b="1" spc="49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to</a:t>
            </a:r>
            <a:r>
              <a:rPr sz="2000" b="1" spc="3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Data</a:t>
            </a:r>
            <a:r>
              <a:rPr sz="2000" b="1" spc="2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Structure</a:t>
            </a:r>
            <a:r>
              <a:rPr sz="2000" b="1" spc="3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(Problem,</a:t>
            </a:r>
            <a:r>
              <a:rPr sz="2000" b="1" spc="425" dirty="0">
                <a:latin typeface="Perpetua"/>
                <a:cs typeface="Perpetua"/>
              </a:rPr>
              <a:t> </a:t>
            </a:r>
            <a:r>
              <a:rPr sz="2000" b="1" spc="-105" dirty="0">
                <a:latin typeface="Perpetua"/>
                <a:cs typeface="Perpetua"/>
              </a:rPr>
              <a:t>Logic, </a:t>
            </a:r>
            <a:r>
              <a:rPr sz="2000" b="1" spc="-10" dirty="0">
                <a:latin typeface="Perpetua"/>
                <a:cs typeface="Perpetua"/>
              </a:rPr>
              <a:t>Algorithm,</a:t>
            </a:r>
            <a:r>
              <a:rPr sz="2000" b="1" spc="-10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1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Data </a:t>
            </a:r>
            <a:r>
              <a:rPr sz="2000" b="1" spc="-10" dirty="0">
                <a:latin typeface="Perpetua"/>
                <a:cs typeface="Perpetua"/>
              </a:rPr>
              <a:t>Structure).</a:t>
            </a:r>
            <a:endParaRPr sz="20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95"/>
              </a:spcBef>
              <a:buSzPct val="85000"/>
              <a:buFont typeface="Webdings"/>
              <a:buChar char="●"/>
              <a:tabLst>
                <a:tab pos="286385" algn="l"/>
                <a:tab pos="405765" algn="l"/>
              </a:tabLst>
            </a:pPr>
            <a:r>
              <a:rPr sz="20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000" b="1" dirty="0">
                <a:latin typeface="Perpetua"/>
                <a:cs typeface="Perpetua"/>
              </a:rPr>
              <a:t>Data</a:t>
            </a:r>
            <a:r>
              <a:rPr sz="2000" b="1" spc="3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Structures:</a:t>
            </a:r>
            <a:r>
              <a:rPr sz="2000" b="1" spc="-4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Data,</a:t>
            </a:r>
            <a:r>
              <a:rPr sz="2000" b="1" spc="-4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Information,</a:t>
            </a:r>
            <a:r>
              <a:rPr sz="2000" b="1" spc="-45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Knowledge,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2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Data</a:t>
            </a:r>
            <a:r>
              <a:rPr sz="2000" b="1" spc="30" dirty="0">
                <a:latin typeface="Perpetua"/>
                <a:cs typeface="Perpetua"/>
              </a:rPr>
              <a:t> </a:t>
            </a:r>
            <a:r>
              <a:rPr sz="2000" b="1" spc="-65" dirty="0">
                <a:latin typeface="Perpetua"/>
                <a:cs typeface="Perpetua"/>
              </a:rPr>
              <a:t>structure, </a:t>
            </a:r>
            <a:r>
              <a:rPr sz="2000" b="1" dirty="0">
                <a:latin typeface="Perpetua"/>
                <a:cs typeface="Perpetua"/>
              </a:rPr>
              <a:t>Abstract</a:t>
            </a:r>
            <a:r>
              <a:rPr sz="2000" b="1" spc="-45" dirty="0">
                <a:latin typeface="Perpetua"/>
                <a:cs typeface="Perpetua"/>
              </a:rPr>
              <a:t> </a:t>
            </a:r>
            <a:r>
              <a:rPr sz="2000" b="1" spc="-20" dirty="0">
                <a:latin typeface="Perpetua"/>
                <a:cs typeface="Perpetua"/>
              </a:rPr>
              <a:t>Data</a:t>
            </a:r>
            <a:r>
              <a:rPr sz="2000" b="1" spc="-229" dirty="0">
                <a:latin typeface="Perpetua"/>
                <a:cs typeface="Perpetua"/>
              </a:rPr>
              <a:t> </a:t>
            </a:r>
            <a:r>
              <a:rPr sz="2000" b="1" spc="-55" dirty="0">
                <a:latin typeface="Perpetua"/>
                <a:cs typeface="Perpetua"/>
              </a:rPr>
              <a:t>Types</a:t>
            </a:r>
            <a:r>
              <a:rPr sz="2000" b="1" spc="-35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(ADT),</a:t>
            </a:r>
            <a:endParaRPr sz="2000">
              <a:latin typeface="Perpetua"/>
              <a:cs typeface="Perpetua"/>
            </a:endParaRPr>
          </a:p>
          <a:p>
            <a:pPr marL="286385" marR="16510" indent="-274320" algn="just">
              <a:lnSpc>
                <a:spcPct val="100000"/>
              </a:lnSpc>
              <a:spcBef>
                <a:spcPts val="605"/>
              </a:spcBef>
              <a:buSzPct val="85000"/>
              <a:buFont typeface="Webdings"/>
              <a:buChar char="●"/>
              <a:tabLst>
                <a:tab pos="286385" algn="l"/>
                <a:tab pos="405765" algn="l"/>
              </a:tabLst>
            </a:pPr>
            <a:r>
              <a:rPr sz="20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000" b="1" dirty="0">
                <a:latin typeface="Perpetua"/>
                <a:cs typeface="Perpetua"/>
              </a:rPr>
              <a:t>Data</a:t>
            </a:r>
            <a:r>
              <a:rPr sz="2000" b="1" spc="5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Structure</a:t>
            </a:r>
            <a:r>
              <a:rPr sz="2000" b="1" spc="5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Classification</a:t>
            </a:r>
            <a:r>
              <a:rPr sz="2000" b="1" spc="6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(Linear</a:t>
            </a:r>
            <a:r>
              <a:rPr sz="2000" b="1" spc="5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50" dirty="0">
                <a:latin typeface="Perpetua"/>
                <a:cs typeface="Perpetua"/>
              </a:rPr>
              <a:t>  </a:t>
            </a:r>
            <a:r>
              <a:rPr sz="2000" b="1" spc="-10" dirty="0">
                <a:latin typeface="Perpetua"/>
                <a:cs typeface="Perpetua"/>
              </a:rPr>
              <a:t>Non-</a:t>
            </a:r>
            <a:r>
              <a:rPr sz="2000" b="1" dirty="0">
                <a:latin typeface="Perpetua"/>
                <a:cs typeface="Perpetua"/>
              </a:rPr>
              <a:t>linear,</a:t>
            </a:r>
            <a:r>
              <a:rPr sz="2000" b="1" spc="47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Static</a:t>
            </a:r>
            <a:r>
              <a:rPr sz="2000" b="1" spc="55" dirty="0">
                <a:latin typeface="Perpetua"/>
                <a:cs typeface="Perpetua"/>
              </a:rPr>
              <a:t>  </a:t>
            </a:r>
            <a:r>
              <a:rPr sz="2000" b="1" spc="-315" dirty="0">
                <a:latin typeface="Perpetua"/>
                <a:cs typeface="Perpetua"/>
              </a:rPr>
              <a:t>and</a:t>
            </a:r>
            <a:r>
              <a:rPr sz="2000" b="1" dirty="0">
                <a:latin typeface="Perpetua"/>
                <a:cs typeface="Perpetua"/>
              </a:rPr>
              <a:t> Dynamic,</a:t>
            </a:r>
            <a:r>
              <a:rPr sz="2000" b="1" spc="-114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Persistent</a:t>
            </a:r>
            <a:r>
              <a:rPr sz="2000" b="1" spc="-6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Ephemeral</a:t>
            </a:r>
            <a:r>
              <a:rPr sz="2000" b="1" spc="-4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data</a:t>
            </a:r>
            <a:r>
              <a:rPr sz="2000" b="1" spc="-35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structures)</a:t>
            </a:r>
            <a:endParaRPr sz="20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5000"/>
              <a:buFont typeface="Webdings"/>
              <a:buChar char="●"/>
              <a:tabLst>
                <a:tab pos="286385" algn="l"/>
                <a:tab pos="405765" algn="l"/>
              </a:tabLst>
            </a:pPr>
            <a:r>
              <a:rPr sz="20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000" b="1" dirty="0">
                <a:latin typeface="Perpetua"/>
                <a:cs typeface="Perpetua"/>
              </a:rPr>
              <a:t>Algorithms:</a:t>
            </a:r>
            <a:r>
              <a:rPr sz="2000" b="1" spc="290" dirty="0">
                <a:latin typeface="Perpetua"/>
                <a:cs typeface="Perpetua"/>
              </a:rPr>
              <a:t>   </a:t>
            </a:r>
            <a:r>
              <a:rPr sz="2000" b="1" dirty="0">
                <a:latin typeface="Perpetua"/>
                <a:cs typeface="Perpetua"/>
              </a:rPr>
              <a:t>Problem</a:t>
            </a:r>
            <a:r>
              <a:rPr sz="2000" b="1" spc="310" dirty="0">
                <a:latin typeface="Perpetua"/>
                <a:cs typeface="Perpetua"/>
              </a:rPr>
              <a:t>   </a:t>
            </a:r>
            <a:r>
              <a:rPr sz="2000" b="1" dirty="0">
                <a:latin typeface="Perpetua"/>
                <a:cs typeface="Perpetua"/>
              </a:rPr>
              <a:t>Solving,</a:t>
            </a:r>
            <a:r>
              <a:rPr sz="2000" b="1" spc="290" dirty="0">
                <a:latin typeface="Perpetua"/>
                <a:cs typeface="Perpetua"/>
              </a:rPr>
              <a:t>   </a:t>
            </a:r>
            <a:r>
              <a:rPr sz="2000" b="1" dirty="0">
                <a:latin typeface="Perpetua"/>
                <a:cs typeface="Perpetua"/>
              </a:rPr>
              <a:t>Introduction</a:t>
            </a:r>
            <a:r>
              <a:rPr sz="2000" b="1" spc="315" dirty="0">
                <a:latin typeface="Perpetua"/>
                <a:cs typeface="Perpetua"/>
              </a:rPr>
              <a:t>   </a:t>
            </a:r>
            <a:r>
              <a:rPr sz="2000" b="1" dirty="0">
                <a:latin typeface="Perpetua"/>
                <a:cs typeface="Perpetua"/>
              </a:rPr>
              <a:t>to</a:t>
            </a:r>
            <a:r>
              <a:rPr sz="2000" b="1" spc="320" dirty="0">
                <a:latin typeface="Perpetua"/>
                <a:cs typeface="Perpetua"/>
              </a:rPr>
              <a:t>   </a:t>
            </a:r>
            <a:r>
              <a:rPr sz="2000" b="1" spc="-75" dirty="0">
                <a:latin typeface="Perpetua"/>
                <a:cs typeface="Perpetua"/>
              </a:rPr>
              <a:t>algorithm, </a:t>
            </a:r>
            <a:r>
              <a:rPr sz="2000" b="1" dirty="0">
                <a:latin typeface="Perpetua"/>
                <a:cs typeface="Perpetua"/>
              </a:rPr>
              <a:t>Characteristics</a:t>
            </a:r>
            <a:r>
              <a:rPr sz="2000" b="1" spc="24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of</a:t>
            </a:r>
            <a:r>
              <a:rPr sz="2000" b="1" spc="23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algorithm,</a:t>
            </a:r>
            <a:r>
              <a:rPr sz="2000" b="1" spc="16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Algorithm</a:t>
            </a:r>
            <a:r>
              <a:rPr sz="2000" b="1" spc="254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design</a:t>
            </a:r>
            <a:r>
              <a:rPr sz="2000" b="1" spc="254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tools:</a:t>
            </a:r>
            <a:r>
              <a:rPr sz="2000" b="1" spc="160" dirty="0">
                <a:latin typeface="Perpetua"/>
                <a:cs typeface="Perpetua"/>
              </a:rPr>
              <a:t> </a:t>
            </a:r>
            <a:r>
              <a:rPr sz="2000" b="1" spc="-20" dirty="0">
                <a:latin typeface="Perpetua"/>
                <a:cs typeface="Perpetua"/>
              </a:rPr>
              <a:t>Pseudo-code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flowchart</a:t>
            </a:r>
            <a:endParaRPr sz="20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595"/>
              </a:spcBef>
              <a:buSzPct val="85000"/>
              <a:buFont typeface="Webdings"/>
              <a:buChar char="●"/>
              <a:tabLst>
                <a:tab pos="286385" algn="l"/>
                <a:tab pos="405765" algn="l"/>
              </a:tabLst>
            </a:pPr>
            <a:r>
              <a:rPr sz="20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000" b="1" dirty="0">
                <a:latin typeface="Perpetua"/>
                <a:cs typeface="Perpetua"/>
              </a:rPr>
              <a:t>Complexity</a:t>
            </a:r>
            <a:r>
              <a:rPr sz="2000" b="1" spc="175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of</a:t>
            </a:r>
            <a:r>
              <a:rPr sz="2000" b="1" spc="19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algorithm:</a:t>
            </a:r>
            <a:r>
              <a:rPr sz="2000" b="1" spc="14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Space</a:t>
            </a:r>
            <a:r>
              <a:rPr sz="2000" b="1" spc="18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complexity,</a:t>
            </a:r>
            <a:r>
              <a:rPr sz="2000" b="1" spc="14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Time</a:t>
            </a:r>
            <a:r>
              <a:rPr sz="2000" b="1" spc="180" dirty="0">
                <a:latin typeface="Perpetua"/>
                <a:cs typeface="Perpetua"/>
              </a:rPr>
              <a:t>  </a:t>
            </a:r>
            <a:r>
              <a:rPr sz="2000" b="1" spc="-85" dirty="0">
                <a:latin typeface="Perpetua"/>
                <a:cs typeface="Perpetua"/>
              </a:rPr>
              <a:t>complexity, </a:t>
            </a:r>
            <a:r>
              <a:rPr sz="2000" b="1" dirty="0">
                <a:latin typeface="Perpetua"/>
                <a:cs typeface="Perpetua"/>
              </a:rPr>
              <a:t>Asymptotic</a:t>
            </a:r>
            <a:r>
              <a:rPr sz="2000" b="1" spc="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notation-</a:t>
            </a:r>
            <a:r>
              <a:rPr sz="2000" b="1" spc="3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Big-</a:t>
            </a:r>
            <a:r>
              <a:rPr sz="2000" b="1" dirty="0">
                <a:latin typeface="Perpetua"/>
                <a:cs typeface="Perpetua"/>
              </a:rPr>
              <a:t>O,</a:t>
            </a:r>
            <a:r>
              <a:rPr sz="2000" b="1" spc="-3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Theta</a:t>
            </a:r>
            <a:r>
              <a:rPr sz="2000" b="1" spc="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5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Omega,</a:t>
            </a:r>
            <a:r>
              <a:rPr sz="2000" b="1" spc="-3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Finding</a:t>
            </a:r>
            <a:r>
              <a:rPr sz="2000" b="1" spc="4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complexity </a:t>
            </a:r>
            <a:r>
              <a:rPr sz="2000" b="1" dirty="0">
                <a:latin typeface="Perpetua"/>
                <a:cs typeface="Perpetua"/>
              </a:rPr>
              <a:t>using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step</a:t>
            </a:r>
            <a:r>
              <a:rPr sz="2000" b="1" spc="-2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count</a:t>
            </a:r>
            <a:r>
              <a:rPr sz="2000" b="1" spc="-5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method,</a:t>
            </a:r>
            <a:endParaRPr sz="2000">
              <a:latin typeface="Perpetua"/>
              <a:cs typeface="Perpetua"/>
            </a:endParaRPr>
          </a:p>
          <a:p>
            <a:pPr marL="406400" indent="-393700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5000"/>
              <a:buFont typeface="Webdings"/>
              <a:buChar char="●"/>
              <a:tabLst>
                <a:tab pos="406400" algn="l"/>
              </a:tabLst>
            </a:pPr>
            <a:r>
              <a:rPr sz="2000" b="1" dirty="0">
                <a:latin typeface="Perpetua"/>
                <a:cs typeface="Perpetua"/>
              </a:rPr>
              <a:t>Analysis</a:t>
            </a:r>
            <a:r>
              <a:rPr sz="2000" b="1" spc="25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of</a:t>
            </a:r>
            <a:r>
              <a:rPr sz="2000" b="1" spc="25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programming</a:t>
            </a:r>
            <a:r>
              <a:rPr sz="2000" b="1" spc="250" dirty="0">
                <a:latin typeface="Perpetua"/>
                <a:cs typeface="Perpetua"/>
              </a:rPr>
              <a:t>  </a:t>
            </a:r>
            <a:r>
              <a:rPr sz="2000" b="1" spc="-10" dirty="0">
                <a:latin typeface="Perpetua"/>
                <a:cs typeface="Perpetua"/>
              </a:rPr>
              <a:t>constructs-</a:t>
            </a:r>
            <a:r>
              <a:rPr sz="2000" b="1" dirty="0">
                <a:latin typeface="Perpetua"/>
                <a:cs typeface="Perpetua"/>
              </a:rPr>
              <a:t>Linear,</a:t>
            </a:r>
            <a:r>
              <a:rPr sz="2000" b="1" spc="210" dirty="0">
                <a:latin typeface="Perpetua"/>
                <a:cs typeface="Perpetua"/>
              </a:rPr>
              <a:t>  </a:t>
            </a:r>
            <a:r>
              <a:rPr sz="2000" b="1" dirty="0">
                <a:latin typeface="Perpetua"/>
                <a:cs typeface="Perpetua"/>
              </a:rPr>
              <a:t>Quadratic,</a:t>
            </a:r>
            <a:r>
              <a:rPr sz="2000" b="1" spc="210" dirty="0">
                <a:latin typeface="Perpetua"/>
                <a:cs typeface="Perpetua"/>
              </a:rPr>
              <a:t>  </a:t>
            </a:r>
            <a:r>
              <a:rPr sz="2000" b="1" spc="-85" dirty="0">
                <a:latin typeface="Perpetua"/>
                <a:cs typeface="Perpetua"/>
              </a:rPr>
              <a:t>Cubic,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50380" y="6169297"/>
            <a:ext cx="7615555" cy="7874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6385">
              <a:lnSpc>
                <a:spcPct val="100000"/>
              </a:lnSpc>
              <a:spcBef>
                <a:spcPts val="700"/>
              </a:spcBef>
            </a:pPr>
            <a:r>
              <a:rPr sz="2000" b="1" spc="-10" dirty="0">
                <a:latin typeface="Perpetua"/>
                <a:cs typeface="Perpetua"/>
              </a:rPr>
              <a:t>Logarithmic.</a:t>
            </a:r>
            <a:endParaRPr sz="20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595"/>
              </a:spcBef>
              <a:buClr>
                <a:srgbClr val="D34816"/>
              </a:buClr>
              <a:buSzPct val="85000"/>
              <a:buFont typeface="Webdings"/>
              <a:buChar char="●"/>
              <a:tabLst>
                <a:tab pos="286385" algn="l"/>
                <a:tab pos="1894839" algn="l"/>
                <a:tab pos="3320415" algn="l"/>
                <a:tab pos="5020310" algn="l"/>
                <a:tab pos="5534660" algn="l"/>
                <a:tab pos="6896100" algn="l"/>
              </a:tabLst>
            </a:pPr>
            <a:r>
              <a:rPr sz="2000" b="1" spc="-10" dirty="0">
                <a:latin typeface="Perpetua"/>
                <a:cs typeface="Perpetua"/>
              </a:rPr>
              <a:t>Algorithmic</a:t>
            </a:r>
            <a:r>
              <a:rPr sz="2000" b="1" dirty="0">
                <a:latin typeface="Perpetua"/>
                <a:cs typeface="Perpetua"/>
              </a:rPr>
              <a:t>	</a:t>
            </a:r>
            <a:r>
              <a:rPr sz="2000" b="1" spc="-10" dirty="0">
                <a:latin typeface="Perpetua"/>
                <a:cs typeface="Perpetua"/>
              </a:rPr>
              <a:t>Strategies-</a:t>
            </a:r>
            <a:r>
              <a:rPr sz="2000" b="1" dirty="0">
                <a:latin typeface="Perpetua"/>
                <a:cs typeface="Perpetua"/>
              </a:rPr>
              <a:t>	</a:t>
            </a:r>
            <a:r>
              <a:rPr sz="2000" b="1" spc="-10" dirty="0">
                <a:latin typeface="Perpetua"/>
                <a:cs typeface="Perpetua"/>
              </a:rPr>
              <a:t>Introduction</a:t>
            </a:r>
            <a:r>
              <a:rPr sz="2000" b="1" dirty="0">
                <a:latin typeface="Perpetua"/>
                <a:cs typeface="Perpetua"/>
              </a:rPr>
              <a:t>	</a:t>
            </a:r>
            <a:r>
              <a:rPr sz="2000" b="1" spc="-25" dirty="0">
                <a:latin typeface="Perpetua"/>
                <a:cs typeface="Perpetua"/>
              </a:rPr>
              <a:t>to</a:t>
            </a:r>
            <a:r>
              <a:rPr sz="2000" b="1" dirty="0">
                <a:latin typeface="Perpetua"/>
                <a:cs typeface="Perpetua"/>
              </a:rPr>
              <a:t>	</a:t>
            </a:r>
            <a:r>
              <a:rPr sz="2000" b="1" spc="-10" dirty="0">
                <a:latin typeface="Perpetua"/>
                <a:cs typeface="Perpetua"/>
              </a:rPr>
              <a:t>algorithm</a:t>
            </a:r>
            <a:r>
              <a:rPr sz="2000" b="1" dirty="0">
                <a:latin typeface="Perpetua"/>
                <a:cs typeface="Perpetua"/>
              </a:rPr>
              <a:t>	</a:t>
            </a:r>
            <a:r>
              <a:rPr sz="2000" b="1" spc="-10" dirty="0">
                <a:latin typeface="Perpetua"/>
                <a:cs typeface="Perpetua"/>
              </a:rPr>
              <a:t>design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4616" y="6930599"/>
            <a:ext cx="5685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Perpetua"/>
                <a:cs typeface="Perpetua"/>
              </a:rPr>
              <a:t>strategies-</a:t>
            </a:r>
            <a:r>
              <a:rPr sz="2000" b="1" spc="-8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Divide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-30" dirty="0">
                <a:latin typeface="Perpetua"/>
                <a:cs typeface="Perpetua"/>
              </a:rPr>
              <a:t> </a:t>
            </a:r>
            <a:r>
              <a:rPr sz="2000" b="1" spc="-25" dirty="0">
                <a:latin typeface="Perpetua"/>
                <a:cs typeface="Perpetua"/>
              </a:rPr>
              <a:t>Conquer,</a:t>
            </a:r>
            <a:r>
              <a:rPr sz="2000" b="1" spc="-11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and</a:t>
            </a:r>
            <a:r>
              <a:rPr sz="2000" b="1" spc="-30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Greedy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spc="-10" dirty="0">
                <a:latin typeface="Perpetua"/>
                <a:cs typeface="Perpetua"/>
              </a:rPr>
              <a:t>strategy.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379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4000" b="1" spc="-270" dirty="0">
                <a:solidFill>
                  <a:srgbClr val="FFFFFF"/>
                </a:solidFill>
                <a:latin typeface="Arial"/>
                <a:cs typeface="Arial"/>
              </a:rPr>
              <a:t>Introduction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0889" y="3643334"/>
            <a:ext cx="599821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 marR="5080" indent="-28194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From</a:t>
            </a:r>
            <a:r>
              <a:rPr sz="2600" b="1" spc="-6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Problem</a:t>
            </a:r>
            <a:r>
              <a:rPr sz="2600" b="1" spc="-6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to</a:t>
            </a:r>
            <a:r>
              <a:rPr sz="2600" b="1" spc="-3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Data</a:t>
            </a:r>
            <a:r>
              <a:rPr sz="2600" b="1" spc="-5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Structure</a:t>
            </a:r>
            <a:r>
              <a:rPr sz="2600" b="1" spc="-5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(Problem,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Logic,</a:t>
            </a:r>
            <a:r>
              <a:rPr sz="2600" b="1" spc="-22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Algorithm,</a:t>
            </a:r>
            <a:r>
              <a:rPr sz="2600" b="1" spc="-13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2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Data</a:t>
            </a:r>
            <a:r>
              <a:rPr sz="2600" b="1" spc="-3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Structure).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25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70" dirty="0"/>
              <a:t>What</a:t>
            </a:r>
            <a:r>
              <a:rPr sz="3600" spc="-125" dirty="0"/>
              <a:t> </a:t>
            </a:r>
            <a:r>
              <a:rPr sz="3600" dirty="0"/>
              <a:t>is</a:t>
            </a:r>
            <a:r>
              <a:rPr sz="3600" spc="-75" dirty="0"/>
              <a:t> </a:t>
            </a:r>
            <a:r>
              <a:rPr sz="3600" spc="-70" dirty="0"/>
              <a:t>Problem</a:t>
            </a:r>
            <a:r>
              <a:rPr sz="3600" spc="-110" dirty="0"/>
              <a:t> </a:t>
            </a:r>
            <a:r>
              <a:rPr sz="3600" spc="-10" dirty="0"/>
              <a:t>Solving</a:t>
            </a:r>
            <a:r>
              <a:rPr sz="3600" spc="-95" dirty="0"/>
              <a:t> </a:t>
            </a:r>
            <a:r>
              <a:rPr sz="3600" dirty="0"/>
              <a:t>and</a:t>
            </a:r>
            <a:r>
              <a:rPr sz="3600" spc="-90" dirty="0"/>
              <a:t> </a:t>
            </a:r>
            <a:r>
              <a:rPr sz="3600" spc="-120" dirty="0"/>
              <a:t>Why</a:t>
            </a:r>
            <a:r>
              <a:rPr sz="3600" spc="-80" dirty="0"/>
              <a:t> </a:t>
            </a:r>
            <a:r>
              <a:rPr sz="3600" dirty="0"/>
              <a:t>is</a:t>
            </a:r>
            <a:r>
              <a:rPr sz="3600" spc="-80" dirty="0"/>
              <a:t> </a:t>
            </a:r>
            <a:r>
              <a:rPr sz="3600" spc="-25" dirty="0"/>
              <a:t>it </a:t>
            </a:r>
            <a:r>
              <a:rPr sz="3600" spc="-10" dirty="0"/>
              <a:t>Important?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2491739"/>
            <a:ext cx="9027160" cy="4735195"/>
            <a:chOff x="515112" y="2491739"/>
            <a:chExt cx="9027160" cy="4735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800" y="2491739"/>
              <a:ext cx="6097523" cy="13944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199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09800" y="3886199"/>
              <a:ext cx="6097523" cy="200558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25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70" dirty="0"/>
              <a:t>What</a:t>
            </a:r>
            <a:r>
              <a:rPr sz="3600" spc="-125" dirty="0"/>
              <a:t> </a:t>
            </a:r>
            <a:r>
              <a:rPr sz="3600" dirty="0"/>
              <a:t>is</a:t>
            </a:r>
            <a:r>
              <a:rPr sz="3600" spc="-75" dirty="0"/>
              <a:t> </a:t>
            </a:r>
            <a:r>
              <a:rPr sz="3600" spc="-70" dirty="0"/>
              <a:t>Problem</a:t>
            </a:r>
            <a:r>
              <a:rPr sz="3600" spc="-110" dirty="0"/>
              <a:t> </a:t>
            </a:r>
            <a:r>
              <a:rPr sz="3600" spc="-10" dirty="0"/>
              <a:t>Solving</a:t>
            </a:r>
            <a:r>
              <a:rPr sz="3600" spc="-95" dirty="0"/>
              <a:t> </a:t>
            </a:r>
            <a:r>
              <a:rPr sz="3600" dirty="0"/>
              <a:t>and</a:t>
            </a:r>
            <a:r>
              <a:rPr sz="3600" spc="-90" dirty="0"/>
              <a:t> </a:t>
            </a:r>
            <a:r>
              <a:rPr sz="3600" spc="-120" dirty="0"/>
              <a:t>Why</a:t>
            </a:r>
            <a:r>
              <a:rPr sz="3600" spc="-80" dirty="0"/>
              <a:t> </a:t>
            </a:r>
            <a:r>
              <a:rPr sz="3600" dirty="0"/>
              <a:t>is</a:t>
            </a:r>
            <a:r>
              <a:rPr sz="3600" spc="-80" dirty="0"/>
              <a:t> </a:t>
            </a:r>
            <a:r>
              <a:rPr sz="3600" spc="-25" dirty="0"/>
              <a:t>it </a:t>
            </a:r>
            <a:r>
              <a:rPr sz="3600" spc="-10" dirty="0"/>
              <a:t>Important?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61861"/>
            <a:ext cx="7629525" cy="44977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7020" marR="21590" indent="-274955" algn="just">
              <a:lnSpc>
                <a:spcPts val="2810"/>
              </a:lnSpc>
              <a:spcBef>
                <a:spcPts val="45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The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ability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solve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problems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basic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life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skill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spc="-655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 essential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2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our</a:t>
            </a:r>
            <a:r>
              <a:rPr sz="2600" spc="29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day-</a:t>
            </a:r>
            <a:r>
              <a:rPr sz="2600" spc="-10" dirty="0">
                <a:latin typeface="Perpetua"/>
                <a:cs typeface="Perpetua"/>
              </a:rPr>
              <a:t>to-</a:t>
            </a:r>
            <a:r>
              <a:rPr sz="2600" dirty="0">
                <a:latin typeface="Perpetua"/>
                <a:cs typeface="Perpetua"/>
              </a:rPr>
              <a:t>day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lives,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at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home,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at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school,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28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at </a:t>
            </a:r>
            <a:r>
              <a:rPr sz="2600" spc="-10" dirty="0">
                <a:latin typeface="Perpetua"/>
                <a:cs typeface="Perpetua"/>
              </a:rPr>
              <a:t>work.</a:t>
            </a:r>
            <a:endParaRPr sz="2600">
              <a:latin typeface="Perpetua"/>
              <a:cs typeface="Perpetua"/>
            </a:endParaRPr>
          </a:p>
          <a:p>
            <a:pPr marL="287020" marR="21590" indent="-274955" algn="just">
              <a:lnSpc>
                <a:spcPts val="2810"/>
              </a:lnSpc>
              <a:spcBef>
                <a:spcPts val="59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We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solve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problems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every</a:t>
            </a:r>
            <a:r>
              <a:rPr sz="2600" spc="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day</a:t>
            </a:r>
            <a:r>
              <a:rPr sz="2600" spc="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without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really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thinking</a:t>
            </a:r>
            <a:r>
              <a:rPr sz="2600" spc="210" dirty="0">
                <a:latin typeface="Perpetua"/>
                <a:cs typeface="Perpetua"/>
              </a:rPr>
              <a:t> </a:t>
            </a:r>
            <a:r>
              <a:rPr sz="2600" spc="-195" dirty="0">
                <a:latin typeface="Perpetua"/>
                <a:cs typeface="Perpetua"/>
              </a:rPr>
              <a:t>about </a:t>
            </a:r>
            <a:r>
              <a:rPr sz="2600" dirty="0">
                <a:latin typeface="Perpetua"/>
                <a:cs typeface="Perpetua"/>
              </a:rPr>
              <a:t>how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solve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them.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ts val="2810"/>
              </a:lnSpc>
              <a:spcBef>
                <a:spcPts val="59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For</a:t>
            </a:r>
            <a:r>
              <a:rPr sz="2600" spc="3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example:</a:t>
            </a:r>
            <a:r>
              <a:rPr sz="2600" spc="2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it’s</a:t>
            </a:r>
            <a:r>
              <a:rPr sz="2600" spc="3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raining</a:t>
            </a:r>
            <a:r>
              <a:rPr sz="2600" spc="3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3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need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go</a:t>
            </a:r>
            <a:r>
              <a:rPr sz="2600" spc="3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345" dirty="0">
                <a:latin typeface="Perpetua"/>
                <a:cs typeface="Perpetua"/>
              </a:rPr>
              <a:t> </a:t>
            </a:r>
            <a:r>
              <a:rPr sz="2600" spc="-180" dirty="0">
                <a:latin typeface="Perpetua"/>
                <a:cs typeface="Perpetua"/>
              </a:rPr>
              <a:t>store. </a:t>
            </a:r>
            <a:r>
              <a:rPr sz="2600" dirty="0">
                <a:latin typeface="Perpetua"/>
                <a:cs typeface="Perpetua"/>
              </a:rPr>
              <a:t>What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do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do?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There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lots</a:t>
            </a:r>
            <a:r>
              <a:rPr sz="2600" spc="2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2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possible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solutions.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Take </a:t>
            </a:r>
            <a:r>
              <a:rPr sz="2600" dirty="0">
                <a:latin typeface="Perpetua"/>
                <a:cs typeface="Perpetua"/>
              </a:rPr>
              <a:t>your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umbrella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walk.</a:t>
            </a:r>
            <a:r>
              <a:rPr sz="2600" spc="1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don't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want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get</a:t>
            </a:r>
            <a:r>
              <a:rPr sz="2600" spc="2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wet,</a:t>
            </a:r>
            <a:r>
              <a:rPr sz="2600" spc="16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drive,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take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bus.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might</a:t>
            </a:r>
            <a:r>
              <a:rPr sz="2600" spc="1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decide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call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friend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ride,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might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decide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go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store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another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day. </a:t>
            </a:r>
            <a:r>
              <a:rPr sz="2600" dirty="0">
                <a:latin typeface="Perpetua"/>
                <a:cs typeface="Perpetua"/>
              </a:rPr>
              <a:t>There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</a:t>
            </a:r>
            <a:r>
              <a:rPr sz="2600" spc="4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right</a:t>
            </a:r>
            <a:r>
              <a:rPr sz="2600" spc="4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way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solve</a:t>
            </a:r>
            <a:r>
              <a:rPr sz="2600" spc="4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4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problem</a:t>
            </a:r>
            <a:r>
              <a:rPr sz="2600" spc="43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different </a:t>
            </a:r>
            <a:r>
              <a:rPr sz="2600" dirty="0">
                <a:latin typeface="Perpetua"/>
                <a:cs typeface="Perpetua"/>
              </a:rPr>
              <a:t>people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differently.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47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20" dirty="0"/>
              <a:t>Why</a:t>
            </a:r>
            <a:r>
              <a:rPr sz="3600" spc="-105" dirty="0"/>
              <a:t> </a:t>
            </a:r>
            <a:r>
              <a:rPr sz="3600" dirty="0"/>
              <a:t>should</a:t>
            </a:r>
            <a:r>
              <a:rPr sz="3600" spc="-200" dirty="0"/>
              <a:t> </a:t>
            </a:r>
            <a:r>
              <a:rPr sz="3600" dirty="0"/>
              <a:t>we</a:t>
            </a:r>
            <a:r>
              <a:rPr sz="3600" spc="-145" dirty="0"/>
              <a:t> </a:t>
            </a:r>
            <a:r>
              <a:rPr sz="3600" dirty="0"/>
              <a:t>learn</a:t>
            </a:r>
            <a:r>
              <a:rPr sz="3600" spc="-155" dirty="0"/>
              <a:t> </a:t>
            </a:r>
            <a:r>
              <a:rPr sz="3600" spc="-10" dirty="0"/>
              <a:t>Data</a:t>
            </a:r>
            <a:r>
              <a:rPr sz="3600" spc="-145" dirty="0"/>
              <a:t> </a:t>
            </a:r>
            <a:r>
              <a:rPr sz="3600" spc="-10" dirty="0"/>
              <a:t>Structures?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8200" y="1890752"/>
            <a:ext cx="8534400" cy="429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715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Data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Algorithms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two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key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aspects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600" dirty="0">
                <a:latin typeface="Perpetua"/>
                <a:cs typeface="Perpetua"/>
              </a:rPr>
              <a:t>of</a:t>
            </a:r>
            <a:r>
              <a:rPr sz="2600" dirty="0">
                <a:latin typeface="Perpetua"/>
                <a:cs typeface="Perpetua"/>
              </a:rPr>
              <a:t> Computer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Science.</a:t>
            </a:r>
            <a:endParaRPr sz="2600" dirty="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Data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allow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organize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store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data,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145" dirty="0">
                <a:latin typeface="Perpetua"/>
                <a:cs typeface="Perpetua"/>
              </a:rPr>
              <a:t>whereas </a:t>
            </a:r>
            <a:r>
              <a:rPr sz="2600" dirty="0">
                <a:latin typeface="Perpetua"/>
                <a:cs typeface="Perpetua"/>
              </a:rPr>
              <a:t>Algorithms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allow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process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meaningfully.</a:t>
            </a:r>
            <a:endParaRPr sz="2600" dirty="0">
              <a:latin typeface="Perpetua"/>
              <a:cs typeface="Perpetua"/>
            </a:endParaRPr>
          </a:p>
          <a:p>
            <a:pPr marL="287020" marR="109855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1557655" algn="l"/>
                <a:tab pos="2324100" algn="l"/>
                <a:tab pos="3768725" algn="l"/>
                <a:tab pos="4403090" algn="l"/>
                <a:tab pos="5957570" algn="l"/>
                <a:tab pos="6626225" algn="l"/>
                <a:tab pos="7347584" algn="l"/>
              </a:tabLst>
            </a:pPr>
            <a:r>
              <a:rPr sz="2600" spc="-10" dirty="0">
                <a:latin typeface="Perpetua"/>
                <a:cs typeface="Perpetua"/>
              </a:rPr>
              <a:t>	Learning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Data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0" dirty="0">
                <a:latin typeface="Perpetua"/>
                <a:cs typeface="Perpetua"/>
              </a:rPr>
              <a:t>Structures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5" dirty="0">
                <a:latin typeface="Perpetua"/>
                <a:cs typeface="Perpetua"/>
              </a:rPr>
              <a:t>and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0" dirty="0">
                <a:latin typeface="Perpetua"/>
                <a:cs typeface="Perpetua"/>
              </a:rPr>
              <a:t>Algorithms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will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help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50" dirty="0">
                <a:latin typeface="Perpetua"/>
                <a:cs typeface="Perpetua"/>
              </a:rPr>
              <a:t>u </a:t>
            </a:r>
            <a:r>
              <a:rPr sz="2600" dirty="0">
                <a:latin typeface="Perpetua"/>
                <a:cs typeface="Perpetua"/>
              </a:rPr>
              <a:t>become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better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Programmers.</a:t>
            </a:r>
            <a:endParaRPr sz="2600" dirty="0">
              <a:latin typeface="Perpetua"/>
              <a:cs typeface="Perpetua"/>
            </a:endParaRPr>
          </a:p>
          <a:p>
            <a:pPr marL="287020" marR="635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871855" algn="l"/>
                <a:tab pos="1463675" algn="l"/>
                <a:tab pos="1880870" algn="l"/>
                <a:tab pos="2495550" algn="l"/>
                <a:tab pos="2875915" algn="l"/>
                <a:tab pos="3663315" algn="l"/>
                <a:tab pos="4361180" algn="l"/>
                <a:tab pos="4953000" algn="l"/>
                <a:tab pos="5267325" algn="l"/>
                <a:tab pos="6037580" algn="l"/>
                <a:tab pos="7178675" algn="l"/>
              </a:tabLst>
            </a:pPr>
            <a:r>
              <a:rPr sz="2600" spc="-295" dirty="0">
                <a:latin typeface="Perpetua"/>
                <a:cs typeface="Perpetua"/>
              </a:rPr>
              <a:t>	Y</a:t>
            </a:r>
            <a:r>
              <a:rPr sz="2600" spc="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	</a:t>
            </a:r>
            <a:r>
              <a:rPr sz="2600" spc="-10" dirty="0">
                <a:latin typeface="Perpetua"/>
                <a:cs typeface="Perpetua"/>
              </a:rPr>
              <a:t>will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10" dirty="0">
                <a:latin typeface="Perpetua"/>
                <a:cs typeface="Perpetua"/>
              </a:rPr>
              <a:t>a</a:t>
            </a:r>
            <a:r>
              <a:rPr sz="2600" spc="-5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10" dirty="0">
                <a:latin typeface="Perpetua"/>
                <a:cs typeface="Perpetua"/>
              </a:rPr>
              <a:t>to</a:t>
            </a:r>
            <a:r>
              <a:rPr sz="2600" dirty="0">
                <a:latin typeface="Perpetua"/>
                <a:cs typeface="Perpetua"/>
              </a:rPr>
              <a:t>	write	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5" dirty="0">
                <a:latin typeface="Perpetua"/>
                <a:cs typeface="Perpetua"/>
              </a:rPr>
              <a:t>o</a:t>
            </a:r>
            <a:r>
              <a:rPr sz="2600" spc="-2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5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		</a:t>
            </a:r>
            <a:r>
              <a:rPr lang="en-IN" sz="2600" spc="-795" dirty="0">
                <a:latin typeface="Perpetua"/>
                <a:cs typeface="Perpetua"/>
              </a:rPr>
              <a:t>more     </a:t>
            </a:r>
            <a:r>
              <a:rPr sz="2600" spc="-15" dirty="0">
                <a:latin typeface="Perpetua"/>
                <a:cs typeface="Perpetua"/>
              </a:rPr>
              <a:t>effective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spc="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 </a:t>
            </a:r>
            <a:r>
              <a:rPr sz="2600" spc="-20" dirty="0">
                <a:latin typeface="Perpetua"/>
                <a:cs typeface="Perpetua"/>
              </a:rPr>
              <a:t>reliable.</a:t>
            </a:r>
            <a:endParaRPr sz="2600" dirty="0">
              <a:latin typeface="Perpetua"/>
              <a:cs typeface="Perpetua"/>
            </a:endParaRPr>
          </a:p>
          <a:p>
            <a:pPr marL="287020" marR="9525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871855" algn="l"/>
                <a:tab pos="1457325" algn="l"/>
                <a:tab pos="2042795" algn="l"/>
                <a:tab pos="2459355" algn="l"/>
                <a:tab pos="3067685" algn="l"/>
                <a:tab pos="3444875" algn="l"/>
                <a:tab pos="4175760" algn="l"/>
                <a:tab pos="5415915" algn="l"/>
                <a:tab pos="6179820" algn="l"/>
                <a:tab pos="7175500" algn="l"/>
              </a:tabLst>
            </a:pPr>
            <a:r>
              <a:rPr sz="2600" spc="-295" dirty="0">
                <a:latin typeface="Perpetua"/>
                <a:cs typeface="Perpetua"/>
              </a:rPr>
              <a:t>	Y</a:t>
            </a:r>
            <a:r>
              <a:rPr sz="2600" spc="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u	</a:t>
            </a:r>
            <a:r>
              <a:rPr sz="2600" spc="-15" dirty="0">
                <a:latin typeface="Perpetua"/>
                <a:cs typeface="Perpetua"/>
              </a:rPr>
              <a:t>will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10" dirty="0">
                <a:latin typeface="Perpetua"/>
                <a:cs typeface="Perpetua"/>
              </a:rPr>
              <a:t>a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spc="-1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spc="-5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10" dirty="0">
                <a:latin typeface="Perpetua"/>
                <a:cs typeface="Perpetua"/>
              </a:rPr>
              <a:t>to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solve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problems</a:t>
            </a:r>
            <a:r>
              <a:rPr sz="2600" dirty="0">
                <a:latin typeface="Perpetua"/>
                <a:cs typeface="Perpetua"/>
              </a:rPr>
              <a:t>		</a:t>
            </a:r>
            <a:r>
              <a:rPr sz="2600" spc="-665" dirty="0">
                <a:latin typeface="Perpetua"/>
                <a:cs typeface="Perpetua"/>
              </a:rPr>
              <a:t>more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0" dirty="0">
                <a:latin typeface="Perpetua"/>
                <a:cs typeface="Perpetua"/>
              </a:rPr>
              <a:t>quickly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spc="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 </a:t>
            </a:r>
            <a:r>
              <a:rPr sz="2600" spc="-35" dirty="0">
                <a:latin typeface="Perpetua"/>
                <a:cs typeface="Perpetua"/>
              </a:rPr>
              <a:t>efficiently.</a:t>
            </a:r>
            <a:endParaRPr sz="2600" dirty="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Problem</a:t>
            </a:r>
            <a:r>
              <a:rPr spc="-140" dirty="0"/>
              <a:t> </a:t>
            </a:r>
            <a:r>
              <a:rPr spc="-25" dirty="0"/>
              <a:t>Solving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44765" cy="3820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34925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“Problem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defined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situation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condition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which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needs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spc="-620" dirty="0">
                <a:latin typeface="Perpetua"/>
                <a:cs typeface="Perpetua"/>
              </a:rPr>
              <a:t>to</a:t>
            </a:r>
            <a:r>
              <a:rPr sz="2600" dirty="0">
                <a:latin typeface="Perpetua"/>
                <a:cs typeface="Perpetua"/>
              </a:rPr>
              <a:t> solve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achieve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goal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b="1" i="1" dirty="0">
                <a:latin typeface="Perpetua"/>
                <a:cs typeface="Perpetua"/>
              </a:rPr>
              <a:t>	Problem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solving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is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the</a:t>
            </a:r>
            <a:r>
              <a:rPr sz="2600" spc="14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process</a:t>
            </a:r>
            <a:r>
              <a:rPr sz="2600" spc="17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of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identifying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a</a:t>
            </a:r>
            <a:r>
              <a:rPr sz="2600" spc="190" dirty="0">
                <a:latin typeface="Times New Roman"/>
                <a:cs typeface="Times New Roman"/>
              </a:rPr>
              <a:t> </a:t>
            </a:r>
            <a:r>
              <a:rPr sz="2600" b="1" i="1" spc="-135" dirty="0">
                <a:latin typeface="Perpetua"/>
                <a:cs typeface="Perpetua"/>
              </a:rPr>
              <a:t>problem,</a:t>
            </a:r>
            <a:r>
              <a:rPr sz="2600" spc="-13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developing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Perpetua"/>
                <a:cs typeface="Perpetua"/>
              </a:rPr>
              <a:t>possible</a:t>
            </a:r>
            <a:r>
              <a:rPr sz="2600" spc="220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Perpetua"/>
                <a:cs typeface="Perpetua"/>
              </a:rPr>
              <a:t>solution</a:t>
            </a:r>
            <a:r>
              <a:rPr sz="2600" spc="229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Perpetua"/>
                <a:cs typeface="Perpetua"/>
              </a:rPr>
              <a:t>paths,</a:t>
            </a:r>
            <a:r>
              <a:rPr sz="2600" spc="90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Perpetua"/>
                <a:cs typeface="Perpetua"/>
              </a:rPr>
              <a:t>and</a:t>
            </a:r>
            <a:r>
              <a:rPr sz="2600" spc="215" dirty="0">
                <a:latin typeface="Times New Roman"/>
                <a:cs typeface="Times New Roman"/>
              </a:rPr>
              <a:t>  </a:t>
            </a:r>
            <a:r>
              <a:rPr sz="2600" b="1" i="1" dirty="0">
                <a:latin typeface="Perpetua"/>
                <a:cs typeface="Perpetua"/>
              </a:rPr>
              <a:t>taking</a:t>
            </a:r>
            <a:r>
              <a:rPr sz="2600" spc="229" dirty="0">
                <a:latin typeface="Times New Roman"/>
                <a:cs typeface="Times New Roman"/>
              </a:rPr>
              <a:t>  </a:t>
            </a:r>
            <a:r>
              <a:rPr sz="2600" b="1" i="1" spc="-25" dirty="0">
                <a:latin typeface="Perpetua"/>
                <a:cs typeface="Perpetua"/>
              </a:rPr>
              <a:t>the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appropriate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course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b="1" i="1" dirty="0">
                <a:latin typeface="Perpetua"/>
                <a:cs typeface="Perpetua"/>
              </a:rPr>
              <a:t>of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b="1" i="1" spc="-10" dirty="0">
                <a:latin typeface="Perpetua"/>
                <a:cs typeface="Perpetua"/>
              </a:rPr>
              <a:t>action.</a:t>
            </a:r>
            <a:endParaRPr sz="2600">
              <a:latin typeface="Perpetua"/>
              <a:cs typeface="Perpetua"/>
            </a:endParaRPr>
          </a:p>
          <a:p>
            <a:pPr marL="287020" marR="37465" indent="-274955" algn="just">
              <a:lnSpc>
                <a:spcPct val="100000"/>
              </a:lnSpc>
              <a:spcBef>
                <a:spcPts val="432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Problem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solving</a:t>
            </a:r>
            <a:r>
              <a:rPr sz="2600" spc="2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application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ideas,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skills,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245" dirty="0">
                <a:latin typeface="Perpetua"/>
                <a:cs typeface="Perpetua"/>
              </a:rPr>
              <a:t> </a:t>
            </a:r>
            <a:r>
              <a:rPr sz="2600" spc="-150" dirty="0">
                <a:latin typeface="Perpetua"/>
                <a:cs typeface="Perpetua"/>
              </a:rPr>
              <a:t>factual </a:t>
            </a:r>
            <a:r>
              <a:rPr sz="2600" dirty="0">
                <a:latin typeface="Perpetua"/>
                <a:cs typeface="Perpetua"/>
              </a:rPr>
              <a:t>information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achieve</a:t>
            </a:r>
            <a:r>
              <a:rPr sz="2600" spc="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solution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problem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reach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desired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outcome.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26060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155" dirty="0"/>
              <a:t> </a:t>
            </a:r>
            <a:r>
              <a:rPr spc="-80" dirty="0"/>
              <a:t>Terms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95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Data</a:t>
            </a:r>
            <a:r>
              <a:rPr sz="2200" b="1" spc="-25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-20" dirty="0"/>
              <a:t> </a:t>
            </a:r>
            <a:r>
              <a:rPr sz="2200" dirty="0"/>
              <a:t>Data</a:t>
            </a:r>
            <a:r>
              <a:rPr sz="2200" spc="-35" dirty="0"/>
              <a:t> </a:t>
            </a:r>
            <a:r>
              <a:rPr sz="2200" dirty="0"/>
              <a:t>are</a:t>
            </a:r>
            <a:r>
              <a:rPr sz="2200" spc="-40" dirty="0"/>
              <a:t> </a:t>
            </a:r>
            <a:r>
              <a:rPr sz="2200" dirty="0"/>
              <a:t>values</a:t>
            </a:r>
            <a:r>
              <a:rPr sz="2200" spc="-35" dirty="0"/>
              <a:t> </a:t>
            </a:r>
            <a:r>
              <a:rPr sz="2200" dirty="0"/>
              <a:t>or</a:t>
            </a:r>
            <a:r>
              <a:rPr sz="2200" spc="-15" dirty="0"/>
              <a:t> </a:t>
            </a:r>
            <a:r>
              <a:rPr sz="2200" dirty="0"/>
              <a:t>set</a:t>
            </a:r>
            <a:r>
              <a:rPr sz="2200" spc="-30" dirty="0"/>
              <a:t> </a:t>
            </a:r>
            <a:r>
              <a:rPr sz="2200" dirty="0"/>
              <a:t>of</a:t>
            </a:r>
            <a:r>
              <a:rPr sz="2200" spc="-5" dirty="0"/>
              <a:t> </a:t>
            </a:r>
            <a:r>
              <a:rPr sz="2200" spc="-10" dirty="0"/>
              <a:t>values.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70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Data</a:t>
            </a:r>
            <a:r>
              <a:rPr sz="2200" b="1" spc="-20" dirty="0">
                <a:latin typeface="Perpetua"/>
                <a:cs typeface="Perpetua"/>
              </a:rPr>
              <a:t> </a:t>
            </a:r>
            <a:r>
              <a:rPr sz="2200" b="1" dirty="0">
                <a:latin typeface="Perpetua"/>
                <a:cs typeface="Perpetua"/>
              </a:rPr>
              <a:t>Item </a:t>
            </a:r>
            <a:r>
              <a:rPr sz="2200" dirty="0"/>
              <a:t>−</a:t>
            </a:r>
            <a:r>
              <a:rPr sz="2200" spc="-35" dirty="0"/>
              <a:t> </a:t>
            </a:r>
            <a:r>
              <a:rPr sz="2200" dirty="0"/>
              <a:t>Data</a:t>
            </a:r>
            <a:r>
              <a:rPr sz="2200" spc="-30" dirty="0"/>
              <a:t> </a:t>
            </a:r>
            <a:r>
              <a:rPr sz="2200" dirty="0"/>
              <a:t>item</a:t>
            </a:r>
            <a:r>
              <a:rPr sz="2200" spc="-15" dirty="0"/>
              <a:t> </a:t>
            </a:r>
            <a:r>
              <a:rPr sz="2200" dirty="0"/>
              <a:t>refers</a:t>
            </a:r>
            <a:r>
              <a:rPr sz="2200" spc="-25" dirty="0"/>
              <a:t> </a:t>
            </a:r>
            <a:r>
              <a:rPr sz="2200" dirty="0"/>
              <a:t>to</a:t>
            </a:r>
            <a:r>
              <a:rPr sz="2200" spc="-15" dirty="0"/>
              <a:t> </a:t>
            </a:r>
            <a:r>
              <a:rPr sz="2200" dirty="0"/>
              <a:t>single</a:t>
            </a:r>
            <a:r>
              <a:rPr sz="2200" spc="-30" dirty="0"/>
              <a:t> </a:t>
            </a:r>
            <a:r>
              <a:rPr sz="2200" dirty="0"/>
              <a:t>unit</a:t>
            </a:r>
            <a:r>
              <a:rPr sz="2200" spc="-25" dirty="0"/>
              <a:t> </a:t>
            </a:r>
            <a:r>
              <a:rPr sz="2200" dirty="0"/>
              <a:t>of</a:t>
            </a:r>
            <a:r>
              <a:rPr sz="2200" spc="-15" dirty="0"/>
              <a:t> </a:t>
            </a:r>
            <a:r>
              <a:rPr sz="2200" spc="-10" dirty="0"/>
              <a:t>values.</a:t>
            </a:r>
            <a:endParaRPr sz="2200">
              <a:latin typeface="Perpetua"/>
              <a:cs typeface="Perpetua"/>
            </a:endParaRPr>
          </a:p>
          <a:p>
            <a:pPr marL="286385" marR="8890" indent="-274320">
              <a:lnSpc>
                <a:spcPts val="2110"/>
              </a:lnSpc>
              <a:spcBef>
                <a:spcPts val="585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Group</a:t>
            </a:r>
            <a:r>
              <a:rPr sz="2200" b="1" spc="10" dirty="0">
                <a:latin typeface="Perpetua"/>
                <a:cs typeface="Perpetua"/>
              </a:rPr>
              <a:t> </a:t>
            </a:r>
            <a:r>
              <a:rPr sz="2200" b="1" dirty="0">
                <a:latin typeface="Perpetua"/>
                <a:cs typeface="Perpetua"/>
              </a:rPr>
              <a:t>Items</a:t>
            </a:r>
            <a:r>
              <a:rPr sz="2200" b="1" spc="5" dirty="0">
                <a:latin typeface="Perpetua"/>
                <a:cs typeface="Perpetua"/>
              </a:rPr>
              <a:t> </a:t>
            </a:r>
            <a:r>
              <a:rPr sz="2200" dirty="0"/>
              <a:t>− Data</a:t>
            </a:r>
            <a:r>
              <a:rPr sz="2200" spc="10" dirty="0"/>
              <a:t> </a:t>
            </a:r>
            <a:r>
              <a:rPr sz="2200" dirty="0"/>
              <a:t>items</a:t>
            </a:r>
            <a:r>
              <a:rPr sz="2200" spc="10" dirty="0"/>
              <a:t> </a:t>
            </a:r>
            <a:r>
              <a:rPr sz="2200" dirty="0"/>
              <a:t>that</a:t>
            </a:r>
            <a:r>
              <a:rPr sz="2200" spc="-10" dirty="0"/>
              <a:t> </a:t>
            </a:r>
            <a:r>
              <a:rPr sz="2200" dirty="0"/>
              <a:t>are</a:t>
            </a:r>
            <a:r>
              <a:rPr sz="2200" spc="25" dirty="0"/>
              <a:t> </a:t>
            </a:r>
            <a:r>
              <a:rPr sz="2200" dirty="0"/>
              <a:t>divided</a:t>
            </a:r>
            <a:r>
              <a:rPr sz="2200" spc="25" dirty="0"/>
              <a:t> </a:t>
            </a:r>
            <a:r>
              <a:rPr sz="2200" dirty="0"/>
              <a:t>into sub items</a:t>
            </a:r>
            <a:r>
              <a:rPr sz="2200" spc="10" dirty="0"/>
              <a:t> </a:t>
            </a:r>
            <a:r>
              <a:rPr sz="2200" dirty="0"/>
              <a:t>are</a:t>
            </a:r>
            <a:r>
              <a:rPr sz="2200" spc="10" dirty="0"/>
              <a:t> </a:t>
            </a:r>
            <a:r>
              <a:rPr sz="2200" dirty="0"/>
              <a:t>called </a:t>
            </a:r>
            <a:r>
              <a:rPr sz="2200" spc="-25" dirty="0"/>
              <a:t>as </a:t>
            </a:r>
            <a:r>
              <a:rPr sz="2200" dirty="0"/>
              <a:t>Group</a:t>
            </a:r>
            <a:r>
              <a:rPr sz="2200" spc="-60" dirty="0"/>
              <a:t> </a:t>
            </a:r>
            <a:r>
              <a:rPr sz="2200" spc="-10" dirty="0"/>
              <a:t>Items.</a:t>
            </a:r>
            <a:endParaRPr sz="2200">
              <a:latin typeface="Perpetua"/>
              <a:cs typeface="Perpetua"/>
            </a:endParaRPr>
          </a:p>
          <a:p>
            <a:pPr marL="286385" marR="5080" indent="-274320">
              <a:lnSpc>
                <a:spcPts val="2110"/>
              </a:lnSpc>
              <a:spcBef>
                <a:spcPts val="605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Elementary</a:t>
            </a:r>
            <a:r>
              <a:rPr sz="2200" b="1" spc="165" dirty="0">
                <a:latin typeface="Perpetua"/>
                <a:cs typeface="Perpetua"/>
              </a:rPr>
              <a:t> </a:t>
            </a:r>
            <a:r>
              <a:rPr sz="2200" b="1" dirty="0">
                <a:latin typeface="Perpetua"/>
                <a:cs typeface="Perpetua"/>
              </a:rPr>
              <a:t>Items</a:t>
            </a:r>
            <a:r>
              <a:rPr sz="2200" b="1" spc="170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175" dirty="0"/>
              <a:t> </a:t>
            </a:r>
            <a:r>
              <a:rPr sz="2200" dirty="0"/>
              <a:t>Data</a:t>
            </a:r>
            <a:r>
              <a:rPr sz="2200" spc="180" dirty="0"/>
              <a:t> </a:t>
            </a:r>
            <a:r>
              <a:rPr sz="2200" dirty="0"/>
              <a:t>items</a:t>
            </a:r>
            <a:r>
              <a:rPr sz="2200" spc="185" dirty="0"/>
              <a:t> </a:t>
            </a:r>
            <a:r>
              <a:rPr sz="2200" dirty="0"/>
              <a:t>that</a:t>
            </a:r>
            <a:r>
              <a:rPr sz="2200" spc="190" dirty="0"/>
              <a:t> </a:t>
            </a:r>
            <a:r>
              <a:rPr sz="2200" dirty="0"/>
              <a:t>cannot</a:t>
            </a:r>
            <a:r>
              <a:rPr sz="2200" spc="165" dirty="0"/>
              <a:t> </a:t>
            </a:r>
            <a:r>
              <a:rPr sz="2200" dirty="0"/>
              <a:t>be</a:t>
            </a:r>
            <a:r>
              <a:rPr sz="2200" spc="175" dirty="0"/>
              <a:t> </a:t>
            </a:r>
            <a:r>
              <a:rPr sz="2200" dirty="0"/>
              <a:t>divided</a:t>
            </a:r>
            <a:r>
              <a:rPr sz="2200" spc="195" dirty="0"/>
              <a:t> </a:t>
            </a:r>
            <a:r>
              <a:rPr sz="2200" dirty="0"/>
              <a:t>are</a:t>
            </a:r>
            <a:r>
              <a:rPr sz="2200" spc="180" dirty="0"/>
              <a:t> </a:t>
            </a:r>
            <a:r>
              <a:rPr sz="2200" dirty="0"/>
              <a:t>called</a:t>
            </a:r>
            <a:r>
              <a:rPr sz="2200" spc="175" dirty="0"/>
              <a:t> </a:t>
            </a:r>
            <a:r>
              <a:rPr sz="2200" spc="-25" dirty="0"/>
              <a:t>as </a:t>
            </a:r>
            <a:r>
              <a:rPr sz="2200" dirty="0"/>
              <a:t>Elementary</a:t>
            </a:r>
            <a:r>
              <a:rPr sz="2200" spc="-60" dirty="0"/>
              <a:t> </a:t>
            </a:r>
            <a:r>
              <a:rPr sz="2200" spc="-10" dirty="0"/>
              <a:t>Items.</a:t>
            </a:r>
            <a:endParaRPr sz="2200">
              <a:latin typeface="Perpetua"/>
              <a:cs typeface="Perpetua"/>
            </a:endParaRPr>
          </a:p>
          <a:p>
            <a:pPr marL="286385" marR="8890" indent="-274320">
              <a:lnSpc>
                <a:spcPct val="80000"/>
              </a:lnSpc>
              <a:spcBef>
                <a:spcPts val="620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  <a:tab pos="1546860" algn="l"/>
                <a:tab pos="2138045" algn="l"/>
                <a:tab pos="2996565" algn="l"/>
                <a:tab pos="3621404" algn="l"/>
                <a:tab pos="4349750" algn="l"/>
                <a:tab pos="4645025" algn="l"/>
                <a:tab pos="5172710" algn="l"/>
                <a:tab pos="5925185" algn="l"/>
                <a:tab pos="6898005" algn="l"/>
              </a:tabLst>
            </a:pPr>
            <a:r>
              <a:rPr sz="2200" b="1" spc="-10" dirty="0">
                <a:latin typeface="Perpetua"/>
                <a:cs typeface="Perpetua"/>
              </a:rPr>
              <a:t>Attribute</a:t>
            </a:r>
            <a:r>
              <a:rPr sz="2200" b="1" dirty="0">
                <a:latin typeface="Perpetua"/>
                <a:cs typeface="Perpetua"/>
              </a:rPr>
              <a:t>	</a:t>
            </a:r>
            <a:r>
              <a:rPr sz="2200" b="1" spc="-25" dirty="0">
                <a:latin typeface="Perpetua"/>
                <a:cs typeface="Perpetua"/>
              </a:rPr>
              <a:t>and</a:t>
            </a:r>
            <a:r>
              <a:rPr sz="2200" b="1" dirty="0">
                <a:latin typeface="Perpetua"/>
                <a:cs typeface="Perpetua"/>
              </a:rPr>
              <a:t>	</a:t>
            </a:r>
            <a:r>
              <a:rPr sz="2200" b="1" spc="-10" dirty="0">
                <a:latin typeface="Perpetua"/>
                <a:cs typeface="Perpetua"/>
              </a:rPr>
              <a:t>Entity</a:t>
            </a:r>
            <a:r>
              <a:rPr sz="2200" b="1" dirty="0">
                <a:latin typeface="Perpetua"/>
                <a:cs typeface="Perpetua"/>
              </a:rPr>
              <a:t>	</a:t>
            </a:r>
            <a:r>
              <a:rPr sz="2200" spc="-25" dirty="0"/>
              <a:t>−An</a:t>
            </a:r>
            <a:r>
              <a:rPr sz="2200" dirty="0"/>
              <a:t>	</a:t>
            </a:r>
            <a:r>
              <a:rPr sz="2200" spc="-10" dirty="0"/>
              <a:t>entity</a:t>
            </a:r>
            <a:r>
              <a:rPr sz="2200" dirty="0"/>
              <a:t>	</a:t>
            </a:r>
            <a:r>
              <a:rPr sz="2200" spc="-25" dirty="0"/>
              <a:t>is</a:t>
            </a:r>
            <a:r>
              <a:rPr sz="2200" dirty="0"/>
              <a:t>	</a:t>
            </a:r>
            <a:r>
              <a:rPr sz="2200" spc="-20" dirty="0"/>
              <a:t>that</a:t>
            </a:r>
            <a:r>
              <a:rPr sz="2200" dirty="0"/>
              <a:t>	</a:t>
            </a:r>
            <a:r>
              <a:rPr sz="2200" spc="-10" dirty="0"/>
              <a:t>which</a:t>
            </a:r>
            <a:r>
              <a:rPr sz="2200" dirty="0"/>
              <a:t>	</a:t>
            </a:r>
            <a:r>
              <a:rPr sz="2200" spc="-10" dirty="0"/>
              <a:t>contains</a:t>
            </a:r>
            <a:r>
              <a:rPr sz="2200" dirty="0"/>
              <a:t>	</a:t>
            </a:r>
            <a:r>
              <a:rPr sz="2200" spc="-10" dirty="0"/>
              <a:t>certain </a:t>
            </a:r>
            <a:r>
              <a:rPr sz="2200" dirty="0"/>
              <a:t>attributes</a:t>
            </a:r>
            <a:r>
              <a:rPr sz="2200" spc="-45" dirty="0"/>
              <a:t> </a:t>
            </a:r>
            <a:r>
              <a:rPr sz="2200" dirty="0"/>
              <a:t>or</a:t>
            </a:r>
            <a:r>
              <a:rPr sz="2200" spc="-40" dirty="0"/>
              <a:t> </a:t>
            </a:r>
            <a:r>
              <a:rPr sz="2200" dirty="0"/>
              <a:t>properties,</a:t>
            </a:r>
            <a:r>
              <a:rPr sz="2200" spc="-75" dirty="0"/>
              <a:t> </a:t>
            </a:r>
            <a:r>
              <a:rPr sz="2200" dirty="0"/>
              <a:t>which</a:t>
            </a:r>
            <a:r>
              <a:rPr sz="2200" spc="-50" dirty="0"/>
              <a:t> </a:t>
            </a:r>
            <a:r>
              <a:rPr sz="2200" dirty="0"/>
              <a:t>may</a:t>
            </a:r>
            <a:r>
              <a:rPr sz="2200" spc="-50" dirty="0"/>
              <a:t> </a:t>
            </a:r>
            <a:r>
              <a:rPr sz="2200" dirty="0"/>
              <a:t>be</a:t>
            </a:r>
            <a:r>
              <a:rPr sz="2200" spc="-25" dirty="0"/>
              <a:t> </a:t>
            </a:r>
            <a:r>
              <a:rPr sz="2200" dirty="0"/>
              <a:t>assigned</a:t>
            </a:r>
            <a:r>
              <a:rPr sz="2200" spc="-50" dirty="0"/>
              <a:t> </a:t>
            </a:r>
            <a:r>
              <a:rPr sz="2200" spc="-10" dirty="0"/>
              <a:t>values.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75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Entity</a:t>
            </a:r>
            <a:r>
              <a:rPr sz="2200" b="1" spc="-30" dirty="0">
                <a:latin typeface="Perpetua"/>
                <a:cs typeface="Perpetua"/>
              </a:rPr>
              <a:t> </a:t>
            </a:r>
            <a:r>
              <a:rPr sz="2200" b="1" dirty="0">
                <a:latin typeface="Perpetua"/>
                <a:cs typeface="Perpetua"/>
              </a:rPr>
              <a:t>Set</a:t>
            </a:r>
            <a:r>
              <a:rPr sz="2200" b="1" spc="-10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-15" dirty="0"/>
              <a:t> </a:t>
            </a:r>
            <a:r>
              <a:rPr sz="2200" dirty="0"/>
              <a:t>Entities</a:t>
            </a:r>
            <a:r>
              <a:rPr sz="2200" spc="-35" dirty="0"/>
              <a:t> </a:t>
            </a:r>
            <a:r>
              <a:rPr sz="2200" dirty="0"/>
              <a:t>of</a:t>
            </a:r>
            <a:r>
              <a:rPr sz="2200" spc="-20" dirty="0"/>
              <a:t> </a:t>
            </a:r>
            <a:r>
              <a:rPr sz="2200" dirty="0"/>
              <a:t>similar</a:t>
            </a:r>
            <a:r>
              <a:rPr sz="2200" spc="-30" dirty="0"/>
              <a:t> </a:t>
            </a:r>
            <a:r>
              <a:rPr sz="2200" dirty="0"/>
              <a:t>attributes</a:t>
            </a:r>
            <a:r>
              <a:rPr sz="2200" spc="-10" dirty="0"/>
              <a:t> </a:t>
            </a:r>
            <a:r>
              <a:rPr sz="2200" dirty="0"/>
              <a:t>form an</a:t>
            </a:r>
            <a:r>
              <a:rPr sz="2200" spc="-20" dirty="0"/>
              <a:t> </a:t>
            </a:r>
            <a:r>
              <a:rPr sz="2200" dirty="0"/>
              <a:t>entity</a:t>
            </a:r>
            <a:r>
              <a:rPr sz="2200" spc="-20" dirty="0"/>
              <a:t> set.</a:t>
            </a:r>
            <a:endParaRPr sz="2200">
              <a:latin typeface="Perpetua"/>
              <a:cs typeface="Perpetua"/>
            </a:endParaRPr>
          </a:p>
          <a:p>
            <a:pPr marL="286385" marR="10160" indent="-274320">
              <a:lnSpc>
                <a:spcPct val="80000"/>
              </a:lnSpc>
              <a:spcBef>
                <a:spcPts val="600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Field</a:t>
            </a:r>
            <a:r>
              <a:rPr sz="2200" b="1" spc="30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35" dirty="0"/>
              <a:t> </a:t>
            </a:r>
            <a:r>
              <a:rPr sz="2200" dirty="0"/>
              <a:t>Field</a:t>
            </a:r>
            <a:r>
              <a:rPr sz="2200" spc="30" dirty="0"/>
              <a:t> </a:t>
            </a:r>
            <a:r>
              <a:rPr sz="2200" dirty="0"/>
              <a:t>is</a:t>
            </a:r>
            <a:r>
              <a:rPr sz="2200" spc="25" dirty="0"/>
              <a:t> </a:t>
            </a:r>
            <a:r>
              <a:rPr sz="2200" dirty="0"/>
              <a:t>a</a:t>
            </a:r>
            <a:r>
              <a:rPr sz="2200" spc="35" dirty="0"/>
              <a:t> </a:t>
            </a:r>
            <a:r>
              <a:rPr sz="2200" dirty="0"/>
              <a:t>single</a:t>
            </a:r>
            <a:r>
              <a:rPr sz="2200" spc="35" dirty="0"/>
              <a:t> </a:t>
            </a:r>
            <a:r>
              <a:rPr sz="2200" dirty="0"/>
              <a:t>elementary</a:t>
            </a:r>
            <a:r>
              <a:rPr sz="2200" spc="35" dirty="0"/>
              <a:t> </a:t>
            </a:r>
            <a:r>
              <a:rPr sz="2200" dirty="0"/>
              <a:t>unit</a:t>
            </a:r>
            <a:r>
              <a:rPr sz="2200" spc="45" dirty="0"/>
              <a:t> </a:t>
            </a:r>
            <a:r>
              <a:rPr sz="2200" dirty="0"/>
              <a:t>of</a:t>
            </a:r>
            <a:r>
              <a:rPr sz="2200" spc="50" dirty="0"/>
              <a:t> </a:t>
            </a:r>
            <a:r>
              <a:rPr sz="2200" dirty="0"/>
              <a:t>information</a:t>
            </a:r>
            <a:r>
              <a:rPr sz="2200" spc="55" dirty="0"/>
              <a:t> </a:t>
            </a:r>
            <a:r>
              <a:rPr sz="2200" dirty="0"/>
              <a:t>representing</a:t>
            </a:r>
            <a:r>
              <a:rPr sz="2200" spc="40" dirty="0"/>
              <a:t> </a:t>
            </a:r>
            <a:r>
              <a:rPr sz="2200" spc="-25" dirty="0"/>
              <a:t>an </a:t>
            </a:r>
            <a:r>
              <a:rPr sz="2200" dirty="0"/>
              <a:t>attribute</a:t>
            </a:r>
            <a:r>
              <a:rPr sz="2200" spc="-30" dirty="0"/>
              <a:t> </a:t>
            </a:r>
            <a:r>
              <a:rPr sz="2200" dirty="0"/>
              <a:t>of</a:t>
            </a:r>
            <a:r>
              <a:rPr sz="2200" spc="-10" dirty="0"/>
              <a:t> </a:t>
            </a:r>
            <a:r>
              <a:rPr sz="2200" dirty="0"/>
              <a:t>an</a:t>
            </a:r>
            <a:r>
              <a:rPr sz="2200" spc="-30" dirty="0"/>
              <a:t> </a:t>
            </a:r>
            <a:r>
              <a:rPr sz="2200" spc="-10" dirty="0"/>
              <a:t>entity.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70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Record</a:t>
            </a:r>
            <a:r>
              <a:rPr sz="2200" b="1" spc="-35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-15" dirty="0"/>
              <a:t> </a:t>
            </a:r>
            <a:r>
              <a:rPr sz="2200" dirty="0"/>
              <a:t>Record</a:t>
            </a:r>
            <a:r>
              <a:rPr sz="2200" spc="5" dirty="0"/>
              <a:t> </a:t>
            </a:r>
            <a:r>
              <a:rPr sz="2200" dirty="0"/>
              <a:t>is</a:t>
            </a:r>
            <a:r>
              <a:rPr sz="2200" spc="-35" dirty="0"/>
              <a:t> </a:t>
            </a:r>
            <a:r>
              <a:rPr sz="2200" dirty="0"/>
              <a:t>a</a:t>
            </a:r>
            <a:r>
              <a:rPr sz="2200" spc="-35" dirty="0"/>
              <a:t> </a:t>
            </a:r>
            <a:r>
              <a:rPr sz="2200" dirty="0"/>
              <a:t>collection</a:t>
            </a:r>
            <a:r>
              <a:rPr sz="2200" spc="5" dirty="0"/>
              <a:t> </a:t>
            </a:r>
            <a:r>
              <a:rPr sz="2200" dirty="0"/>
              <a:t>of</a:t>
            </a:r>
            <a:r>
              <a:rPr sz="2200" spc="-20" dirty="0"/>
              <a:t> </a:t>
            </a:r>
            <a:r>
              <a:rPr sz="2200" dirty="0"/>
              <a:t>field</a:t>
            </a:r>
            <a:r>
              <a:rPr sz="2200" spc="-40" dirty="0"/>
              <a:t> </a:t>
            </a:r>
            <a:r>
              <a:rPr sz="2200" dirty="0"/>
              <a:t>values</a:t>
            </a:r>
            <a:r>
              <a:rPr sz="2200" spc="-30" dirty="0"/>
              <a:t> </a:t>
            </a:r>
            <a:r>
              <a:rPr sz="2200" dirty="0"/>
              <a:t>of</a:t>
            </a:r>
            <a:r>
              <a:rPr sz="2200" spc="-25" dirty="0"/>
              <a:t> </a:t>
            </a:r>
            <a:r>
              <a:rPr sz="2200" dirty="0"/>
              <a:t>a</a:t>
            </a:r>
            <a:r>
              <a:rPr sz="2200" spc="-35" dirty="0"/>
              <a:t> </a:t>
            </a:r>
            <a:r>
              <a:rPr sz="2200" dirty="0"/>
              <a:t>given</a:t>
            </a:r>
            <a:r>
              <a:rPr sz="2200" spc="-20" dirty="0"/>
              <a:t> </a:t>
            </a:r>
            <a:r>
              <a:rPr sz="2200" spc="-10" dirty="0"/>
              <a:t>entity.</a:t>
            </a:r>
            <a:endParaRPr sz="2200">
              <a:latin typeface="Perpetua"/>
              <a:cs typeface="Perpetua"/>
            </a:endParaRPr>
          </a:p>
          <a:p>
            <a:pPr marL="286385" indent="-273685">
              <a:lnSpc>
                <a:spcPct val="100000"/>
              </a:lnSpc>
              <a:spcBef>
                <a:spcPts val="70"/>
              </a:spcBef>
              <a:buClr>
                <a:srgbClr val="D34816"/>
              </a:buClr>
              <a:buSzPct val="84090"/>
              <a:buFont typeface="Webdings"/>
              <a:buChar char="●"/>
              <a:tabLst>
                <a:tab pos="286385" algn="l"/>
              </a:tabLst>
            </a:pPr>
            <a:r>
              <a:rPr sz="2200" b="1" dirty="0">
                <a:latin typeface="Perpetua"/>
                <a:cs typeface="Perpetua"/>
              </a:rPr>
              <a:t>File</a:t>
            </a:r>
            <a:r>
              <a:rPr sz="2200" b="1" spc="-35" dirty="0">
                <a:latin typeface="Perpetua"/>
                <a:cs typeface="Perpetua"/>
              </a:rPr>
              <a:t> </a:t>
            </a:r>
            <a:r>
              <a:rPr sz="2200" dirty="0"/>
              <a:t>−</a:t>
            </a:r>
            <a:r>
              <a:rPr sz="2200" spc="-40" dirty="0"/>
              <a:t> </a:t>
            </a:r>
            <a:r>
              <a:rPr sz="2200" dirty="0"/>
              <a:t>File</a:t>
            </a:r>
            <a:r>
              <a:rPr sz="2200" spc="-30" dirty="0"/>
              <a:t> </a:t>
            </a:r>
            <a:r>
              <a:rPr sz="2200" dirty="0"/>
              <a:t>is</a:t>
            </a:r>
            <a:r>
              <a:rPr sz="2200" spc="-30" dirty="0"/>
              <a:t> </a:t>
            </a:r>
            <a:r>
              <a:rPr sz="2200" dirty="0"/>
              <a:t>a</a:t>
            </a:r>
            <a:r>
              <a:rPr sz="2200" spc="-30" dirty="0"/>
              <a:t> </a:t>
            </a:r>
            <a:r>
              <a:rPr sz="2200" dirty="0"/>
              <a:t>collection</a:t>
            </a:r>
            <a:r>
              <a:rPr sz="2200" spc="5" dirty="0"/>
              <a:t> </a:t>
            </a:r>
            <a:r>
              <a:rPr sz="2200" dirty="0"/>
              <a:t>of</a:t>
            </a:r>
            <a:r>
              <a:rPr sz="2200" spc="-20" dirty="0"/>
              <a:t> </a:t>
            </a:r>
            <a:r>
              <a:rPr sz="2200" dirty="0"/>
              <a:t>records</a:t>
            </a:r>
            <a:r>
              <a:rPr sz="2200" spc="15" dirty="0"/>
              <a:t> </a:t>
            </a:r>
            <a:r>
              <a:rPr sz="2200" dirty="0"/>
              <a:t>of</a:t>
            </a:r>
            <a:r>
              <a:rPr sz="2200" spc="-20" dirty="0"/>
              <a:t> </a:t>
            </a:r>
            <a:r>
              <a:rPr sz="2200" dirty="0"/>
              <a:t>the</a:t>
            </a:r>
            <a:r>
              <a:rPr sz="2200" spc="-15" dirty="0"/>
              <a:t> </a:t>
            </a:r>
            <a:r>
              <a:rPr sz="2200" dirty="0"/>
              <a:t>entities</a:t>
            </a:r>
            <a:r>
              <a:rPr sz="2200" spc="-5" dirty="0"/>
              <a:t> </a:t>
            </a:r>
            <a:r>
              <a:rPr sz="2200" dirty="0"/>
              <a:t>in</a:t>
            </a:r>
            <a:r>
              <a:rPr sz="2200" spc="-20" dirty="0"/>
              <a:t> </a:t>
            </a:r>
            <a:r>
              <a:rPr sz="2200" dirty="0"/>
              <a:t>a</a:t>
            </a:r>
            <a:r>
              <a:rPr sz="2200" spc="-30" dirty="0"/>
              <a:t> </a:t>
            </a:r>
            <a:r>
              <a:rPr sz="2200" dirty="0"/>
              <a:t>given</a:t>
            </a:r>
            <a:r>
              <a:rPr sz="2200" spc="-20" dirty="0"/>
              <a:t> </a:t>
            </a:r>
            <a:r>
              <a:rPr sz="2200" dirty="0"/>
              <a:t>entity</a:t>
            </a:r>
            <a:r>
              <a:rPr sz="2200" spc="-35" dirty="0"/>
              <a:t> </a:t>
            </a:r>
            <a:r>
              <a:rPr sz="2200" spc="-20" dirty="0"/>
              <a:t>set.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379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4000" spc="-2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Data</a:t>
            </a:r>
            <a:endParaRPr sz="4000">
              <a:latin typeface="Franklin Gothic Medium"/>
              <a:cs typeface="Franklin Gothic Mediu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114778" y="3643334"/>
            <a:ext cx="567690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 marR="5080" indent="-221615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Data,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Information,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Knowledge,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1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Data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structure,</a:t>
            </a:r>
            <a:r>
              <a:rPr sz="2600" b="1" spc="-22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Abstract</a:t>
            </a:r>
            <a:r>
              <a:rPr sz="2600" b="1" spc="-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Data</a:t>
            </a:r>
            <a:r>
              <a:rPr sz="2600" b="1" spc="-3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70" dirty="0">
                <a:solidFill>
                  <a:srgbClr val="696464"/>
                </a:solidFill>
                <a:latin typeface="Perpetua"/>
                <a:cs typeface="Perpetua"/>
              </a:rPr>
              <a:t>Types</a:t>
            </a:r>
            <a:r>
              <a:rPr sz="2600" b="1" spc="-3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(ADT),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0452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28890" cy="389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2032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b="1" dirty="0">
                <a:latin typeface="Perpetua"/>
                <a:cs typeface="Perpetua"/>
              </a:rPr>
              <a:t>	Data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refer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Computer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Information,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either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spc="-95" dirty="0">
                <a:latin typeface="Perpetua"/>
                <a:cs typeface="Perpetua"/>
              </a:rPr>
              <a:t>transmitted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stored</a:t>
            </a:r>
            <a:endParaRPr sz="2600">
              <a:latin typeface="Perpetua"/>
              <a:cs typeface="Perpetua"/>
            </a:endParaRPr>
          </a:p>
          <a:p>
            <a:pPr marL="287020" marR="20320" indent="-274955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981075" algn="l"/>
                <a:tab pos="1298575" algn="l"/>
                <a:tab pos="1556385" algn="l"/>
                <a:tab pos="2141855" algn="l"/>
                <a:tab pos="2700655" algn="l"/>
                <a:tab pos="4298315" algn="l"/>
                <a:tab pos="4867275" algn="l"/>
                <a:tab pos="5459095" algn="l"/>
                <a:tab pos="5776595" algn="l"/>
                <a:tab pos="6934200" algn="l"/>
                <a:tab pos="7317740" algn="l"/>
              </a:tabLst>
            </a:pPr>
            <a:r>
              <a:rPr sz="2600" spc="-20" dirty="0">
                <a:latin typeface="Perpetua"/>
                <a:cs typeface="Perpetua"/>
              </a:rPr>
              <a:t>	Data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5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	a	</a:t>
            </a:r>
            <a:r>
              <a:rPr sz="2600" spc="-40" dirty="0">
                <a:latin typeface="Perpetua"/>
                <a:cs typeface="Perpetua"/>
              </a:rPr>
              <a:t>raw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5" dirty="0">
                <a:latin typeface="Perpetua"/>
                <a:cs typeface="Perpetua"/>
              </a:rPr>
              <a:t>a</a:t>
            </a:r>
            <a:r>
              <a:rPr sz="2600" spc="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spc="-10" dirty="0">
                <a:latin typeface="Perpetua"/>
                <a:cs typeface="Perpetua"/>
              </a:rPr>
              <a:t>unorganized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5" dirty="0">
                <a:latin typeface="Perpetua"/>
                <a:cs typeface="Perpetua"/>
              </a:rPr>
              <a:t>fact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20" dirty="0">
                <a:latin typeface="Perpetua"/>
                <a:cs typeface="Perpetua"/>
              </a:rPr>
              <a:t>that</a:t>
            </a:r>
            <a:r>
              <a:rPr sz="2600" dirty="0">
                <a:latin typeface="Perpetua"/>
                <a:cs typeface="Perpetua"/>
              </a:rPr>
              <a:t>		</a:t>
            </a:r>
            <a:r>
              <a:rPr sz="2600" spc="-5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0" dirty="0">
                <a:latin typeface="Perpetua"/>
                <a:cs typeface="Perpetua"/>
              </a:rPr>
              <a:t>required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-10" dirty="0">
                <a:latin typeface="Perpetua"/>
                <a:cs typeface="Perpetua"/>
              </a:rPr>
              <a:t>to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spc="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 </a:t>
            </a:r>
            <a:r>
              <a:rPr sz="2600" spc="-10" dirty="0">
                <a:latin typeface="Perpetua"/>
                <a:cs typeface="Perpetua"/>
              </a:rPr>
              <a:t>processed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make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meaningful.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individual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units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information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59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In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analytical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processes,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represented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variables.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Data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always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interpreted,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human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 machine,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45" dirty="0">
                <a:latin typeface="Perpetua"/>
                <a:cs typeface="Perpetua"/>
              </a:rPr>
              <a:t>derive </a:t>
            </a:r>
            <a:r>
              <a:rPr sz="2600" dirty="0">
                <a:latin typeface="Perpetua"/>
                <a:cs typeface="Perpetua"/>
              </a:rPr>
              <a:t>meaning.</a:t>
            </a:r>
            <a:r>
              <a:rPr sz="2600" spc="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So,</a:t>
            </a:r>
            <a:r>
              <a:rPr sz="2600" spc="4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5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0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meaningless.</a:t>
            </a:r>
            <a:r>
              <a:rPr sz="2600" spc="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5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contains</a:t>
            </a:r>
            <a:r>
              <a:rPr sz="2600" spc="50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numbers, statements,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characters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raw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form.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847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2101596"/>
            <a:ext cx="9027160" cy="5125720"/>
            <a:chOff x="515112" y="2101596"/>
            <a:chExt cx="9027160" cy="51257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68" y="2101596"/>
              <a:ext cx="8229599" cy="178460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968" y="3886200"/>
              <a:ext cx="8229599" cy="81229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78751" y="4958556"/>
            <a:ext cx="63512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In</a:t>
            </a:r>
            <a:r>
              <a:rPr sz="1800" spc="8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example</a:t>
            </a:r>
            <a:r>
              <a:rPr sz="1800" spc="9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mentioned</a:t>
            </a:r>
            <a:r>
              <a:rPr sz="1800" spc="7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above,</a:t>
            </a:r>
            <a:r>
              <a:rPr sz="1800" spc="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9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items</a:t>
            </a:r>
            <a:r>
              <a:rPr sz="1800" spc="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such</a:t>
            </a:r>
            <a:r>
              <a:rPr sz="1800" spc="9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as</a:t>
            </a:r>
            <a:r>
              <a:rPr sz="1800" spc="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ID,</a:t>
            </a:r>
            <a:r>
              <a:rPr sz="1800" spc="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Age,</a:t>
            </a:r>
            <a:r>
              <a:rPr sz="1800" spc="1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Gender,</a:t>
            </a:r>
            <a:r>
              <a:rPr sz="1800" spc="2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First, </a:t>
            </a:r>
            <a:r>
              <a:rPr sz="1800" dirty="0">
                <a:latin typeface="Perpetua"/>
                <a:cs typeface="Perpetua"/>
              </a:rPr>
              <a:t>Middle,</a:t>
            </a:r>
            <a:r>
              <a:rPr sz="1800" spc="6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Last,</a:t>
            </a:r>
            <a:r>
              <a:rPr sz="1800" spc="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Street,</a:t>
            </a:r>
            <a:r>
              <a:rPr sz="1800" spc="80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Locality,</a:t>
            </a:r>
            <a:r>
              <a:rPr sz="1800" spc="8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etc.,</a:t>
            </a:r>
            <a:r>
              <a:rPr sz="1800" spc="6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are</a:t>
            </a:r>
            <a:r>
              <a:rPr sz="1800" spc="14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elementary</a:t>
            </a:r>
            <a:r>
              <a:rPr sz="1800" spc="15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data</a:t>
            </a:r>
            <a:r>
              <a:rPr sz="1800" spc="15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items.</a:t>
            </a:r>
            <a:r>
              <a:rPr sz="1800" spc="8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In</a:t>
            </a:r>
            <a:r>
              <a:rPr sz="1800" spc="13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contrast,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5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Name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16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Address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are</a:t>
            </a:r>
            <a:r>
              <a:rPr sz="1800" spc="-4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group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data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spc="-10" dirty="0">
                <a:latin typeface="Perpetua"/>
                <a:cs typeface="Perpetua"/>
              </a:rPr>
              <a:t>items.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0" dirty="0"/>
              <a:t>Information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15083"/>
            <a:ext cx="7086600" cy="22358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Information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processed,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organized,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structured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90" dirty="0">
                <a:latin typeface="Perpetua"/>
                <a:cs typeface="Perpetua"/>
              </a:rPr>
              <a:t>data.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spc="-140" dirty="0">
                <a:latin typeface="Perpetua"/>
                <a:cs typeface="Perpetua"/>
              </a:rPr>
              <a:t>We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information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significant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ways.</a:t>
            </a:r>
            <a:endParaRPr sz="2600">
              <a:latin typeface="Perpetua"/>
              <a:cs typeface="Perpetua"/>
            </a:endParaRPr>
          </a:p>
          <a:p>
            <a:pPr marL="287020" marR="9525" indent="-274955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335280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researcher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evaluate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hypothesis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basis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collected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data.</a:t>
            </a:r>
            <a:r>
              <a:rPr sz="2600" spc="-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businessman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analyzes,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organizes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collected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makes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business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decisions.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12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spc="-60" dirty="0"/>
              <a:t>information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898903"/>
            <a:ext cx="9144000" cy="5416550"/>
            <a:chOff x="457200" y="1898903"/>
            <a:chExt cx="9144000" cy="5416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39" y="1905000"/>
              <a:ext cx="8785860" cy="198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1898903"/>
              <a:ext cx="9144000" cy="5416550"/>
            </a:xfrm>
            <a:custGeom>
              <a:avLst/>
              <a:gdLst/>
              <a:ahLst/>
              <a:cxnLst/>
              <a:rect l="l" t="t" r="r" b="b"/>
              <a:pathLst>
                <a:path w="9144000" h="5416550">
                  <a:moveTo>
                    <a:pt x="9144000" y="0"/>
                  </a:moveTo>
                  <a:lnTo>
                    <a:pt x="9137904" y="0"/>
                  </a:lnTo>
                  <a:lnTo>
                    <a:pt x="9137904" y="13716"/>
                  </a:lnTo>
                  <a:lnTo>
                    <a:pt x="9137904" y="452628"/>
                  </a:lnTo>
                  <a:lnTo>
                    <a:pt x="9137904" y="1987296"/>
                  </a:lnTo>
                  <a:lnTo>
                    <a:pt x="4757928" y="1987296"/>
                  </a:lnTo>
                  <a:lnTo>
                    <a:pt x="4757928" y="1746504"/>
                  </a:lnTo>
                  <a:lnTo>
                    <a:pt x="9137904" y="1746504"/>
                  </a:lnTo>
                  <a:lnTo>
                    <a:pt x="9137904" y="1734312"/>
                  </a:lnTo>
                  <a:lnTo>
                    <a:pt x="4757928" y="1734312"/>
                  </a:lnTo>
                  <a:lnTo>
                    <a:pt x="4757928" y="1281684"/>
                  </a:lnTo>
                  <a:lnTo>
                    <a:pt x="9137904" y="1281684"/>
                  </a:lnTo>
                  <a:lnTo>
                    <a:pt x="9137904" y="1267968"/>
                  </a:lnTo>
                  <a:lnTo>
                    <a:pt x="4757928" y="1267968"/>
                  </a:lnTo>
                  <a:lnTo>
                    <a:pt x="4757928" y="490728"/>
                  </a:lnTo>
                  <a:lnTo>
                    <a:pt x="9137904" y="490728"/>
                  </a:lnTo>
                  <a:lnTo>
                    <a:pt x="9137904" y="452628"/>
                  </a:lnTo>
                  <a:lnTo>
                    <a:pt x="4757928" y="452628"/>
                  </a:lnTo>
                  <a:lnTo>
                    <a:pt x="4757928" y="13716"/>
                  </a:lnTo>
                  <a:lnTo>
                    <a:pt x="9137904" y="13716"/>
                  </a:lnTo>
                  <a:lnTo>
                    <a:pt x="9137904" y="0"/>
                  </a:lnTo>
                  <a:lnTo>
                    <a:pt x="4757928" y="0"/>
                  </a:lnTo>
                  <a:lnTo>
                    <a:pt x="4744212" y="0"/>
                  </a:lnTo>
                  <a:lnTo>
                    <a:pt x="4744212" y="13716"/>
                  </a:lnTo>
                  <a:lnTo>
                    <a:pt x="4744212" y="1987296"/>
                  </a:lnTo>
                  <a:lnTo>
                    <a:pt x="364236" y="1987296"/>
                  </a:lnTo>
                  <a:lnTo>
                    <a:pt x="364236" y="1746504"/>
                  </a:lnTo>
                  <a:lnTo>
                    <a:pt x="4744212" y="1746504"/>
                  </a:lnTo>
                  <a:lnTo>
                    <a:pt x="4744212" y="1734312"/>
                  </a:lnTo>
                  <a:lnTo>
                    <a:pt x="364236" y="1734312"/>
                  </a:lnTo>
                  <a:lnTo>
                    <a:pt x="364236" y="1281684"/>
                  </a:lnTo>
                  <a:lnTo>
                    <a:pt x="4744212" y="1281684"/>
                  </a:lnTo>
                  <a:lnTo>
                    <a:pt x="4744212" y="1267968"/>
                  </a:lnTo>
                  <a:lnTo>
                    <a:pt x="364236" y="1267968"/>
                  </a:lnTo>
                  <a:lnTo>
                    <a:pt x="364236" y="490728"/>
                  </a:lnTo>
                  <a:lnTo>
                    <a:pt x="4744212" y="490728"/>
                  </a:lnTo>
                  <a:lnTo>
                    <a:pt x="4744212" y="452628"/>
                  </a:lnTo>
                  <a:lnTo>
                    <a:pt x="364236" y="452628"/>
                  </a:lnTo>
                  <a:lnTo>
                    <a:pt x="364236" y="13716"/>
                  </a:lnTo>
                  <a:lnTo>
                    <a:pt x="4744212" y="13716"/>
                  </a:lnTo>
                  <a:lnTo>
                    <a:pt x="4744212" y="0"/>
                  </a:lnTo>
                  <a:lnTo>
                    <a:pt x="364236" y="0"/>
                  </a:lnTo>
                  <a:lnTo>
                    <a:pt x="352044" y="0"/>
                  </a:lnTo>
                  <a:lnTo>
                    <a:pt x="352044" y="13716"/>
                  </a:lnTo>
                  <a:lnTo>
                    <a:pt x="352044" y="1987296"/>
                  </a:lnTo>
                  <a:lnTo>
                    <a:pt x="0" y="1987296"/>
                  </a:lnTo>
                  <a:lnTo>
                    <a:pt x="0" y="5416296"/>
                  </a:lnTo>
                  <a:lnTo>
                    <a:pt x="9144000" y="5416296"/>
                  </a:lnTo>
                  <a:lnTo>
                    <a:pt x="9144000" y="1987296"/>
                  </a:lnTo>
                  <a:lnTo>
                    <a:pt x="9144000" y="1746504"/>
                  </a:lnTo>
                  <a:lnTo>
                    <a:pt x="9144000" y="137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5339" y="3886200"/>
              <a:ext cx="8785860" cy="3429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09244" y="3886199"/>
              <a:ext cx="8792210" cy="3429635"/>
            </a:xfrm>
            <a:custGeom>
              <a:avLst/>
              <a:gdLst/>
              <a:ahLst/>
              <a:cxnLst/>
              <a:rect l="l" t="t" r="r" b="b"/>
              <a:pathLst>
                <a:path w="8792210" h="3429634">
                  <a:moveTo>
                    <a:pt x="8791956" y="0"/>
                  </a:moveTo>
                  <a:lnTo>
                    <a:pt x="8785860" y="0"/>
                  </a:lnTo>
                  <a:lnTo>
                    <a:pt x="8785860" y="548640"/>
                  </a:lnTo>
                  <a:lnTo>
                    <a:pt x="8785860" y="562356"/>
                  </a:lnTo>
                  <a:lnTo>
                    <a:pt x="8785860" y="3422904"/>
                  </a:lnTo>
                  <a:lnTo>
                    <a:pt x="4405884" y="3422904"/>
                  </a:lnTo>
                  <a:lnTo>
                    <a:pt x="4405884" y="2633472"/>
                  </a:lnTo>
                  <a:lnTo>
                    <a:pt x="8785860" y="2633472"/>
                  </a:lnTo>
                  <a:lnTo>
                    <a:pt x="8785860" y="2619756"/>
                  </a:lnTo>
                  <a:lnTo>
                    <a:pt x="4405884" y="2619756"/>
                  </a:lnTo>
                  <a:lnTo>
                    <a:pt x="4405884" y="2168652"/>
                  </a:lnTo>
                  <a:lnTo>
                    <a:pt x="8785860" y="2168652"/>
                  </a:lnTo>
                  <a:lnTo>
                    <a:pt x="8785860" y="2154936"/>
                  </a:lnTo>
                  <a:lnTo>
                    <a:pt x="4405884" y="2154936"/>
                  </a:lnTo>
                  <a:lnTo>
                    <a:pt x="4405884" y="1365504"/>
                  </a:lnTo>
                  <a:lnTo>
                    <a:pt x="8785860" y="1365504"/>
                  </a:lnTo>
                  <a:lnTo>
                    <a:pt x="8785860" y="1351788"/>
                  </a:lnTo>
                  <a:lnTo>
                    <a:pt x="4405884" y="1351788"/>
                  </a:lnTo>
                  <a:lnTo>
                    <a:pt x="4405884" y="562356"/>
                  </a:lnTo>
                  <a:lnTo>
                    <a:pt x="8785860" y="562356"/>
                  </a:lnTo>
                  <a:lnTo>
                    <a:pt x="8785860" y="548640"/>
                  </a:lnTo>
                  <a:lnTo>
                    <a:pt x="4405884" y="548640"/>
                  </a:lnTo>
                  <a:lnTo>
                    <a:pt x="4405884" y="0"/>
                  </a:lnTo>
                  <a:lnTo>
                    <a:pt x="4392168" y="0"/>
                  </a:lnTo>
                  <a:lnTo>
                    <a:pt x="4392168" y="3422904"/>
                  </a:lnTo>
                  <a:lnTo>
                    <a:pt x="12192" y="3422904"/>
                  </a:lnTo>
                  <a:lnTo>
                    <a:pt x="12192" y="2633472"/>
                  </a:lnTo>
                  <a:lnTo>
                    <a:pt x="4392168" y="2633472"/>
                  </a:lnTo>
                  <a:lnTo>
                    <a:pt x="4392168" y="2619756"/>
                  </a:lnTo>
                  <a:lnTo>
                    <a:pt x="12192" y="2619756"/>
                  </a:lnTo>
                  <a:lnTo>
                    <a:pt x="12192" y="2168652"/>
                  </a:lnTo>
                  <a:lnTo>
                    <a:pt x="4392168" y="2168652"/>
                  </a:lnTo>
                  <a:lnTo>
                    <a:pt x="4392168" y="2154936"/>
                  </a:lnTo>
                  <a:lnTo>
                    <a:pt x="12192" y="2154936"/>
                  </a:lnTo>
                  <a:lnTo>
                    <a:pt x="12192" y="1365504"/>
                  </a:lnTo>
                  <a:lnTo>
                    <a:pt x="4392168" y="1365504"/>
                  </a:lnTo>
                  <a:lnTo>
                    <a:pt x="4392168" y="1351788"/>
                  </a:lnTo>
                  <a:lnTo>
                    <a:pt x="12192" y="1351788"/>
                  </a:lnTo>
                  <a:lnTo>
                    <a:pt x="12192" y="562356"/>
                  </a:lnTo>
                  <a:lnTo>
                    <a:pt x="4392168" y="562356"/>
                  </a:lnTo>
                  <a:lnTo>
                    <a:pt x="4392168" y="548640"/>
                  </a:lnTo>
                  <a:lnTo>
                    <a:pt x="12192" y="548640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3429012"/>
                  </a:lnTo>
                  <a:lnTo>
                    <a:pt x="12192" y="3429012"/>
                  </a:lnTo>
                  <a:lnTo>
                    <a:pt x="4392168" y="3429000"/>
                  </a:lnTo>
                  <a:lnTo>
                    <a:pt x="4405884" y="3429012"/>
                  </a:lnTo>
                  <a:lnTo>
                    <a:pt x="8785860" y="3429000"/>
                  </a:lnTo>
                  <a:lnTo>
                    <a:pt x="8791956" y="3429000"/>
                  </a:lnTo>
                  <a:lnTo>
                    <a:pt x="8791956" y="548640"/>
                  </a:lnTo>
                  <a:lnTo>
                    <a:pt x="87919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Data</a:t>
            </a:r>
          </a:p>
          <a:p>
            <a:pPr marL="228600">
              <a:lnSpc>
                <a:spcPct val="100000"/>
              </a:lnSpc>
              <a:spcBef>
                <a:spcPts val="150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refers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raw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facts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that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have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no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meaning</a:t>
            </a:r>
          </a:p>
          <a:p>
            <a:pPr marL="228600" marR="859790">
              <a:lnSpc>
                <a:spcPct val="169400"/>
              </a:lnSpc>
              <a:spcBef>
                <a:spcPts val="2665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independent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of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information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not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enough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take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decision.</a:t>
            </a:r>
          </a:p>
          <a:p>
            <a:pPr marL="228600" marR="17780">
              <a:lnSpc>
                <a:spcPct val="292800"/>
              </a:lnSpc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raw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form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and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unprocessed</a:t>
            </a:r>
            <a:r>
              <a:rPr b="0" spc="30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and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unstructured </a:t>
            </a:r>
            <a:r>
              <a:rPr b="0" spc="-105" dirty="0">
                <a:solidFill>
                  <a:srgbClr val="000000"/>
                </a:solidFill>
                <a:latin typeface="Perpetua"/>
                <a:cs typeface="Perpetua"/>
              </a:rPr>
              <a:t>We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cannot</a:t>
            </a:r>
            <a:r>
              <a:rPr b="0" spc="-6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make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decision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based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on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the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b="0" spc="-20" dirty="0">
              <a:solidFill>
                <a:srgbClr val="000000"/>
              </a:solidFill>
              <a:latin typeface="Perpetua"/>
              <a:cs typeface="Perpetua"/>
            </a:endParaRPr>
          </a:p>
          <a:p>
            <a:pPr marL="228600">
              <a:lnSpc>
                <a:spcPct val="100000"/>
              </a:lnSpc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normally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huge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volume</a:t>
            </a:r>
          </a:p>
          <a:p>
            <a:pPr marL="228600" marR="271780" indent="-178435">
              <a:lnSpc>
                <a:spcPct val="100000"/>
              </a:lnSpc>
              <a:spcBef>
                <a:spcPts val="1750"/>
              </a:spcBef>
            </a:pPr>
            <a:r>
              <a:rPr sz="2100" b="0" spc="-75" baseline="-39682" dirty="0">
                <a:latin typeface="Franklin Gothic Medium"/>
                <a:cs typeface="Franklin Gothic Medium"/>
              </a:rPr>
              <a:t>13</a:t>
            </a:r>
            <a:r>
              <a:rPr sz="1800" b="0" spc="-5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sz="1800"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sz="1800"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not</a:t>
            </a:r>
            <a:r>
              <a:rPr sz="1800"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spc="-10" dirty="0">
                <a:solidFill>
                  <a:srgbClr val="000000"/>
                </a:solidFill>
                <a:latin typeface="Perpetua"/>
                <a:cs typeface="Perpetua"/>
              </a:rPr>
              <a:t>always</a:t>
            </a:r>
            <a:r>
              <a:rPr sz="1800"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useful</a:t>
            </a:r>
            <a:r>
              <a:rPr sz="1800"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as</a:t>
            </a:r>
            <a:r>
              <a:rPr sz="1800"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it</a:t>
            </a:r>
            <a:r>
              <a:rPr sz="1800"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sz="1800"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needed</a:t>
            </a:r>
            <a:r>
              <a:rPr sz="1800"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sz="1800"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sz="1800" b="0" spc="-25" dirty="0">
                <a:solidFill>
                  <a:srgbClr val="000000"/>
                </a:solidFill>
                <a:latin typeface="Perpetua"/>
                <a:cs typeface="Perpetua"/>
              </a:rPr>
              <a:t>be </a:t>
            </a:r>
            <a:r>
              <a:rPr sz="1800" b="0" spc="-10" dirty="0">
                <a:solidFill>
                  <a:srgbClr val="000000"/>
                </a:solidFill>
                <a:latin typeface="Perpetua"/>
                <a:cs typeface="Perpetua"/>
              </a:rPr>
              <a:t>processed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Information</a:t>
            </a:r>
          </a:p>
          <a:p>
            <a:pPr marL="12700" marR="238760" indent="-635">
              <a:lnSpc>
                <a:spcPct val="100000"/>
              </a:lnSpc>
              <a:spcBef>
                <a:spcPts val="150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refers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processed</a:t>
            </a:r>
            <a:r>
              <a:rPr b="0" spc="-6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that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has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purpose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and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meanings.</a:t>
            </a: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dependent</a:t>
            </a:r>
            <a:r>
              <a:rPr b="0" spc="-7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on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data</a:t>
            </a:r>
          </a:p>
          <a:p>
            <a:pPr marL="12700" marR="93980">
              <a:lnSpc>
                <a:spcPct val="100000"/>
              </a:lnSpc>
              <a:spcBef>
                <a:spcPts val="150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The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sufficient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help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to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make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a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decision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the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respective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context</a:t>
            </a: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Processed</a:t>
            </a:r>
            <a:r>
              <a:rPr b="0" spc="-9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and</a:t>
            </a:r>
            <a:r>
              <a:rPr b="0" spc="-4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structured</a:t>
            </a:r>
          </a:p>
          <a:p>
            <a:pPr marL="12700" marR="15875" indent="-635">
              <a:lnSpc>
                <a:spcPct val="100000"/>
              </a:lnSpc>
              <a:spcBef>
                <a:spcPts val="4165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Meaningful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data,</a:t>
            </a:r>
            <a:r>
              <a:rPr b="0" spc="-9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e</a:t>
            </a:r>
            <a:r>
              <a:rPr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can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be</a:t>
            </a:r>
            <a:r>
              <a:rPr b="0" spc="-3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used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to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make</a:t>
            </a:r>
            <a:r>
              <a:rPr b="0" spc="-7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decisions.</a:t>
            </a: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normally</a:t>
            </a:r>
            <a:r>
              <a:rPr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short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</a:t>
            </a:r>
            <a:r>
              <a:rPr b="0" spc="-1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volume</a:t>
            </a:r>
          </a:p>
          <a:p>
            <a:pPr marL="12700" marR="5080">
              <a:lnSpc>
                <a:spcPct val="100000"/>
              </a:lnSpc>
              <a:spcBef>
                <a:spcPts val="1750"/>
              </a:spcBef>
            </a:pP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Information</a:t>
            </a:r>
            <a:r>
              <a:rPr b="0" spc="-4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is</a:t>
            </a:r>
            <a:r>
              <a:rPr b="0" spc="-2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always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useful</a:t>
            </a:r>
            <a:r>
              <a:rPr b="0" spc="-5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as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dirty="0">
                <a:solidFill>
                  <a:srgbClr val="000000"/>
                </a:solidFill>
                <a:latin typeface="Perpetua"/>
                <a:cs typeface="Perpetua"/>
              </a:rPr>
              <a:t>it</a:t>
            </a:r>
            <a:r>
              <a:rPr b="0" spc="-3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provides</a:t>
            </a:r>
            <a:r>
              <a:rPr b="0" spc="-55" dirty="0">
                <a:solidFill>
                  <a:srgbClr val="000000"/>
                </a:solidFill>
                <a:latin typeface="Perpetua"/>
                <a:cs typeface="Perpetua"/>
              </a:rPr>
              <a:t> </a:t>
            </a:r>
            <a:r>
              <a:rPr b="0" spc="-20" dirty="0">
                <a:solidFill>
                  <a:srgbClr val="000000"/>
                </a:solidFill>
                <a:latin typeface="Perpetua"/>
                <a:cs typeface="Perpetua"/>
              </a:rPr>
              <a:t>some </a:t>
            </a:r>
            <a:r>
              <a:rPr b="0" spc="-10" dirty="0">
                <a:solidFill>
                  <a:srgbClr val="000000"/>
                </a:solidFill>
                <a:latin typeface="Perpetua"/>
                <a:cs typeface="Perpetua"/>
              </a:rPr>
              <a:t>meaning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7336" y="6770676"/>
            <a:ext cx="2298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14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314" y="1815083"/>
            <a:ext cx="7625715" cy="3896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1959" indent="-429259" algn="just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b="1" spc="-10" dirty="0">
                <a:latin typeface="Perpetua"/>
                <a:cs typeface="Perpetua"/>
              </a:rPr>
              <a:t>Knowledge</a:t>
            </a:r>
            <a:r>
              <a:rPr sz="2600" b="1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what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know.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Knowledge</a:t>
            </a:r>
            <a:r>
              <a:rPr sz="2600" spc="4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1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unique</a:t>
            </a:r>
            <a:r>
              <a:rPr sz="2600" spc="409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4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each</a:t>
            </a:r>
            <a:r>
              <a:rPr sz="2600" spc="4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individual</a:t>
            </a:r>
            <a:r>
              <a:rPr sz="2600" spc="40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4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09" dirty="0">
                <a:latin typeface="Perpetua"/>
                <a:cs typeface="Perpetua"/>
              </a:rPr>
              <a:t>  </a:t>
            </a:r>
            <a:r>
              <a:rPr sz="2600" spc="-415" dirty="0">
                <a:latin typeface="Perpetua"/>
                <a:cs typeface="Perpetua"/>
              </a:rPr>
              <a:t>the</a:t>
            </a:r>
            <a:r>
              <a:rPr sz="2600" dirty="0">
                <a:latin typeface="Perpetua"/>
                <a:cs typeface="Perpetua"/>
              </a:rPr>
              <a:t> accumulation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past</a:t>
            </a:r>
            <a:r>
              <a:rPr sz="2600" spc="2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experience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insight</a:t>
            </a:r>
            <a:r>
              <a:rPr sz="2600" spc="2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2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shapes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lens</a:t>
            </a:r>
            <a:r>
              <a:rPr sz="2600" spc="3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3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which</a:t>
            </a:r>
            <a:r>
              <a:rPr sz="2600" spc="3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3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interpret,</a:t>
            </a:r>
            <a:r>
              <a:rPr sz="2600" spc="28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3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assign</a:t>
            </a:r>
            <a:r>
              <a:rPr sz="2600" spc="3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meaning</a:t>
            </a:r>
            <a:r>
              <a:rPr sz="2600" spc="320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to, </a:t>
            </a:r>
            <a:r>
              <a:rPr sz="2600" spc="-10" dirty="0">
                <a:latin typeface="Perpetua"/>
                <a:cs typeface="Perpetua"/>
              </a:rPr>
              <a:t>information.</a:t>
            </a:r>
            <a:endParaRPr sz="2600">
              <a:latin typeface="Perpetua"/>
              <a:cs typeface="Perpetua"/>
            </a:endParaRPr>
          </a:p>
          <a:p>
            <a:pPr marL="287020" marR="1651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For</a:t>
            </a:r>
            <a:r>
              <a:rPr sz="2600" spc="3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knowledge</a:t>
            </a:r>
            <a:r>
              <a:rPr sz="2600" spc="3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result</a:t>
            </a:r>
            <a:r>
              <a:rPr sz="2600" spc="3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3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action,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3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individual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must</a:t>
            </a:r>
            <a:r>
              <a:rPr sz="2600" spc="315" dirty="0">
                <a:latin typeface="Perpetua"/>
                <a:cs typeface="Perpetua"/>
              </a:rPr>
              <a:t> </a:t>
            </a:r>
            <a:r>
              <a:rPr sz="2600" spc="-35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authority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capacity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make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implement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decision.</a:t>
            </a:r>
            <a:endParaRPr sz="2600">
              <a:latin typeface="Perpetua"/>
              <a:cs typeface="Perpetua"/>
            </a:endParaRPr>
          </a:p>
          <a:p>
            <a:pPr marL="287020" marR="1905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Knowledge</a:t>
            </a:r>
            <a:r>
              <a:rPr sz="2600" spc="490" dirty="0">
                <a:latin typeface="Perpetua"/>
                <a:cs typeface="Perpetua"/>
              </a:rPr>
              <a:t>    </a:t>
            </a:r>
            <a:r>
              <a:rPr sz="2600" dirty="0">
                <a:latin typeface="Perpetua"/>
                <a:cs typeface="Perpetua"/>
              </a:rPr>
              <a:t>(and</a:t>
            </a:r>
            <a:r>
              <a:rPr sz="2600" spc="495" dirty="0">
                <a:latin typeface="Perpetua"/>
                <a:cs typeface="Perpetua"/>
              </a:rPr>
              <a:t>    </a:t>
            </a:r>
            <a:r>
              <a:rPr sz="2600" dirty="0">
                <a:latin typeface="Perpetua"/>
                <a:cs typeface="Perpetua"/>
              </a:rPr>
              <a:t>authority)</a:t>
            </a:r>
            <a:r>
              <a:rPr sz="2600" spc="495" dirty="0">
                <a:latin typeface="Perpetua"/>
                <a:cs typeface="Perpetua"/>
              </a:rPr>
              <a:t>  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495" dirty="0">
                <a:latin typeface="Perpetua"/>
                <a:cs typeface="Perpetua"/>
              </a:rPr>
              <a:t>    </a:t>
            </a:r>
            <a:r>
              <a:rPr sz="2600" dirty="0">
                <a:latin typeface="Perpetua"/>
                <a:cs typeface="Perpetua"/>
              </a:rPr>
              <a:t>needed</a:t>
            </a:r>
            <a:r>
              <a:rPr sz="2600" spc="490" dirty="0">
                <a:latin typeface="Perpetua"/>
                <a:cs typeface="Perpetua"/>
              </a:rPr>
              <a:t>    </a:t>
            </a:r>
            <a:r>
              <a:rPr sz="2600" spc="-665" dirty="0">
                <a:latin typeface="Perpetua"/>
                <a:cs typeface="Perpetua"/>
              </a:rPr>
              <a:t>to</a:t>
            </a:r>
            <a:r>
              <a:rPr sz="2600" dirty="0">
                <a:latin typeface="Perpetua"/>
                <a:cs typeface="Perpetua"/>
              </a:rPr>
              <a:t> produce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actionable</a:t>
            </a:r>
            <a:r>
              <a:rPr sz="2600" b="1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information</a:t>
            </a:r>
            <a:r>
              <a:rPr sz="2600" b="1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lead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impact</a:t>
            </a:r>
            <a:r>
              <a:rPr sz="2600" b="1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Data,</a:t>
            </a:r>
            <a:r>
              <a:rPr spc="-165" dirty="0"/>
              <a:t> </a:t>
            </a:r>
            <a:r>
              <a:rPr spc="-60" dirty="0"/>
              <a:t>Information</a:t>
            </a:r>
            <a:r>
              <a:rPr spc="-165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spc="-20" dirty="0"/>
              <a:t>Knowledge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58339"/>
            <a:ext cx="9027160" cy="5268595"/>
            <a:chOff x="515112" y="1958339"/>
            <a:chExt cx="9027160" cy="5268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700" y="1958339"/>
              <a:ext cx="8330183" cy="19278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5769" y="6770676"/>
            <a:ext cx="2317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15</a:t>
            </a:r>
            <a:endParaRPr sz="1400">
              <a:latin typeface="Franklin Gothic Medium"/>
              <a:cs typeface="Franklin Gothic Medium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700" y="3886200"/>
            <a:ext cx="8330183" cy="24201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07040" y="6670037"/>
            <a:ext cx="5621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Perpetua"/>
                <a:cs typeface="Perpetua"/>
              </a:rPr>
              <a:t>Figure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1:The flow</a:t>
            </a:r>
            <a:r>
              <a:rPr sz="1800" b="1" spc="-4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from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data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to</a:t>
            </a:r>
            <a:r>
              <a:rPr sz="1800" b="1" spc="-5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information</a:t>
            </a:r>
            <a:r>
              <a:rPr sz="1800" b="1" spc="-20" dirty="0">
                <a:latin typeface="Perpetua"/>
                <a:cs typeface="Perpetua"/>
              </a:rPr>
              <a:t> </a:t>
            </a:r>
            <a:r>
              <a:rPr sz="1800" b="1" dirty="0">
                <a:latin typeface="Perpetua"/>
                <a:cs typeface="Perpetua"/>
              </a:rPr>
              <a:t>to</a:t>
            </a:r>
            <a:r>
              <a:rPr sz="1800" b="1" spc="-25" dirty="0">
                <a:latin typeface="Perpetua"/>
                <a:cs typeface="Perpetua"/>
              </a:rPr>
              <a:t> </a:t>
            </a:r>
            <a:r>
              <a:rPr sz="1800" b="1" spc="-10" dirty="0">
                <a:latin typeface="Perpetua"/>
                <a:cs typeface="Perpetua"/>
              </a:rPr>
              <a:t>knowledge.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23672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-235" dirty="0"/>
              <a:t> </a:t>
            </a:r>
            <a:r>
              <a:rPr spc="-55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89" y="1887692"/>
            <a:ext cx="7629525" cy="40436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dirty="0">
                <a:latin typeface="Perpetua"/>
                <a:cs typeface="Perpetua"/>
              </a:rPr>
              <a:t>	Data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type</a:t>
            </a:r>
            <a:r>
              <a:rPr sz="2800" spc="8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refers</a:t>
            </a:r>
            <a:r>
              <a:rPr sz="2800" spc="7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to</a:t>
            </a:r>
            <a:r>
              <a:rPr sz="2800" spc="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kind</a:t>
            </a:r>
            <a:r>
              <a:rPr sz="2800" spc="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of</a:t>
            </a:r>
            <a:r>
              <a:rPr sz="2800" spc="8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6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variable</a:t>
            </a:r>
            <a:r>
              <a:rPr sz="2800" spc="8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may</a:t>
            </a:r>
            <a:r>
              <a:rPr sz="2800" spc="85" dirty="0">
                <a:latin typeface="Perpetua"/>
                <a:cs typeface="Perpetua"/>
              </a:rPr>
              <a:t> </a:t>
            </a:r>
            <a:r>
              <a:rPr sz="2800" spc="-185" dirty="0">
                <a:latin typeface="Perpetua"/>
                <a:cs typeface="Perpetua"/>
              </a:rPr>
              <a:t>store. </a:t>
            </a:r>
            <a:r>
              <a:rPr sz="2800" dirty="0">
                <a:latin typeface="Perpetua"/>
                <a:cs typeface="Perpetua"/>
              </a:rPr>
              <a:t>Whenever</a:t>
            </a:r>
            <a:r>
              <a:rPr sz="2800" spc="229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we</a:t>
            </a:r>
            <a:r>
              <a:rPr sz="2800" spc="26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try</a:t>
            </a:r>
            <a:r>
              <a:rPr sz="2800" spc="2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to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implement</a:t>
            </a:r>
            <a:r>
              <a:rPr sz="2800" spc="2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any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algorithm</a:t>
            </a:r>
            <a:r>
              <a:rPr sz="2800" spc="2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some </a:t>
            </a:r>
            <a:r>
              <a:rPr sz="2800" dirty="0">
                <a:latin typeface="Perpetua"/>
                <a:cs typeface="Perpetua"/>
              </a:rPr>
              <a:t>programming</a:t>
            </a:r>
            <a:r>
              <a:rPr sz="2800" spc="-114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language,</a:t>
            </a:r>
            <a:r>
              <a:rPr sz="2800" spc="-1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we</a:t>
            </a:r>
            <a:r>
              <a:rPr sz="2800" spc="-7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need</a:t>
            </a:r>
            <a:r>
              <a:rPr sz="2800" spc="-7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variables.</a:t>
            </a:r>
            <a:endParaRPr sz="2800">
              <a:latin typeface="Perpetua"/>
              <a:cs typeface="Perpetua"/>
            </a:endParaRPr>
          </a:p>
          <a:p>
            <a:pPr marL="286385" marR="18415" indent="-274320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dirty="0">
                <a:latin typeface="Perpetua"/>
                <a:cs typeface="Perpetua"/>
              </a:rPr>
              <a:t>	A</a:t>
            </a:r>
            <a:r>
              <a:rPr sz="2800" spc="114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variable</a:t>
            </a:r>
            <a:r>
              <a:rPr sz="2800" spc="12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may</a:t>
            </a:r>
            <a:r>
              <a:rPr sz="2800" spc="12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have</a:t>
            </a:r>
            <a:r>
              <a:rPr sz="2800" spc="12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any</a:t>
            </a:r>
            <a:r>
              <a:rPr sz="2800" spc="114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value</a:t>
            </a:r>
            <a:r>
              <a:rPr sz="2800" spc="12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as</a:t>
            </a:r>
            <a:r>
              <a:rPr sz="2800" spc="114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per</a:t>
            </a:r>
            <a:r>
              <a:rPr sz="2800" spc="10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125" dirty="0">
                <a:latin typeface="Perpetua"/>
                <a:cs typeface="Perpetua"/>
              </a:rPr>
              <a:t>  </a:t>
            </a:r>
            <a:r>
              <a:rPr sz="2800" spc="-95" dirty="0">
                <a:latin typeface="Perpetua"/>
                <a:cs typeface="Perpetua"/>
              </a:rPr>
              <a:t>facilities </a:t>
            </a:r>
            <a:r>
              <a:rPr sz="2800" dirty="0">
                <a:latin typeface="Perpetua"/>
                <a:cs typeface="Perpetua"/>
              </a:rPr>
              <a:t>provided</a:t>
            </a:r>
            <a:r>
              <a:rPr sz="2800" spc="4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by</a:t>
            </a:r>
            <a:r>
              <a:rPr sz="2800" spc="3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that</a:t>
            </a:r>
            <a:r>
              <a:rPr sz="2800" spc="69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language.</a:t>
            </a:r>
            <a:r>
              <a:rPr sz="2800" spc="59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4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type</a:t>
            </a:r>
            <a:r>
              <a:rPr sz="2800" spc="40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is</a:t>
            </a:r>
            <a:r>
              <a:rPr sz="2800" spc="69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40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term</a:t>
            </a:r>
            <a:r>
              <a:rPr sz="2800" spc="45" dirty="0">
                <a:latin typeface="Perpetua"/>
                <a:cs typeface="Perpetua"/>
              </a:rPr>
              <a:t>  </a:t>
            </a:r>
            <a:r>
              <a:rPr sz="2800" spc="-20" dirty="0">
                <a:latin typeface="Perpetua"/>
                <a:cs typeface="Perpetua"/>
              </a:rPr>
              <a:t>that </a:t>
            </a:r>
            <a:r>
              <a:rPr sz="2800" dirty="0">
                <a:latin typeface="Perpetua"/>
                <a:cs typeface="Perpetua"/>
              </a:rPr>
              <a:t>specifies</a:t>
            </a:r>
            <a:r>
              <a:rPr sz="2800" spc="1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type</a:t>
            </a:r>
            <a:r>
              <a:rPr sz="2800" spc="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of</a:t>
            </a:r>
            <a:r>
              <a:rPr sz="2800" spc="1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that</a:t>
            </a:r>
            <a:r>
              <a:rPr sz="2800" spc="1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variable</a:t>
            </a:r>
            <a:r>
              <a:rPr sz="2800" spc="17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may</a:t>
            </a:r>
            <a:r>
              <a:rPr sz="2800" spc="14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hold</a:t>
            </a:r>
            <a:r>
              <a:rPr sz="2800" spc="13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</a:t>
            </a:r>
            <a:r>
              <a:rPr sz="2800" spc="160" dirty="0">
                <a:latin typeface="Perpetua"/>
                <a:cs typeface="Perpetua"/>
              </a:rPr>
              <a:t> </a:t>
            </a:r>
            <a:r>
              <a:rPr sz="2800" spc="-25" dirty="0">
                <a:latin typeface="Perpetua"/>
                <a:cs typeface="Perpetua"/>
              </a:rPr>
              <a:t>the </a:t>
            </a:r>
            <a:r>
              <a:rPr sz="2800" dirty="0">
                <a:latin typeface="Perpetua"/>
                <a:cs typeface="Perpetua"/>
              </a:rPr>
              <a:t>programming</a:t>
            </a:r>
            <a:r>
              <a:rPr sz="2800" spc="-114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language.</a:t>
            </a:r>
            <a:endParaRPr sz="2800">
              <a:latin typeface="Perpetua"/>
              <a:cs typeface="Perpetua"/>
            </a:endParaRPr>
          </a:p>
          <a:p>
            <a:pPr marL="845819" lvl="1" indent="-239395" algn="just">
              <a:lnSpc>
                <a:spcPct val="100000"/>
              </a:lnSpc>
              <a:spcBef>
                <a:spcPts val="409"/>
              </a:spcBef>
              <a:buClr>
                <a:srgbClr val="E6B1AA"/>
              </a:buClr>
              <a:buSzPct val="80357"/>
              <a:buFont typeface="Wingdings"/>
              <a:buChar char=""/>
              <a:tabLst>
                <a:tab pos="845819" algn="l"/>
              </a:tabLst>
            </a:pPr>
            <a:r>
              <a:rPr sz="2800" dirty="0">
                <a:latin typeface="Perpetua"/>
                <a:cs typeface="Perpetua"/>
              </a:rPr>
              <a:t>Built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Data</a:t>
            </a:r>
            <a:r>
              <a:rPr sz="2800" spc="-370" dirty="0">
                <a:latin typeface="Perpetua"/>
                <a:cs typeface="Perpetua"/>
              </a:rPr>
              <a:t> </a:t>
            </a:r>
            <a:r>
              <a:rPr sz="2800" spc="-70" dirty="0">
                <a:latin typeface="Perpetua"/>
                <a:cs typeface="Perpetua"/>
              </a:rPr>
              <a:t>Type-</a:t>
            </a:r>
            <a:r>
              <a:rPr sz="2800" dirty="0">
                <a:latin typeface="Perpetua"/>
                <a:cs typeface="Perpetua"/>
              </a:rPr>
              <a:t>int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,float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,char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etc.</a:t>
            </a:r>
            <a:endParaRPr sz="2800">
              <a:latin typeface="Perpetua"/>
              <a:cs typeface="Perpetua"/>
            </a:endParaRPr>
          </a:p>
          <a:p>
            <a:pPr marL="845819" lvl="1" indent="-239395" algn="just">
              <a:lnSpc>
                <a:spcPct val="100000"/>
              </a:lnSpc>
              <a:spcBef>
                <a:spcPts val="395"/>
              </a:spcBef>
              <a:buClr>
                <a:srgbClr val="E6B1AA"/>
              </a:buClr>
              <a:buSzPct val="80357"/>
              <a:buFont typeface="Wingdings"/>
              <a:buChar char=""/>
              <a:tabLst>
                <a:tab pos="845819" algn="l"/>
              </a:tabLst>
            </a:pPr>
            <a:r>
              <a:rPr sz="2800" dirty="0">
                <a:latin typeface="Perpetua"/>
                <a:cs typeface="Perpetua"/>
              </a:rPr>
              <a:t>User</a:t>
            </a:r>
            <a:r>
              <a:rPr sz="2800" spc="-7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Defined</a:t>
            </a:r>
            <a:r>
              <a:rPr sz="2800" spc="-35" dirty="0">
                <a:latin typeface="Perpetua"/>
                <a:cs typeface="Perpetua"/>
              </a:rPr>
              <a:t> </a:t>
            </a:r>
            <a:r>
              <a:rPr sz="2800" spc="-25" dirty="0">
                <a:latin typeface="Perpetua"/>
                <a:cs typeface="Perpetua"/>
              </a:rPr>
              <a:t>Data</a:t>
            </a:r>
            <a:r>
              <a:rPr sz="2800" spc="-310" dirty="0">
                <a:latin typeface="Perpetua"/>
                <a:cs typeface="Perpetua"/>
              </a:rPr>
              <a:t> </a:t>
            </a:r>
            <a:r>
              <a:rPr sz="2800" spc="-60" dirty="0">
                <a:latin typeface="Perpetua"/>
                <a:cs typeface="Perpetua"/>
              </a:rPr>
              <a:t>Type</a:t>
            </a:r>
            <a:r>
              <a:rPr sz="2800" dirty="0">
                <a:latin typeface="Perpetua"/>
                <a:cs typeface="Perpetua"/>
              </a:rPr>
              <a:t> :</a:t>
            </a:r>
            <a:r>
              <a:rPr sz="2800" spc="-15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Class,</a:t>
            </a:r>
            <a:r>
              <a:rPr sz="2800" spc="-12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structure,</a:t>
            </a:r>
            <a:r>
              <a:rPr sz="2800" spc="-1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and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union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-170" dirty="0"/>
              <a:t> </a:t>
            </a:r>
            <a:r>
              <a:rPr spc="-60" dirty="0"/>
              <a:t>Type</a:t>
            </a:r>
            <a:r>
              <a:rPr spc="-170" dirty="0"/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dirty="0"/>
              <a:t>their</a:t>
            </a:r>
            <a:r>
              <a:rPr spc="-165" dirty="0"/>
              <a:t> </a:t>
            </a:r>
            <a:r>
              <a:rPr spc="-20" dirty="0"/>
              <a:t>Size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2314955"/>
            <a:ext cx="9027160" cy="4912360"/>
            <a:chOff x="515112" y="2314955"/>
            <a:chExt cx="9027160" cy="4912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2" y="2314955"/>
              <a:ext cx="8072627" cy="157124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12" y="3886200"/>
              <a:ext cx="8072627" cy="208178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31572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-235" dirty="0"/>
              <a:t> </a:t>
            </a:r>
            <a:r>
              <a:rPr spc="-10" dirty="0"/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89" y="1887692"/>
            <a:ext cx="7614284" cy="3088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dirty="0">
                <a:latin typeface="Perpetua"/>
                <a:cs typeface="Perpetua"/>
              </a:rPr>
              <a:t>	Data</a:t>
            </a:r>
            <a:r>
              <a:rPr sz="2800" spc="250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Structure</a:t>
            </a:r>
            <a:r>
              <a:rPr sz="2800" spc="240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is</a:t>
            </a:r>
            <a:r>
              <a:rPr sz="2800" spc="24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26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particular</a:t>
            </a:r>
            <a:r>
              <a:rPr sz="2800" spc="24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way</a:t>
            </a:r>
            <a:r>
              <a:rPr sz="2800" spc="23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of</a:t>
            </a:r>
            <a:r>
              <a:rPr sz="2800" spc="245" dirty="0">
                <a:latin typeface="Perpetua"/>
                <a:cs typeface="Perpetua"/>
              </a:rPr>
              <a:t>  </a:t>
            </a:r>
            <a:r>
              <a:rPr sz="2800" dirty="0">
                <a:latin typeface="Perpetua"/>
                <a:cs typeface="Perpetua"/>
              </a:rPr>
              <a:t>storing</a:t>
            </a:r>
            <a:r>
              <a:rPr sz="2800" spc="240" dirty="0">
                <a:latin typeface="Perpetua"/>
                <a:cs typeface="Perpetua"/>
              </a:rPr>
              <a:t>  </a:t>
            </a:r>
            <a:r>
              <a:rPr sz="2800" spc="-405" dirty="0">
                <a:latin typeface="Perpetua"/>
                <a:cs typeface="Perpetua"/>
              </a:rPr>
              <a:t>and </a:t>
            </a:r>
            <a:r>
              <a:rPr sz="2800" dirty="0">
                <a:latin typeface="Perpetua"/>
                <a:cs typeface="Perpetua"/>
              </a:rPr>
              <a:t>organizing</a:t>
            </a:r>
            <a:r>
              <a:rPr sz="2800" spc="22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23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</a:t>
            </a:r>
            <a:r>
              <a:rPr sz="2800" spc="229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26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memory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of</a:t>
            </a:r>
            <a:r>
              <a:rPr sz="2800" spc="2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computer</a:t>
            </a:r>
            <a:r>
              <a:rPr sz="2800" spc="229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so</a:t>
            </a:r>
            <a:r>
              <a:rPr sz="2800" spc="254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that </a:t>
            </a:r>
            <a:r>
              <a:rPr sz="2800" dirty="0">
                <a:latin typeface="Perpetua"/>
                <a:cs typeface="Perpetua"/>
              </a:rPr>
              <a:t>these</a:t>
            </a:r>
            <a:r>
              <a:rPr sz="2800" spc="1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1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can</a:t>
            </a:r>
            <a:r>
              <a:rPr sz="2800" spc="17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easily</a:t>
            </a:r>
            <a:r>
              <a:rPr sz="2800" spc="1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be</a:t>
            </a:r>
            <a:r>
              <a:rPr sz="2800" spc="18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retrieved</a:t>
            </a:r>
            <a:r>
              <a:rPr sz="2800" spc="1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and</a:t>
            </a:r>
            <a:r>
              <a:rPr sz="2800" spc="1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efficiently</a:t>
            </a:r>
            <a:r>
              <a:rPr sz="2800" spc="15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utilized </a:t>
            </a:r>
            <a:r>
              <a:rPr sz="2800" dirty="0">
                <a:latin typeface="Perpetua"/>
                <a:cs typeface="Perpetua"/>
              </a:rPr>
              <a:t>in</a:t>
            </a:r>
            <a:r>
              <a:rPr sz="2800" spc="-5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-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future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when</a:t>
            </a:r>
            <a:r>
              <a:rPr sz="2800" spc="-3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required.</a:t>
            </a:r>
            <a:endParaRPr sz="28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dirty="0">
                <a:latin typeface="Perpetua"/>
                <a:cs typeface="Perpetua"/>
              </a:rPr>
              <a:t>	The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can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be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managed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in various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ways,</a:t>
            </a:r>
            <a:r>
              <a:rPr sz="2800" spc="-114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like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the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spc="-135" dirty="0">
                <a:latin typeface="Perpetua"/>
                <a:cs typeface="Perpetua"/>
              </a:rPr>
              <a:t>logical </a:t>
            </a:r>
            <a:r>
              <a:rPr sz="2800" dirty="0">
                <a:latin typeface="Perpetua"/>
                <a:cs typeface="Perpetua"/>
              </a:rPr>
              <a:t>or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mathematical</a:t>
            </a:r>
            <a:r>
              <a:rPr sz="2800" spc="-1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model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for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specific</a:t>
            </a:r>
            <a:r>
              <a:rPr sz="2800" spc="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organization</a:t>
            </a:r>
            <a:r>
              <a:rPr sz="2800" spc="-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of</a:t>
            </a:r>
            <a:r>
              <a:rPr sz="2800" spc="15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data </a:t>
            </a:r>
            <a:r>
              <a:rPr sz="2800" dirty="0">
                <a:latin typeface="Perpetua"/>
                <a:cs typeface="Perpetua"/>
              </a:rPr>
              <a:t>is</a:t>
            </a:r>
            <a:r>
              <a:rPr sz="2800" spc="-7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known</a:t>
            </a:r>
            <a:r>
              <a:rPr sz="2800" spc="-3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as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a</a:t>
            </a:r>
            <a:r>
              <a:rPr sz="2800" spc="-50" dirty="0">
                <a:latin typeface="Perpetua"/>
                <a:cs typeface="Perpetua"/>
              </a:rPr>
              <a:t> </a:t>
            </a:r>
            <a:r>
              <a:rPr sz="2800" dirty="0">
                <a:latin typeface="Perpetua"/>
                <a:cs typeface="Perpetua"/>
              </a:rPr>
              <a:t>data</a:t>
            </a:r>
            <a:r>
              <a:rPr sz="2800" spc="-50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structure.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5508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Abstract</a:t>
            </a:r>
            <a:r>
              <a:rPr spc="-200" dirty="0"/>
              <a:t> </a:t>
            </a:r>
            <a:r>
              <a:rPr spc="-10" dirty="0"/>
              <a:t>Data</a:t>
            </a:r>
            <a:r>
              <a:rPr spc="-240" dirty="0"/>
              <a:t> </a:t>
            </a:r>
            <a:r>
              <a:rPr spc="-30" dirty="0"/>
              <a:t>Types</a:t>
            </a:r>
            <a:r>
              <a:rPr spc="-200" dirty="0"/>
              <a:t> </a:t>
            </a:r>
            <a:r>
              <a:rPr spc="-40" dirty="0"/>
              <a:t>(ADT)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4240" y="1890752"/>
            <a:ext cx="8101330" cy="446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6385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To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simplify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process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solving</a:t>
            </a:r>
            <a:r>
              <a:rPr sz="2600" spc="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problems,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create</a:t>
            </a:r>
            <a:r>
              <a:rPr sz="2600" spc="185" dirty="0">
                <a:latin typeface="Perpetua"/>
                <a:cs typeface="Perpetua"/>
              </a:rPr>
              <a:t> </a:t>
            </a:r>
            <a:r>
              <a:rPr sz="2600" spc="-325" dirty="0">
                <a:latin typeface="Perpetua"/>
                <a:cs typeface="Perpetua"/>
              </a:rPr>
              <a:t>data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2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along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2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operations,</a:t>
            </a:r>
            <a:r>
              <a:rPr sz="2600" spc="1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2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such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structures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in-</a:t>
            </a:r>
            <a:r>
              <a:rPr sz="2600" dirty="0">
                <a:latin typeface="Perpetua"/>
                <a:cs typeface="Perpetua"/>
              </a:rPr>
              <a:t>built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known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as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Abstract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Data</a:t>
            </a:r>
            <a:r>
              <a:rPr sz="2600" spc="-315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Type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(ADT).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6385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Abstract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type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(ADT)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type</a:t>
            </a:r>
            <a:r>
              <a:rPr sz="2600" spc="2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(or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class)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2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objects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spc="-195" dirty="0">
                <a:latin typeface="Perpetua"/>
                <a:cs typeface="Perpetua"/>
              </a:rPr>
              <a:t>whose </a:t>
            </a:r>
            <a:r>
              <a:rPr sz="2600" dirty="0">
                <a:latin typeface="Perpetua"/>
                <a:cs typeface="Perpetua"/>
              </a:rPr>
              <a:t>behavior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defined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values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set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operations.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definition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ADT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only</a:t>
            </a:r>
            <a:r>
              <a:rPr sz="2600" spc="6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mentions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what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operations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0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performed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but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how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these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operations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implemented.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does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specify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how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organized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memory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algorithms</a:t>
            </a:r>
            <a:r>
              <a:rPr sz="2600" spc="4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40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3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used</a:t>
            </a:r>
            <a:r>
              <a:rPr sz="2600" spc="3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4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implementing</a:t>
            </a:r>
            <a:r>
              <a:rPr sz="2600" spc="4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operations.</a:t>
            </a:r>
            <a:r>
              <a:rPr sz="2600" spc="3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40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is </a:t>
            </a:r>
            <a:r>
              <a:rPr sz="2600" dirty="0">
                <a:latin typeface="Perpetua"/>
                <a:cs typeface="Perpetua"/>
              </a:rPr>
              <a:t>called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“abstract”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because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gives</a:t>
            </a:r>
            <a:r>
              <a:rPr sz="2600" spc="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implementation-independent view.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664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17" y="1880071"/>
            <a:ext cx="761555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375"/>
              <a:buFont typeface="Webdings"/>
              <a:buChar char="●"/>
              <a:tabLst>
                <a:tab pos="286385" algn="l"/>
                <a:tab pos="477520" algn="l"/>
              </a:tabLst>
            </a:pPr>
            <a:r>
              <a:rPr sz="3200" spc="15" dirty="0">
                <a:latin typeface="Perpetua"/>
                <a:cs typeface="Perpetua"/>
              </a:rPr>
              <a:t>	A</a:t>
            </a:r>
            <a:r>
              <a:rPr sz="3200" dirty="0">
                <a:latin typeface="Perpetua"/>
                <a:cs typeface="Perpetua"/>
              </a:rPr>
              <a:t>n</a:t>
            </a:r>
            <a:r>
              <a:rPr sz="3200" spc="50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algorithm</a:t>
            </a:r>
            <a:r>
              <a:rPr sz="3200" spc="535" dirty="0">
                <a:latin typeface="Perpetua"/>
                <a:cs typeface="Perpetua"/>
              </a:rPr>
              <a:t> </a:t>
            </a:r>
            <a:r>
              <a:rPr sz="3200" spc="-20" dirty="0">
                <a:latin typeface="Perpetua"/>
                <a:cs typeface="Perpetua"/>
              </a:rPr>
              <a:t>is</a:t>
            </a:r>
            <a:r>
              <a:rPr sz="3200" spc="555" dirty="0">
                <a:latin typeface="Perpetua"/>
                <a:cs typeface="Perpetua"/>
              </a:rPr>
              <a:t> </a:t>
            </a:r>
            <a:r>
              <a:rPr sz="3200" spc="-15" dirty="0">
                <a:latin typeface="Perpetua"/>
                <a:cs typeface="Perpetua"/>
              </a:rPr>
              <a:t>a</a:t>
            </a:r>
            <a:r>
              <a:rPr sz="3200" spc="515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collection</a:t>
            </a:r>
            <a:r>
              <a:rPr sz="3200" spc="54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of</a:t>
            </a:r>
            <a:r>
              <a:rPr sz="3200" spc="50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steps</a:t>
            </a:r>
            <a:r>
              <a:rPr sz="3200" spc="555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to</a:t>
            </a:r>
            <a:r>
              <a:rPr sz="3200" spc="505" dirty="0">
                <a:latin typeface="Perpetua"/>
                <a:cs typeface="Perpetua"/>
              </a:rPr>
              <a:t> </a:t>
            </a:r>
            <a:r>
              <a:rPr sz="3200" spc="-20" dirty="0">
                <a:latin typeface="Perpetua"/>
                <a:cs typeface="Perpetua"/>
              </a:rPr>
              <a:t>solve</a:t>
            </a:r>
            <a:r>
              <a:rPr sz="3200" dirty="0">
                <a:latin typeface="Perpetua"/>
                <a:cs typeface="Perpetua"/>
              </a:rPr>
              <a:t> </a:t>
            </a:r>
            <a:r>
              <a:rPr sz="3200" spc="-785" dirty="0">
                <a:latin typeface="Perpetua"/>
                <a:cs typeface="Perpetua"/>
              </a:rPr>
              <a:t>a</a:t>
            </a:r>
            <a:r>
              <a:rPr sz="3200" spc="-10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particular</a:t>
            </a:r>
            <a:r>
              <a:rPr sz="3200" spc="320" dirty="0">
                <a:latin typeface="Perpetua"/>
                <a:cs typeface="Perpetua"/>
              </a:rPr>
              <a:t> </a:t>
            </a:r>
            <a:r>
              <a:rPr sz="3200" spc="-20" dirty="0">
                <a:latin typeface="Perpetua"/>
                <a:cs typeface="Perpetua"/>
              </a:rPr>
              <a:t>problem.</a:t>
            </a:r>
            <a:r>
              <a:rPr sz="3200" spc="170" dirty="0">
                <a:latin typeface="Perpetua"/>
                <a:cs typeface="Perpetua"/>
              </a:rPr>
              <a:t> </a:t>
            </a:r>
            <a:r>
              <a:rPr sz="3200" spc="5" dirty="0">
                <a:latin typeface="Perpetua"/>
                <a:cs typeface="Perpetua"/>
              </a:rPr>
              <a:t>Learning</a:t>
            </a:r>
            <a:r>
              <a:rPr sz="3200" spc="280" dirty="0">
                <a:latin typeface="Perpetua"/>
                <a:cs typeface="Perpetua"/>
              </a:rPr>
              <a:t> </a:t>
            </a:r>
            <a:r>
              <a:rPr sz="3200" spc="-15" dirty="0">
                <a:latin typeface="Perpetua"/>
                <a:cs typeface="Perpetua"/>
              </a:rPr>
              <a:t>data</a:t>
            </a:r>
            <a:r>
              <a:rPr sz="3200" spc="285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structures</a:t>
            </a:r>
            <a:r>
              <a:rPr sz="3200" spc="29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and </a:t>
            </a:r>
            <a:r>
              <a:rPr sz="3200" spc="-5" dirty="0">
                <a:latin typeface="Perpetua"/>
                <a:cs typeface="Perpetua"/>
              </a:rPr>
              <a:t>algorithms</a:t>
            </a:r>
            <a:r>
              <a:rPr sz="3200" spc="1710" dirty="0">
                <a:latin typeface="Perpetua"/>
                <a:cs typeface="Perpetua"/>
              </a:rPr>
              <a:t> </a:t>
            </a:r>
            <a:r>
              <a:rPr sz="3200" spc="-35" dirty="0">
                <a:latin typeface="Perpetua"/>
                <a:cs typeface="Perpetua"/>
              </a:rPr>
              <a:t>allow</a:t>
            </a:r>
            <a:r>
              <a:rPr sz="3200" spc="1700" dirty="0">
                <a:latin typeface="Perpetua"/>
                <a:cs typeface="Perpetua"/>
              </a:rPr>
              <a:t> </a:t>
            </a:r>
            <a:r>
              <a:rPr sz="3200" spc="5" dirty="0">
                <a:latin typeface="Perpetua"/>
                <a:cs typeface="Perpetua"/>
              </a:rPr>
              <a:t>u</a:t>
            </a:r>
            <a:r>
              <a:rPr sz="3200" dirty="0">
                <a:latin typeface="Perpetua"/>
                <a:cs typeface="Perpetua"/>
              </a:rPr>
              <a:t>s</a:t>
            </a:r>
            <a:r>
              <a:rPr sz="3200" spc="1710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to</a:t>
            </a:r>
            <a:r>
              <a:rPr sz="3200" spc="1664" dirty="0">
                <a:latin typeface="Perpetua"/>
                <a:cs typeface="Perpetua"/>
              </a:rPr>
              <a:t> </a:t>
            </a:r>
            <a:r>
              <a:rPr sz="3200" spc="5" dirty="0">
                <a:latin typeface="Perpetua"/>
                <a:cs typeface="Perpetua"/>
              </a:rPr>
              <a:t>write</a:t>
            </a:r>
            <a:r>
              <a:rPr sz="3200" spc="1705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efficient</a:t>
            </a:r>
            <a:r>
              <a:rPr sz="3200" spc="168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and </a:t>
            </a:r>
            <a:r>
              <a:rPr sz="3200" spc="-10" dirty="0">
                <a:latin typeface="Perpetua"/>
                <a:cs typeface="Perpetua"/>
              </a:rPr>
              <a:t>optimized</a:t>
            </a:r>
            <a:r>
              <a:rPr sz="3200" spc="5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computer</a:t>
            </a:r>
            <a:r>
              <a:rPr sz="3200" spc="5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programs.</a:t>
            </a:r>
            <a:endParaRPr sz="32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74295" rIns="0" bIns="0" rtlCol="0">
            <a:spAutoFit/>
          </a:bodyPr>
          <a:lstStyle/>
          <a:p>
            <a:pPr marL="2008505" marR="1334135" indent="-670560">
              <a:lnSpc>
                <a:spcPct val="100000"/>
              </a:lnSpc>
              <a:spcBef>
                <a:spcPts val="585"/>
              </a:spcBef>
            </a:pPr>
            <a:r>
              <a:rPr sz="40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Data</a:t>
            </a:r>
            <a:r>
              <a:rPr sz="4000" spc="-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Structure</a:t>
            </a:r>
            <a:r>
              <a:rPr sz="4000" spc="-2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40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Classification/ </a:t>
            </a:r>
            <a:r>
              <a:rPr sz="4000" spc="-4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Types</a:t>
            </a:r>
            <a:r>
              <a:rPr sz="4000" spc="-19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400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of</a:t>
            </a:r>
            <a:r>
              <a:rPr sz="4000" spc="-1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Data</a:t>
            </a:r>
            <a:r>
              <a:rPr sz="4000" spc="-18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Structure</a:t>
            </a:r>
            <a:endParaRPr sz="4000">
              <a:latin typeface="Franklin Gothic Medium"/>
              <a:cs typeface="Franklin Gothic Mediu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37960" y="3643334"/>
            <a:ext cx="6043295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Linear</a:t>
            </a:r>
            <a:r>
              <a:rPr sz="2600" b="1" spc="-5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1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Non-</a:t>
            </a:r>
            <a:r>
              <a:rPr sz="2600" b="1" spc="-30" dirty="0">
                <a:solidFill>
                  <a:srgbClr val="696464"/>
                </a:solidFill>
                <a:latin typeface="Perpetua"/>
                <a:cs typeface="Perpetua"/>
              </a:rPr>
              <a:t>linear,</a:t>
            </a:r>
            <a:r>
              <a:rPr sz="2600" b="1" spc="-11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Static</a:t>
            </a:r>
            <a:r>
              <a:rPr sz="2600" b="1" spc="-3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1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Dynamic, Persistent</a:t>
            </a:r>
            <a:r>
              <a:rPr sz="2600" b="1" spc="-5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5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Ephemeral</a:t>
            </a:r>
            <a:r>
              <a:rPr sz="2600" b="1" spc="-5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data</a:t>
            </a:r>
            <a:r>
              <a:rPr sz="2600" b="1" spc="-6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structures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7336" y="6785564"/>
            <a:ext cx="22987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521207"/>
            <a:ext cx="9084564" cy="6705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0425" y="659480"/>
            <a:ext cx="57423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Data</a:t>
            </a:r>
            <a:r>
              <a:rPr sz="3600" spc="-210" dirty="0"/>
              <a:t> </a:t>
            </a:r>
            <a:r>
              <a:rPr sz="3600" dirty="0"/>
              <a:t>Structure</a:t>
            </a:r>
            <a:r>
              <a:rPr sz="3600" spc="-210" dirty="0"/>
              <a:t> </a:t>
            </a:r>
            <a:r>
              <a:rPr sz="3600" spc="-30" dirty="0"/>
              <a:t>Classification/ Types</a:t>
            </a:r>
            <a:r>
              <a:rPr sz="3600" spc="-160" dirty="0"/>
              <a:t> </a:t>
            </a:r>
            <a:r>
              <a:rPr sz="3600" dirty="0"/>
              <a:t>of</a:t>
            </a:r>
            <a:r>
              <a:rPr sz="3600" spc="-175" dirty="0"/>
              <a:t> </a:t>
            </a:r>
            <a:r>
              <a:rPr sz="3600" spc="-10" dirty="0"/>
              <a:t>Data</a:t>
            </a:r>
            <a:r>
              <a:rPr sz="3600" spc="-175" dirty="0"/>
              <a:t> </a:t>
            </a:r>
            <a:r>
              <a:rPr sz="3600" spc="-10" dirty="0"/>
              <a:t>Structure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537968" y="2370850"/>
            <a:ext cx="140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4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Structure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4941" y="3282234"/>
            <a:ext cx="1643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8625" marR="5080" indent="-41655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Non</a:t>
            </a:r>
            <a:r>
              <a:rPr sz="1800" spc="-5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Primitive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Data </a:t>
            </a:r>
            <a:r>
              <a:rPr sz="1800" spc="-10" dirty="0">
                <a:latin typeface="Perpetua"/>
                <a:cs typeface="Perpetua"/>
              </a:rPr>
              <a:t>Structure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85150" y="3282234"/>
            <a:ext cx="1231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5080" indent="-2108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Primitive</a:t>
            </a:r>
            <a:r>
              <a:rPr sz="1800" spc="-55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Data </a:t>
            </a:r>
            <a:r>
              <a:rPr sz="1800" spc="-10" dirty="0">
                <a:latin typeface="Perpetua"/>
                <a:cs typeface="Perpetua"/>
              </a:rPr>
              <a:t>Structure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289" y="6770676"/>
            <a:ext cx="2355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22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6524" y="4138701"/>
            <a:ext cx="1400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7975" marR="5080" indent="-295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Non</a:t>
            </a:r>
            <a:r>
              <a:rPr sz="1800" spc="-5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Linear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Data </a:t>
            </a:r>
            <a:r>
              <a:rPr sz="1800" spc="-10" dirty="0">
                <a:latin typeface="Perpetua"/>
                <a:cs typeface="Perpetua"/>
              </a:rPr>
              <a:t>Structure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56422" y="4210250"/>
            <a:ext cx="9867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Perpetua"/>
                <a:cs typeface="Perpetua"/>
              </a:rPr>
              <a:t>Linear</a:t>
            </a:r>
            <a:r>
              <a:rPr sz="1800" spc="-60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Data </a:t>
            </a:r>
            <a:r>
              <a:rPr sz="1800" spc="-10" dirty="0">
                <a:latin typeface="Perpetua"/>
                <a:cs typeface="Perpetua"/>
              </a:rPr>
              <a:t>Structure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8586" y="4240722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Perpetua"/>
                <a:cs typeface="Perpetua"/>
              </a:rPr>
              <a:t>Int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84831" y="3886200"/>
            <a:ext cx="5815965" cy="1222375"/>
            <a:chOff x="2084831" y="3886200"/>
            <a:chExt cx="5815965" cy="1222375"/>
          </a:xfrm>
        </p:grpSpPr>
        <p:sp>
          <p:nvSpPr>
            <p:cNvPr id="12" name="object 12"/>
            <p:cNvSpPr/>
            <p:nvPr/>
          </p:nvSpPr>
          <p:spPr>
            <a:xfrm>
              <a:off x="2084819" y="3886199"/>
              <a:ext cx="5815965" cy="7620"/>
            </a:xfrm>
            <a:custGeom>
              <a:avLst/>
              <a:gdLst/>
              <a:ahLst/>
              <a:cxnLst/>
              <a:rect l="l" t="t" r="r" b="b"/>
              <a:pathLst>
                <a:path w="5815965" h="7620">
                  <a:moveTo>
                    <a:pt x="2029968" y="0"/>
                  </a:moveTo>
                  <a:lnTo>
                    <a:pt x="0" y="0"/>
                  </a:lnTo>
                  <a:lnTo>
                    <a:pt x="10668" y="3048"/>
                  </a:lnTo>
                  <a:lnTo>
                    <a:pt x="19812" y="4572"/>
                  </a:lnTo>
                  <a:lnTo>
                    <a:pt x="30480" y="6096"/>
                  </a:lnTo>
                  <a:lnTo>
                    <a:pt x="39624" y="7620"/>
                  </a:lnTo>
                  <a:lnTo>
                    <a:pt x="1993392" y="7620"/>
                  </a:lnTo>
                  <a:lnTo>
                    <a:pt x="2002536" y="6096"/>
                  </a:lnTo>
                  <a:lnTo>
                    <a:pt x="2023884" y="3048"/>
                  </a:lnTo>
                  <a:lnTo>
                    <a:pt x="2029968" y="0"/>
                  </a:lnTo>
                  <a:close/>
                </a:path>
                <a:path w="5815965" h="7620">
                  <a:moveTo>
                    <a:pt x="5815584" y="0"/>
                  </a:moveTo>
                  <a:lnTo>
                    <a:pt x="3787140" y="0"/>
                  </a:lnTo>
                  <a:lnTo>
                    <a:pt x="3796284" y="3048"/>
                  </a:lnTo>
                  <a:lnTo>
                    <a:pt x="3805428" y="4572"/>
                  </a:lnTo>
                  <a:lnTo>
                    <a:pt x="3826764" y="7620"/>
                  </a:lnTo>
                  <a:lnTo>
                    <a:pt x="5779008" y="7620"/>
                  </a:lnTo>
                  <a:lnTo>
                    <a:pt x="5800344" y="4572"/>
                  </a:lnTo>
                  <a:lnTo>
                    <a:pt x="5809488" y="3048"/>
                  </a:lnTo>
                  <a:lnTo>
                    <a:pt x="5815584" y="0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01595" y="4744212"/>
              <a:ext cx="1071880" cy="356870"/>
            </a:xfrm>
            <a:custGeom>
              <a:avLst/>
              <a:gdLst/>
              <a:ahLst/>
              <a:cxnLst/>
              <a:rect l="l" t="t" r="r" b="b"/>
              <a:pathLst>
                <a:path w="1071880" h="356870">
                  <a:moveTo>
                    <a:pt x="1011936" y="356616"/>
                  </a:moveTo>
                  <a:lnTo>
                    <a:pt x="59436" y="356616"/>
                  </a:lnTo>
                  <a:lnTo>
                    <a:pt x="36004" y="352044"/>
                  </a:lnTo>
                  <a:lnTo>
                    <a:pt x="17145" y="339471"/>
                  </a:lnTo>
                  <a:lnTo>
                    <a:pt x="4572" y="320611"/>
                  </a:lnTo>
                  <a:lnTo>
                    <a:pt x="0" y="297179"/>
                  </a:lnTo>
                  <a:lnTo>
                    <a:pt x="0" y="59436"/>
                  </a:lnTo>
                  <a:lnTo>
                    <a:pt x="4572" y="36004"/>
                  </a:lnTo>
                  <a:lnTo>
                    <a:pt x="17145" y="17145"/>
                  </a:lnTo>
                  <a:lnTo>
                    <a:pt x="36004" y="4572"/>
                  </a:lnTo>
                  <a:lnTo>
                    <a:pt x="59436" y="0"/>
                  </a:lnTo>
                  <a:lnTo>
                    <a:pt x="1011936" y="0"/>
                  </a:lnTo>
                  <a:lnTo>
                    <a:pt x="1034724" y="4572"/>
                  </a:lnTo>
                  <a:lnTo>
                    <a:pt x="1053655" y="17145"/>
                  </a:lnTo>
                  <a:lnTo>
                    <a:pt x="1066585" y="36004"/>
                  </a:lnTo>
                  <a:lnTo>
                    <a:pt x="1071372" y="59436"/>
                  </a:lnTo>
                  <a:lnTo>
                    <a:pt x="1071372" y="297179"/>
                  </a:lnTo>
                  <a:lnTo>
                    <a:pt x="1066585" y="320611"/>
                  </a:lnTo>
                  <a:lnTo>
                    <a:pt x="1053655" y="339471"/>
                  </a:lnTo>
                  <a:lnTo>
                    <a:pt x="1034724" y="352044"/>
                  </a:lnTo>
                  <a:lnTo>
                    <a:pt x="1011936" y="356616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93975" y="4738116"/>
              <a:ext cx="1085215" cy="370840"/>
            </a:xfrm>
            <a:custGeom>
              <a:avLst/>
              <a:gdLst/>
              <a:ahLst/>
              <a:cxnLst/>
              <a:rect l="l" t="t" r="r" b="b"/>
              <a:pathLst>
                <a:path w="1085214" h="370839">
                  <a:moveTo>
                    <a:pt x="1043940" y="4572"/>
                  </a:moveTo>
                  <a:lnTo>
                    <a:pt x="41148" y="4572"/>
                  </a:lnTo>
                  <a:lnTo>
                    <a:pt x="59436" y="0"/>
                  </a:lnTo>
                  <a:lnTo>
                    <a:pt x="1025652" y="0"/>
                  </a:lnTo>
                  <a:lnTo>
                    <a:pt x="1043940" y="4572"/>
                  </a:lnTo>
                  <a:close/>
                </a:path>
                <a:path w="1085214" h="370839">
                  <a:moveTo>
                    <a:pt x="1045464" y="364236"/>
                  </a:moveTo>
                  <a:lnTo>
                    <a:pt x="39624" y="364236"/>
                  </a:lnTo>
                  <a:lnTo>
                    <a:pt x="30480" y="358140"/>
                  </a:lnTo>
                  <a:lnTo>
                    <a:pt x="28956" y="358140"/>
                  </a:lnTo>
                  <a:lnTo>
                    <a:pt x="19812" y="350520"/>
                  </a:lnTo>
                  <a:lnTo>
                    <a:pt x="12192" y="341376"/>
                  </a:lnTo>
                  <a:lnTo>
                    <a:pt x="12192" y="339852"/>
                  </a:lnTo>
                  <a:lnTo>
                    <a:pt x="6096" y="330708"/>
                  </a:lnTo>
                  <a:lnTo>
                    <a:pt x="6096" y="329184"/>
                  </a:lnTo>
                  <a:lnTo>
                    <a:pt x="1524" y="316992"/>
                  </a:lnTo>
                  <a:lnTo>
                    <a:pt x="1524" y="310896"/>
                  </a:lnTo>
                  <a:lnTo>
                    <a:pt x="0" y="304800"/>
                  </a:lnTo>
                  <a:lnTo>
                    <a:pt x="0" y="65532"/>
                  </a:lnTo>
                  <a:lnTo>
                    <a:pt x="1524" y="59436"/>
                  </a:lnTo>
                  <a:lnTo>
                    <a:pt x="1524" y="53340"/>
                  </a:lnTo>
                  <a:lnTo>
                    <a:pt x="6096" y="41148"/>
                  </a:lnTo>
                  <a:lnTo>
                    <a:pt x="6096" y="39624"/>
                  </a:lnTo>
                  <a:lnTo>
                    <a:pt x="12192" y="28956"/>
                  </a:lnTo>
                  <a:lnTo>
                    <a:pt x="19812" y="19812"/>
                  </a:lnTo>
                  <a:lnTo>
                    <a:pt x="19812" y="18288"/>
                  </a:lnTo>
                  <a:lnTo>
                    <a:pt x="28956" y="10668"/>
                  </a:lnTo>
                  <a:lnTo>
                    <a:pt x="30480" y="10668"/>
                  </a:lnTo>
                  <a:lnTo>
                    <a:pt x="39624" y="4572"/>
                  </a:lnTo>
                  <a:lnTo>
                    <a:pt x="1045464" y="4572"/>
                  </a:lnTo>
                  <a:lnTo>
                    <a:pt x="1056132" y="10668"/>
                  </a:lnTo>
                  <a:lnTo>
                    <a:pt x="1056132" y="12192"/>
                  </a:lnTo>
                  <a:lnTo>
                    <a:pt x="60960" y="12192"/>
                  </a:lnTo>
                  <a:lnTo>
                    <a:pt x="56388" y="13716"/>
                  </a:lnTo>
                  <a:lnTo>
                    <a:pt x="45720" y="16764"/>
                  </a:lnTo>
                  <a:lnTo>
                    <a:pt x="36576" y="21336"/>
                  </a:lnTo>
                  <a:lnTo>
                    <a:pt x="30480" y="27432"/>
                  </a:lnTo>
                  <a:lnTo>
                    <a:pt x="28956" y="27432"/>
                  </a:lnTo>
                  <a:lnTo>
                    <a:pt x="21336" y="36576"/>
                  </a:lnTo>
                  <a:lnTo>
                    <a:pt x="21989" y="36576"/>
                  </a:lnTo>
                  <a:lnTo>
                    <a:pt x="16764" y="45720"/>
                  </a:lnTo>
                  <a:lnTo>
                    <a:pt x="17852" y="45720"/>
                  </a:lnTo>
                  <a:lnTo>
                    <a:pt x="15240" y="54864"/>
                  </a:lnTo>
                  <a:lnTo>
                    <a:pt x="13716" y="59436"/>
                  </a:lnTo>
                  <a:lnTo>
                    <a:pt x="13716" y="313944"/>
                  </a:lnTo>
                  <a:lnTo>
                    <a:pt x="18288" y="324612"/>
                  </a:lnTo>
                  <a:lnTo>
                    <a:pt x="16764" y="324612"/>
                  </a:lnTo>
                  <a:lnTo>
                    <a:pt x="22860" y="333756"/>
                  </a:lnTo>
                  <a:lnTo>
                    <a:pt x="28956" y="341376"/>
                  </a:lnTo>
                  <a:lnTo>
                    <a:pt x="36576" y="347472"/>
                  </a:lnTo>
                  <a:lnTo>
                    <a:pt x="45720" y="353568"/>
                  </a:lnTo>
                  <a:lnTo>
                    <a:pt x="50292" y="353568"/>
                  </a:lnTo>
                  <a:lnTo>
                    <a:pt x="54864" y="355092"/>
                  </a:lnTo>
                  <a:lnTo>
                    <a:pt x="60960" y="356616"/>
                  </a:lnTo>
                  <a:lnTo>
                    <a:pt x="1057960" y="356616"/>
                  </a:lnTo>
                  <a:lnTo>
                    <a:pt x="1056132" y="358140"/>
                  </a:lnTo>
                  <a:lnTo>
                    <a:pt x="1045464" y="364236"/>
                  </a:lnTo>
                  <a:close/>
                </a:path>
                <a:path w="1085214" h="370839">
                  <a:moveTo>
                    <a:pt x="1056824" y="28263"/>
                  </a:moveTo>
                  <a:lnTo>
                    <a:pt x="1048512" y="21336"/>
                  </a:lnTo>
                  <a:lnTo>
                    <a:pt x="1050036" y="21336"/>
                  </a:lnTo>
                  <a:lnTo>
                    <a:pt x="1039368" y="16764"/>
                  </a:lnTo>
                  <a:lnTo>
                    <a:pt x="1040892" y="16764"/>
                  </a:lnTo>
                  <a:lnTo>
                    <a:pt x="1030224" y="13716"/>
                  </a:lnTo>
                  <a:lnTo>
                    <a:pt x="1024128" y="12192"/>
                  </a:lnTo>
                  <a:lnTo>
                    <a:pt x="1056132" y="12192"/>
                  </a:lnTo>
                  <a:lnTo>
                    <a:pt x="1065275" y="18288"/>
                  </a:lnTo>
                  <a:lnTo>
                    <a:pt x="1065275" y="19812"/>
                  </a:lnTo>
                  <a:lnTo>
                    <a:pt x="1071626" y="27432"/>
                  </a:lnTo>
                  <a:lnTo>
                    <a:pt x="1056132" y="27432"/>
                  </a:lnTo>
                  <a:lnTo>
                    <a:pt x="1056824" y="28263"/>
                  </a:lnTo>
                  <a:close/>
                </a:path>
                <a:path w="1085214" h="370839">
                  <a:moveTo>
                    <a:pt x="28956" y="28956"/>
                  </a:moveTo>
                  <a:lnTo>
                    <a:pt x="28956" y="27432"/>
                  </a:lnTo>
                  <a:lnTo>
                    <a:pt x="30480" y="27432"/>
                  </a:lnTo>
                  <a:lnTo>
                    <a:pt x="28956" y="28956"/>
                  </a:lnTo>
                  <a:close/>
                </a:path>
                <a:path w="1085214" h="370839">
                  <a:moveTo>
                    <a:pt x="1057656" y="28956"/>
                  </a:moveTo>
                  <a:lnTo>
                    <a:pt x="1056824" y="28263"/>
                  </a:lnTo>
                  <a:lnTo>
                    <a:pt x="1056132" y="27432"/>
                  </a:lnTo>
                  <a:lnTo>
                    <a:pt x="1057656" y="28956"/>
                  </a:lnTo>
                  <a:close/>
                </a:path>
                <a:path w="1085214" h="370839">
                  <a:moveTo>
                    <a:pt x="1072896" y="28956"/>
                  </a:moveTo>
                  <a:lnTo>
                    <a:pt x="1057656" y="28956"/>
                  </a:lnTo>
                  <a:lnTo>
                    <a:pt x="1056132" y="27432"/>
                  </a:lnTo>
                  <a:lnTo>
                    <a:pt x="1071626" y="27432"/>
                  </a:lnTo>
                  <a:lnTo>
                    <a:pt x="1072896" y="28956"/>
                  </a:lnTo>
                  <a:close/>
                </a:path>
                <a:path w="1085214" h="370839">
                  <a:moveTo>
                    <a:pt x="1077685" y="36576"/>
                  </a:moveTo>
                  <a:lnTo>
                    <a:pt x="1063752" y="36576"/>
                  </a:lnTo>
                  <a:lnTo>
                    <a:pt x="1056824" y="28263"/>
                  </a:lnTo>
                  <a:lnTo>
                    <a:pt x="1057656" y="28956"/>
                  </a:lnTo>
                  <a:lnTo>
                    <a:pt x="1074420" y="28956"/>
                  </a:lnTo>
                  <a:lnTo>
                    <a:pt x="1077685" y="36576"/>
                  </a:lnTo>
                  <a:close/>
                </a:path>
                <a:path w="1085214" h="370839">
                  <a:moveTo>
                    <a:pt x="21989" y="36576"/>
                  </a:moveTo>
                  <a:lnTo>
                    <a:pt x="21336" y="36576"/>
                  </a:lnTo>
                  <a:lnTo>
                    <a:pt x="22860" y="35052"/>
                  </a:lnTo>
                  <a:lnTo>
                    <a:pt x="21989" y="36576"/>
                  </a:lnTo>
                  <a:close/>
                </a:path>
                <a:path w="1085214" h="370839">
                  <a:moveTo>
                    <a:pt x="1068324" y="45720"/>
                  </a:moveTo>
                  <a:lnTo>
                    <a:pt x="1062228" y="35052"/>
                  </a:lnTo>
                  <a:lnTo>
                    <a:pt x="1063752" y="36576"/>
                  </a:lnTo>
                  <a:lnTo>
                    <a:pt x="1077685" y="36576"/>
                  </a:lnTo>
                  <a:lnTo>
                    <a:pt x="1078992" y="39624"/>
                  </a:lnTo>
                  <a:lnTo>
                    <a:pt x="1080516" y="39624"/>
                  </a:lnTo>
                  <a:lnTo>
                    <a:pt x="1080516" y="41148"/>
                  </a:lnTo>
                  <a:lnTo>
                    <a:pt x="1081386" y="44196"/>
                  </a:lnTo>
                  <a:lnTo>
                    <a:pt x="1068324" y="44196"/>
                  </a:lnTo>
                  <a:lnTo>
                    <a:pt x="1068324" y="45720"/>
                  </a:lnTo>
                  <a:close/>
                </a:path>
                <a:path w="1085214" h="370839">
                  <a:moveTo>
                    <a:pt x="17852" y="45720"/>
                  </a:moveTo>
                  <a:lnTo>
                    <a:pt x="16764" y="45720"/>
                  </a:lnTo>
                  <a:lnTo>
                    <a:pt x="18288" y="44196"/>
                  </a:lnTo>
                  <a:lnTo>
                    <a:pt x="17852" y="45720"/>
                  </a:lnTo>
                  <a:close/>
                </a:path>
                <a:path w="1085214" h="370839">
                  <a:moveTo>
                    <a:pt x="1067816" y="348996"/>
                  </a:moveTo>
                  <a:lnTo>
                    <a:pt x="1048512" y="348996"/>
                  </a:lnTo>
                  <a:lnTo>
                    <a:pt x="1057656" y="341376"/>
                  </a:lnTo>
                  <a:lnTo>
                    <a:pt x="1056132" y="341376"/>
                  </a:lnTo>
                  <a:lnTo>
                    <a:pt x="1063752" y="333756"/>
                  </a:lnTo>
                  <a:lnTo>
                    <a:pt x="1062228" y="333756"/>
                  </a:lnTo>
                  <a:lnTo>
                    <a:pt x="1068324" y="324612"/>
                  </a:lnTo>
                  <a:lnTo>
                    <a:pt x="1071372" y="315468"/>
                  </a:lnTo>
                  <a:lnTo>
                    <a:pt x="1071372" y="309372"/>
                  </a:lnTo>
                  <a:lnTo>
                    <a:pt x="1072896" y="303275"/>
                  </a:lnTo>
                  <a:lnTo>
                    <a:pt x="1072896" y="65532"/>
                  </a:lnTo>
                  <a:lnTo>
                    <a:pt x="1071372" y="60960"/>
                  </a:lnTo>
                  <a:lnTo>
                    <a:pt x="1071372" y="54864"/>
                  </a:lnTo>
                  <a:lnTo>
                    <a:pt x="1068324" y="44196"/>
                  </a:lnTo>
                  <a:lnTo>
                    <a:pt x="1081386" y="44196"/>
                  </a:lnTo>
                  <a:lnTo>
                    <a:pt x="1083564" y="51816"/>
                  </a:lnTo>
                  <a:lnTo>
                    <a:pt x="1085088" y="57912"/>
                  </a:lnTo>
                  <a:lnTo>
                    <a:pt x="1085088" y="310896"/>
                  </a:lnTo>
                  <a:lnTo>
                    <a:pt x="1080516" y="329184"/>
                  </a:lnTo>
                  <a:lnTo>
                    <a:pt x="1078992" y="329184"/>
                  </a:lnTo>
                  <a:lnTo>
                    <a:pt x="1078992" y="330708"/>
                  </a:lnTo>
                  <a:lnTo>
                    <a:pt x="1074420" y="339852"/>
                  </a:lnTo>
                  <a:lnTo>
                    <a:pt x="1072896" y="341376"/>
                  </a:lnTo>
                  <a:lnTo>
                    <a:pt x="1067816" y="348996"/>
                  </a:lnTo>
                  <a:close/>
                </a:path>
                <a:path w="1085214" h="370839">
                  <a:moveTo>
                    <a:pt x="1061618" y="353568"/>
                  </a:moveTo>
                  <a:lnTo>
                    <a:pt x="1039368" y="353568"/>
                  </a:lnTo>
                  <a:lnTo>
                    <a:pt x="1050036" y="347472"/>
                  </a:lnTo>
                  <a:lnTo>
                    <a:pt x="1048512" y="348996"/>
                  </a:lnTo>
                  <a:lnTo>
                    <a:pt x="1067816" y="348996"/>
                  </a:lnTo>
                  <a:lnTo>
                    <a:pt x="1066800" y="350520"/>
                  </a:lnTo>
                  <a:lnTo>
                    <a:pt x="1065275" y="350520"/>
                  </a:lnTo>
                  <a:lnTo>
                    <a:pt x="1061618" y="353568"/>
                  </a:lnTo>
                  <a:close/>
                </a:path>
                <a:path w="1085214" h="370839">
                  <a:moveTo>
                    <a:pt x="50292" y="353568"/>
                  </a:moveTo>
                  <a:lnTo>
                    <a:pt x="45720" y="353568"/>
                  </a:lnTo>
                  <a:lnTo>
                    <a:pt x="45720" y="352044"/>
                  </a:lnTo>
                  <a:lnTo>
                    <a:pt x="50292" y="353568"/>
                  </a:lnTo>
                  <a:close/>
                </a:path>
                <a:path w="1085214" h="370839">
                  <a:moveTo>
                    <a:pt x="1057960" y="356616"/>
                  </a:moveTo>
                  <a:lnTo>
                    <a:pt x="1028700" y="356616"/>
                  </a:lnTo>
                  <a:lnTo>
                    <a:pt x="1040892" y="352044"/>
                  </a:lnTo>
                  <a:lnTo>
                    <a:pt x="1039368" y="353568"/>
                  </a:lnTo>
                  <a:lnTo>
                    <a:pt x="1061618" y="353568"/>
                  </a:lnTo>
                  <a:lnTo>
                    <a:pt x="1057960" y="356616"/>
                  </a:lnTo>
                  <a:close/>
                </a:path>
                <a:path w="1085214" h="370839">
                  <a:moveTo>
                    <a:pt x="1033272" y="368808"/>
                  </a:moveTo>
                  <a:lnTo>
                    <a:pt x="53340" y="368808"/>
                  </a:lnTo>
                  <a:lnTo>
                    <a:pt x="41148" y="364236"/>
                  </a:lnTo>
                  <a:lnTo>
                    <a:pt x="1043940" y="364236"/>
                  </a:lnTo>
                  <a:lnTo>
                    <a:pt x="1033272" y="368808"/>
                  </a:lnTo>
                  <a:close/>
                </a:path>
                <a:path w="1085214" h="370839">
                  <a:moveTo>
                    <a:pt x="1019556" y="370332"/>
                  </a:moveTo>
                  <a:lnTo>
                    <a:pt x="67056" y="370332"/>
                  </a:lnTo>
                  <a:lnTo>
                    <a:pt x="59436" y="368808"/>
                  </a:lnTo>
                  <a:lnTo>
                    <a:pt x="1025652" y="368808"/>
                  </a:lnTo>
                  <a:lnTo>
                    <a:pt x="1019556" y="370332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291600" y="4740671"/>
            <a:ext cx="688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Boolean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9243" y="4881371"/>
            <a:ext cx="1012190" cy="368935"/>
            <a:chOff x="809243" y="4881371"/>
            <a:chExt cx="1012190" cy="368935"/>
          </a:xfrm>
        </p:grpSpPr>
        <p:sp>
          <p:nvSpPr>
            <p:cNvPr id="17" name="object 17"/>
            <p:cNvSpPr/>
            <p:nvPr/>
          </p:nvSpPr>
          <p:spPr>
            <a:xfrm>
              <a:off x="815339" y="4887467"/>
              <a:ext cx="1000125" cy="356870"/>
            </a:xfrm>
            <a:custGeom>
              <a:avLst/>
              <a:gdLst/>
              <a:ahLst/>
              <a:cxnLst/>
              <a:rect l="l" t="t" r="r" b="b"/>
              <a:pathLst>
                <a:path w="1000125" h="356870">
                  <a:moveTo>
                    <a:pt x="940308" y="356616"/>
                  </a:moveTo>
                  <a:lnTo>
                    <a:pt x="59436" y="356616"/>
                  </a:lnTo>
                  <a:lnTo>
                    <a:pt x="36004" y="352044"/>
                  </a:lnTo>
                  <a:lnTo>
                    <a:pt x="17145" y="339471"/>
                  </a:lnTo>
                  <a:lnTo>
                    <a:pt x="4572" y="320611"/>
                  </a:lnTo>
                  <a:lnTo>
                    <a:pt x="0" y="297179"/>
                  </a:lnTo>
                  <a:lnTo>
                    <a:pt x="0" y="59436"/>
                  </a:lnTo>
                  <a:lnTo>
                    <a:pt x="4572" y="36004"/>
                  </a:lnTo>
                  <a:lnTo>
                    <a:pt x="17145" y="17145"/>
                  </a:lnTo>
                  <a:lnTo>
                    <a:pt x="36004" y="4572"/>
                  </a:lnTo>
                  <a:lnTo>
                    <a:pt x="59436" y="0"/>
                  </a:lnTo>
                  <a:lnTo>
                    <a:pt x="940308" y="0"/>
                  </a:lnTo>
                  <a:lnTo>
                    <a:pt x="963739" y="4572"/>
                  </a:lnTo>
                  <a:lnTo>
                    <a:pt x="982599" y="17145"/>
                  </a:lnTo>
                  <a:lnTo>
                    <a:pt x="995172" y="36004"/>
                  </a:lnTo>
                  <a:lnTo>
                    <a:pt x="999744" y="59436"/>
                  </a:lnTo>
                  <a:lnTo>
                    <a:pt x="999744" y="297179"/>
                  </a:lnTo>
                  <a:lnTo>
                    <a:pt x="995172" y="320611"/>
                  </a:lnTo>
                  <a:lnTo>
                    <a:pt x="982599" y="339471"/>
                  </a:lnTo>
                  <a:lnTo>
                    <a:pt x="963739" y="352044"/>
                  </a:lnTo>
                  <a:lnTo>
                    <a:pt x="940308" y="356616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243" y="4881371"/>
              <a:ext cx="1012190" cy="368935"/>
            </a:xfrm>
            <a:custGeom>
              <a:avLst/>
              <a:gdLst/>
              <a:ahLst/>
              <a:cxnLst/>
              <a:rect l="l" t="t" r="r" b="b"/>
              <a:pathLst>
                <a:path w="1012189" h="368935">
                  <a:moveTo>
                    <a:pt x="954024" y="368808"/>
                  </a:moveTo>
                  <a:lnTo>
                    <a:pt x="59436" y="368808"/>
                  </a:lnTo>
                  <a:lnTo>
                    <a:pt x="51816" y="367284"/>
                  </a:lnTo>
                  <a:lnTo>
                    <a:pt x="39624" y="364236"/>
                  </a:lnTo>
                  <a:lnTo>
                    <a:pt x="28956" y="358140"/>
                  </a:lnTo>
                  <a:lnTo>
                    <a:pt x="27432" y="358140"/>
                  </a:lnTo>
                  <a:lnTo>
                    <a:pt x="19812" y="350520"/>
                  </a:lnTo>
                  <a:lnTo>
                    <a:pt x="18288" y="350520"/>
                  </a:lnTo>
                  <a:lnTo>
                    <a:pt x="18288" y="348996"/>
                  </a:lnTo>
                  <a:lnTo>
                    <a:pt x="10668" y="341376"/>
                  </a:lnTo>
                  <a:lnTo>
                    <a:pt x="10668" y="339852"/>
                  </a:lnTo>
                  <a:lnTo>
                    <a:pt x="4572" y="329184"/>
                  </a:lnTo>
                  <a:lnTo>
                    <a:pt x="0" y="310896"/>
                  </a:lnTo>
                  <a:lnTo>
                    <a:pt x="0" y="59436"/>
                  </a:lnTo>
                  <a:lnTo>
                    <a:pt x="1524" y="51816"/>
                  </a:lnTo>
                  <a:lnTo>
                    <a:pt x="4572" y="39624"/>
                  </a:lnTo>
                  <a:lnTo>
                    <a:pt x="10668" y="28956"/>
                  </a:lnTo>
                  <a:lnTo>
                    <a:pt x="10668" y="27432"/>
                  </a:lnTo>
                  <a:lnTo>
                    <a:pt x="18288" y="19812"/>
                  </a:lnTo>
                  <a:lnTo>
                    <a:pt x="18288" y="18288"/>
                  </a:lnTo>
                  <a:lnTo>
                    <a:pt x="19812" y="18288"/>
                  </a:lnTo>
                  <a:lnTo>
                    <a:pt x="27432" y="10668"/>
                  </a:lnTo>
                  <a:lnTo>
                    <a:pt x="28956" y="10668"/>
                  </a:lnTo>
                  <a:lnTo>
                    <a:pt x="39624" y="4572"/>
                  </a:lnTo>
                  <a:lnTo>
                    <a:pt x="57912" y="0"/>
                  </a:lnTo>
                  <a:lnTo>
                    <a:pt x="960120" y="0"/>
                  </a:lnTo>
                  <a:lnTo>
                    <a:pt x="970788" y="4572"/>
                  </a:lnTo>
                  <a:lnTo>
                    <a:pt x="972312" y="4572"/>
                  </a:lnTo>
                  <a:lnTo>
                    <a:pt x="982980" y="10668"/>
                  </a:lnTo>
                  <a:lnTo>
                    <a:pt x="984808" y="12192"/>
                  </a:lnTo>
                  <a:lnTo>
                    <a:pt x="60960" y="12192"/>
                  </a:lnTo>
                  <a:lnTo>
                    <a:pt x="54864" y="13716"/>
                  </a:lnTo>
                  <a:lnTo>
                    <a:pt x="49530" y="15240"/>
                  </a:lnTo>
                  <a:lnTo>
                    <a:pt x="45720" y="15240"/>
                  </a:lnTo>
                  <a:lnTo>
                    <a:pt x="35052" y="21336"/>
                  </a:lnTo>
                  <a:lnTo>
                    <a:pt x="36576" y="21336"/>
                  </a:lnTo>
                  <a:lnTo>
                    <a:pt x="27432" y="27432"/>
                  </a:lnTo>
                  <a:lnTo>
                    <a:pt x="22352" y="35052"/>
                  </a:lnTo>
                  <a:lnTo>
                    <a:pt x="21336" y="35052"/>
                  </a:lnTo>
                  <a:lnTo>
                    <a:pt x="17417" y="44196"/>
                  </a:lnTo>
                  <a:lnTo>
                    <a:pt x="16764" y="44196"/>
                  </a:lnTo>
                  <a:lnTo>
                    <a:pt x="13716" y="54864"/>
                  </a:lnTo>
                  <a:lnTo>
                    <a:pt x="12192" y="59436"/>
                  </a:lnTo>
                  <a:lnTo>
                    <a:pt x="12192" y="307848"/>
                  </a:lnTo>
                  <a:lnTo>
                    <a:pt x="13716" y="313944"/>
                  </a:lnTo>
                  <a:lnTo>
                    <a:pt x="16764" y="324612"/>
                  </a:lnTo>
                  <a:lnTo>
                    <a:pt x="17417" y="324612"/>
                  </a:lnTo>
                  <a:lnTo>
                    <a:pt x="21336" y="333756"/>
                  </a:lnTo>
                  <a:lnTo>
                    <a:pt x="22606" y="333756"/>
                  </a:lnTo>
                  <a:lnTo>
                    <a:pt x="27685" y="339852"/>
                  </a:lnTo>
                  <a:lnTo>
                    <a:pt x="27432" y="339852"/>
                  </a:lnTo>
                  <a:lnTo>
                    <a:pt x="28956" y="341376"/>
                  </a:lnTo>
                  <a:lnTo>
                    <a:pt x="29260" y="341376"/>
                  </a:lnTo>
                  <a:lnTo>
                    <a:pt x="36576" y="347472"/>
                  </a:lnTo>
                  <a:lnTo>
                    <a:pt x="35052" y="347472"/>
                  </a:lnTo>
                  <a:lnTo>
                    <a:pt x="45720" y="352044"/>
                  </a:lnTo>
                  <a:lnTo>
                    <a:pt x="44196" y="352044"/>
                  </a:lnTo>
                  <a:lnTo>
                    <a:pt x="54864" y="355092"/>
                  </a:lnTo>
                  <a:lnTo>
                    <a:pt x="59436" y="356616"/>
                  </a:lnTo>
                  <a:lnTo>
                    <a:pt x="984808" y="356616"/>
                  </a:lnTo>
                  <a:lnTo>
                    <a:pt x="982980" y="358140"/>
                  </a:lnTo>
                  <a:lnTo>
                    <a:pt x="972312" y="364236"/>
                  </a:lnTo>
                  <a:lnTo>
                    <a:pt x="970788" y="364236"/>
                  </a:lnTo>
                  <a:lnTo>
                    <a:pt x="960120" y="367284"/>
                  </a:lnTo>
                  <a:lnTo>
                    <a:pt x="954024" y="368808"/>
                  </a:lnTo>
                  <a:close/>
                </a:path>
                <a:path w="1012189" h="368935">
                  <a:moveTo>
                    <a:pt x="967740" y="16764"/>
                  </a:moveTo>
                  <a:lnTo>
                    <a:pt x="957072" y="13716"/>
                  </a:lnTo>
                  <a:lnTo>
                    <a:pt x="952500" y="12192"/>
                  </a:lnTo>
                  <a:lnTo>
                    <a:pt x="984808" y="12192"/>
                  </a:lnTo>
                  <a:lnTo>
                    <a:pt x="988466" y="15240"/>
                  </a:lnTo>
                  <a:lnTo>
                    <a:pt x="966216" y="15240"/>
                  </a:lnTo>
                  <a:lnTo>
                    <a:pt x="967740" y="16764"/>
                  </a:lnTo>
                  <a:close/>
                </a:path>
                <a:path w="1012189" h="368935">
                  <a:moveTo>
                    <a:pt x="44196" y="16764"/>
                  </a:moveTo>
                  <a:lnTo>
                    <a:pt x="45720" y="15240"/>
                  </a:lnTo>
                  <a:lnTo>
                    <a:pt x="49530" y="15240"/>
                  </a:lnTo>
                  <a:lnTo>
                    <a:pt x="44196" y="16764"/>
                  </a:lnTo>
                  <a:close/>
                </a:path>
                <a:path w="1012189" h="368935">
                  <a:moveTo>
                    <a:pt x="990600" y="36576"/>
                  </a:moveTo>
                  <a:lnTo>
                    <a:pt x="982980" y="27432"/>
                  </a:lnTo>
                  <a:lnTo>
                    <a:pt x="984504" y="27432"/>
                  </a:lnTo>
                  <a:lnTo>
                    <a:pt x="975360" y="21336"/>
                  </a:lnTo>
                  <a:lnTo>
                    <a:pt x="976884" y="21336"/>
                  </a:lnTo>
                  <a:lnTo>
                    <a:pt x="966216" y="15240"/>
                  </a:lnTo>
                  <a:lnTo>
                    <a:pt x="988466" y="15240"/>
                  </a:lnTo>
                  <a:lnTo>
                    <a:pt x="992124" y="18288"/>
                  </a:lnTo>
                  <a:lnTo>
                    <a:pt x="993648" y="18288"/>
                  </a:lnTo>
                  <a:lnTo>
                    <a:pt x="993648" y="19812"/>
                  </a:lnTo>
                  <a:lnTo>
                    <a:pt x="1001268" y="27432"/>
                  </a:lnTo>
                  <a:lnTo>
                    <a:pt x="1001268" y="28956"/>
                  </a:lnTo>
                  <a:lnTo>
                    <a:pt x="1004751" y="35052"/>
                  </a:lnTo>
                  <a:lnTo>
                    <a:pt x="990600" y="35052"/>
                  </a:lnTo>
                  <a:lnTo>
                    <a:pt x="990600" y="36576"/>
                  </a:lnTo>
                  <a:close/>
                </a:path>
                <a:path w="1012189" h="368935">
                  <a:moveTo>
                    <a:pt x="21336" y="36576"/>
                  </a:moveTo>
                  <a:lnTo>
                    <a:pt x="21336" y="35052"/>
                  </a:lnTo>
                  <a:lnTo>
                    <a:pt x="22352" y="35052"/>
                  </a:lnTo>
                  <a:lnTo>
                    <a:pt x="21336" y="36576"/>
                  </a:lnTo>
                  <a:close/>
                </a:path>
                <a:path w="1012189" h="368935">
                  <a:moveTo>
                    <a:pt x="995172" y="45720"/>
                  </a:moveTo>
                  <a:lnTo>
                    <a:pt x="990600" y="35052"/>
                  </a:lnTo>
                  <a:lnTo>
                    <a:pt x="1004751" y="35052"/>
                  </a:lnTo>
                  <a:lnTo>
                    <a:pt x="1007364" y="39624"/>
                  </a:lnTo>
                  <a:lnTo>
                    <a:pt x="1008507" y="44196"/>
                  </a:lnTo>
                  <a:lnTo>
                    <a:pt x="995172" y="44196"/>
                  </a:lnTo>
                  <a:lnTo>
                    <a:pt x="995172" y="45720"/>
                  </a:lnTo>
                  <a:close/>
                </a:path>
                <a:path w="1012189" h="368935">
                  <a:moveTo>
                    <a:pt x="16764" y="45720"/>
                  </a:moveTo>
                  <a:lnTo>
                    <a:pt x="16764" y="44196"/>
                  </a:lnTo>
                  <a:lnTo>
                    <a:pt x="17417" y="44196"/>
                  </a:lnTo>
                  <a:lnTo>
                    <a:pt x="16764" y="45720"/>
                  </a:lnTo>
                  <a:close/>
                </a:path>
                <a:path w="1012189" h="368935">
                  <a:moveTo>
                    <a:pt x="1008507" y="324612"/>
                  </a:moveTo>
                  <a:lnTo>
                    <a:pt x="995172" y="324612"/>
                  </a:lnTo>
                  <a:lnTo>
                    <a:pt x="998220" y="313944"/>
                  </a:lnTo>
                  <a:lnTo>
                    <a:pt x="999744" y="309372"/>
                  </a:lnTo>
                  <a:lnTo>
                    <a:pt x="999744" y="60960"/>
                  </a:lnTo>
                  <a:lnTo>
                    <a:pt x="998220" y="54864"/>
                  </a:lnTo>
                  <a:lnTo>
                    <a:pt x="995172" y="44196"/>
                  </a:lnTo>
                  <a:lnTo>
                    <a:pt x="1008507" y="44196"/>
                  </a:lnTo>
                  <a:lnTo>
                    <a:pt x="1011936" y="57912"/>
                  </a:lnTo>
                  <a:lnTo>
                    <a:pt x="1011936" y="309372"/>
                  </a:lnTo>
                  <a:lnTo>
                    <a:pt x="1010412" y="316992"/>
                  </a:lnTo>
                  <a:lnTo>
                    <a:pt x="1008507" y="324612"/>
                  </a:lnTo>
                  <a:close/>
                </a:path>
                <a:path w="1012189" h="368935">
                  <a:moveTo>
                    <a:pt x="17417" y="324612"/>
                  </a:moveTo>
                  <a:lnTo>
                    <a:pt x="16764" y="324612"/>
                  </a:lnTo>
                  <a:lnTo>
                    <a:pt x="16764" y="323088"/>
                  </a:lnTo>
                  <a:lnTo>
                    <a:pt x="17417" y="324612"/>
                  </a:lnTo>
                  <a:close/>
                </a:path>
                <a:path w="1012189" h="368935">
                  <a:moveTo>
                    <a:pt x="1004751" y="333756"/>
                  </a:moveTo>
                  <a:lnTo>
                    <a:pt x="990600" y="333756"/>
                  </a:lnTo>
                  <a:lnTo>
                    <a:pt x="995172" y="323088"/>
                  </a:lnTo>
                  <a:lnTo>
                    <a:pt x="995172" y="324612"/>
                  </a:lnTo>
                  <a:lnTo>
                    <a:pt x="1008507" y="324612"/>
                  </a:lnTo>
                  <a:lnTo>
                    <a:pt x="1007364" y="329184"/>
                  </a:lnTo>
                  <a:lnTo>
                    <a:pt x="1004751" y="333756"/>
                  </a:lnTo>
                  <a:close/>
                </a:path>
                <a:path w="1012189" h="368935">
                  <a:moveTo>
                    <a:pt x="22606" y="333756"/>
                  </a:moveTo>
                  <a:lnTo>
                    <a:pt x="21336" y="333756"/>
                  </a:lnTo>
                  <a:lnTo>
                    <a:pt x="21336" y="332232"/>
                  </a:lnTo>
                  <a:lnTo>
                    <a:pt x="22606" y="333756"/>
                  </a:lnTo>
                  <a:close/>
                </a:path>
                <a:path w="1012189" h="368935">
                  <a:moveTo>
                    <a:pt x="983672" y="340544"/>
                  </a:moveTo>
                  <a:lnTo>
                    <a:pt x="990600" y="332232"/>
                  </a:lnTo>
                  <a:lnTo>
                    <a:pt x="990600" y="333756"/>
                  </a:lnTo>
                  <a:lnTo>
                    <a:pt x="1004751" y="333756"/>
                  </a:lnTo>
                  <a:lnTo>
                    <a:pt x="1001268" y="339852"/>
                  </a:lnTo>
                  <a:lnTo>
                    <a:pt x="984504" y="339852"/>
                  </a:lnTo>
                  <a:lnTo>
                    <a:pt x="983672" y="340544"/>
                  </a:lnTo>
                  <a:close/>
                </a:path>
                <a:path w="1012189" h="368935">
                  <a:moveTo>
                    <a:pt x="28956" y="341376"/>
                  </a:moveTo>
                  <a:lnTo>
                    <a:pt x="27432" y="339852"/>
                  </a:lnTo>
                  <a:lnTo>
                    <a:pt x="28263" y="340544"/>
                  </a:lnTo>
                  <a:lnTo>
                    <a:pt x="28956" y="341376"/>
                  </a:lnTo>
                  <a:close/>
                </a:path>
                <a:path w="1012189" h="368935">
                  <a:moveTo>
                    <a:pt x="28263" y="340544"/>
                  </a:moveTo>
                  <a:lnTo>
                    <a:pt x="27432" y="339852"/>
                  </a:lnTo>
                  <a:lnTo>
                    <a:pt x="27685" y="339852"/>
                  </a:lnTo>
                  <a:lnTo>
                    <a:pt x="28263" y="340544"/>
                  </a:lnTo>
                  <a:close/>
                </a:path>
                <a:path w="1012189" h="368935">
                  <a:moveTo>
                    <a:pt x="982980" y="341376"/>
                  </a:moveTo>
                  <a:lnTo>
                    <a:pt x="983672" y="340544"/>
                  </a:lnTo>
                  <a:lnTo>
                    <a:pt x="984504" y="339852"/>
                  </a:lnTo>
                  <a:lnTo>
                    <a:pt x="982980" y="341376"/>
                  </a:lnTo>
                  <a:close/>
                </a:path>
                <a:path w="1012189" h="368935">
                  <a:moveTo>
                    <a:pt x="1001268" y="341376"/>
                  </a:moveTo>
                  <a:lnTo>
                    <a:pt x="982980" y="341376"/>
                  </a:lnTo>
                  <a:lnTo>
                    <a:pt x="984504" y="339852"/>
                  </a:lnTo>
                  <a:lnTo>
                    <a:pt x="1001268" y="339852"/>
                  </a:lnTo>
                  <a:lnTo>
                    <a:pt x="1001268" y="341376"/>
                  </a:lnTo>
                  <a:close/>
                </a:path>
                <a:path w="1012189" h="368935">
                  <a:moveTo>
                    <a:pt x="29260" y="341376"/>
                  </a:moveTo>
                  <a:lnTo>
                    <a:pt x="28956" y="341376"/>
                  </a:lnTo>
                  <a:lnTo>
                    <a:pt x="28263" y="340544"/>
                  </a:lnTo>
                  <a:lnTo>
                    <a:pt x="29260" y="341376"/>
                  </a:lnTo>
                  <a:close/>
                </a:path>
                <a:path w="1012189" h="368935">
                  <a:moveTo>
                    <a:pt x="984808" y="356616"/>
                  </a:moveTo>
                  <a:lnTo>
                    <a:pt x="950975" y="356616"/>
                  </a:lnTo>
                  <a:lnTo>
                    <a:pt x="957072" y="355092"/>
                  </a:lnTo>
                  <a:lnTo>
                    <a:pt x="967740" y="352044"/>
                  </a:lnTo>
                  <a:lnTo>
                    <a:pt x="966216" y="352044"/>
                  </a:lnTo>
                  <a:lnTo>
                    <a:pt x="976884" y="347472"/>
                  </a:lnTo>
                  <a:lnTo>
                    <a:pt x="975360" y="347472"/>
                  </a:lnTo>
                  <a:lnTo>
                    <a:pt x="983672" y="340544"/>
                  </a:lnTo>
                  <a:lnTo>
                    <a:pt x="982980" y="341376"/>
                  </a:lnTo>
                  <a:lnTo>
                    <a:pt x="1001268" y="341376"/>
                  </a:lnTo>
                  <a:lnTo>
                    <a:pt x="993648" y="348996"/>
                  </a:lnTo>
                  <a:lnTo>
                    <a:pt x="993648" y="350520"/>
                  </a:lnTo>
                  <a:lnTo>
                    <a:pt x="992124" y="350520"/>
                  </a:lnTo>
                  <a:lnTo>
                    <a:pt x="984808" y="356616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93685" y="4882430"/>
            <a:ext cx="440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Float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36975" y="4594859"/>
            <a:ext cx="1013460" cy="370840"/>
            <a:chOff x="3236975" y="4594859"/>
            <a:chExt cx="1013460" cy="370840"/>
          </a:xfrm>
        </p:grpSpPr>
        <p:sp>
          <p:nvSpPr>
            <p:cNvPr id="21" name="object 21"/>
            <p:cNvSpPr/>
            <p:nvPr/>
          </p:nvSpPr>
          <p:spPr>
            <a:xfrm>
              <a:off x="3244596" y="4600955"/>
              <a:ext cx="1000125" cy="358140"/>
            </a:xfrm>
            <a:custGeom>
              <a:avLst/>
              <a:gdLst/>
              <a:ahLst/>
              <a:cxnLst/>
              <a:rect l="l" t="t" r="r" b="b"/>
              <a:pathLst>
                <a:path w="1000125" h="358139">
                  <a:moveTo>
                    <a:pt x="940308" y="358140"/>
                  </a:moveTo>
                  <a:lnTo>
                    <a:pt x="59436" y="358140"/>
                  </a:lnTo>
                  <a:lnTo>
                    <a:pt x="36004" y="353353"/>
                  </a:lnTo>
                  <a:lnTo>
                    <a:pt x="17145" y="340423"/>
                  </a:lnTo>
                  <a:lnTo>
                    <a:pt x="4572" y="321492"/>
                  </a:lnTo>
                  <a:lnTo>
                    <a:pt x="0" y="298704"/>
                  </a:lnTo>
                  <a:lnTo>
                    <a:pt x="0" y="59436"/>
                  </a:lnTo>
                  <a:lnTo>
                    <a:pt x="4572" y="36647"/>
                  </a:lnTo>
                  <a:lnTo>
                    <a:pt x="17145" y="17716"/>
                  </a:lnTo>
                  <a:lnTo>
                    <a:pt x="36004" y="4786"/>
                  </a:lnTo>
                  <a:lnTo>
                    <a:pt x="59436" y="0"/>
                  </a:lnTo>
                  <a:lnTo>
                    <a:pt x="940308" y="0"/>
                  </a:lnTo>
                  <a:lnTo>
                    <a:pt x="963096" y="4786"/>
                  </a:lnTo>
                  <a:lnTo>
                    <a:pt x="982027" y="17716"/>
                  </a:lnTo>
                  <a:lnTo>
                    <a:pt x="994957" y="36647"/>
                  </a:lnTo>
                  <a:lnTo>
                    <a:pt x="999744" y="59436"/>
                  </a:lnTo>
                  <a:lnTo>
                    <a:pt x="999744" y="298704"/>
                  </a:lnTo>
                  <a:lnTo>
                    <a:pt x="994957" y="321492"/>
                  </a:lnTo>
                  <a:lnTo>
                    <a:pt x="982027" y="340423"/>
                  </a:lnTo>
                  <a:lnTo>
                    <a:pt x="963096" y="353353"/>
                  </a:lnTo>
                  <a:lnTo>
                    <a:pt x="940308" y="358140"/>
                  </a:lnTo>
                  <a:close/>
                </a:path>
              </a:pathLst>
            </a:custGeom>
            <a:solidFill>
              <a:srgbClr val="91C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36975" y="4594859"/>
              <a:ext cx="1013460" cy="370840"/>
            </a:xfrm>
            <a:custGeom>
              <a:avLst/>
              <a:gdLst/>
              <a:ahLst/>
              <a:cxnLst/>
              <a:rect l="l" t="t" r="r" b="b"/>
              <a:pathLst>
                <a:path w="1013460" h="370839">
                  <a:moveTo>
                    <a:pt x="954024" y="370332"/>
                  </a:moveTo>
                  <a:lnTo>
                    <a:pt x="59436" y="370332"/>
                  </a:lnTo>
                  <a:lnTo>
                    <a:pt x="41148" y="365760"/>
                  </a:lnTo>
                  <a:lnTo>
                    <a:pt x="41148" y="364236"/>
                  </a:lnTo>
                  <a:lnTo>
                    <a:pt x="39624" y="364236"/>
                  </a:lnTo>
                  <a:lnTo>
                    <a:pt x="30480" y="359664"/>
                  </a:lnTo>
                  <a:lnTo>
                    <a:pt x="28956" y="358140"/>
                  </a:lnTo>
                  <a:lnTo>
                    <a:pt x="19812" y="350520"/>
                  </a:lnTo>
                  <a:lnTo>
                    <a:pt x="12192" y="341376"/>
                  </a:lnTo>
                  <a:lnTo>
                    <a:pt x="12192" y="339852"/>
                  </a:lnTo>
                  <a:lnTo>
                    <a:pt x="6096" y="330708"/>
                  </a:lnTo>
                  <a:lnTo>
                    <a:pt x="6096" y="329184"/>
                  </a:lnTo>
                  <a:lnTo>
                    <a:pt x="1524" y="318515"/>
                  </a:lnTo>
                  <a:lnTo>
                    <a:pt x="1524" y="310896"/>
                  </a:lnTo>
                  <a:lnTo>
                    <a:pt x="0" y="304800"/>
                  </a:lnTo>
                  <a:lnTo>
                    <a:pt x="0" y="65532"/>
                  </a:lnTo>
                  <a:lnTo>
                    <a:pt x="1524" y="59436"/>
                  </a:lnTo>
                  <a:lnTo>
                    <a:pt x="1524" y="53340"/>
                  </a:lnTo>
                  <a:lnTo>
                    <a:pt x="6096" y="41148"/>
                  </a:lnTo>
                  <a:lnTo>
                    <a:pt x="6096" y="39624"/>
                  </a:lnTo>
                  <a:lnTo>
                    <a:pt x="12192" y="28956"/>
                  </a:lnTo>
                  <a:lnTo>
                    <a:pt x="19812" y="19812"/>
                  </a:lnTo>
                  <a:lnTo>
                    <a:pt x="19812" y="18288"/>
                  </a:lnTo>
                  <a:lnTo>
                    <a:pt x="28956" y="12192"/>
                  </a:lnTo>
                  <a:lnTo>
                    <a:pt x="30480" y="10668"/>
                  </a:lnTo>
                  <a:lnTo>
                    <a:pt x="39624" y="6096"/>
                  </a:lnTo>
                  <a:lnTo>
                    <a:pt x="41148" y="6096"/>
                  </a:lnTo>
                  <a:lnTo>
                    <a:pt x="41148" y="4572"/>
                  </a:lnTo>
                  <a:lnTo>
                    <a:pt x="59436" y="0"/>
                  </a:lnTo>
                  <a:lnTo>
                    <a:pt x="954024" y="0"/>
                  </a:lnTo>
                  <a:lnTo>
                    <a:pt x="972312" y="4572"/>
                  </a:lnTo>
                  <a:lnTo>
                    <a:pt x="973836" y="4572"/>
                  </a:lnTo>
                  <a:lnTo>
                    <a:pt x="973836" y="6096"/>
                  </a:lnTo>
                  <a:lnTo>
                    <a:pt x="984504" y="10668"/>
                  </a:lnTo>
                  <a:lnTo>
                    <a:pt x="984504" y="12192"/>
                  </a:lnTo>
                  <a:lnTo>
                    <a:pt x="67056" y="12192"/>
                  </a:lnTo>
                  <a:lnTo>
                    <a:pt x="60960" y="13716"/>
                  </a:lnTo>
                  <a:lnTo>
                    <a:pt x="56388" y="13716"/>
                  </a:lnTo>
                  <a:lnTo>
                    <a:pt x="45720" y="16764"/>
                  </a:lnTo>
                  <a:lnTo>
                    <a:pt x="38862" y="21336"/>
                  </a:lnTo>
                  <a:lnTo>
                    <a:pt x="36576" y="21336"/>
                  </a:lnTo>
                  <a:lnTo>
                    <a:pt x="30480" y="27432"/>
                  </a:lnTo>
                  <a:lnTo>
                    <a:pt x="28956" y="27432"/>
                  </a:lnTo>
                  <a:lnTo>
                    <a:pt x="21336" y="36576"/>
                  </a:lnTo>
                  <a:lnTo>
                    <a:pt x="21989" y="36576"/>
                  </a:lnTo>
                  <a:lnTo>
                    <a:pt x="16764" y="45720"/>
                  </a:lnTo>
                  <a:lnTo>
                    <a:pt x="17852" y="45720"/>
                  </a:lnTo>
                  <a:lnTo>
                    <a:pt x="15240" y="54864"/>
                  </a:lnTo>
                  <a:lnTo>
                    <a:pt x="13716" y="60960"/>
                  </a:lnTo>
                  <a:lnTo>
                    <a:pt x="13716" y="313944"/>
                  </a:lnTo>
                  <a:lnTo>
                    <a:pt x="17716" y="324612"/>
                  </a:lnTo>
                  <a:lnTo>
                    <a:pt x="16764" y="324612"/>
                  </a:lnTo>
                  <a:lnTo>
                    <a:pt x="28956" y="342900"/>
                  </a:lnTo>
                  <a:lnTo>
                    <a:pt x="30480" y="342900"/>
                  </a:lnTo>
                  <a:lnTo>
                    <a:pt x="36576" y="348996"/>
                  </a:lnTo>
                  <a:lnTo>
                    <a:pt x="38862" y="348996"/>
                  </a:lnTo>
                  <a:lnTo>
                    <a:pt x="45720" y="353568"/>
                  </a:lnTo>
                  <a:lnTo>
                    <a:pt x="54864" y="356616"/>
                  </a:lnTo>
                  <a:lnTo>
                    <a:pt x="986332" y="356616"/>
                  </a:lnTo>
                  <a:lnTo>
                    <a:pt x="984504" y="358140"/>
                  </a:lnTo>
                  <a:lnTo>
                    <a:pt x="984504" y="359664"/>
                  </a:lnTo>
                  <a:lnTo>
                    <a:pt x="973836" y="364236"/>
                  </a:lnTo>
                  <a:lnTo>
                    <a:pt x="972312" y="365760"/>
                  </a:lnTo>
                  <a:lnTo>
                    <a:pt x="961644" y="368808"/>
                  </a:lnTo>
                  <a:lnTo>
                    <a:pt x="954024" y="370332"/>
                  </a:lnTo>
                  <a:close/>
                </a:path>
                <a:path w="1013460" h="370839">
                  <a:moveTo>
                    <a:pt x="978408" y="22860"/>
                  </a:moveTo>
                  <a:lnTo>
                    <a:pt x="967740" y="16764"/>
                  </a:lnTo>
                  <a:lnTo>
                    <a:pt x="969264" y="16764"/>
                  </a:lnTo>
                  <a:lnTo>
                    <a:pt x="958596" y="13716"/>
                  </a:lnTo>
                  <a:lnTo>
                    <a:pt x="954024" y="13716"/>
                  </a:lnTo>
                  <a:lnTo>
                    <a:pt x="947927" y="12192"/>
                  </a:lnTo>
                  <a:lnTo>
                    <a:pt x="984504" y="12192"/>
                  </a:lnTo>
                  <a:lnTo>
                    <a:pt x="993648" y="19812"/>
                  </a:lnTo>
                  <a:lnTo>
                    <a:pt x="995172" y="19812"/>
                  </a:lnTo>
                  <a:lnTo>
                    <a:pt x="996188" y="21336"/>
                  </a:lnTo>
                  <a:lnTo>
                    <a:pt x="976884" y="21336"/>
                  </a:lnTo>
                  <a:lnTo>
                    <a:pt x="978408" y="22860"/>
                  </a:lnTo>
                  <a:close/>
                </a:path>
                <a:path w="1013460" h="370839">
                  <a:moveTo>
                    <a:pt x="36576" y="22860"/>
                  </a:moveTo>
                  <a:lnTo>
                    <a:pt x="36576" y="21336"/>
                  </a:lnTo>
                  <a:lnTo>
                    <a:pt x="38862" y="21336"/>
                  </a:lnTo>
                  <a:lnTo>
                    <a:pt x="36576" y="22860"/>
                  </a:lnTo>
                  <a:close/>
                </a:path>
                <a:path w="1013460" h="370839">
                  <a:moveTo>
                    <a:pt x="985196" y="28263"/>
                  </a:moveTo>
                  <a:lnTo>
                    <a:pt x="976884" y="21336"/>
                  </a:lnTo>
                  <a:lnTo>
                    <a:pt x="996188" y="21336"/>
                  </a:lnTo>
                  <a:lnTo>
                    <a:pt x="1000252" y="27432"/>
                  </a:lnTo>
                  <a:lnTo>
                    <a:pt x="984504" y="27432"/>
                  </a:lnTo>
                  <a:lnTo>
                    <a:pt x="985196" y="28263"/>
                  </a:lnTo>
                  <a:close/>
                </a:path>
                <a:path w="1013460" h="370839">
                  <a:moveTo>
                    <a:pt x="28956" y="28956"/>
                  </a:moveTo>
                  <a:lnTo>
                    <a:pt x="28956" y="27432"/>
                  </a:lnTo>
                  <a:lnTo>
                    <a:pt x="30480" y="27432"/>
                  </a:lnTo>
                  <a:lnTo>
                    <a:pt x="28956" y="28956"/>
                  </a:lnTo>
                  <a:close/>
                </a:path>
                <a:path w="1013460" h="370839">
                  <a:moveTo>
                    <a:pt x="986028" y="28956"/>
                  </a:moveTo>
                  <a:lnTo>
                    <a:pt x="985196" y="28263"/>
                  </a:lnTo>
                  <a:lnTo>
                    <a:pt x="984504" y="27432"/>
                  </a:lnTo>
                  <a:lnTo>
                    <a:pt x="986028" y="28956"/>
                  </a:lnTo>
                  <a:close/>
                </a:path>
                <a:path w="1013460" h="370839">
                  <a:moveTo>
                    <a:pt x="1001268" y="28956"/>
                  </a:moveTo>
                  <a:lnTo>
                    <a:pt x="986028" y="28956"/>
                  </a:lnTo>
                  <a:lnTo>
                    <a:pt x="984504" y="27432"/>
                  </a:lnTo>
                  <a:lnTo>
                    <a:pt x="1000252" y="27432"/>
                  </a:lnTo>
                  <a:lnTo>
                    <a:pt x="1001268" y="28956"/>
                  </a:lnTo>
                  <a:close/>
                </a:path>
                <a:path w="1013460" h="370839">
                  <a:moveTo>
                    <a:pt x="992124" y="36576"/>
                  </a:moveTo>
                  <a:lnTo>
                    <a:pt x="985196" y="28263"/>
                  </a:lnTo>
                  <a:lnTo>
                    <a:pt x="986028" y="28956"/>
                  </a:lnTo>
                  <a:lnTo>
                    <a:pt x="1002792" y="28956"/>
                  </a:lnTo>
                  <a:lnTo>
                    <a:pt x="1005404" y="35052"/>
                  </a:lnTo>
                  <a:lnTo>
                    <a:pt x="992124" y="35052"/>
                  </a:lnTo>
                  <a:lnTo>
                    <a:pt x="992124" y="36576"/>
                  </a:lnTo>
                  <a:close/>
                </a:path>
                <a:path w="1013460" h="370839">
                  <a:moveTo>
                    <a:pt x="21989" y="36576"/>
                  </a:moveTo>
                  <a:lnTo>
                    <a:pt x="21336" y="36576"/>
                  </a:lnTo>
                  <a:lnTo>
                    <a:pt x="22860" y="35052"/>
                  </a:lnTo>
                  <a:lnTo>
                    <a:pt x="21989" y="36576"/>
                  </a:lnTo>
                  <a:close/>
                </a:path>
                <a:path w="1013460" h="370839">
                  <a:moveTo>
                    <a:pt x="996696" y="45720"/>
                  </a:moveTo>
                  <a:lnTo>
                    <a:pt x="992124" y="35052"/>
                  </a:lnTo>
                  <a:lnTo>
                    <a:pt x="1005404" y="35052"/>
                  </a:lnTo>
                  <a:lnTo>
                    <a:pt x="1007364" y="39624"/>
                  </a:lnTo>
                  <a:lnTo>
                    <a:pt x="1008888" y="39624"/>
                  </a:lnTo>
                  <a:lnTo>
                    <a:pt x="1008888" y="41148"/>
                  </a:lnTo>
                  <a:lnTo>
                    <a:pt x="1009758" y="44196"/>
                  </a:lnTo>
                  <a:lnTo>
                    <a:pt x="996696" y="44196"/>
                  </a:lnTo>
                  <a:lnTo>
                    <a:pt x="996696" y="45720"/>
                  </a:lnTo>
                  <a:close/>
                </a:path>
                <a:path w="1013460" h="370839">
                  <a:moveTo>
                    <a:pt x="17852" y="45720"/>
                  </a:moveTo>
                  <a:lnTo>
                    <a:pt x="16764" y="45720"/>
                  </a:lnTo>
                  <a:lnTo>
                    <a:pt x="18288" y="44196"/>
                  </a:lnTo>
                  <a:lnTo>
                    <a:pt x="17852" y="45720"/>
                  </a:lnTo>
                  <a:close/>
                </a:path>
                <a:path w="1013460" h="370839">
                  <a:moveTo>
                    <a:pt x="1009650" y="326136"/>
                  </a:moveTo>
                  <a:lnTo>
                    <a:pt x="996696" y="326136"/>
                  </a:lnTo>
                  <a:lnTo>
                    <a:pt x="999744" y="315468"/>
                  </a:lnTo>
                  <a:lnTo>
                    <a:pt x="999744" y="309372"/>
                  </a:lnTo>
                  <a:lnTo>
                    <a:pt x="1001268" y="304800"/>
                  </a:lnTo>
                  <a:lnTo>
                    <a:pt x="1001268" y="60960"/>
                  </a:lnTo>
                  <a:lnTo>
                    <a:pt x="999744" y="56388"/>
                  </a:lnTo>
                  <a:lnTo>
                    <a:pt x="996696" y="44196"/>
                  </a:lnTo>
                  <a:lnTo>
                    <a:pt x="1009758" y="44196"/>
                  </a:lnTo>
                  <a:lnTo>
                    <a:pt x="1011936" y="51816"/>
                  </a:lnTo>
                  <a:lnTo>
                    <a:pt x="1013460" y="59436"/>
                  </a:lnTo>
                  <a:lnTo>
                    <a:pt x="1013460" y="310896"/>
                  </a:lnTo>
                  <a:lnTo>
                    <a:pt x="1009650" y="326136"/>
                  </a:lnTo>
                  <a:close/>
                </a:path>
                <a:path w="1013460" h="370839">
                  <a:moveTo>
                    <a:pt x="18288" y="326136"/>
                  </a:moveTo>
                  <a:lnTo>
                    <a:pt x="16764" y="324612"/>
                  </a:lnTo>
                  <a:lnTo>
                    <a:pt x="17716" y="324612"/>
                  </a:lnTo>
                  <a:lnTo>
                    <a:pt x="18288" y="326136"/>
                  </a:lnTo>
                  <a:close/>
                </a:path>
                <a:path w="1013460" h="370839">
                  <a:moveTo>
                    <a:pt x="985196" y="342068"/>
                  </a:moveTo>
                  <a:lnTo>
                    <a:pt x="992124" y="333756"/>
                  </a:lnTo>
                  <a:lnTo>
                    <a:pt x="996696" y="324612"/>
                  </a:lnTo>
                  <a:lnTo>
                    <a:pt x="996696" y="326136"/>
                  </a:lnTo>
                  <a:lnTo>
                    <a:pt x="1009650" y="326136"/>
                  </a:lnTo>
                  <a:lnTo>
                    <a:pt x="1008888" y="329184"/>
                  </a:lnTo>
                  <a:lnTo>
                    <a:pt x="1008888" y="330708"/>
                  </a:lnTo>
                  <a:lnTo>
                    <a:pt x="1007364" y="330708"/>
                  </a:lnTo>
                  <a:lnTo>
                    <a:pt x="1002792" y="339852"/>
                  </a:lnTo>
                  <a:lnTo>
                    <a:pt x="1002792" y="341376"/>
                  </a:lnTo>
                  <a:lnTo>
                    <a:pt x="986028" y="341376"/>
                  </a:lnTo>
                  <a:lnTo>
                    <a:pt x="985196" y="342068"/>
                  </a:lnTo>
                  <a:close/>
                </a:path>
                <a:path w="1013460" h="370839">
                  <a:moveTo>
                    <a:pt x="30480" y="342900"/>
                  </a:moveTo>
                  <a:lnTo>
                    <a:pt x="28956" y="342900"/>
                  </a:lnTo>
                  <a:lnTo>
                    <a:pt x="28956" y="341376"/>
                  </a:lnTo>
                  <a:lnTo>
                    <a:pt x="30480" y="342900"/>
                  </a:lnTo>
                  <a:close/>
                </a:path>
                <a:path w="1013460" h="370839">
                  <a:moveTo>
                    <a:pt x="984504" y="342900"/>
                  </a:moveTo>
                  <a:lnTo>
                    <a:pt x="985196" y="342068"/>
                  </a:lnTo>
                  <a:lnTo>
                    <a:pt x="986028" y="341376"/>
                  </a:lnTo>
                  <a:lnTo>
                    <a:pt x="984504" y="342900"/>
                  </a:lnTo>
                  <a:close/>
                </a:path>
                <a:path w="1013460" h="370839">
                  <a:moveTo>
                    <a:pt x="1000252" y="342900"/>
                  </a:moveTo>
                  <a:lnTo>
                    <a:pt x="984504" y="342900"/>
                  </a:lnTo>
                  <a:lnTo>
                    <a:pt x="986028" y="341376"/>
                  </a:lnTo>
                  <a:lnTo>
                    <a:pt x="1001268" y="341376"/>
                  </a:lnTo>
                  <a:lnTo>
                    <a:pt x="1000252" y="342900"/>
                  </a:lnTo>
                  <a:close/>
                </a:path>
                <a:path w="1013460" h="370839">
                  <a:moveTo>
                    <a:pt x="996188" y="348996"/>
                  </a:moveTo>
                  <a:lnTo>
                    <a:pt x="976884" y="348996"/>
                  </a:lnTo>
                  <a:lnTo>
                    <a:pt x="985196" y="342068"/>
                  </a:lnTo>
                  <a:lnTo>
                    <a:pt x="984504" y="342900"/>
                  </a:lnTo>
                  <a:lnTo>
                    <a:pt x="1000252" y="342900"/>
                  </a:lnTo>
                  <a:lnTo>
                    <a:pt x="996188" y="348996"/>
                  </a:lnTo>
                  <a:close/>
                </a:path>
                <a:path w="1013460" h="370839">
                  <a:moveTo>
                    <a:pt x="38862" y="348996"/>
                  </a:moveTo>
                  <a:lnTo>
                    <a:pt x="36576" y="348996"/>
                  </a:lnTo>
                  <a:lnTo>
                    <a:pt x="36576" y="347472"/>
                  </a:lnTo>
                  <a:lnTo>
                    <a:pt x="38862" y="348996"/>
                  </a:lnTo>
                  <a:close/>
                </a:path>
                <a:path w="1013460" h="370839">
                  <a:moveTo>
                    <a:pt x="986332" y="356616"/>
                  </a:moveTo>
                  <a:lnTo>
                    <a:pt x="957072" y="356616"/>
                  </a:lnTo>
                  <a:lnTo>
                    <a:pt x="969264" y="353568"/>
                  </a:lnTo>
                  <a:lnTo>
                    <a:pt x="967740" y="353568"/>
                  </a:lnTo>
                  <a:lnTo>
                    <a:pt x="978408" y="347472"/>
                  </a:lnTo>
                  <a:lnTo>
                    <a:pt x="976884" y="348996"/>
                  </a:lnTo>
                  <a:lnTo>
                    <a:pt x="996188" y="348996"/>
                  </a:lnTo>
                  <a:lnTo>
                    <a:pt x="995172" y="350520"/>
                  </a:lnTo>
                  <a:lnTo>
                    <a:pt x="993648" y="350520"/>
                  </a:lnTo>
                  <a:lnTo>
                    <a:pt x="986332" y="356616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29028" y="4597351"/>
            <a:ext cx="4292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Perpetua"/>
                <a:cs typeface="Perpetua"/>
              </a:rPr>
              <a:t>Char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43583" y="3884676"/>
            <a:ext cx="3649979" cy="2223770"/>
            <a:chOff x="1243583" y="3884676"/>
            <a:chExt cx="3649979" cy="2223770"/>
          </a:xfrm>
        </p:grpSpPr>
        <p:sp>
          <p:nvSpPr>
            <p:cNvPr id="25" name="object 25"/>
            <p:cNvSpPr/>
            <p:nvPr/>
          </p:nvSpPr>
          <p:spPr>
            <a:xfrm>
              <a:off x="1243584" y="3884688"/>
              <a:ext cx="1864360" cy="1003300"/>
            </a:xfrm>
            <a:custGeom>
              <a:avLst/>
              <a:gdLst/>
              <a:ahLst/>
              <a:cxnLst/>
              <a:rect l="l" t="t" r="r" b="b"/>
              <a:pathLst>
                <a:path w="1864360" h="1003300">
                  <a:moveTo>
                    <a:pt x="859536" y="7607"/>
                  </a:moveTo>
                  <a:lnTo>
                    <a:pt x="856919" y="1511"/>
                  </a:lnTo>
                  <a:lnTo>
                    <a:pt x="843978" y="1511"/>
                  </a:lnTo>
                  <a:lnTo>
                    <a:pt x="30467" y="340106"/>
                  </a:lnTo>
                  <a:lnTo>
                    <a:pt x="70104" y="288023"/>
                  </a:lnTo>
                  <a:lnTo>
                    <a:pt x="71615" y="284975"/>
                  </a:lnTo>
                  <a:lnTo>
                    <a:pt x="71615" y="281927"/>
                  </a:lnTo>
                  <a:lnTo>
                    <a:pt x="68567" y="278879"/>
                  </a:lnTo>
                  <a:lnTo>
                    <a:pt x="65519" y="277355"/>
                  </a:lnTo>
                  <a:lnTo>
                    <a:pt x="62471" y="277355"/>
                  </a:lnTo>
                  <a:lnTo>
                    <a:pt x="59423" y="280403"/>
                  </a:lnTo>
                  <a:lnTo>
                    <a:pt x="0" y="359651"/>
                  </a:lnTo>
                  <a:lnTo>
                    <a:pt x="99060" y="371843"/>
                  </a:lnTo>
                  <a:lnTo>
                    <a:pt x="102108" y="373367"/>
                  </a:lnTo>
                  <a:lnTo>
                    <a:pt x="105156" y="370319"/>
                  </a:lnTo>
                  <a:lnTo>
                    <a:pt x="105156" y="364223"/>
                  </a:lnTo>
                  <a:lnTo>
                    <a:pt x="103619" y="361175"/>
                  </a:lnTo>
                  <a:lnTo>
                    <a:pt x="100571" y="359651"/>
                  </a:lnTo>
                  <a:lnTo>
                    <a:pt x="36004" y="351866"/>
                  </a:lnTo>
                  <a:lnTo>
                    <a:pt x="859536" y="7607"/>
                  </a:lnTo>
                  <a:close/>
                </a:path>
                <a:path w="1864360" h="1003300">
                  <a:moveTo>
                    <a:pt x="1863839" y="4572"/>
                  </a:moveTo>
                  <a:lnTo>
                    <a:pt x="1857756" y="2298"/>
                  </a:lnTo>
                  <a:lnTo>
                    <a:pt x="1857311" y="1511"/>
                  </a:lnTo>
                  <a:lnTo>
                    <a:pt x="1855673" y="1511"/>
                  </a:lnTo>
                  <a:lnTo>
                    <a:pt x="1851647" y="0"/>
                  </a:lnTo>
                  <a:lnTo>
                    <a:pt x="1851139" y="1511"/>
                  </a:lnTo>
                  <a:lnTo>
                    <a:pt x="1847850" y="1511"/>
                  </a:lnTo>
                  <a:lnTo>
                    <a:pt x="383082" y="978027"/>
                  </a:lnTo>
                  <a:lnTo>
                    <a:pt x="411480" y="918959"/>
                  </a:lnTo>
                  <a:lnTo>
                    <a:pt x="413004" y="915911"/>
                  </a:lnTo>
                  <a:lnTo>
                    <a:pt x="413004" y="911339"/>
                  </a:lnTo>
                  <a:lnTo>
                    <a:pt x="406908" y="908291"/>
                  </a:lnTo>
                  <a:lnTo>
                    <a:pt x="402336" y="909815"/>
                  </a:lnTo>
                  <a:lnTo>
                    <a:pt x="400812" y="912863"/>
                  </a:lnTo>
                  <a:lnTo>
                    <a:pt x="356616" y="1002779"/>
                  </a:lnTo>
                  <a:lnTo>
                    <a:pt x="381381" y="1001255"/>
                  </a:lnTo>
                  <a:lnTo>
                    <a:pt x="455676" y="996683"/>
                  </a:lnTo>
                  <a:lnTo>
                    <a:pt x="460248" y="996683"/>
                  </a:lnTo>
                  <a:lnTo>
                    <a:pt x="461772" y="993635"/>
                  </a:lnTo>
                  <a:lnTo>
                    <a:pt x="461772" y="986015"/>
                  </a:lnTo>
                  <a:lnTo>
                    <a:pt x="458724" y="982967"/>
                  </a:lnTo>
                  <a:lnTo>
                    <a:pt x="455676" y="984491"/>
                  </a:lnTo>
                  <a:lnTo>
                    <a:pt x="392036" y="987793"/>
                  </a:lnTo>
                  <a:lnTo>
                    <a:pt x="1845754" y="17653"/>
                  </a:lnTo>
                  <a:lnTo>
                    <a:pt x="1577136" y="823544"/>
                  </a:lnTo>
                  <a:lnTo>
                    <a:pt x="1563611" y="760476"/>
                  </a:lnTo>
                  <a:lnTo>
                    <a:pt x="1563611" y="755904"/>
                  </a:lnTo>
                  <a:lnTo>
                    <a:pt x="1559039" y="754380"/>
                  </a:lnTo>
                  <a:lnTo>
                    <a:pt x="1555991" y="754380"/>
                  </a:lnTo>
                  <a:lnTo>
                    <a:pt x="1552943" y="755904"/>
                  </a:lnTo>
                  <a:lnTo>
                    <a:pt x="1551419" y="758952"/>
                  </a:lnTo>
                  <a:lnTo>
                    <a:pt x="1551419" y="762000"/>
                  </a:lnTo>
                  <a:lnTo>
                    <a:pt x="1571231" y="859536"/>
                  </a:lnTo>
                  <a:lnTo>
                    <a:pt x="1583397" y="848868"/>
                  </a:lnTo>
                  <a:lnTo>
                    <a:pt x="1645907" y="794004"/>
                  </a:lnTo>
                  <a:lnTo>
                    <a:pt x="1648955" y="792480"/>
                  </a:lnTo>
                  <a:lnTo>
                    <a:pt x="1648955" y="787908"/>
                  </a:lnTo>
                  <a:lnTo>
                    <a:pt x="1647431" y="784860"/>
                  </a:lnTo>
                  <a:lnTo>
                    <a:pt x="1644383" y="781812"/>
                  </a:lnTo>
                  <a:lnTo>
                    <a:pt x="1639811" y="781812"/>
                  </a:lnTo>
                  <a:lnTo>
                    <a:pt x="1638287" y="784860"/>
                  </a:lnTo>
                  <a:lnTo>
                    <a:pt x="1589087" y="827354"/>
                  </a:lnTo>
                  <a:lnTo>
                    <a:pt x="1863839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16096" y="5530595"/>
              <a:ext cx="1071880" cy="571500"/>
            </a:xfrm>
            <a:custGeom>
              <a:avLst/>
              <a:gdLst/>
              <a:ahLst/>
              <a:cxnLst/>
              <a:rect l="l" t="t" r="r" b="b"/>
              <a:pathLst>
                <a:path w="1071879" h="571500">
                  <a:moveTo>
                    <a:pt x="975360" y="571500"/>
                  </a:moveTo>
                  <a:lnTo>
                    <a:pt x="94488" y="571500"/>
                  </a:lnTo>
                  <a:lnTo>
                    <a:pt x="57864" y="563999"/>
                  </a:lnTo>
                  <a:lnTo>
                    <a:pt x="27813" y="543496"/>
                  </a:lnTo>
                  <a:lnTo>
                    <a:pt x="7477" y="512992"/>
                  </a:lnTo>
                  <a:lnTo>
                    <a:pt x="0" y="475488"/>
                  </a:lnTo>
                  <a:lnTo>
                    <a:pt x="0" y="94488"/>
                  </a:lnTo>
                  <a:lnTo>
                    <a:pt x="7477" y="57864"/>
                  </a:lnTo>
                  <a:lnTo>
                    <a:pt x="27813" y="27813"/>
                  </a:lnTo>
                  <a:lnTo>
                    <a:pt x="57864" y="7477"/>
                  </a:lnTo>
                  <a:lnTo>
                    <a:pt x="94488" y="0"/>
                  </a:lnTo>
                  <a:lnTo>
                    <a:pt x="975360" y="0"/>
                  </a:lnTo>
                  <a:lnTo>
                    <a:pt x="1012864" y="7477"/>
                  </a:lnTo>
                  <a:lnTo>
                    <a:pt x="1043368" y="27813"/>
                  </a:lnTo>
                  <a:lnTo>
                    <a:pt x="1063871" y="57864"/>
                  </a:lnTo>
                  <a:lnTo>
                    <a:pt x="1071372" y="94488"/>
                  </a:lnTo>
                  <a:lnTo>
                    <a:pt x="1071372" y="475488"/>
                  </a:lnTo>
                  <a:lnTo>
                    <a:pt x="1063871" y="512992"/>
                  </a:lnTo>
                  <a:lnTo>
                    <a:pt x="1043368" y="543496"/>
                  </a:lnTo>
                  <a:lnTo>
                    <a:pt x="1012864" y="563999"/>
                  </a:lnTo>
                  <a:lnTo>
                    <a:pt x="975360" y="571500"/>
                  </a:lnTo>
                  <a:close/>
                </a:path>
              </a:pathLst>
            </a:custGeom>
            <a:solidFill>
              <a:srgbClr val="9E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08475" y="5522976"/>
              <a:ext cx="1085215" cy="585470"/>
            </a:xfrm>
            <a:custGeom>
              <a:avLst/>
              <a:gdLst/>
              <a:ahLst/>
              <a:cxnLst/>
              <a:rect l="l" t="t" r="r" b="b"/>
              <a:pathLst>
                <a:path w="1085214" h="585470">
                  <a:moveTo>
                    <a:pt x="982980" y="585216"/>
                  </a:moveTo>
                  <a:lnTo>
                    <a:pt x="92964" y="585216"/>
                  </a:lnTo>
                  <a:lnTo>
                    <a:pt x="82296" y="583692"/>
                  </a:lnTo>
                  <a:lnTo>
                    <a:pt x="45720" y="568452"/>
                  </a:lnTo>
                  <a:lnTo>
                    <a:pt x="18288" y="541020"/>
                  </a:lnTo>
                  <a:lnTo>
                    <a:pt x="3048" y="504444"/>
                  </a:lnTo>
                  <a:lnTo>
                    <a:pt x="0" y="483108"/>
                  </a:lnTo>
                  <a:lnTo>
                    <a:pt x="0" y="102108"/>
                  </a:lnTo>
                  <a:lnTo>
                    <a:pt x="1524" y="92964"/>
                  </a:lnTo>
                  <a:lnTo>
                    <a:pt x="4572" y="71628"/>
                  </a:lnTo>
                  <a:lnTo>
                    <a:pt x="9144" y="62484"/>
                  </a:lnTo>
                  <a:lnTo>
                    <a:pt x="12192" y="54864"/>
                  </a:lnTo>
                  <a:lnTo>
                    <a:pt x="18288" y="45720"/>
                  </a:lnTo>
                  <a:lnTo>
                    <a:pt x="45720" y="18288"/>
                  </a:lnTo>
                  <a:lnTo>
                    <a:pt x="80772" y="3048"/>
                  </a:lnTo>
                  <a:lnTo>
                    <a:pt x="102108" y="0"/>
                  </a:lnTo>
                  <a:lnTo>
                    <a:pt x="982980" y="0"/>
                  </a:lnTo>
                  <a:lnTo>
                    <a:pt x="993648" y="1524"/>
                  </a:lnTo>
                  <a:lnTo>
                    <a:pt x="1002792" y="3048"/>
                  </a:lnTo>
                  <a:lnTo>
                    <a:pt x="1013460" y="4572"/>
                  </a:lnTo>
                  <a:lnTo>
                    <a:pt x="1022604" y="9144"/>
                  </a:lnTo>
                  <a:lnTo>
                    <a:pt x="1031748" y="12192"/>
                  </a:lnTo>
                  <a:lnTo>
                    <a:pt x="1033653" y="13716"/>
                  </a:lnTo>
                  <a:lnTo>
                    <a:pt x="92964" y="13716"/>
                  </a:lnTo>
                  <a:lnTo>
                    <a:pt x="85344" y="15240"/>
                  </a:lnTo>
                  <a:lnTo>
                    <a:pt x="76200" y="16764"/>
                  </a:lnTo>
                  <a:lnTo>
                    <a:pt x="68580" y="19812"/>
                  </a:lnTo>
                  <a:lnTo>
                    <a:pt x="59436" y="24384"/>
                  </a:lnTo>
                  <a:lnTo>
                    <a:pt x="53340" y="28956"/>
                  </a:lnTo>
                  <a:lnTo>
                    <a:pt x="45720" y="33528"/>
                  </a:lnTo>
                  <a:lnTo>
                    <a:pt x="19812" y="67056"/>
                  </a:lnTo>
                  <a:lnTo>
                    <a:pt x="13716" y="92964"/>
                  </a:lnTo>
                  <a:lnTo>
                    <a:pt x="13716" y="492252"/>
                  </a:lnTo>
                  <a:lnTo>
                    <a:pt x="28956" y="533400"/>
                  </a:lnTo>
                  <a:lnTo>
                    <a:pt x="67056" y="565404"/>
                  </a:lnTo>
                  <a:lnTo>
                    <a:pt x="92964" y="571500"/>
                  </a:lnTo>
                  <a:lnTo>
                    <a:pt x="1034034" y="571500"/>
                  </a:lnTo>
                  <a:lnTo>
                    <a:pt x="1031748" y="573024"/>
                  </a:lnTo>
                  <a:lnTo>
                    <a:pt x="1022604" y="576071"/>
                  </a:lnTo>
                  <a:lnTo>
                    <a:pt x="1013460" y="580644"/>
                  </a:lnTo>
                  <a:lnTo>
                    <a:pt x="1004316" y="582168"/>
                  </a:lnTo>
                  <a:lnTo>
                    <a:pt x="982980" y="585216"/>
                  </a:lnTo>
                  <a:close/>
                </a:path>
                <a:path w="1085214" h="585470">
                  <a:moveTo>
                    <a:pt x="1034034" y="571500"/>
                  </a:moveTo>
                  <a:lnTo>
                    <a:pt x="992124" y="571500"/>
                  </a:lnTo>
                  <a:lnTo>
                    <a:pt x="1001268" y="569976"/>
                  </a:lnTo>
                  <a:lnTo>
                    <a:pt x="1008888" y="568452"/>
                  </a:lnTo>
                  <a:lnTo>
                    <a:pt x="1018032" y="565404"/>
                  </a:lnTo>
                  <a:lnTo>
                    <a:pt x="1025652" y="562356"/>
                  </a:lnTo>
                  <a:lnTo>
                    <a:pt x="1033272" y="557784"/>
                  </a:lnTo>
                  <a:lnTo>
                    <a:pt x="1039368" y="551688"/>
                  </a:lnTo>
                  <a:lnTo>
                    <a:pt x="1045464" y="547116"/>
                  </a:lnTo>
                  <a:lnTo>
                    <a:pt x="1068324" y="510540"/>
                  </a:lnTo>
                  <a:lnTo>
                    <a:pt x="1072896" y="483108"/>
                  </a:lnTo>
                  <a:lnTo>
                    <a:pt x="1072896" y="102108"/>
                  </a:lnTo>
                  <a:lnTo>
                    <a:pt x="1071372" y="92964"/>
                  </a:lnTo>
                  <a:lnTo>
                    <a:pt x="1069848" y="85344"/>
                  </a:lnTo>
                  <a:lnTo>
                    <a:pt x="1068324" y="76200"/>
                  </a:lnTo>
                  <a:lnTo>
                    <a:pt x="1062228" y="60960"/>
                  </a:lnTo>
                  <a:lnTo>
                    <a:pt x="1057656" y="53340"/>
                  </a:lnTo>
                  <a:lnTo>
                    <a:pt x="1051560" y="45720"/>
                  </a:lnTo>
                  <a:lnTo>
                    <a:pt x="1046988" y="39624"/>
                  </a:lnTo>
                  <a:lnTo>
                    <a:pt x="1039368" y="33528"/>
                  </a:lnTo>
                  <a:lnTo>
                    <a:pt x="1033272" y="28956"/>
                  </a:lnTo>
                  <a:lnTo>
                    <a:pt x="1018032" y="19812"/>
                  </a:lnTo>
                  <a:lnTo>
                    <a:pt x="1010412" y="18288"/>
                  </a:lnTo>
                  <a:lnTo>
                    <a:pt x="1001268" y="15240"/>
                  </a:lnTo>
                  <a:lnTo>
                    <a:pt x="992124" y="13716"/>
                  </a:lnTo>
                  <a:lnTo>
                    <a:pt x="1033653" y="13716"/>
                  </a:lnTo>
                  <a:lnTo>
                    <a:pt x="1054608" y="30480"/>
                  </a:lnTo>
                  <a:lnTo>
                    <a:pt x="1062228" y="38100"/>
                  </a:lnTo>
                  <a:lnTo>
                    <a:pt x="1066800" y="45720"/>
                  </a:lnTo>
                  <a:lnTo>
                    <a:pt x="1072896" y="53340"/>
                  </a:lnTo>
                  <a:lnTo>
                    <a:pt x="1077468" y="62484"/>
                  </a:lnTo>
                  <a:lnTo>
                    <a:pt x="1083564" y="80772"/>
                  </a:lnTo>
                  <a:lnTo>
                    <a:pt x="1085088" y="91440"/>
                  </a:lnTo>
                  <a:lnTo>
                    <a:pt x="1085088" y="493776"/>
                  </a:lnTo>
                  <a:lnTo>
                    <a:pt x="1072896" y="531876"/>
                  </a:lnTo>
                  <a:lnTo>
                    <a:pt x="1040892" y="566928"/>
                  </a:lnTo>
                  <a:lnTo>
                    <a:pt x="1034034" y="571500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11242" y="5633750"/>
            <a:ext cx="4768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erpetua"/>
                <a:cs typeface="Perpetua"/>
              </a:rPr>
              <a:t>Static</a:t>
            </a:r>
            <a:endParaRPr sz="1800">
              <a:latin typeface="Perpetua"/>
              <a:cs typeface="Perpetu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37988" y="4671059"/>
            <a:ext cx="3156204" cy="229361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5645917" y="5633750"/>
            <a:ext cx="767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erpetua"/>
                <a:cs typeface="Perpetua"/>
              </a:rPr>
              <a:t>Dynamic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523731" y="5522975"/>
            <a:ext cx="1077595" cy="585470"/>
            <a:chOff x="8523731" y="5522975"/>
            <a:chExt cx="1077595" cy="585470"/>
          </a:xfrm>
        </p:grpSpPr>
        <p:sp>
          <p:nvSpPr>
            <p:cNvPr id="32" name="object 32"/>
            <p:cNvSpPr/>
            <p:nvPr/>
          </p:nvSpPr>
          <p:spPr>
            <a:xfrm>
              <a:off x="8529827" y="5530595"/>
              <a:ext cx="1071880" cy="571500"/>
            </a:xfrm>
            <a:custGeom>
              <a:avLst/>
              <a:gdLst/>
              <a:ahLst/>
              <a:cxnLst/>
              <a:rect l="l" t="t" r="r" b="b"/>
              <a:pathLst>
                <a:path w="1071879" h="571500">
                  <a:moveTo>
                    <a:pt x="976884" y="571500"/>
                  </a:moveTo>
                  <a:lnTo>
                    <a:pt x="96012" y="571500"/>
                  </a:lnTo>
                  <a:lnTo>
                    <a:pt x="58507" y="563999"/>
                  </a:lnTo>
                  <a:lnTo>
                    <a:pt x="28003" y="543496"/>
                  </a:lnTo>
                  <a:lnTo>
                    <a:pt x="7500" y="512992"/>
                  </a:lnTo>
                  <a:lnTo>
                    <a:pt x="0" y="475488"/>
                  </a:lnTo>
                  <a:lnTo>
                    <a:pt x="0" y="94488"/>
                  </a:lnTo>
                  <a:lnTo>
                    <a:pt x="7500" y="57864"/>
                  </a:lnTo>
                  <a:lnTo>
                    <a:pt x="28003" y="27813"/>
                  </a:lnTo>
                  <a:lnTo>
                    <a:pt x="58507" y="7477"/>
                  </a:lnTo>
                  <a:lnTo>
                    <a:pt x="96012" y="0"/>
                  </a:lnTo>
                  <a:lnTo>
                    <a:pt x="976884" y="0"/>
                  </a:lnTo>
                  <a:lnTo>
                    <a:pt x="1013507" y="7477"/>
                  </a:lnTo>
                  <a:lnTo>
                    <a:pt x="1043559" y="27813"/>
                  </a:lnTo>
                  <a:lnTo>
                    <a:pt x="1063894" y="57864"/>
                  </a:lnTo>
                  <a:lnTo>
                    <a:pt x="1071372" y="94488"/>
                  </a:lnTo>
                  <a:lnTo>
                    <a:pt x="1071372" y="475488"/>
                  </a:lnTo>
                  <a:lnTo>
                    <a:pt x="1063894" y="512992"/>
                  </a:lnTo>
                  <a:lnTo>
                    <a:pt x="1043559" y="543496"/>
                  </a:lnTo>
                  <a:lnTo>
                    <a:pt x="1013507" y="563999"/>
                  </a:lnTo>
                  <a:lnTo>
                    <a:pt x="976884" y="571500"/>
                  </a:lnTo>
                  <a:close/>
                </a:path>
              </a:pathLst>
            </a:custGeom>
            <a:solidFill>
              <a:srgbClr val="9E4B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523731" y="5522975"/>
              <a:ext cx="1077595" cy="585470"/>
            </a:xfrm>
            <a:custGeom>
              <a:avLst/>
              <a:gdLst/>
              <a:ahLst/>
              <a:cxnLst/>
              <a:rect l="l" t="t" r="r" b="b"/>
              <a:pathLst>
                <a:path w="1077595" h="585470">
                  <a:moveTo>
                    <a:pt x="982980" y="585216"/>
                  </a:moveTo>
                  <a:lnTo>
                    <a:pt x="91440" y="585216"/>
                  </a:lnTo>
                  <a:lnTo>
                    <a:pt x="82296" y="583692"/>
                  </a:lnTo>
                  <a:lnTo>
                    <a:pt x="45720" y="568452"/>
                  </a:lnTo>
                  <a:lnTo>
                    <a:pt x="18288" y="541020"/>
                  </a:lnTo>
                  <a:lnTo>
                    <a:pt x="9144" y="522732"/>
                  </a:lnTo>
                  <a:lnTo>
                    <a:pt x="4572" y="513588"/>
                  </a:lnTo>
                  <a:lnTo>
                    <a:pt x="3048" y="504444"/>
                  </a:lnTo>
                  <a:lnTo>
                    <a:pt x="0" y="483108"/>
                  </a:lnTo>
                  <a:lnTo>
                    <a:pt x="0" y="92964"/>
                  </a:lnTo>
                  <a:lnTo>
                    <a:pt x="1524" y="82296"/>
                  </a:lnTo>
                  <a:lnTo>
                    <a:pt x="4572" y="71628"/>
                  </a:lnTo>
                  <a:lnTo>
                    <a:pt x="7620" y="62484"/>
                  </a:lnTo>
                  <a:lnTo>
                    <a:pt x="12192" y="54864"/>
                  </a:lnTo>
                  <a:lnTo>
                    <a:pt x="16764" y="45720"/>
                  </a:lnTo>
                  <a:lnTo>
                    <a:pt x="44196" y="18288"/>
                  </a:lnTo>
                  <a:lnTo>
                    <a:pt x="80772" y="3048"/>
                  </a:lnTo>
                  <a:lnTo>
                    <a:pt x="102108" y="0"/>
                  </a:lnTo>
                  <a:lnTo>
                    <a:pt x="982980" y="0"/>
                  </a:lnTo>
                  <a:lnTo>
                    <a:pt x="993648" y="1524"/>
                  </a:lnTo>
                  <a:lnTo>
                    <a:pt x="1002792" y="3048"/>
                  </a:lnTo>
                  <a:lnTo>
                    <a:pt x="1013460" y="4572"/>
                  </a:lnTo>
                  <a:lnTo>
                    <a:pt x="1022604" y="9144"/>
                  </a:lnTo>
                  <a:lnTo>
                    <a:pt x="1031748" y="12192"/>
                  </a:lnTo>
                  <a:lnTo>
                    <a:pt x="1033653" y="13716"/>
                  </a:lnTo>
                  <a:lnTo>
                    <a:pt x="92964" y="13716"/>
                  </a:lnTo>
                  <a:lnTo>
                    <a:pt x="83820" y="15240"/>
                  </a:lnTo>
                  <a:lnTo>
                    <a:pt x="45720" y="33528"/>
                  </a:lnTo>
                  <a:lnTo>
                    <a:pt x="19812" y="67056"/>
                  </a:lnTo>
                  <a:lnTo>
                    <a:pt x="13716" y="92964"/>
                  </a:lnTo>
                  <a:lnTo>
                    <a:pt x="13716" y="492252"/>
                  </a:lnTo>
                  <a:lnTo>
                    <a:pt x="27432" y="533400"/>
                  </a:lnTo>
                  <a:lnTo>
                    <a:pt x="33528" y="539496"/>
                  </a:lnTo>
                  <a:lnTo>
                    <a:pt x="38100" y="545592"/>
                  </a:lnTo>
                  <a:lnTo>
                    <a:pt x="74676" y="568452"/>
                  </a:lnTo>
                  <a:lnTo>
                    <a:pt x="92964" y="571500"/>
                  </a:lnTo>
                  <a:lnTo>
                    <a:pt x="1033653" y="571500"/>
                  </a:lnTo>
                  <a:lnTo>
                    <a:pt x="1031748" y="573024"/>
                  </a:lnTo>
                  <a:lnTo>
                    <a:pt x="1022604" y="576072"/>
                  </a:lnTo>
                  <a:lnTo>
                    <a:pt x="1013460" y="580644"/>
                  </a:lnTo>
                  <a:lnTo>
                    <a:pt x="1004316" y="582168"/>
                  </a:lnTo>
                  <a:lnTo>
                    <a:pt x="982980" y="585216"/>
                  </a:lnTo>
                  <a:close/>
                </a:path>
                <a:path w="1077595" h="585470">
                  <a:moveTo>
                    <a:pt x="1033653" y="571500"/>
                  </a:moveTo>
                  <a:lnTo>
                    <a:pt x="992124" y="571500"/>
                  </a:lnTo>
                  <a:lnTo>
                    <a:pt x="1001268" y="569976"/>
                  </a:lnTo>
                  <a:lnTo>
                    <a:pt x="1008888" y="568452"/>
                  </a:lnTo>
                  <a:lnTo>
                    <a:pt x="1018032" y="565404"/>
                  </a:lnTo>
                  <a:lnTo>
                    <a:pt x="1025652" y="562356"/>
                  </a:lnTo>
                  <a:lnTo>
                    <a:pt x="1031748" y="557784"/>
                  </a:lnTo>
                  <a:lnTo>
                    <a:pt x="1039368" y="551688"/>
                  </a:lnTo>
                  <a:lnTo>
                    <a:pt x="1045464" y="547116"/>
                  </a:lnTo>
                  <a:lnTo>
                    <a:pt x="1068324" y="510540"/>
                  </a:lnTo>
                  <a:lnTo>
                    <a:pt x="1071372" y="492252"/>
                  </a:lnTo>
                  <a:lnTo>
                    <a:pt x="1071372" y="92964"/>
                  </a:lnTo>
                  <a:lnTo>
                    <a:pt x="1069848" y="85344"/>
                  </a:lnTo>
                  <a:lnTo>
                    <a:pt x="1068324" y="76200"/>
                  </a:lnTo>
                  <a:lnTo>
                    <a:pt x="1039368" y="33528"/>
                  </a:lnTo>
                  <a:lnTo>
                    <a:pt x="1010412" y="18288"/>
                  </a:lnTo>
                  <a:lnTo>
                    <a:pt x="1001268" y="15240"/>
                  </a:lnTo>
                  <a:lnTo>
                    <a:pt x="992124" y="13716"/>
                  </a:lnTo>
                  <a:lnTo>
                    <a:pt x="1033653" y="13716"/>
                  </a:lnTo>
                  <a:lnTo>
                    <a:pt x="1054608" y="30480"/>
                  </a:lnTo>
                  <a:lnTo>
                    <a:pt x="1066800" y="45720"/>
                  </a:lnTo>
                  <a:lnTo>
                    <a:pt x="1071372" y="53340"/>
                  </a:lnTo>
                  <a:lnTo>
                    <a:pt x="1077468" y="65532"/>
                  </a:lnTo>
                  <a:lnTo>
                    <a:pt x="1077468" y="522732"/>
                  </a:lnTo>
                  <a:lnTo>
                    <a:pt x="1072896" y="531876"/>
                  </a:lnTo>
                  <a:lnTo>
                    <a:pt x="1066800" y="539496"/>
                  </a:lnTo>
                  <a:lnTo>
                    <a:pt x="1062228" y="547116"/>
                  </a:lnTo>
                  <a:lnTo>
                    <a:pt x="1048512" y="560832"/>
                  </a:lnTo>
                  <a:lnTo>
                    <a:pt x="1039368" y="566928"/>
                  </a:lnTo>
                  <a:lnTo>
                    <a:pt x="1033653" y="571500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794530" y="5633750"/>
            <a:ext cx="544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Perpetua"/>
                <a:cs typeface="Perpetua"/>
              </a:rPr>
              <a:t>Graph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49929" y="5633750"/>
            <a:ext cx="401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Perpetua"/>
                <a:cs typeface="Perpetua"/>
              </a:rPr>
              <a:t>Tree</a:t>
            </a:r>
            <a:endParaRPr sz="1800">
              <a:latin typeface="Perpetua"/>
              <a:cs typeface="Perpetu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38372" y="6595871"/>
            <a:ext cx="940435" cy="440690"/>
            <a:chOff x="3738372" y="6595871"/>
            <a:chExt cx="940435" cy="440690"/>
          </a:xfrm>
        </p:grpSpPr>
        <p:sp>
          <p:nvSpPr>
            <p:cNvPr id="37" name="object 37"/>
            <p:cNvSpPr/>
            <p:nvPr/>
          </p:nvSpPr>
          <p:spPr>
            <a:xfrm>
              <a:off x="3744468" y="6601967"/>
              <a:ext cx="928369" cy="428625"/>
            </a:xfrm>
            <a:custGeom>
              <a:avLst/>
              <a:gdLst/>
              <a:ahLst/>
              <a:cxnLst/>
              <a:rect l="l" t="t" r="r" b="b"/>
              <a:pathLst>
                <a:path w="928370" h="428625">
                  <a:moveTo>
                    <a:pt x="856488" y="428244"/>
                  </a:moveTo>
                  <a:lnTo>
                    <a:pt x="71628" y="428244"/>
                  </a:lnTo>
                  <a:lnTo>
                    <a:pt x="43719" y="422624"/>
                  </a:lnTo>
                  <a:lnTo>
                    <a:pt x="20955" y="407289"/>
                  </a:lnTo>
                  <a:lnTo>
                    <a:pt x="5619" y="384524"/>
                  </a:lnTo>
                  <a:lnTo>
                    <a:pt x="0" y="356616"/>
                  </a:lnTo>
                  <a:lnTo>
                    <a:pt x="0" y="71628"/>
                  </a:lnTo>
                  <a:lnTo>
                    <a:pt x="5619" y="43719"/>
                  </a:lnTo>
                  <a:lnTo>
                    <a:pt x="20955" y="20955"/>
                  </a:lnTo>
                  <a:lnTo>
                    <a:pt x="43719" y="5619"/>
                  </a:lnTo>
                  <a:lnTo>
                    <a:pt x="71628" y="0"/>
                  </a:lnTo>
                  <a:lnTo>
                    <a:pt x="856488" y="0"/>
                  </a:lnTo>
                  <a:lnTo>
                    <a:pt x="884396" y="5619"/>
                  </a:lnTo>
                  <a:lnTo>
                    <a:pt x="907161" y="20955"/>
                  </a:lnTo>
                  <a:lnTo>
                    <a:pt x="922496" y="43719"/>
                  </a:lnTo>
                  <a:lnTo>
                    <a:pt x="928116" y="71628"/>
                  </a:lnTo>
                  <a:lnTo>
                    <a:pt x="928116" y="356616"/>
                  </a:lnTo>
                  <a:lnTo>
                    <a:pt x="922496" y="384524"/>
                  </a:lnTo>
                  <a:lnTo>
                    <a:pt x="907161" y="407289"/>
                  </a:lnTo>
                  <a:lnTo>
                    <a:pt x="884396" y="422624"/>
                  </a:lnTo>
                  <a:lnTo>
                    <a:pt x="856488" y="428244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38372" y="6595871"/>
              <a:ext cx="940435" cy="440690"/>
            </a:xfrm>
            <a:custGeom>
              <a:avLst/>
              <a:gdLst/>
              <a:ahLst/>
              <a:cxnLst/>
              <a:rect l="l" t="t" r="r" b="b"/>
              <a:pathLst>
                <a:path w="940435" h="440690">
                  <a:moveTo>
                    <a:pt x="41148" y="417576"/>
                  </a:moveTo>
                  <a:lnTo>
                    <a:pt x="21336" y="417576"/>
                  </a:lnTo>
                  <a:lnTo>
                    <a:pt x="13716" y="406908"/>
                  </a:lnTo>
                  <a:lnTo>
                    <a:pt x="12192" y="406908"/>
                  </a:lnTo>
                  <a:lnTo>
                    <a:pt x="12192" y="405384"/>
                  </a:lnTo>
                  <a:lnTo>
                    <a:pt x="9144" y="400811"/>
                  </a:lnTo>
                  <a:lnTo>
                    <a:pt x="6096" y="393192"/>
                  </a:lnTo>
                  <a:lnTo>
                    <a:pt x="3048" y="387096"/>
                  </a:lnTo>
                  <a:lnTo>
                    <a:pt x="0" y="371856"/>
                  </a:lnTo>
                  <a:lnTo>
                    <a:pt x="0" y="70104"/>
                  </a:lnTo>
                  <a:lnTo>
                    <a:pt x="4572" y="47244"/>
                  </a:lnTo>
                  <a:lnTo>
                    <a:pt x="9144" y="39624"/>
                  </a:lnTo>
                  <a:lnTo>
                    <a:pt x="12192" y="33528"/>
                  </a:lnTo>
                  <a:lnTo>
                    <a:pt x="13716" y="33528"/>
                  </a:lnTo>
                  <a:lnTo>
                    <a:pt x="21336" y="22860"/>
                  </a:lnTo>
                  <a:lnTo>
                    <a:pt x="22860" y="21336"/>
                  </a:lnTo>
                  <a:lnTo>
                    <a:pt x="33528" y="13716"/>
                  </a:lnTo>
                  <a:lnTo>
                    <a:pt x="39624" y="9144"/>
                  </a:lnTo>
                  <a:lnTo>
                    <a:pt x="47244" y="6096"/>
                  </a:lnTo>
                  <a:lnTo>
                    <a:pt x="53340" y="3048"/>
                  </a:lnTo>
                  <a:lnTo>
                    <a:pt x="68580" y="0"/>
                  </a:lnTo>
                  <a:lnTo>
                    <a:pt x="870204" y="0"/>
                  </a:lnTo>
                  <a:lnTo>
                    <a:pt x="885444" y="3048"/>
                  </a:lnTo>
                  <a:lnTo>
                    <a:pt x="893064" y="6096"/>
                  </a:lnTo>
                  <a:lnTo>
                    <a:pt x="899160" y="9144"/>
                  </a:lnTo>
                  <a:lnTo>
                    <a:pt x="906779" y="12192"/>
                  </a:lnTo>
                  <a:lnTo>
                    <a:pt x="70104" y="12192"/>
                  </a:lnTo>
                  <a:lnTo>
                    <a:pt x="51816" y="16764"/>
                  </a:lnTo>
                  <a:lnTo>
                    <a:pt x="45720" y="19812"/>
                  </a:lnTo>
                  <a:lnTo>
                    <a:pt x="41148" y="22860"/>
                  </a:lnTo>
                  <a:lnTo>
                    <a:pt x="32258" y="30480"/>
                  </a:lnTo>
                  <a:lnTo>
                    <a:pt x="32004" y="30480"/>
                  </a:lnTo>
                  <a:lnTo>
                    <a:pt x="30480" y="32004"/>
                  </a:lnTo>
                  <a:lnTo>
                    <a:pt x="30697" y="32004"/>
                  </a:lnTo>
                  <a:lnTo>
                    <a:pt x="22860" y="41148"/>
                  </a:lnTo>
                  <a:lnTo>
                    <a:pt x="19812" y="45720"/>
                  </a:lnTo>
                  <a:lnTo>
                    <a:pt x="16764" y="51816"/>
                  </a:lnTo>
                  <a:lnTo>
                    <a:pt x="12192" y="70104"/>
                  </a:lnTo>
                  <a:lnTo>
                    <a:pt x="12192" y="368808"/>
                  </a:lnTo>
                  <a:lnTo>
                    <a:pt x="13716" y="376428"/>
                  </a:lnTo>
                  <a:lnTo>
                    <a:pt x="16764" y="388620"/>
                  </a:lnTo>
                  <a:lnTo>
                    <a:pt x="19812" y="393192"/>
                  </a:lnTo>
                  <a:lnTo>
                    <a:pt x="22860" y="399287"/>
                  </a:lnTo>
                  <a:lnTo>
                    <a:pt x="30697" y="408432"/>
                  </a:lnTo>
                  <a:lnTo>
                    <a:pt x="30480" y="408432"/>
                  </a:lnTo>
                  <a:lnTo>
                    <a:pt x="32004" y="409956"/>
                  </a:lnTo>
                  <a:lnTo>
                    <a:pt x="32258" y="409956"/>
                  </a:lnTo>
                  <a:lnTo>
                    <a:pt x="41148" y="417576"/>
                  </a:lnTo>
                  <a:close/>
                </a:path>
                <a:path w="940435" h="440690">
                  <a:moveTo>
                    <a:pt x="909007" y="31300"/>
                  </a:moveTo>
                  <a:lnTo>
                    <a:pt x="899160" y="22860"/>
                  </a:lnTo>
                  <a:lnTo>
                    <a:pt x="894588" y="19812"/>
                  </a:lnTo>
                  <a:lnTo>
                    <a:pt x="888492" y="16764"/>
                  </a:lnTo>
                  <a:lnTo>
                    <a:pt x="870204" y="12192"/>
                  </a:lnTo>
                  <a:lnTo>
                    <a:pt x="906779" y="12192"/>
                  </a:lnTo>
                  <a:lnTo>
                    <a:pt x="917448" y="21336"/>
                  </a:lnTo>
                  <a:lnTo>
                    <a:pt x="917448" y="22860"/>
                  </a:lnTo>
                  <a:lnTo>
                    <a:pt x="918972" y="22860"/>
                  </a:lnTo>
                  <a:lnTo>
                    <a:pt x="924414" y="30480"/>
                  </a:lnTo>
                  <a:lnTo>
                    <a:pt x="908304" y="30480"/>
                  </a:lnTo>
                  <a:lnTo>
                    <a:pt x="909007" y="31300"/>
                  </a:lnTo>
                  <a:close/>
                </a:path>
                <a:path w="940435" h="440690">
                  <a:moveTo>
                    <a:pt x="31300" y="31300"/>
                  </a:moveTo>
                  <a:lnTo>
                    <a:pt x="32004" y="30480"/>
                  </a:lnTo>
                  <a:lnTo>
                    <a:pt x="32258" y="30480"/>
                  </a:lnTo>
                  <a:lnTo>
                    <a:pt x="31300" y="31300"/>
                  </a:lnTo>
                  <a:close/>
                </a:path>
                <a:path w="940435" h="440690">
                  <a:moveTo>
                    <a:pt x="925503" y="32004"/>
                  </a:moveTo>
                  <a:lnTo>
                    <a:pt x="909827" y="32004"/>
                  </a:lnTo>
                  <a:lnTo>
                    <a:pt x="908304" y="30480"/>
                  </a:lnTo>
                  <a:lnTo>
                    <a:pt x="924414" y="30480"/>
                  </a:lnTo>
                  <a:lnTo>
                    <a:pt x="925503" y="32004"/>
                  </a:lnTo>
                  <a:close/>
                </a:path>
                <a:path w="940435" h="440690">
                  <a:moveTo>
                    <a:pt x="30697" y="32004"/>
                  </a:moveTo>
                  <a:lnTo>
                    <a:pt x="30480" y="32004"/>
                  </a:lnTo>
                  <a:lnTo>
                    <a:pt x="31300" y="31300"/>
                  </a:lnTo>
                  <a:lnTo>
                    <a:pt x="30697" y="32004"/>
                  </a:lnTo>
                  <a:close/>
                </a:path>
                <a:path w="940435" h="440690">
                  <a:moveTo>
                    <a:pt x="909007" y="409135"/>
                  </a:moveTo>
                  <a:lnTo>
                    <a:pt x="917448" y="399287"/>
                  </a:lnTo>
                  <a:lnTo>
                    <a:pt x="920496" y="394716"/>
                  </a:lnTo>
                  <a:lnTo>
                    <a:pt x="922020" y="388620"/>
                  </a:lnTo>
                  <a:lnTo>
                    <a:pt x="925068" y="382524"/>
                  </a:lnTo>
                  <a:lnTo>
                    <a:pt x="928116" y="370332"/>
                  </a:lnTo>
                  <a:lnTo>
                    <a:pt x="928116" y="70104"/>
                  </a:lnTo>
                  <a:lnTo>
                    <a:pt x="923544" y="51816"/>
                  </a:lnTo>
                  <a:lnTo>
                    <a:pt x="920496" y="45720"/>
                  </a:lnTo>
                  <a:lnTo>
                    <a:pt x="917448" y="41148"/>
                  </a:lnTo>
                  <a:lnTo>
                    <a:pt x="909007" y="31300"/>
                  </a:lnTo>
                  <a:lnTo>
                    <a:pt x="909827" y="32004"/>
                  </a:lnTo>
                  <a:lnTo>
                    <a:pt x="925503" y="32004"/>
                  </a:lnTo>
                  <a:lnTo>
                    <a:pt x="926592" y="33528"/>
                  </a:lnTo>
                  <a:lnTo>
                    <a:pt x="931164" y="39624"/>
                  </a:lnTo>
                  <a:lnTo>
                    <a:pt x="934212" y="47244"/>
                  </a:lnTo>
                  <a:lnTo>
                    <a:pt x="937260" y="53340"/>
                  </a:lnTo>
                  <a:lnTo>
                    <a:pt x="940308" y="68580"/>
                  </a:lnTo>
                  <a:lnTo>
                    <a:pt x="940308" y="370332"/>
                  </a:lnTo>
                  <a:lnTo>
                    <a:pt x="937260" y="385572"/>
                  </a:lnTo>
                  <a:lnTo>
                    <a:pt x="934212" y="393192"/>
                  </a:lnTo>
                  <a:lnTo>
                    <a:pt x="931164" y="399287"/>
                  </a:lnTo>
                  <a:lnTo>
                    <a:pt x="928116" y="406908"/>
                  </a:lnTo>
                  <a:lnTo>
                    <a:pt x="926809" y="408432"/>
                  </a:lnTo>
                  <a:lnTo>
                    <a:pt x="909827" y="408432"/>
                  </a:lnTo>
                  <a:lnTo>
                    <a:pt x="909007" y="409135"/>
                  </a:lnTo>
                  <a:close/>
                </a:path>
                <a:path w="940435" h="440690">
                  <a:moveTo>
                    <a:pt x="31300" y="409135"/>
                  </a:moveTo>
                  <a:lnTo>
                    <a:pt x="30480" y="408432"/>
                  </a:lnTo>
                  <a:lnTo>
                    <a:pt x="30697" y="408432"/>
                  </a:lnTo>
                  <a:lnTo>
                    <a:pt x="31300" y="409135"/>
                  </a:lnTo>
                  <a:close/>
                </a:path>
                <a:path w="940435" h="440690">
                  <a:moveTo>
                    <a:pt x="925503" y="409956"/>
                  </a:moveTo>
                  <a:lnTo>
                    <a:pt x="908304" y="409956"/>
                  </a:lnTo>
                  <a:lnTo>
                    <a:pt x="909827" y="408432"/>
                  </a:lnTo>
                  <a:lnTo>
                    <a:pt x="926809" y="408432"/>
                  </a:lnTo>
                  <a:lnTo>
                    <a:pt x="925503" y="409956"/>
                  </a:lnTo>
                  <a:close/>
                </a:path>
                <a:path w="940435" h="440690">
                  <a:moveTo>
                    <a:pt x="32258" y="409956"/>
                  </a:moveTo>
                  <a:lnTo>
                    <a:pt x="32004" y="409956"/>
                  </a:lnTo>
                  <a:lnTo>
                    <a:pt x="31300" y="409135"/>
                  </a:lnTo>
                  <a:lnTo>
                    <a:pt x="32258" y="409956"/>
                  </a:lnTo>
                  <a:close/>
                </a:path>
                <a:path w="940435" h="440690">
                  <a:moveTo>
                    <a:pt x="918972" y="417576"/>
                  </a:moveTo>
                  <a:lnTo>
                    <a:pt x="899160" y="417576"/>
                  </a:lnTo>
                  <a:lnTo>
                    <a:pt x="909007" y="409135"/>
                  </a:lnTo>
                  <a:lnTo>
                    <a:pt x="908304" y="409956"/>
                  </a:lnTo>
                  <a:lnTo>
                    <a:pt x="925503" y="409956"/>
                  </a:lnTo>
                  <a:lnTo>
                    <a:pt x="918972" y="417576"/>
                  </a:lnTo>
                  <a:close/>
                </a:path>
                <a:path w="940435" h="440690">
                  <a:moveTo>
                    <a:pt x="871727" y="440436"/>
                  </a:moveTo>
                  <a:lnTo>
                    <a:pt x="70104" y="440436"/>
                  </a:lnTo>
                  <a:lnTo>
                    <a:pt x="54864" y="437387"/>
                  </a:lnTo>
                  <a:lnTo>
                    <a:pt x="39624" y="431292"/>
                  </a:lnTo>
                  <a:lnTo>
                    <a:pt x="33528" y="428244"/>
                  </a:lnTo>
                  <a:lnTo>
                    <a:pt x="33528" y="426720"/>
                  </a:lnTo>
                  <a:lnTo>
                    <a:pt x="22860" y="417576"/>
                  </a:lnTo>
                  <a:lnTo>
                    <a:pt x="41148" y="417576"/>
                  </a:lnTo>
                  <a:lnTo>
                    <a:pt x="41148" y="416052"/>
                  </a:lnTo>
                  <a:lnTo>
                    <a:pt x="45720" y="420624"/>
                  </a:lnTo>
                  <a:lnTo>
                    <a:pt x="51816" y="422148"/>
                  </a:lnTo>
                  <a:lnTo>
                    <a:pt x="57912" y="425196"/>
                  </a:lnTo>
                  <a:lnTo>
                    <a:pt x="70104" y="428244"/>
                  </a:lnTo>
                  <a:lnTo>
                    <a:pt x="906779" y="428244"/>
                  </a:lnTo>
                  <a:lnTo>
                    <a:pt x="900684" y="431292"/>
                  </a:lnTo>
                  <a:lnTo>
                    <a:pt x="893064" y="434340"/>
                  </a:lnTo>
                  <a:lnTo>
                    <a:pt x="886968" y="437387"/>
                  </a:lnTo>
                  <a:lnTo>
                    <a:pt x="871727" y="440436"/>
                  </a:lnTo>
                  <a:close/>
                </a:path>
                <a:path w="940435" h="440690">
                  <a:moveTo>
                    <a:pt x="906779" y="428244"/>
                  </a:moveTo>
                  <a:lnTo>
                    <a:pt x="868679" y="428244"/>
                  </a:lnTo>
                  <a:lnTo>
                    <a:pt x="876300" y="426720"/>
                  </a:lnTo>
                  <a:lnTo>
                    <a:pt x="888492" y="423672"/>
                  </a:lnTo>
                  <a:lnTo>
                    <a:pt x="893064" y="420624"/>
                  </a:lnTo>
                  <a:lnTo>
                    <a:pt x="899160" y="416052"/>
                  </a:lnTo>
                  <a:lnTo>
                    <a:pt x="899160" y="417576"/>
                  </a:lnTo>
                  <a:lnTo>
                    <a:pt x="917448" y="417576"/>
                  </a:lnTo>
                  <a:lnTo>
                    <a:pt x="906779" y="426720"/>
                  </a:lnTo>
                  <a:lnTo>
                    <a:pt x="906779" y="428244"/>
                  </a:lnTo>
                  <a:close/>
                </a:path>
              </a:pathLst>
            </a:custGeom>
            <a:solidFill>
              <a:srgbClr val="9A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958880" y="6633426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Array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30116" y="6561765"/>
            <a:ext cx="587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Queue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46585" y="6561765"/>
            <a:ext cx="466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Stack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12740" y="6424695"/>
            <a:ext cx="592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510" marR="5080" indent="-1314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Linked </a:t>
            </a:r>
            <a:r>
              <a:rPr sz="1800" spc="-20" dirty="0">
                <a:latin typeface="Perpetua"/>
                <a:cs typeface="Perpetua"/>
              </a:rPr>
              <a:t>List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096755" y="3886200"/>
            <a:ext cx="5975985" cy="2715895"/>
          </a:xfrm>
          <a:custGeom>
            <a:avLst/>
            <a:gdLst/>
            <a:ahLst/>
            <a:cxnLst/>
            <a:rect l="l" t="t" r="r" b="b"/>
            <a:pathLst>
              <a:path w="5975984" h="2715895">
                <a:moveTo>
                  <a:pt x="719328" y="714756"/>
                </a:moveTo>
                <a:lnTo>
                  <a:pt x="718096" y="710184"/>
                </a:lnTo>
                <a:lnTo>
                  <a:pt x="693420" y="618744"/>
                </a:lnTo>
                <a:lnTo>
                  <a:pt x="691896" y="615696"/>
                </a:lnTo>
                <a:lnTo>
                  <a:pt x="688848" y="614172"/>
                </a:lnTo>
                <a:lnTo>
                  <a:pt x="685800" y="614172"/>
                </a:lnTo>
                <a:lnTo>
                  <a:pt x="682752" y="615696"/>
                </a:lnTo>
                <a:lnTo>
                  <a:pt x="679704" y="618744"/>
                </a:lnTo>
                <a:lnTo>
                  <a:pt x="681228" y="621792"/>
                </a:lnTo>
                <a:lnTo>
                  <a:pt x="697979" y="684288"/>
                </a:lnTo>
                <a:lnTo>
                  <a:pt x="12204" y="0"/>
                </a:lnTo>
                <a:lnTo>
                  <a:pt x="5486" y="0"/>
                </a:lnTo>
                <a:lnTo>
                  <a:pt x="0" y="4572"/>
                </a:lnTo>
                <a:lnTo>
                  <a:pt x="689356" y="693928"/>
                </a:lnTo>
                <a:lnTo>
                  <a:pt x="626364" y="678180"/>
                </a:lnTo>
                <a:lnTo>
                  <a:pt x="623316" y="676656"/>
                </a:lnTo>
                <a:lnTo>
                  <a:pt x="618744" y="678180"/>
                </a:lnTo>
                <a:lnTo>
                  <a:pt x="618744" y="682752"/>
                </a:lnTo>
                <a:lnTo>
                  <a:pt x="617220" y="685800"/>
                </a:lnTo>
                <a:lnTo>
                  <a:pt x="618744" y="688848"/>
                </a:lnTo>
                <a:lnTo>
                  <a:pt x="623316" y="690372"/>
                </a:lnTo>
                <a:lnTo>
                  <a:pt x="719328" y="714756"/>
                </a:lnTo>
                <a:close/>
              </a:path>
              <a:path w="5975984" h="2715895">
                <a:moveTo>
                  <a:pt x="1246632" y="2622816"/>
                </a:moveTo>
                <a:lnTo>
                  <a:pt x="1245108" y="2618244"/>
                </a:lnTo>
                <a:lnTo>
                  <a:pt x="1239012" y="2615196"/>
                </a:lnTo>
                <a:lnTo>
                  <a:pt x="1235964" y="2616720"/>
                </a:lnTo>
                <a:lnTo>
                  <a:pt x="1234440" y="2619768"/>
                </a:lnTo>
                <a:lnTo>
                  <a:pt x="1207719" y="2678785"/>
                </a:lnTo>
                <a:lnTo>
                  <a:pt x="1153668" y="2142756"/>
                </a:lnTo>
                <a:lnTo>
                  <a:pt x="1141476" y="2144280"/>
                </a:lnTo>
                <a:lnTo>
                  <a:pt x="1193914" y="2678785"/>
                </a:lnTo>
                <a:lnTo>
                  <a:pt x="1156716" y="2627388"/>
                </a:lnTo>
                <a:lnTo>
                  <a:pt x="1155192" y="2624340"/>
                </a:lnTo>
                <a:lnTo>
                  <a:pt x="1150620" y="2624340"/>
                </a:lnTo>
                <a:lnTo>
                  <a:pt x="1147572" y="2625864"/>
                </a:lnTo>
                <a:lnTo>
                  <a:pt x="1144524" y="2628912"/>
                </a:lnTo>
                <a:lnTo>
                  <a:pt x="1144524" y="2631960"/>
                </a:lnTo>
                <a:lnTo>
                  <a:pt x="1146048" y="2635008"/>
                </a:lnTo>
                <a:lnTo>
                  <a:pt x="1203960" y="2715780"/>
                </a:lnTo>
                <a:lnTo>
                  <a:pt x="1209548" y="2703588"/>
                </a:lnTo>
                <a:lnTo>
                  <a:pt x="1245108" y="2625864"/>
                </a:lnTo>
                <a:lnTo>
                  <a:pt x="1246632" y="2622816"/>
                </a:lnTo>
                <a:close/>
              </a:path>
              <a:path w="5975984" h="2715895">
                <a:moveTo>
                  <a:pt x="2080272" y="934212"/>
                </a:moveTo>
                <a:lnTo>
                  <a:pt x="2071128" y="925068"/>
                </a:lnTo>
                <a:lnTo>
                  <a:pt x="1277340" y="1615909"/>
                </a:lnTo>
                <a:lnTo>
                  <a:pt x="1298460" y="1554480"/>
                </a:lnTo>
                <a:lnTo>
                  <a:pt x="1299984" y="1551432"/>
                </a:lnTo>
                <a:lnTo>
                  <a:pt x="1296936" y="1546860"/>
                </a:lnTo>
                <a:lnTo>
                  <a:pt x="1293888" y="1545336"/>
                </a:lnTo>
                <a:lnTo>
                  <a:pt x="1290840" y="1545336"/>
                </a:lnTo>
                <a:lnTo>
                  <a:pt x="1287792" y="1546860"/>
                </a:lnTo>
                <a:lnTo>
                  <a:pt x="1286268" y="1549908"/>
                </a:lnTo>
                <a:lnTo>
                  <a:pt x="1269593" y="1599145"/>
                </a:lnTo>
                <a:lnTo>
                  <a:pt x="1269593" y="1638414"/>
                </a:lnTo>
                <a:lnTo>
                  <a:pt x="1269453" y="1638554"/>
                </a:lnTo>
                <a:lnTo>
                  <a:pt x="1269466" y="1638414"/>
                </a:lnTo>
                <a:lnTo>
                  <a:pt x="1269593" y="1638414"/>
                </a:lnTo>
                <a:lnTo>
                  <a:pt x="1269593" y="1599145"/>
                </a:lnTo>
                <a:lnTo>
                  <a:pt x="1254264" y="1644396"/>
                </a:lnTo>
                <a:lnTo>
                  <a:pt x="1276769" y="1639824"/>
                </a:lnTo>
                <a:lnTo>
                  <a:pt x="1351800" y="1624584"/>
                </a:lnTo>
                <a:lnTo>
                  <a:pt x="1354848" y="1624584"/>
                </a:lnTo>
                <a:lnTo>
                  <a:pt x="1357896" y="1621536"/>
                </a:lnTo>
                <a:lnTo>
                  <a:pt x="1356372" y="1618488"/>
                </a:lnTo>
                <a:lnTo>
                  <a:pt x="1356372" y="1613916"/>
                </a:lnTo>
                <a:lnTo>
                  <a:pt x="1353324" y="1612392"/>
                </a:lnTo>
                <a:lnTo>
                  <a:pt x="1348752" y="1612392"/>
                </a:lnTo>
                <a:lnTo>
                  <a:pt x="1285176" y="1624888"/>
                </a:lnTo>
                <a:lnTo>
                  <a:pt x="2080272" y="934212"/>
                </a:lnTo>
                <a:close/>
              </a:path>
              <a:path w="5975984" h="2715895">
                <a:moveTo>
                  <a:pt x="3006852" y="6096"/>
                </a:moveTo>
                <a:lnTo>
                  <a:pt x="3004248" y="0"/>
                </a:lnTo>
                <a:lnTo>
                  <a:pt x="2992691" y="0"/>
                </a:lnTo>
                <a:lnTo>
                  <a:pt x="2283828" y="337629"/>
                </a:lnTo>
                <a:lnTo>
                  <a:pt x="2321052" y="283464"/>
                </a:lnTo>
                <a:lnTo>
                  <a:pt x="2322576" y="280416"/>
                </a:lnTo>
                <a:lnTo>
                  <a:pt x="2322576" y="275844"/>
                </a:lnTo>
                <a:lnTo>
                  <a:pt x="2316480" y="272796"/>
                </a:lnTo>
                <a:lnTo>
                  <a:pt x="2311908" y="272796"/>
                </a:lnTo>
                <a:lnTo>
                  <a:pt x="2310384" y="275844"/>
                </a:lnTo>
                <a:lnTo>
                  <a:pt x="2253996" y="358140"/>
                </a:lnTo>
                <a:lnTo>
                  <a:pt x="2353056" y="365760"/>
                </a:lnTo>
                <a:lnTo>
                  <a:pt x="2356104" y="365760"/>
                </a:lnTo>
                <a:lnTo>
                  <a:pt x="2359152" y="364236"/>
                </a:lnTo>
                <a:lnTo>
                  <a:pt x="2360676" y="359664"/>
                </a:lnTo>
                <a:lnTo>
                  <a:pt x="2360676" y="358140"/>
                </a:lnTo>
                <a:lnTo>
                  <a:pt x="2360676" y="356616"/>
                </a:lnTo>
                <a:lnTo>
                  <a:pt x="2357628" y="353568"/>
                </a:lnTo>
                <a:lnTo>
                  <a:pt x="2354580" y="353568"/>
                </a:lnTo>
                <a:lnTo>
                  <a:pt x="2290407" y="348043"/>
                </a:lnTo>
                <a:lnTo>
                  <a:pt x="3006852" y="6096"/>
                </a:lnTo>
                <a:close/>
              </a:path>
              <a:path w="5975984" h="2715895">
                <a:moveTo>
                  <a:pt x="4861572" y="286524"/>
                </a:moveTo>
                <a:lnTo>
                  <a:pt x="4800612" y="208800"/>
                </a:lnTo>
                <a:lnTo>
                  <a:pt x="4799088" y="205752"/>
                </a:lnTo>
                <a:lnTo>
                  <a:pt x="4794516" y="205752"/>
                </a:lnTo>
                <a:lnTo>
                  <a:pt x="4792992" y="207276"/>
                </a:lnTo>
                <a:lnTo>
                  <a:pt x="4789944" y="208800"/>
                </a:lnTo>
                <a:lnTo>
                  <a:pt x="4788420" y="213372"/>
                </a:lnTo>
                <a:lnTo>
                  <a:pt x="4791468" y="216420"/>
                </a:lnTo>
                <a:lnTo>
                  <a:pt x="4831054" y="267322"/>
                </a:lnTo>
                <a:lnTo>
                  <a:pt x="4161307" y="12"/>
                </a:lnTo>
                <a:lnTo>
                  <a:pt x="4147896" y="12"/>
                </a:lnTo>
                <a:lnTo>
                  <a:pt x="4145292" y="6108"/>
                </a:lnTo>
                <a:lnTo>
                  <a:pt x="4825733" y="279171"/>
                </a:lnTo>
                <a:lnTo>
                  <a:pt x="4762512" y="288048"/>
                </a:lnTo>
                <a:lnTo>
                  <a:pt x="4759464" y="289572"/>
                </a:lnTo>
                <a:lnTo>
                  <a:pt x="4756416" y="292620"/>
                </a:lnTo>
                <a:lnTo>
                  <a:pt x="4756416" y="295668"/>
                </a:lnTo>
                <a:lnTo>
                  <a:pt x="4757940" y="298716"/>
                </a:lnTo>
                <a:lnTo>
                  <a:pt x="4760988" y="301764"/>
                </a:lnTo>
                <a:lnTo>
                  <a:pt x="4764036" y="301764"/>
                </a:lnTo>
                <a:lnTo>
                  <a:pt x="4851819" y="288048"/>
                </a:lnTo>
                <a:lnTo>
                  <a:pt x="4861572" y="286524"/>
                </a:lnTo>
                <a:close/>
              </a:path>
              <a:path w="5975984" h="2715895">
                <a:moveTo>
                  <a:pt x="5975616" y="1540776"/>
                </a:moveTo>
                <a:lnTo>
                  <a:pt x="5974092" y="1537728"/>
                </a:lnTo>
                <a:lnTo>
                  <a:pt x="5966472" y="1537728"/>
                </a:lnTo>
                <a:lnTo>
                  <a:pt x="5963424" y="1540776"/>
                </a:lnTo>
                <a:lnTo>
                  <a:pt x="5963310" y="1545348"/>
                </a:lnTo>
                <a:lnTo>
                  <a:pt x="5958979" y="1608099"/>
                </a:lnTo>
                <a:lnTo>
                  <a:pt x="5582424" y="854976"/>
                </a:lnTo>
                <a:lnTo>
                  <a:pt x="5570232" y="861072"/>
                </a:lnTo>
                <a:lnTo>
                  <a:pt x="5947041" y="1614690"/>
                </a:lnTo>
                <a:lnTo>
                  <a:pt x="5893320" y="1578876"/>
                </a:lnTo>
                <a:lnTo>
                  <a:pt x="5890272" y="1577352"/>
                </a:lnTo>
                <a:lnTo>
                  <a:pt x="5887224" y="1577352"/>
                </a:lnTo>
                <a:lnTo>
                  <a:pt x="5884176" y="1580400"/>
                </a:lnTo>
                <a:lnTo>
                  <a:pt x="5882652" y="1583448"/>
                </a:lnTo>
                <a:lnTo>
                  <a:pt x="5884176" y="1588020"/>
                </a:lnTo>
                <a:lnTo>
                  <a:pt x="5885700" y="1589544"/>
                </a:lnTo>
                <a:lnTo>
                  <a:pt x="5969520" y="1644408"/>
                </a:lnTo>
                <a:lnTo>
                  <a:pt x="5970079" y="1635264"/>
                </a:lnTo>
                <a:lnTo>
                  <a:pt x="5975616" y="1545348"/>
                </a:lnTo>
                <a:lnTo>
                  <a:pt x="5975616" y="15407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425" y="659480"/>
            <a:ext cx="62522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60" dirty="0"/>
              <a:t>Primitive</a:t>
            </a:r>
            <a:r>
              <a:rPr sz="3600" spc="-120" dirty="0"/>
              <a:t> </a:t>
            </a:r>
            <a:r>
              <a:rPr sz="3600" dirty="0"/>
              <a:t>and</a:t>
            </a:r>
            <a:r>
              <a:rPr sz="3600" spc="-145" dirty="0"/>
              <a:t> </a:t>
            </a:r>
            <a:r>
              <a:rPr sz="3600" dirty="0"/>
              <a:t>Non-</a:t>
            </a:r>
            <a:r>
              <a:rPr sz="3600" spc="-40" dirty="0"/>
              <a:t>primitive</a:t>
            </a:r>
            <a:r>
              <a:rPr sz="3600" spc="-114" dirty="0"/>
              <a:t> </a:t>
            </a:r>
            <a:r>
              <a:rPr sz="3600" spc="-20" dirty="0"/>
              <a:t>Data </a:t>
            </a:r>
            <a:r>
              <a:rPr sz="3600" spc="-10" dirty="0"/>
              <a:t>Structures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25715" cy="3348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Primitive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fundamental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spc="-175" dirty="0">
                <a:latin typeface="Perpetua"/>
                <a:cs typeface="Perpetua"/>
              </a:rPr>
              <a:t>types </a:t>
            </a:r>
            <a:r>
              <a:rPr sz="2600" dirty="0">
                <a:latin typeface="Perpetua"/>
                <a:cs typeface="Perpetua"/>
              </a:rPr>
              <a:t>which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supported by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programming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language.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105" dirty="0">
                <a:latin typeface="Perpetua"/>
                <a:cs typeface="Perpetua"/>
              </a:rPr>
              <a:t>Eg.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integer, real,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character,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boolean.</a:t>
            </a:r>
            <a:endParaRPr sz="2600">
              <a:latin typeface="Perpetua"/>
              <a:cs typeface="Perpetua"/>
            </a:endParaRPr>
          </a:p>
          <a:p>
            <a:pPr marL="287020" marR="13335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spc="-20" dirty="0">
                <a:latin typeface="Perpetua"/>
                <a:cs typeface="Perpetua"/>
              </a:rPr>
              <a:t>	Non-</a:t>
            </a:r>
            <a:r>
              <a:rPr sz="2600" dirty="0">
                <a:latin typeface="Perpetua"/>
                <a:cs typeface="Perpetua"/>
              </a:rPr>
              <a:t>primitive</a:t>
            </a:r>
            <a:r>
              <a:rPr sz="2600" spc="20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1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21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19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those</a:t>
            </a:r>
            <a:r>
              <a:rPr sz="2600" spc="19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00" dirty="0">
                <a:latin typeface="Perpetua"/>
                <a:cs typeface="Perpetua"/>
              </a:rPr>
              <a:t>  </a:t>
            </a:r>
            <a:r>
              <a:rPr sz="2600" spc="-100" dirty="0">
                <a:latin typeface="Perpetua"/>
                <a:cs typeface="Perpetua"/>
              </a:rPr>
              <a:t>structures </a:t>
            </a:r>
            <a:r>
              <a:rPr sz="2600" dirty="0">
                <a:latin typeface="Perpetua"/>
                <a:cs typeface="Perpetua"/>
              </a:rPr>
              <a:t>which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created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primitive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structures.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Eg.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linked lists,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stacks,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trees,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graphs,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class,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structure</a:t>
            </a:r>
            <a:endParaRPr sz="2600">
              <a:latin typeface="Perpetua"/>
              <a:cs typeface="Perpetua"/>
            </a:endParaRPr>
          </a:p>
          <a:p>
            <a:pPr marL="287020" marR="15875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spc="-20" dirty="0">
                <a:latin typeface="Perpetua"/>
                <a:cs typeface="Perpetua"/>
              </a:rPr>
              <a:t>	Non-</a:t>
            </a:r>
            <a:r>
              <a:rPr sz="2600" dirty="0">
                <a:latin typeface="Perpetua"/>
                <a:cs typeface="Perpetua"/>
              </a:rPr>
              <a:t>primitive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3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3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further</a:t>
            </a:r>
            <a:r>
              <a:rPr sz="2600" spc="3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3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classified</a:t>
            </a:r>
            <a:r>
              <a:rPr sz="2600" spc="335" dirty="0">
                <a:latin typeface="Perpetua"/>
                <a:cs typeface="Perpetua"/>
              </a:rPr>
              <a:t> </a:t>
            </a:r>
            <a:r>
              <a:rPr sz="2600" spc="-320" dirty="0">
                <a:latin typeface="Perpetua"/>
                <a:cs typeface="Perpetua"/>
              </a:rPr>
              <a:t>into </a:t>
            </a:r>
            <a:r>
              <a:rPr sz="2600" dirty="0">
                <a:latin typeface="Perpetua"/>
                <a:cs typeface="Perpetua"/>
              </a:rPr>
              <a:t>two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categories: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linear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non-</a:t>
            </a:r>
            <a:r>
              <a:rPr sz="2600" dirty="0">
                <a:latin typeface="Perpetua"/>
                <a:cs typeface="Perpetua"/>
              </a:rPr>
              <a:t>linear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structures.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23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425" y="659480"/>
            <a:ext cx="60325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60" dirty="0"/>
              <a:t>Primitive</a:t>
            </a:r>
            <a:r>
              <a:rPr sz="3600" spc="-95" dirty="0"/>
              <a:t> </a:t>
            </a:r>
            <a:r>
              <a:rPr sz="3600" dirty="0"/>
              <a:t>VS</a:t>
            </a:r>
            <a:r>
              <a:rPr sz="3600" spc="-114" dirty="0"/>
              <a:t> </a:t>
            </a:r>
            <a:r>
              <a:rPr sz="3600" dirty="0"/>
              <a:t>Non</a:t>
            </a:r>
            <a:r>
              <a:rPr sz="3600" spc="-95" dirty="0"/>
              <a:t> </a:t>
            </a:r>
            <a:r>
              <a:rPr sz="3600" spc="-55" dirty="0"/>
              <a:t>Primitive</a:t>
            </a:r>
            <a:r>
              <a:rPr sz="3600" spc="-90" dirty="0"/>
              <a:t> </a:t>
            </a:r>
            <a:r>
              <a:rPr sz="3600" spc="-25" dirty="0"/>
              <a:t>Data </a:t>
            </a:r>
            <a:r>
              <a:rPr sz="3600" spc="-10" dirty="0"/>
              <a:t>Structure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1958339"/>
            <a:ext cx="9027160" cy="5268595"/>
            <a:chOff x="515112" y="1958339"/>
            <a:chExt cx="9027160" cy="5268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840" y="1958339"/>
              <a:ext cx="7429499" cy="19278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40" y="3886200"/>
              <a:ext cx="7429499" cy="26441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7336" y="6785564"/>
            <a:ext cx="2286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24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80" dirty="0"/>
              <a:t> </a:t>
            </a:r>
            <a:r>
              <a:rPr dirty="0"/>
              <a:t>and</a:t>
            </a:r>
            <a:r>
              <a:rPr spc="-204" dirty="0"/>
              <a:t> </a:t>
            </a:r>
            <a:r>
              <a:rPr dirty="0"/>
              <a:t>Non-linear</a:t>
            </a:r>
            <a:r>
              <a:rPr spc="-145" dirty="0"/>
              <a:t> </a:t>
            </a:r>
            <a:r>
              <a:rPr spc="-10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95312"/>
            <a:ext cx="7432040" cy="436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52450" indent="-274955">
              <a:lnSpc>
                <a:spcPct val="100000"/>
              </a:lnSpc>
              <a:spcBef>
                <a:spcPts val="100"/>
              </a:spcBef>
              <a:buFont typeface="Webdings"/>
              <a:buChar char="●"/>
              <a:tabLst>
                <a:tab pos="287020" algn="l"/>
                <a:tab pos="29908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Perpetua"/>
                <a:cs typeface="Perpetua"/>
              </a:rPr>
              <a:t>If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elements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structure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are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stored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linear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or </a:t>
            </a:r>
            <a:r>
              <a:rPr sz="2400" dirty="0">
                <a:latin typeface="Perpetua"/>
                <a:cs typeface="Perpetua"/>
              </a:rPr>
              <a:t>sequential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45" dirty="0">
                <a:latin typeface="Perpetua"/>
                <a:cs typeface="Perpetua"/>
              </a:rPr>
              <a:t>order,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then it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linear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structure.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90" dirty="0">
                <a:latin typeface="Perpetua"/>
                <a:cs typeface="Perpetua"/>
              </a:rPr>
              <a:t>Eg. </a:t>
            </a:r>
            <a:r>
              <a:rPr sz="2400" spc="-10" dirty="0">
                <a:latin typeface="Perpetua"/>
                <a:cs typeface="Perpetua"/>
              </a:rPr>
              <a:t>arrays, </a:t>
            </a:r>
            <a:r>
              <a:rPr sz="2400" dirty="0">
                <a:latin typeface="Perpetua"/>
                <a:cs typeface="Perpetua"/>
              </a:rPr>
              <a:t>linked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lists,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stacks,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queues</a:t>
            </a:r>
            <a:endParaRPr sz="2400">
              <a:latin typeface="Perpetua"/>
              <a:cs typeface="Perpetua"/>
            </a:endParaRPr>
          </a:p>
          <a:p>
            <a:pPr marL="287020" marR="86360" indent="-274955">
              <a:lnSpc>
                <a:spcPct val="100000"/>
              </a:lnSpc>
              <a:spcBef>
                <a:spcPts val="600"/>
              </a:spcBef>
              <a:buFont typeface="Webdings"/>
              <a:buChar char="●"/>
              <a:tabLst>
                <a:tab pos="287020" algn="l"/>
                <a:tab pos="29908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Perpetua"/>
                <a:cs typeface="Perpetua"/>
              </a:rPr>
              <a:t>If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elements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structure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are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stored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sequential </a:t>
            </a:r>
            <a:r>
              <a:rPr sz="2400" spc="-50" dirty="0">
                <a:latin typeface="Perpetua"/>
                <a:cs typeface="Perpetua"/>
              </a:rPr>
              <a:t>order,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then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non-</a:t>
            </a:r>
            <a:r>
              <a:rPr sz="2400" dirty="0">
                <a:latin typeface="Perpetua"/>
                <a:cs typeface="Perpetua"/>
              </a:rPr>
              <a:t>linear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structure.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80" dirty="0">
                <a:latin typeface="Perpetua"/>
                <a:cs typeface="Perpetua"/>
              </a:rPr>
              <a:t>Eg.</a:t>
            </a:r>
            <a:r>
              <a:rPr sz="2400" spc="-38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Tree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Graphs.</a:t>
            </a:r>
            <a:endParaRPr sz="2400">
              <a:latin typeface="Perpetua"/>
              <a:cs typeface="Perpetua"/>
            </a:endParaRPr>
          </a:p>
          <a:p>
            <a:pPr marL="287020" marR="90805" indent="-274955" algn="just">
              <a:lnSpc>
                <a:spcPct val="100000"/>
              </a:lnSpc>
              <a:spcBef>
                <a:spcPts val="60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non-</a:t>
            </a:r>
            <a:r>
              <a:rPr sz="2400" dirty="0">
                <a:latin typeface="Perpetua"/>
                <a:cs typeface="Perpetua"/>
              </a:rPr>
              <a:t>linear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structures,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every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element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may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have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290" dirty="0">
                <a:latin typeface="Perpetua"/>
                <a:cs typeface="Perpetua"/>
              </a:rPr>
              <a:t>more </a:t>
            </a:r>
            <a:r>
              <a:rPr sz="2400" dirty="0">
                <a:latin typeface="Perpetua"/>
                <a:cs typeface="Perpetua"/>
              </a:rPr>
              <a:t>than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predecessor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well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successor.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Elements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not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form </a:t>
            </a:r>
            <a:r>
              <a:rPr sz="2400" dirty="0">
                <a:latin typeface="Perpetua"/>
                <a:cs typeface="Perpetua"/>
              </a:rPr>
              <a:t>any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particular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linear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sequence.</a:t>
            </a:r>
            <a:endParaRPr sz="2400">
              <a:latin typeface="Perpetua"/>
              <a:cs typeface="Perpetua"/>
            </a:endParaRPr>
          </a:p>
          <a:p>
            <a:pPr marL="287020" marR="5080" indent="-274955">
              <a:lnSpc>
                <a:spcPct val="100000"/>
              </a:lnSpc>
              <a:spcBef>
                <a:spcPts val="56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spc="-20" dirty="0">
                <a:latin typeface="Perpetua"/>
                <a:cs typeface="Perpetua"/>
              </a:rPr>
              <a:t>Non-</a:t>
            </a:r>
            <a:r>
              <a:rPr sz="2600" dirty="0">
                <a:latin typeface="Perpetua"/>
                <a:cs typeface="Perpetua"/>
              </a:rPr>
              <a:t>linear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generally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implemented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420" dirty="0">
                <a:latin typeface="Perpetua"/>
                <a:cs typeface="Perpetua"/>
              </a:rPr>
              <a:t>the</a:t>
            </a:r>
            <a:r>
              <a:rPr sz="2600" dirty="0">
                <a:latin typeface="Perpetua"/>
                <a:cs typeface="Perpetua"/>
              </a:rPr>
              <a:t> same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way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linked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lists.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Hence,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trees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graphs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implemented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dynamic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structures.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4511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Linear</a:t>
            </a:r>
            <a:r>
              <a:rPr spc="-105" dirty="0"/>
              <a:t> </a:t>
            </a:r>
            <a:r>
              <a:rPr dirty="0"/>
              <a:t>VS</a:t>
            </a:r>
            <a:r>
              <a:rPr spc="-105" dirty="0"/>
              <a:t> </a:t>
            </a:r>
            <a:r>
              <a:rPr dirty="0"/>
              <a:t>Non</a:t>
            </a:r>
            <a:r>
              <a:rPr spc="-114" dirty="0"/>
              <a:t> </a:t>
            </a:r>
            <a:r>
              <a:rPr spc="-20" dirty="0"/>
              <a:t>Linear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05000"/>
            <a:ext cx="9027160" cy="5321935"/>
            <a:chOff x="515112" y="1905000"/>
            <a:chExt cx="9027160" cy="532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1905000"/>
              <a:ext cx="7772400" cy="198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3886200"/>
            <a:ext cx="7772400" cy="2788919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65503" y="1898904"/>
          <a:ext cx="7862570" cy="4769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852169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Structures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Non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Structures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035">
                <a:tc>
                  <a:txBody>
                    <a:bodyPr/>
                    <a:lstStyle/>
                    <a:p>
                      <a:pPr marL="90170" marR="4451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Structures</a:t>
                      </a:r>
                      <a:r>
                        <a:rPr sz="18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used</a:t>
                      </a:r>
                      <a:r>
                        <a:rPr sz="18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to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represent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sequential</a:t>
                      </a:r>
                      <a:r>
                        <a:rPr sz="18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data.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86423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Non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Structures</a:t>
                      </a:r>
                      <a:r>
                        <a:rPr sz="18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used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to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represent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hierarchical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data.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170" marR="10039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Structures</a:t>
                      </a:r>
                      <a:r>
                        <a:rPr sz="18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are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easy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to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implement.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2927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Non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Structures</a:t>
                      </a:r>
                      <a:r>
                        <a:rPr sz="1800" spc="-7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are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difficult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to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implement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spc="-10" dirty="0">
                          <a:latin typeface="Perpetua"/>
                          <a:cs typeface="Perpetua"/>
                        </a:rPr>
                        <a:t>Implemented</a:t>
                      </a:r>
                      <a:r>
                        <a:rPr sz="18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using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array</a:t>
                      </a:r>
                      <a:r>
                        <a:rPr sz="18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and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linked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list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Mostly</a:t>
                      </a:r>
                      <a:r>
                        <a:rPr sz="18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implemented</a:t>
                      </a:r>
                      <a:r>
                        <a:rPr sz="18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using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linked</a:t>
                      </a:r>
                      <a:r>
                        <a:rPr sz="18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list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170" marR="5988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These</a:t>
                      </a:r>
                      <a:r>
                        <a:rPr sz="18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are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mostly</a:t>
                      </a:r>
                      <a:r>
                        <a:rPr sz="18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used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in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application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of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software</a:t>
                      </a:r>
                      <a:r>
                        <a:rPr sz="18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development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5988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These</a:t>
                      </a:r>
                      <a:r>
                        <a:rPr sz="18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are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mostly</a:t>
                      </a:r>
                      <a:r>
                        <a:rPr sz="18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used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in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application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of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graph 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theory,</a:t>
                      </a:r>
                      <a:r>
                        <a:rPr sz="1800" spc="-20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AI,</a:t>
                      </a:r>
                      <a:r>
                        <a:rPr sz="1800" spc="-6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Image</a:t>
                      </a:r>
                      <a:r>
                        <a:rPr sz="1800" spc="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processing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90170" marR="33972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For</a:t>
                      </a:r>
                      <a:r>
                        <a:rPr sz="18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implementation</a:t>
                      </a:r>
                      <a:r>
                        <a:rPr sz="18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of</a:t>
                      </a:r>
                      <a:r>
                        <a:rPr sz="18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DS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we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don’t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need</a:t>
                      </a:r>
                      <a:r>
                        <a:rPr sz="18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Non</a:t>
                      </a:r>
                      <a:r>
                        <a:rPr sz="18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Structure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46482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For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implementation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of</a:t>
                      </a:r>
                      <a:r>
                        <a:rPr sz="18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Nonlinear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DS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we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need</a:t>
                      </a:r>
                      <a:r>
                        <a:rPr sz="18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Linear</a:t>
                      </a:r>
                      <a:r>
                        <a:rPr sz="18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Structure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60" dirty="0">
                          <a:latin typeface="Perpetua"/>
                          <a:cs typeface="Perpetua"/>
                        </a:rPr>
                        <a:t>Eg.</a:t>
                      </a:r>
                      <a:r>
                        <a:rPr sz="1800" spc="-10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List,</a:t>
                      </a:r>
                      <a:r>
                        <a:rPr sz="18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10" dirty="0">
                          <a:latin typeface="Perpetua"/>
                          <a:cs typeface="Perpetua"/>
                        </a:rPr>
                        <a:t>Stack,Queue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40" dirty="0">
                          <a:latin typeface="Perpetua"/>
                          <a:cs typeface="Perpetua"/>
                        </a:rPr>
                        <a:t>Eg.Trees</a:t>
                      </a:r>
                      <a:r>
                        <a:rPr sz="1800" spc="-6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dirty="0">
                          <a:latin typeface="Perpetua"/>
                          <a:cs typeface="Perpetua"/>
                        </a:rPr>
                        <a:t>and</a:t>
                      </a:r>
                      <a:r>
                        <a:rPr sz="18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spc="-20" dirty="0">
                          <a:latin typeface="Perpetua"/>
                          <a:cs typeface="Perpetua"/>
                        </a:rPr>
                        <a:t>Graph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47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Static</a:t>
            </a:r>
            <a:r>
              <a:rPr sz="3600" spc="-125" dirty="0"/>
              <a:t> </a:t>
            </a:r>
            <a:r>
              <a:rPr sz="3600" dirty="0"/>
              <a:t>and</a:t>
            </a:r>
            <a:r>
              <a:rPr sz="3600" spc="-170" dirty="0"/>
              <a:t> </a:t>
            </a:r>
            <a:r>
              <a:rPr sz="3600" spc="-55" dirty="0"/>
              <a:t>Dynamic</a:t>
            </a:r>
            <a:r>
              <a:rPr sz="3600" spc="-155" dirty="0"/>
              <a:t> </a:t>
            </a:r>
            <a:r>
              <a:rPr sz="3600" spc="-10" dirty="0"/>
              <a:t>Data</a:t>
            </a:r>
            <a:r>
              <a:rPr sz="3600" spc="-170" dirty="0"/>
              <a:t> </a:t>
            </a:r>
            <a:r>
              <a:rPr sz="3600" spc="-10" dirty="0"/>
              <a:t>Structures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30795" cy="3668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2159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referred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static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600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 created</a:t>
            </a:r>
            <a:r>
              <a:rPr sz="2600" spc="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before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</a:t>
            </a:r>
            <a:r>
              <a:rPr sz="2600" spc="1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execution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begins</a:t>
            </a:r>
            <a:r>
              <a:rPr sz="2600" spc="1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(also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called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during </a:t>
            </a:r>
            <a:r>
              <a:rPr sz="2600" dirty="0">
                <a:latin typeface="Perpetua"/>
                <a:cs typeface="Perpetua"/>
              </a:rPr>
              <a:t>compilation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time).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variables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static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have </a:t>
            </a:r>
            <a:r>
              <a:rPr sz="2600" spc="-10" dirty="0">
                <a:latin typeface="Perpetua"/>
                <a:cs typeface="Perpetua"/>
              </a:rPr>
              <a:t>user-</a:t>
            </a:r>
            <a:r>
              <a:rPr sz="2600" dirty="0">
                <a:latin typeface="Perpetua"/>
                <a:cs typeface="Perpetua"/>
              </a:rPr>
              <a:t>specified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names.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b="1" spc="-25" dirty="0">
                <a:latin typeface="Perpetua"/>
                <a:cs typeface="Perpetua"/>
              </a:rPr>
              <a:t>Eg.</a:t>
            </a:r>
            <a:r>
              <a:rPr sz="2600" b="1" spc="-25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Array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created</a:t>
            </a:r>
            <a:r>
              <a:rPr sz="2600" spc="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at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run-time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called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spc="-135" dirty="0">
                <a:latin typeface="Perpetua"/>
                <a:cs typeface="Perpetua"/>
              </a:rPr>
              <a:t>dynamic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structure.</a:t>
            </a:r>
            <a:r>
              <a:rPr sz="2600" spc="5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6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variables</a:t>
            </a:r>
            <a:r>
              <a:rPr sz="2600" spc="6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type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6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always </a:t>
            </a:r>
            <a:r>
              <a:rPr sz="2600" dirty="0">
                <a:latin typeface="Perpetua"/>
                <a:cs typeface="Perpetua"/>
              </a:rPr>
              <a:t>referenced</a:t>
            </a:r>
            <a:r>
              <a:rPr sz="2600" spc="1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spc="-10" dirty="0">
                <a:latin typeface="Perpetua"/>
                <a:cs typeface="Perpetua"/>
              </a:rPr>
              <a:t>user-</a:t>
            </a:r>
            <a:r>
              <a:rPr sz="2600" dirty="0">
                <a:latin typeface="Perpetua"/>
                <a:cs typeface="Perpetua"/>
              </a:rPr>
              <a:t>defined</a:t>
            </a:r>
            <a:r>
              <a:rPr sz="2600" spc="1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name.</a:t>
            </a:r>
            <a:r>
              <a:rPr sz="2600" spc="11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These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spc="-10" dirty="0">
                <a:latin typeface="Perpetua"/>
                <a:cs typeface="Perpetua"/>
              </a:rPr>
              <a:t>accessed </a:t>
            </a:r>
            <a:r>
              <a:rPr sz="2600" dirty="0">
                <a:latin typeface="Perpetua"/>
                <a:cs typeface="Perpetua"/>
              </a:rPr>
              <a:t>indirectly</a:t>
            </a:r>
            <a:r>
              <a:rPr sz="2600" spc="3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3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3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addresses</a:t>
            </a:r>
            <a:r>
              <a:rPr sz="2600" spc="3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through</a:t>
            </a:r>
            <a:r>
              <a:rPr sz="2600" spc="3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pointers.</a:t>
            </a:r>
            <a:r>
              <a:rPr sz="2600" spc="305" dirty="0">
                <a:latin typeface="Perpetua"/>
                <a:cs typeface="Perpetua"/>
              </a:rPr>
              <a:t>  </a:t>
            </a:r>
            <a:r>
              <a:rPr sz="2600" b="1" spc="-25" dirty="0">
                <a:latin typeface="Perpetua"/>
                <a:cs typeface="Perpetua"/>
              </a:rPr>
              <a:t>Eg. </a:t>
            </a:r>
            <a:r>
              <a:rPr sz="2600" b="1" dirty="0">
                <a:latin typeface="Perpetua"/>
                <a:cs typeface="Perpetua"/>
              </a:rPr>
              <a:t>Linked</a:t>
            </a:r>
            <a:r>
              <a:rPr sz="2600" b="1" spc="-9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List,</a:t>
            </a:r>
            <a:r>
              <a:rPr sz="2600" b="1" spc="-1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Stack,</a:t>
            </a:r>
            <a:r>
              <a:rPr sz="2600" b="1" spc="-135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Queue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336" y="6785564"/>
            <a:ext cx="2286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27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Static</a:t>
            </a:r>
            <a:r>
              <a:rPr spc="-195" dirty="0"/>
              <a:t> </a:t>
            </a:r>
            <a:r>
              <a:rPr dirty="0"/>
              <a:t>VS</a:t>
            </a:r>
            <a:r>
              <a:rPr spc="-135" dirty="0"/>
              <a:t> </a:t>
            </a:r>
            <a:r>
              <a:rPr spc="-55" dirty="0"/>
              <a:t>Dynamic</a:t>
            </a:r>
            <a:r>
              <a:rPr spc="-155" dirty="0"/>
              <a:t> </a:t>
            </a:r>
            <a:r>
              <a:rPr spc="-10" dirty="0"/>
              <a:t>Data</a:t>
            </a:r>
            <a:r>
              <a:rPr spc="-170" dirty="0"/>
              <a:t> </a:t>
            </a:r>
            <a:r>
              <a:rPr spc="-10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05000"/>
            <a:ext cx="9027160" cy="5321935"/>
            <a:chOff x="515112" y="1905000"/>
            <a:chExt cx="9027160" cy="532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1600" y="1905000"/>
              <a:ext cx="7772400" cy="198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3886200"/>
            <a:ext cx="7772400" cy="2871216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65503" y="1898904"/>
          <a:ext cx="7862570" cy="4849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210">
                <a:tc>
                  <a:txBody>
                    <a:bodyPr/>
                    <a:lstStyle/>
                    <a:p>
                      <a:pPr marL="890269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Static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Structures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58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Dynamic</a:t>
                      </a:r>
                      <a:r>
                        <a:rPr sz="1800" b="1" spc="-6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Data</a:t>
                      </a:r>
                      <a:r>
                        <a:rPr sz="1800" b="1" spc="-5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Structures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450">
                <a:tc>
                  <a:txBody>
                    <a:bodyPr/>
                    <a:lstStyle/>
                    <a:p>
                      <a:pPr marL="90170" marR="54991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A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structure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whose</a:t>
                      </a:r>
                      <a:r>
                        <a:rPr sz="24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size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is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fixed</a:t>
                      </a:r>
                      <a:r>
                        <a:rPr sz="24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when</a:t>
                      </a:r>
                      <a:r>
                        <a:rPr sz="24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it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created</a:t>
                      </a:r>
                      <a:r>
                        <a:rPr sz="24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in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memory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15811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structure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which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will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extend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and</a:t>
                      </a:r>
                      <a:r>
                        <a:rPr sz="24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change</a:t>
                      </a:r>
                      <a:r>
                        <a:rPr sz="2400" spc="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its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size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to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fit</a:t>
                      </a:r>
                      <a:r>
                        <a:rPr sz="2400" spc="-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the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data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6175">
                <a:tc>
                  <a:txBody>
                    <a:bodyPr/>
                    <a:lstStyle/>
                    <a:p>
                      <a:pPr marL="90170" marR="1212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Inefficient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as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memory</a:t>
                      </a:r>
                      <a:r>
                        <a:rPr sz="2400" spc="-6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allocated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that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not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needed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980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Efficient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as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the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amount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of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memory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varies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5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085">
                <a:tc>
                  <a:txBody>
                    <a:bodyPr/>
                    <a:lstStyle/>
                    <a:p>
                      <a:pPr marL="90170" marR="12509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Fast</a:t>
                      </a:r>
                      <a:r>
                        <a:rPr sz="2400" spc="-7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access</a:t>
                      </a:r>
                      <a:r>
                        <a:rPr sz="24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to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the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data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as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memory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location</a:t>
                      </a:r>
                      <a:r>
                        <a:rPr sz="24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fixed</a:t>
                      </a:r>
                      <a:r>
                        <a:rPr sz="2400" spc="-6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when</a:t>
                      </a:r>
                      <a:r>
                        <a:rPr sz="24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the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program</a:t>
                      </a:r>
                      <a:r>
                        <a:rPr sz="2400" spc="-3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written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 marR="214629" algn="just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20" dirty="0">
                          <a:latin typeface="Perpetua"/>
                          <a:cs typeface="Perpetua"/>
                        </a:rPr>
                        <a:t>Slower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access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to</a:t>
                      </a:r>
                      <a:r>
                        <a:rPr sz="24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each</a:t>
                      </a:r>
                      <a:r>
                        <a:rPr sz="2400" spc="-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element</a:t>
                      </a:r>
                      <a:r>
                        <a:rPr sz="2400" spc="-4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5" dirty="0">
                          <a:latin typeface="Perpetua"/>
                          <a:cs typeface="Perpetua"/>
                        </a:rPr>
                        <a:t>as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the</a:t>
                      </a:r>
                      <a:r>
                        <a:rPr sz="2400" spc="-5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memory</a:t>
                      </a:r>
                      <a:r>
                        <a:rPr sz="2400" spc="-5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location</a:t>
                      </a:r>
                      <a:r>
                        <a:rPr sz="2400" spc="-3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is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allocated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at run</a:t>
                      </a:r>
                      <a:r>
                        <a:rPr sz="2400" spc="-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time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35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90" dirty="0">
                          <a:latin typeface="Perpetua"/>
                          <a:cs typeface="Perpetua"/>
                        </a:rPr>
                        <a:t>Eg.</a:t>
                      </a:r>
                      <a:r>
                        <a:rPr sz="2400" spc="-24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Array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400" spc="-90" dirty="0">
                          <a:latin typeface="Perpetua"/>
                          <a:cs typeface="Perpetua"/>
                        </a:rPr>
                        <a:t>Eg. </a:t>
                      </a:r>
                      <a:r>
                        <a:rPr sz="2400" dirty="0">
                          <a:latin typeface="Perpetua"/>
                          <a:cs typeface="Perpetua"/>
                        </a:rPr>
                        <a:t>Linked</a:t>
                      </a:r>
                      <a:r>
                        <a:rPr sz="2400" spc="-6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spc="-20" dirty="0">
                          <a:latin typeface="Perpetua"/>
                          <a:cs typeface="Perpetua"/>
                        </a:rPr>
                        <a:t>List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9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252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Persistent</a:t>
            </a:r>
            <a:r>
              <a:rPr sz="3600" spc="-130" dirty="0"/>
              <a:t> </a:t>
            </a:r>
            <a:r>
              <a:rPr sz="3600" dirty="0"/>
              <a:t>and</a:t>
            </a:r>
            <a:r>
              <a:rPr sz="3600" spc="-125" dirty="0"/>
              <a:t> </a:t>
            </a:r>
            <a:r>
              <a:rPr sz="3600" spc="-30" dirty="0"/>
              <a:t>Ephemeral</a:t>
            </a:r>
            <a:r>
              <a:rPr sz="3600" spc="-130" dirty="0"/>
              <a:t> </a:t>
            </a:r>
            <a:r>
              <a:rPr sz="3600" spc="-20" dirty="0"/>
              <a:t>Data </a:t>
            </a:r>
            <a:r>
              <a:rPr sz="3600" spc="-10" dirty="0"/>
              <a:t>Structures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61861"/>
            <a:ext cx="7616190" cy="44977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7020" marR="6350" indent="-274955" algn="just">
              <a:lnSpc>
                <a:spcPts val="2810"/>
              </a:lnSpc>
              <a:spcBef>
                <a:spcPts val="45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supports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operations</a:t>
            </a:r>
            <a:r>
              <a:rPr sz="2600" spc="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most</a:t>
            </a:r>
            <a:r>
              <a:rPr sz="2600" spc="80" dirty="0">
                <a:latin typeface="Perpetua"/>
                <a:cs typeface="Perpetua"/>
              </a:rPr>
              <a:t> </a:t>
            </a:r>
            <a:r>
              <a:rPr sz="2600" spc="-170" dirty="0">
                <a:latin typeface="Perpetua"/>
                <a:cs typeface="Perpetua"/>
              </a:rPr>
              <a:t>recent </a:t>
            </a:r>
            <a:r>
              <a:rPr sz="2600" dirty="0">
                <a:latin typeface="Perpetua"/>
                <a:cs typeface="Perpetua"/>
              </a:rPr>
              <a:t>version</a:t>
            </a:r>
            <a:r>
              <a:rPr sz="2600" spc="11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well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1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previous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version</a:t>
            </a:r>
            <a:r>
              <a:rPr sz="2600" spc="1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termed</a:t>
            </a:r>
            <a:r>
              <a:rPr sz="2600" spc="1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spc="-50" dirty="0">
                <a:latin typeface="Perpetua"/>
                <a:cs typeface="Perpetua"/>
              </a:rPr>
              <a:t>a </a:t>
            </a:r>
            <a:r>
              <a:rPr sz="2600" dirty="0">
                <a:latin typeface="Perpetua"/>
                <a:cs typeface="Perpetua"/>
              </a:rPr>
              <a:t>persistent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structure.</a:t>
            </a:r>
            <a:r>
              <a:rPr sz="2600" spc="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Eg.</a:t>
            </a:r>
            <a:r>
              <a:rPr sz="2600" spc="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Magnetic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media,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such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hard </a:t>
            </a:r>
            <a:r>
              <a:rPr sz="2600" dirty="0">
                <a:latin typeface="Perpetua"/>
                <a:cs typeface="Perpetua"/>
              </a:rPr>
              <a:t>disk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drives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tape.</a:t>
            </a:r>
            <a:endParaRPr sz="2600">
              <a:latin typeface="Perpetua"/>
              <a:cs typeface="Perpetua"/>
            </a:endParaRPr>
          </a:p>
          <a:p>
            <a:pPr marL="287020" marR="5715" indent="-274955" algn="just">
              <a:lnSpc>
                <a:spcPts val="2810"/>
              </a:lnSpc>
              <a:spcBef>
                <a:spcPts val="5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partially</a:t>
            </a:r>
            <a:r>
              <a:rPr sz="2600" b="1" spc="21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persistent</a:t>
            </a:r>
            <a:r>
              <a:rPr sz="2600" b="1" spc="229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versions</a:t>
            </a:r>
            <a:r>
              <a:rPr sz="2600" spc="235" dirty="0">
                <a:latin typeface="Perpetua"/>
                <a:cs typeface="Perpetua"/>
              </a:rPr>
              <a:t> </a:t>
            </a:r>
            <a:r>
              <a:rPr sz="2600" spc="-415" dirty="0">
                <a:latin typeface="Perpetua"/>
                <a:cs typeface="Perpetua"/>
              </a:rPr>
              <a:t>can</a:t>
            </a:r>
            <a:r>
              <a:rPr sz="2600" dirty="0">
                <a:latin typeface="Perpetua"/>
                <a:cs typeface="Perpetua"/>
              </a:rPr>
              <a:t> be</a:t>
            </a:r>
            <a:r>
              <a:rPr sz="2600" spc="5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accessed</a:t>
            </a:r>
            <a:r>
              <a:rPr sz="2600" spc="5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but</a:t>
            </a:r>
            <a:r>
              <a:rPr sz="2600" spc="5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only</a:t>
            </a:r>
            <a:r>
              <a:rPr sz="2600" spc="5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newest</a:t>
            </a:r>
            <a:r>
              <a:rPr sz="2600" spc="5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version</a:t>
            </a:r>
            <a:r>
              <a:rPr sz="2600" spc="5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555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modified.</a:t>
            </a:r>
            <a:r>
              <a:rPr sz="2600" spc="4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Fully</a:t>
            </a:r>
            <a:r>
              <a:rPr sz="2600" b="1" spc="5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persistent</a:t>
            </a:r>
            <a:r>
              <a:rPr sz="2600" b="1" spc="5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5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every</a:t>
            </a:r>
            <a:r>
              <a:rPr sz="2600" spc="5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version</a:t>
            </a:r>
            <a:r>
              <a:rPr sz="2600" spc="5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5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5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both </a:t>
            </a:r>
            <a:r>
              <a:rPr sz="2600" dirty="0">
                <a:latin typeface="Perpetua"/>
                <a:cs typeface="Perpetua"/>
              </a:rPr>
              <a:t>accessed</a:t>
            </a:r>
            <a:r>
              <a:rPr sz="2600" spc="4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48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modified.</a:t>
            </a:r>
            <a:r>
              <a:rPr sz="2600" spc="40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Confluently</a:t>
            </a:r>
            <a:r>
              <a:rPr sz="2600" b="1" spc="509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persistent</a:t>
            </a:r>
            <a:r>
              <a:rPr sz="2600" b="1" spc="5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9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when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merge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two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more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versions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get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new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version.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ts val="2810"/>
              </a:lnSpc>
              <a:spcBef>
                <a:spcPts val="5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An</a:t>
            </a:r>
            <a:r>
              <a:rPr sz="2600" spc="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ephemeral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data</a:t>
            </a:r>
            <a:r>
              <a:rPr sz="2600" spc="1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structure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one</a:t>
            </a:r>
            <a:r>
              <a:rPr sz="2600" spc="1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supports</a:t>
            </a:r>
            <a:r>
              <a:rPr sz="2600" spc="160" dirty="0">
                <a:latin typeface="Perpetua"/>
                <a:cs typeface="Perpetua"/>
              </a:rPr>
              <a:t> </a:t>
            </a:r>
            <a:r>
              <a:rPr sz="2600" spc="-105" dirty="0">
                <a:latin typeface="Perpetua"/>
                <a:cs typeface="Perpetua"/>
              </a:rPr>
              <a:t>operations </a:t>
            </a:r>
            <a:r>
              <a:rPr sz="2600" dirty="0">
                <a:latin typeface="Perpetua"/>
                <a:cs typeface="Perpetua"/>
              </a:rPr>
              <a:t>only</a:t>
            </a:r>
            <a:r>
              <a:rPr sz="2600" spc="3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</a:t>
            </a:r>
            <a:r>
              <a:rPr sz="2600" spc="3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3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most</a:t>
            </a:r>
            <a:r>
              <a:rPr sz="2600" spc="3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recent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version.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Eg.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soap</a:t>
            </a:r>
            <a:r>
              <a:rPr sz="2600" spc="3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bubbles</a:t>
            </a:r>
            <a:r>
              <a:rPr sz="2600" spc="3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,Linked </a:t>
            </a:r>
            <a:r>
              <a:rPr sz="2600" dirty="0">
                <a:latin typeface="Perpetua"/>
                <a:cs typeface="Perpetua"/>
              </a:rPr>
              <a:t>List,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array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379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sz="4000" spc="-1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Algorithm</a:t>
            </a:r>
            <a:endParaRPr sz="4000">
              <a:latin typeface="Franklin Gothic Medium"/>
              <a:cs typeface="Franklin Gothic Mediu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34452" y="3643334"/>
            <a:ext cx="6249670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Problem</a:t>
            </a:r>
            <a:r>
              <a:rPr sz="2600" b="1" spc="-10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Solving,</a:t>
            </a:r>
            <a:r>
              <a:rPr sz="2600" b="1" spc="-14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Introduction</a:t>
            </a:r>
            <a:r>
              <a:rPr sz="2600" b="1" spc="-5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to</a:t>
            </a:r>
            <a:r>
              <a:rPr sz="2600" b="1" spc="-5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algorithm,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Characteristics</a:t>
            </a:r>
            <a:r>
              <a:rPr sz="2600" b="1" spc="-1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of</a:t>
            </a:r>
            <a:r>
              <a:rPr sz="2600" b="1" spc="-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algorithm,</a:t>
            </a:r>
            <a:r>
              <a:rPr sz="2600" b="1" spc="-21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Algorithm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design</a:t>
            </a:r>
            <a:r>
              <a:rPr sz="2600" b="1" spc="-4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tools:</a:t>
            </a:r>
            <a:r>
              <a:rPr sz="2600" b="1" spc="-10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Pseudo-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code</a:t>
            </a:r>
            <a:r>
              <a:rPr sz="2600" b="1" spc="-3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 flowchart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Problem</a:t>
            </a:r>
            <a:r>
              <a:rPr spc="-140" dirty="0"/>
              <a:t> </a:t>
            </a:r>
            <a:r>
              <a:rPr spc="-25" dirty="0"/>
              <a:t>Solving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90752"/>
            <a:ext cx="761619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445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problem-</a:t>
            </a:r>
            <a:r>
              <a:rPr sz="2600" dirty="0">
                <a:latin typeface="Perpetua"/>
                <a:cs typeface="Perpetua"/>
              </a:rPr>
              <a:t>solving</a:t>
            </a:r>
            <a:r>
              <a:rPr sz="2600" spc="4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algorithm</a:t>
            </a:r>
            <a:r>
              <a:rPr sz="2600" spc="4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4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43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procedure</a:t>
            </a:r>
            <a:r>
              <a:rPr sz="2600" spc="4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450" dirty="0">
                <a:latin typeface="Perpetua"/>
                <a:cs typeface="Perpetua"/>
              </a:rPr>
              <a:t>  </a:t>
            </a:r>
            <a:r>
              <a:rPr sz="2600" spc="-660" dirty="0">
                <a:latin typeface="Perpetua"/>
                <a:cs typeface="Perpetua"/>
              </a:rPr>
              <a:t>is</a:t>
            </a:r>
            <a:r>
              <a:rPr sz="2600" dirty="0">
                <a:latin typeface="Perpetua"/>
                <a:cs typeface="Perpetua"/>
              </a:rPr>
              <a:t> guaranteed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produce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solution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followed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strictly.</a:t>
            </a:r>
            <a:endParaRPr sz="2600">
              <a:latin typeface="Perpetua"/>
              <a:cs typeface="Perpetua"/>
            </a:endParaRPr>
          </a:p>
          <a:p>
            <a:pPr marL="287020" marR="6985" indent="-274955" algn="just">
              <a:lnSpc>
                <a:spcPct val="100000"/>
              </a:lnSpc>
              <a:spcBef>
                <a:spcPts val="432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Problem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defining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problem;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90" dirty="0">
                <a:latin typeface="Perpetua"/>
                <a:cs typeface="Perpetua"/>
              </a:rPr>
              <a:t>determining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8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cause</a:t>
            </a:r>
            <a:r>
              <a:rPr sz="2600" spc="18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8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8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problem</a:t>
            </a:r>
            <a:r>
              <a:rPr sz="2600" spc="5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identifying</a:t>
            </a:r>
            <a:r>
              <a:rPr sz="2600" spc="49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prioritizing</a:t>
            </a:r>
            <a:r>
              <a:rPr sz="2600" spc="484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selecting</a:t>
            </a:r>
            <a:r>
              <a:rPr sz="2600" spc="5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alternatives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solution;</a:t>
            </a:r>
            <a:r>
              <a:rPr sz="2600" spc="5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7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implementing</a:t>
            </a:r>
            <a:r>
              <a:rPr sz="2600" spc="60" dirty="0">
                <a:latin typeface="Perpetua"/>
                <a:cs typeface="Perpetua"/>
              </a:rPr>
              <a:t>  </a:t>
            </a:r>
            <a:r>
              <a:rPr sz="2600" spc="-50" dirty="0">
                <a:latin typeface="Perpetua"/>
                <a:cs typeface="Perpetua"/>
              </a:rPr>
              <a:t>a </a:t>
            </a:r>
            <a:r>
              <a:rPr sz="2600" dirty="0">
                <a:latin typeface="Perpetua"/>
                <a:cs typeface="Perpetua"/>
              </a:rPr>
              <a:t>solution.The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problem-</a:t>
            </a:r>
            <a:r>
              <a:rPr sz="2600" dirty="0">
                <a:latin typeface="Perpetua"/>
                <a:cs typeface="Perpetua"/>
              </a:rPr>
              <a:t>solving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process.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416" y="6101553"/>
            <a:ext cx="8296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210" marR="304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Perpetua"/>
                <a:cs typeface="Perpetua"/>
              </a:rPr>
              <a:t>https://asq.org/quality-resources/problem- solving#:~:text=Problem%20solving%20is%20the%20act,The%20problem%2Dsolving%20pr</a:t>
            </a:r>
            <a:endParaRPr sz="1800">
              <a:latin typeface="Perpetua"/>
              <a:cs typeface="Perpetua"/>
            </a:endParaRPr>
          </a:p>
          <a:p>
            <a:pPr marL="38100">
              <a:lnSpc>
                <a:spcPct val="100000"/>
              </a:lnSpc>
            </a:pPr>
            <a:r>
              <a:rPr sz="2100" baseline="-218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31</a:t>
            </a:r>
            <a:r>
              <a:rPr sz="2100" spc="-135" baseline="-218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sz="1800" spc="-10" dirty="0">
                <a:latin typeface="Perpetua"/>
                <a:cs typeface="Perpetua"/>
              </a:rPr>
              <a:t>ocess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Classification</a:t>
            </a:r>
            <a:r>
              <a:rPr spc="-15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45" dirty="0"/>
              <a:t>Problems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20" y="1819065"/>
            <a:ext cx="7615555" cy="44824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1)</a:t>
            </a:r>
            <a:r>
              <a:rPr sz="2400" b="1" spc="-7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Problems</a:t>
            </a:r>
            <a:r>
              <a:rPr sz="2400" b="1" spc="-2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based</a:t>
            </a:r>
            <a:r>
              <a:rPr sz="2400" b="1" spc="-4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on</a:t>
            </a:r>
            <a:r>
              <a:rPr sz="2400" b="1" spc="-1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Algorithmic</a:t>
            </a:r>
            <a:r>
              <a:rPr sz="2400" b="1" spc="-35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Solutions: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Perpetua"/>
                <a:cs typeface="Perpetua"/>
              </a:rPr>
              <a:t>Include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Step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by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step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Instructions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Series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actions</a:t>
            </a:r>
            <a:endParaRPr sz="2400">
              <a:latin typeface="Perpetua"/>
              <a:cs typeface="Perpetua"/>
            </a:endParaRPr>
          </a:p>
          <a:p>
            <a:pPr marL="287020" marR="6350" indent="-274955">
              <a:lnSpc>
                <a:spcPct val="100000"/>
              </a:lnSpc>
              <a:spcBef>
                <a:spcPts val="600"/>
              </a:spcBef>
              <a:buFont typeface="Webdings"/>
              <a:buChar char="●"/>
              <a:tabLst>
                <a:tab pos="287020" algn="l"/>
                <a:tab pos="777240" algn="l"/>
                <a:tab pos="1216660" algn="l"/>
                <a:tab pos="1811020" algn="l"/>
                <a:tab pos="2956560" algn="l"/>
                <a:tab pos="3743325" algn="l"/>
                <a:tab pos="5090160" algn="l"/>
                <a:tab pos="5477510" algn="l"/>
                <a:tab pos="726630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Perpetua"/>
                <a:cs typeface="Perpetua"/>
              </a:rPr>
              <a:t>eg: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25" dirty="0">
                <a:latin typeface="Perpetua"/>
                <a:cs typeface="Perpetua"/>
              </a:rPr>
              <a:t>To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20" dirty="0">
                <a:latin typeface="Perpetua"/>
                <a:cs typeface="Perpetua"/>
              </a:rPr>
              <a:t>find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fibonacci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series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770" dirty="0">
                <a:latin typeface="Perpetua"/>
                <a:cs typeface="Perpetua"/>
              </a:rPr>
              <a:t>–Sequence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25" dirty="0">
                <a:latin typeface="Perpetua"/>
                <a:cs typeface="Perpetua"/>
              </a:rPr>
              <a:t>of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steps/actions</a:t>
            </a:r>
            <a:r>
              <a:rPr sz="2400" dirty="0">
                <a:latin typeface="Perpetua"/>
                <a:cs typeface="Perpetua"/>
              </a:rPr>
              <a:t>	are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required.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2)</a:t>
            </a:r>
            <a:r>
              <a:rPr sz="2400" b="1" spc="-5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Problems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based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on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Heuristic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Solutions: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Perpetua"/>
                <a:cs typeface="Perpetua"/>
              </a:rPr>
              <a:t>Trial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Error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form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Font typeface="Webdings"/>
              <a:buChar char="●"/>
              <a:tabLst>
                <a:tab pos="287020" algn="l"/>
                <a:tab pos="295084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spc="-5" dirty="0">
                <a:latin typeface="Perpetua"/>
                <a:cs typeface="Perpetua"/>
              </a:rPr>
              <a:t>No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sequence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of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actions</a:t>
            </a:r>
            <a:r>
              <a:rPr sz="2400" dirty="0"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or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instructions</a:t>
            </a:r>
            <a:endParaRPr sz="2400">
              <a:latin typeface="Perpetua"/>
              <a:cs typeface="Perpetua"/>
            </a:endParaRPr>
          </a:p>
          <a:p>
            <a:pPr marL="286385" marR="5715" indent="-274320">
              <a:lnSpc>
                <a:spcPct val="101800"/>
              </a:lnSpc>
              <a:spcBef>
                <a:spcPts val="550"/>
              </a:spcBef>
              <a:buFont typeface="Webdings"/>
              <a:buChar char="●"/>
              <a:tabLst>
                <a:tab pos="286385" algn="l"/>
                <a:tab pos="29908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eg:</a:t>
            </a:r>
            <a:r>
              <a:rPr sz="2000" b="1" dirty="0">
                <a:latin typeface="Perpetua"/>
                <a:cs typeface="Perpetua"/>
              </a:rPr>
              <a:t>1)Common</a:t>
            </a:r>
            <a:r>
              <a:rPr sz="2000" b="1" spc="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Sense</a:t>
            </a:r>
            <a:r>
              <a:rPr sz="2000" b="1" spc="-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Heuristic</a:t>
            </a:r>
            <a:r>
              <a:rPr sz="2000" dirty="0">
                <a:latin typeface="Perpetua"/>
                <a:cs typeface="Perpetua"/>
              </a:rPr>
              <a:t>: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If</a:t>
            </a:r>
            <a:r>
              <a:rPr sz="2000" spc="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it</a:t>
            </a:r>
            <a:r>
              <a:rPr sz="2000" spc="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is</a:t>
            </a:r>
            <a:r>
              <a:rPr sz="2000" spc="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raining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outside,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you</a:t>
            </a:r>
            <a:r>
              <a:rPr sz="2000" spc="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should</a:t>
            </a:r>
            <a:r>
              <a:rPr sz="2000" spc="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bring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an </a:t>
            </a:r>
            <a:r>
              <a:rPr sz="2000" spc="-10" dirty="0">
                <a:latin typeface="Perpetua"/>
                <a:cs typeface="Perpetua"/>
              </a:rPr>
              <a:t>umbrella.</a:t>
            </a:r>
            <a:endParaRPr sz="20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5000"/>
              <a:buFont typeface="Webdings"/>
              <a:buChar char="●"/>
              <a:tabLst>
                <a:tab pos="286385" algn="l"/>
              </a:tabLst>
            </a:pPr>
            <a:r>
              <a:rPr sz="2000" b="1" dirty="0">
                <a:latin typeface="Perpetua"/>
                <a:cs typeface="Perpetua"/>
              </a:rPr>
              <a:t>2)</a:t>
            </a:r>
            <a:r>
              <a:rPr sz="2000" b="1" spc="30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Familiarity</a:t>
            </a:r>
            <a:r>
              <a:rPr sz="2000" b="1" spc="29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Heuristic</a:t>
            </a:r>
            <a:r>
              <a:rPr sz="2000" b="1" spc="295" dirty="0">
                <a:latin typeface="Perpetua"/>
                <a:cs typeface="Perpetua"/>
              </a:rPr>
              <a:t> </a:t>
            </a:r>
            <a:r>
              <a:rPr sz="2000" b="1" dirty="0">
                <a:latin typeface="Perpetua"/>
                <a:cs typeface="Perpetua"/>
              </a:rPr>
              <a:t>:</a:t>
            </a:r>
            <a:r>
              <a:rPr sz="2000" dirty="0">
                <a:latin typeface="Perpetua"/>
                <a:cs typeface="Perpetua"/>
              </a:rPr>
              <a:t>Consumers</a:t>
            </a:r>
            <a:r>
              <a:rPr sz="2000" spc="31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buy</a:t>
            </a:r>
            <a:r>
              <a:rPr sz="2000" spc="32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3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same</a:t>
            </a:r>
            <a:r>
              <a:rPr sz="2000" spc="30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brands</a:t>
            </a:r>
            <a:r>
              <a:rPr sz="2000" spc="29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over</a:t>
            </a:r>
            <a:r>
              <a:rPr sz="2000" spc="28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and</a:t>
            </a:r>
            <a:r>
              <a:rPr sz="2000" spc="300" dirty="0">
                <a:latin typeface="Perpetua"/>
                <a:cs typeface="Perpetua"/>
              </a:rPr>
              <a:t> </a:t>
            </a:r>
            <a:r>
              <a:rPr sz="2000" spc="-20" dirty="0">
                <a:latin typeface="Perpetua"/>
                <a:cs typeface="Perpetua"/>
              </a:rPr>
              <a:t>over </a:t>
            </a:r>
            <a:r>
              <a:rPr sz="2000" dirty="0">
                <a:latin typeface="Perpetua"/>
                <a:cs typeface="Perpetua"/>
              </a:rPr>
              <a:t>regardless</a:t>
            </a:r>
            <a:r>
              <a:rPr sz="2000" spc="-6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of</a:t>
            </a:r>
            <a:r>
              <a:rPr sz="2000" spc="-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quality</a:t>
            </a:r>
            <a:r>
              <a:rPr sz="2000" spc="-3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of</a:t>
            </a:r>
            <a:r>
              <a:rPr sz="2000" spc="-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-25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products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6818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Steps</a:t>
            </a:r>
            <a:r>
              <a:rPr spc="-14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75" dirty="0"/>
              <a:t>Problem</a:t>
            </a:r>
            <a:r>
              <a:rPr spc="-170" dirty="0"/>
              <a:t> </a:t>
            </a:r>
            <a:r>
              <a:rPr dirty="0"/>
              <a:t>solving</a:t>
            </a:r>
            <a:r>
              <a:rPr spc="-135" dirty="0"/>
              <a:t> </a:t>
            </a:r>
            <a:r>
              <a:rPr dirty="0"/>
              <a:t>in</a:t>
            </a:r>
            <a:r>
              <a:rPr spc="-130" dirty="0"/>
              <a:t> </a:t>
            </a:r>
            <a:r>
              <a:rPr spc="-40" dirty="0"/>
              <a:t>DSA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815083"/>
            <a:ext cx="9027160" cy="5412105"/>
            <a:chOff x="515112" y="1815083"/>
            <a:chExt cx="9027160" cy="5412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815083"/>
              <a:ext cx="7772400" cy="20711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3886200"/>
              <a:ext cx="7772400" cy="230123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Introduction</a:t>
            </a:r>
            <a:r>
              <a:rPr spc="-190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spc="-8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62591" y="1928835"/>
            <a:ext cx="7595870" cy="386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685" algn="just">
              <a:lnSpc>
                <a:spcPct val="100000"/>
              </a:lnSpc>
              <a:spcBef>
                <a:spcPts val="100"/>
              </a:spcBef>
              <a:buClr>
                <a:srgbClr val="EF7E08"/>
              </a:buClr>
              <a:buSzPct val="85416"/>
              <a:buFont typeface="Gadugi"/>
              <a:buChar char="•"/>
              <a:tabLst>
                <a:tab pos="287020" algn="l"/>
              </a:tabLst>
            </a:pPr>
            <a:r>
              <a:rPr sz="2400" dirty="0">
                <a:latin typeface="Georgia"/>
                <a:cs typeface="Georgia"/>
              </a:rPr>
              <a:t>An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algorithm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1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simply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set</a:t>
            </a:r>
            <a:r>
              <a:rPr sz="2400" b="1" spc="114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of</a:t>
            </a:r>
            <a:r>
              <a:rPr sz="2400" b="1" spc="12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steps</a:t>
            </a:r>
            <a:r>
              <a:rPr sz="2400" b="1" spc="9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used</a:t>
            </a:r>
            <a:r>
              <a:rPr sz="2400" b="1" spc="100" dirty="0">
                <a:latin typeface="Georgia"/>
                <a:cs typeface="Georgia"/>
              </a:rPr>
              <a:t>  </a:t>
            </a:r>
            <a:r>
              <a:rPr sz="2400" b="1" spc="-25" dirty="0">
                <a:latin typeface="Georgia"/>
                <a:cs typeface="Georgia"/>
              </a:rPr>
              <a:t>to 	</a:t>
            </a:r>
            <a:r>
              <a:rPr sz="2400" b="1" dirty="0">
                <a:latin typeface="Georgia"/>
                <a:cs typeface="Georgia"/>
              </a:rPr>
              <a:t>complete</a:t>
            </a:r>
            <a:r>
              <a:rPr sz="2400" b="1" spc="-9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</a:t>
            </a:r>
            <a:r>
              <a:rPr sz="2400" b="1" spc="-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specific</a:t>
            </a:r>
            <a:r>
              <a:rPr sz="2400" b="1" spc="-9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task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85750" marR="5080" indent="-273685" algn="just">
              <a:lnSpc>
                <a:spcPct val="100000"/>
              </a:lnSpc>
              <a:spcBef>
                <a:spcPts val="695"/>
              </a:spcBef>
              <a:buClr>
                <a:srgbClr val="EF7E08"/>
              </a:buClr>
              <a:buSzPct val="85416"/>
              <a:buFont typeface="Gadugi"/>
              <a:buChar char="•"/>
              <a:tabLst>
                <a:tab pos="287020" algn="l"/>
              </a:tabLst>
            </a:pPr>
            <a:r>
              <a:rPr sz="2400" dirty="0">
                <a:latin typeface="Georgia"/>
                <a:cs typeface="Georgia"/>
              </a:rPr>
              <a:t>An</a:t>
            </a:r>
            <a:r>
              <a:rPr sz="2400" spc="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algorithm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set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spc="-15" dirty="0">
                <a:latin typeface="Georgia"/>
                <a:cs typeface="Georgia"/>
              </a:rPr>
              <a:t>step-</a:t>
            </a:r>
            <a:r>
              <a:rPr sz="2400" spc="-25" dirty="0">
                <a:latin typeface="Georgia"/>
                <a:cs typeface="Georgia"/>
              </a:rPr>
              <a:t>by-</a:t>
            </a:r>
            <a:r>
              <a:rPr sz="2400" dirty="0">
                <a:latin typeface="Georgia"/>
                <a:cs typeface="Georgia"/>
              </a:rPr>
              <a:t>step</a:t>
            </a:r>
            <a:r>
              <a:rPr sz="2400" spc="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procedures,</a:t>
            </a:r>
            <a:r>
              <a:rPr sz="2400" spc="1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a 	</a:t>
            </a:r>
            <a:r>
              <a:rPr sz="2400" dirty="0">
                <a:latin typeface="Georgia"/>
                <a:cs typeface="Georgia"/>
              </a:rPr>
              <a:t>set</a:t>
            </a:r>
            <a:r>
              <a:rPr sz="2400" spc="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rules</a:t>
            </a:r>
            <a:r>
              <a:rPr sz="2400" spc="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follow,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completing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specific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task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or 	</a:t>
            </a:r>
            <a:r>
              <a:rPr sz="2400" dirty="0">
                <a:latin typeface="Georgia"/>
                <a:cs typeface="Georgia"/>
              </a:rPr>
              <a:t>solving</a:t>
            </a:r>
            <a:r>
              <a:rPr sz="2400" spc="7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8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particular</a:t>
            </a:r>
            <a:r>
              <a:rPr sz="2400" spc="8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problem.</a:t>
            </a:r>
            <a:r>
              <a:rPr sz="2400" spc="7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gorithm</a:t>
            </a:r>
            <a:r>
              <a:rPr sz="2400" spc="8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8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a</a:t>
            </a:r>
            <a:r>
              <a:rPr sz="2400" b="1" spc="4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set</a:t>
            </a:r>
            <a:r>
              <a:rPr sz="2400" b="1" spc="45" dirty="0">
                <a:latin typeface="Georgia"/>
                <a:cs typeface="Georgia"/>
              </a:rPr>
              <a:t>  </a:t>
            </a:r>
            <a:r>
              <a:rPr sz="2400" b="1" spc="-25" dirty="0">
                <a:latin typeface="Georgia"/>
                <a:cs typeface="Georgia"/>
              </a:rPr>
              <a:t>of 	</a:t>
            </a:r>
            <a:r>
              <a:rPr sz="2400" b="1" dirty="0">
                <a:latin typeface="Georgia"/>
                <a:cs typeface="Georgia"/>
              </a:rPr>
              <a:t>rules</a:t>
            </a:r>
            <a:r>
              <a:rPr sz="2400" b="1" spc="39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that</a:t>
            </a:r>
            <a:r>
              <a:rPr sz="2400" b="1" spc="33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specify</a:t>
            </a:r>
            <a:r>
              <a:rPr sz="2400" b="1" spc="37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the</a:t>
            </a:r>
            <a:r>
              <a:rPr sz="2400" b="1" spc="34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order</a:t>
            </a:r>
            <a:r>
              <a:rPr sz="2400" b="1" spc="37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and</a:t>
            </a:r>
            <a:r>
              <a:rPr sz="2400" b="1" spc="37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kind</a:t>
            </a:r>
            <a:r>
              <a:rPr sz="2400" b="1" spc="385" dirty="0">
                <a:latin typeface="Georgia"/>
                <a:cs typeface="Georgia"/>
              </a:rPr>
              <a:t>  </a:t>
            </a:r>
            <a:r>
              <a:rPr sz="2400" b="1" spc="-25" dirty="0">
                <a:latin typeface="Georgia"/>
                <a:cs typeface="Georgia"/>
              </a:rPr>
              <a:t>of 	</a:t>
            </a:r>
            <a:r>
              <a:rPr sz="2400" b="1" dirty="0">
                <a:latin typeface="Georgia"/>
                <a:cs typeface="Georgia"/>
              </a:rPr>
              <a:t>arithmetic</a:t>
            </a:r>
            <a:r>
              <a:rPr sz="2400" b="1" spc="34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operations</a:t>
            </a:r>
            <a:r>
              <a:rPr sz="2400" b="1" spc="34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that</a:t>
            </a:r>
            <a:r>
              <a:rPr sz="2400" b="1" spc="340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are</a:t>
            </a:r>
            <a:r>
              <a:rPr sz="2400" b="1" spc="34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used</a:t>
            </a:r>
            <a:r>
              <a:rPr sz="2400" b="1" spc="345" dirty="0">
                <a:latin typeface="Georgia"/>
                <a:cs typeface="Georgia"/>
              </a:rPr>
              <a:t>  </a:t>
            </a:r>
            <a:r>
              <a:rPr sz="2400" b="1" dirty="0">
                <a:latin typeface="Georgia"/>
                <a:cs typeface="Georgia"/>
              </a:rPr>
              <a:t>on</a:t>
            </a:r>
            <a:r>
              <a:rPr sz="2400" b="1" spc="345" dirty="0">
                <a:latin typeface="Georgia"/>
                <a:cs typeface="Georgia"/>
              </a:rPr>
              <a:t>  </a:t>
            </a:r>
            <a:r>
              <a:rPr sz="2400" b="1" spc="-50" dirty="0">
                <a:latin typeface="Georgia"/>
                <a:cs typeface="Georgia"/>
              </a:rPr>
              <a:t>a 	</a:t>
            </a:r>
            <a:r>
              <a:rPr sz="2400" b="1" dirty="0">
                <a:latin typeface="Georgia"/>
                <a:cs typeface="Georgia"/>
              </a:rPr>
              <a:t>specified</a:t>
            </a:r>
            <a:r>
              <a:rPr sz="2400" b="1" spc="-9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set</a:t>
            </a:r>
            <a:r>
              <a:rPr sz="2400" b="1" spc="-3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of</a:t>
            </a:r>
            <a:r>
              <a:rPr sz="2400" b="1" spc="-50" dirty="0">
                <a:latin typeface="Georgia"/>
                <a:cs typeface="Georgia"/>
              </a:rPr>
              <a:t> </a:t>
            </a:r>
            <a:r>
              <a:rPr sz="2400" b="1" spc="-20" dirty="0">
                <a:latin typeface="Georgia"/>
                <a:cs typeface="Georgia"/>
              </a:rPr>
              <a:t>data</a:t>
            </a:r>
            <a:r>
              <a:rPr sz="2400" spc="-2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 marL="285750" marR="5080" indent="-273685" algn="just">
              <a:lnSpc>
                <a:spcPct val="100000"/>
              </a:lnSpc>
              <a:spcBef>
                <a:spcPts val="695"/>
              </a:spcBef>
              <a:buClr>
                <a:srgbClr val="EF7E08"/>
              </a:buClr>
              <a:buSzPct val="85416"/>
              <a:buFont typeface="Gadugi"/>
              <a:buChar char="•"/>
              <a:tabLst>
                <a:tab pos="287020" algn="l"/>
              </a:tabLst>
            </a:pPr>
            <a:r>
              <a:rPr sz="2400" dirty="0">
                <a:latin typeface="Georgia"/>
                <a:cs typeface="Georgia"/>
              </a:rPr>
              <a:t>An</a:t>
            </a:r>
            <a:r>
              <a:rPr sz="2400" spc="6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algorithm</a:t>
            </a:r>
            <a:r>
              <a:rPr sz="2400" spc="8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7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an</a:t>
            </a:r>
            <a:r>
              <a:rPr sz="2400" spc="7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effective</a:t>
            </a:r>
            <a:r>
              <a:rPr sz="2400" spc="7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method</a:t>
            </a:r>
            <a:r>
              <a:rPr sz="2400" spc="7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7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solving</a:t>
            </a:r>
            <a:r>
              <a:rPr sz="2400" spc="75" dirty="0">
                <a:latin typeface="Georgia"/>
                <a:cs typeface="Georgia"/>
              </a:rPr>
              <a:t>  </a:t>
            </a:r>
            <a:r>
              <a:rPr sz="2400" spc="-50" dirty="0">
                <a:latin typeface="Georgia"/>
                <a:cs typeface="Georgia"/>
              </a:rPr>
              <a:t>a 	</a:t>
            </a:r>
            <a:r>
              <a:rPr sz="2400" spc="-10" dirty="0">
                <a:latin typeface="Georgia"/>
                <a:cs typeface="Georgia"/>
              </a:rPr>
              <a:t>problem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using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finite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sequence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instructions.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2386583"/>
            <a:ext cx="9027160" cy="4840605"/>
            <a:chOff x="515112" y="2386583"/>
            <a:chExt cx="9027160" cy="48406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3583" y="2386583"/>
              <a:ext cx="7929371" cy="1499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3583" y="3886200"/>
              <a:ext cx="7929371" cy="130149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From</a:t>
            </a:r>
            <a:r>
              <a:rPr spc="-155" dirty="0"/>
              <a:t> </a:t>
            </a:r>
            <a:r>
              <a:rPr spc="-95" dirty="0"/>
              <a:t>Algorithm</a:t>
            </a:r>
            <a:r>
              <a:rPr spc="-155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spc="-10" dirty="0"/>
              <a:t>process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05000"/>
            <a:ext cx="9027160" cy="5321935"/>
            <a:chOff x="515112" y="1905000"/>
            <a:chExt cx="9027160" cy="532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5920" y="1905000"/>
              <a:ext cx="7225283" cy="1981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0" y="3886200"/>
              <a:ext cx="7225283" cy="25908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Characteristics</a:t>
            </a:r>
            <a:r>
              <a:rPr spc="-13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spc="-7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3" y="1881657"/>
            <a:ext cx="7609205" cy="41402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1180"/>
              </a:spcBef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</a:tabLst>
            </a:pPr>
            <a:r>
              <a:rPr sz="1800" b="1" dirty="0">
                <a:latin typeface="Georgia"/>
                <a:cs typeface="Georgia"/>
              </a:rPr>
              <a:t>Input</a:t>
            </a:r>
            <a:r>
              <a:rPr sz="1800" b="1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algorithm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have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0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or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more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well-</a:t>
            </a:r>
            <a:r>
              <a:rPr sz="1800" dirty="0">
                <a:latin typeface="Georgia"/>
                <a:cs typeface="Georgia"/>
              </a:rPr>
              <a:t>defined</a:t>
            </a:r>
            <a:r>
              <a:rPr sz="1800" spc="38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inputs.</a:t>
            </a:r>
            <a:endParaRPr sz="1800">
              <a:latin typeface="Georgia"/>
              <a:cs typeface="Georgia"/>
            </a:endParaRPr>
          </a:p>
          <a:p>
            <a:pPr marL="174625" indent="-161925">
              <a:lnSpc>
                <a:spcPct val="100000"/>
              </a:lnSpc>
              <a:spcBef>
                <a:spcPts val="1080"/>
              </a:spcBef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</a:tabLst>
            </a:pPr>
            <a:r>
              <a:rPr sz="1800" b="1" dirty="0">
                <a:latin typeface="Georgia"/>
                <a:cs typeface="Georgia"/>
              </a:rPr>
              <a:t>Output</a:t>
            </a:r>
            <a:r>
              <a:rPr sz="1800" b="1" spc="229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2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</a:t>
            </a:r>
            <a:r>
              <a:rPr sz="1800" spc="30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algorithm</a:t>
            </a:r>
            <a:r>
              <a:rPr sz="1800" spc="27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2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have</a:t>
            </a:r>
            <a:r>
              <a:rPr sz="1800" spc="29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1</a:t>
            </a:r>
            <a:r>
              <a:rPr sz="1800" spc="2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or</a:t>
            </a:r>
            <a:r>
              <a:rPr sz="1800" spc="29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more</a:t>
            </a:r>
            <a:r>
              <a:rPr sz="1800" spc="28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well-defined</a:t>
            </a:r>
            <a:endParaRPr sz="1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500" spc="-80" dirty="0">
                <a:solidFill>
                  <a:srgbClr val="D34816"/>
                </a:solidFill>
                <a:latin typeface="Webdings"/>
                <a:cs typeface="Webdings"/>
              </a:rPr>
              <a:t></a:t>
            </a:r>
            <a:r>
              <a:rPr sz="1800" spc="-80" dirty="0">
                <a:latin typeface="Georgia"/>
                <a:cs typeface="Georgia"/>
              </a:rPr>
              <a:t>outputs,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match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desired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output.</a:t>
            </a:r>
            <a:endParaRPr sz="1800">
              <a:latin typeface="Georgia"/>
              <a:cs typeface="Georgia"/>
            </a:endParaRPr>
          </a:p>
          <a:p>
            <a:pPr marL="174625" indent="-161925">
              <a:lnSpc>
                <a:spcPct val="100000"/>
              </a:lnSpc>
              <a:spcBef>
                <a:spcPts val="1080"/>
              </a:spcBef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  <a:tab pos="5218430" algn="l"/>
              </a:tabLst>
            </a:pPr>
            <a:r>
              <a:rPr sz="1800" b="1" spc="-10" dirty="0">
                <a:latin typeface="Georgia"/>
                <a:cs typeface="Georgia"/>
              </a:rPr>
              <a:t>Finiteness</a:t>
            </a:r>
            <a:r>
              <a:rPr sz="1800" b="1" spc="-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Algorithms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must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terminate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after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50" dirty="0">
                <a:latin typeface="Georgia"/>
                <a:cs typeface="Georgia"/>
              </a:rPr>
              <a:t>a</a:t>
            </a:r>
            <a:r>
              <a:rPr sz="1800" dirty="0">
                <a:latin typeface="Georgia"/>
                <a:cs typeface="Georgia"/>
              </a:rPr>
              <a:t>	finite</a:t>
            </a:r>
            <a:r>
              <a:rPr sz="1800" spc="37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number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steps.</a:t>
            </a:r>
            <a:endParaRPr sz="1800">
              <a:latin typeface="Georgia"/>
              <a:cs typeface="Georgia"/>
            </a:endParaRPr>
          </a:p>
          <a:p>
            <a:pPr marL="174625" indent="-161925" algn="just">
              <a:lnSpc>
                <a:spcPct val="100000"/>
              </a:lnSpc>
              <a:spcBef>
                <a:spcPts val="1080"/>
              </a:spcBef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</a:tabLst>
            </a:pPr>
            <a:r>
              <a:rPr sz="1800" b="1" spc="-10" dirty="0">
                <a:latin typeface="Georgia"/>
                <a:cs typeface="Georgia"/>
              </a:rPr>
              <a:t>Feasibility</a:t>
            </a:r>
            <a:r>
              <a:rPr sz="1800" b="1" spc="-114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feasible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with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available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resources.</a:t>
            </a:r>
            <a:endParaRPr sz="1800">
              <a:latin typeface="Georgia"/>
              <a:cs typeface="Georgia"/>
            </a:endParaRPr>
          </a:p>
          <a:p>
            <a:pPr marL="12700" marR="5080" indent="161925" algn="just">
              <a:lnSpc>
                <a:spcPct val="150000"/>
              </a:lnSpc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</a:tabLst>
            </a:pPr>
            <a:r>
              <a:rPr sz="1800" b="1" dirty="0">
                <a:latin typeface="Georgia"/>
                <a:cs typeface="Georgia"/>
              </a:rPr>
              <a:t>Independent</a:t>
            </a:r>
            <a:r>
              <a:rPr sz="1800" b="1" spc="49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40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An</a:t>
            </a:r>
            <a:r>
              <a:rPr sz="1800" spc="55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algorithm</a:t>
            </a:r>
            <a:r>
              <a:rPr sz="1800" spc="45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50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have</a:t>
            </a:r>
            <a:r>
              <a:rPr sz="1800" spc="50" dirty="0">
                <a:latin typeface="Georgia"/>
                <a:cs typeface="Georgia"/>
              </a:rPr>
              <a:t>  </a:t>
            </a:r>
            <a:r>
              <a:rPr sz="1800" spc="-10" dirty="0">
                <a:latin typeface="Georgia"/>
                <a:cs typeface="Georgia"/>
              </a:rPr>
              <a:t>step-</a:t>
            </a:r>
            <a:r>
              <a:rPr sz="1800" spc="-25" dirty="0">
                <a:latin typeface="Georgia"/>
                <a:cs typeface="Georgia"/>
              </a:rPr>
              <a:t>by-</a:t>
            </a:r>
            <a:r>
              <a:rPr sz="1800" dirty="0">
                <a:latin typeface="Georgia"/>
                <a:cs typeface="Georgia"/>
              </a:rPr>
              <a:t>step</a:t>
            </a:r>
            <a:r>
              <a:rPr sz="1800" spc="210" dirty="0">
                <a:latin typeface="Georgia"/>
                <a:cs typeface="Georgia"/>
              </a:rPr>
              <a:t>   </a:t>
            </a:r>
            <a:r>
              <a:rPr sz="1800" spc="-10" dirty="0">
                <a:latin typeface="Georgia"/>
                <a:cs typeface="Georgia"/>
              </a:rPr>
              <a:t>directions, </a:t>
            </a:r>
            <a:r>
              <a:rPr sz="1800" dirty="0">
                <a:latin typeface="Georgia"/>
                <a:cs typeface="Georgia"/>
              </a:rPr>
              <a:t>which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independent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any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programming</a:t>
            </a:r>
            <a:r>
              <a:rPr sz="1800" spc="3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code.</a:t>
            </a:r>
            <a:endParaRPr sz="1800">
              <a:latin typeface="Georgia"/>
              <a:cs typeface="Georgia"/>
            </a:endParaRPr>
          </a:p>
          <a:p>
            <a:pPr marL="12700" marR="6350" indent="161925" algn="just">
              <a:lnSpc>
                <a:spcPct val="150000"/>
              </a:lnSpc>
              <a:buClr>
                <a:srgbClr val="EF7E08"/>
              </a:buClr>
              <a:buSzPct val="77777"/>
              <a:buFont typeface="Gadugi"/>
              <a:buChar char="•"/>
              <a:tabLst>
                <a:tab pos="174625" algn="l"/>
              </a:tabLst>
            </a:pPr>
            <a:r>
              <a:rPr sz="1800" b="1" dirty="0">
                <a:latin typeface="Georgia"/>
                <a:cs typeface="Georgia"/>
              </a:rPr>
              <a:t>Unambiguous</a:t>
            </a:r>
            <a:r>
              <a:rPr sz="1800" b="1" spc="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−</a:t>
            </a:r>
            <a:r>
              <a:rPr sz="1800" spc="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Algorithm</a:t>
            </a:r>
            <a:r>
              <a:rPr sz="1800" spc="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clear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45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unambiguous.</a:t>
            </a:r>
            <a:r>
              <a:rPr sz="1800" spc="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Each</a:t>
            </a:r>
            <a:r>
              <a:rPr sz="1800" spc="2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of </a:t>
            </a:r>
            <a:r>
              <a:rPr sz="1800" dirty="0">
                <a:latin typeface="Georgia"/>
                <a:cs typeface="Georgia"/>
              </a:rPr>
              <a:t>its</a:t>
            </a:r>
            <a:r>
              <a:rPr sz="1800" spc="1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steps</a:t>
            </a:r>
            <a:r>
              <a:rPr sz="1800" spc="1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(or</a:t>
            </a:r>
            <a:r>
              <a:rPr sz="1800" spc="1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phases),</a:t>
            </a:r>
            <a:r>
              <a:rPr sz="1800" spc="17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19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their</a:t>
            </a:r>
            <a:r>
              <a:rPr sz="1800" spc="185" dirty="0"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inputs/outputs</a:t>
            </a:r>
            <a:r>
              <a:rPr sz="1800" spc="1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should</a:t>
            </a:r>
            <a:r>
              <a:rPr sz="1800" spc="1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19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clear</a:t>
            </a:r>
            <a:r>
              <a:rPr sz="1800" spc="17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19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must </a:t>
            </a:r>
            <a:r>
              <a:rPr sz="1800" dirty="0">
                <a:latin typeface="Georgia"/>
                <a:cs typeface="Georgia"/>
              </a:rPr>
              <a:t>lead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only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one</a:t>
            </a:r>
            <a:r>
              <a:rPr sz="1800" spc="39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meaning.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816" y="6785564"/>
            <a:ext cx="22669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37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  <a:r>
              <a:rPr spc="-10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75" dirty="0"/>
              <a:t>Program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58339"/>
            <a:ext cx="9027160" cy="5268595"/>
            <a:chOff x="515112" y="1958339"/>
            <a:chExt cx="9027160" cy="52685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958339"/>
              <a:ext cx="7687055" cy="19278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3886200"/>
              <a:ext cx="7687055" cy="278739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Pseudo</a:t>
            </a:r>
            <a:r>
              <a:rPr spc="-225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14" y="1890752"/>
            <a:ext cx="7613015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b="1" dirty="0">
                <a:latin typeface="Perpetua"/>
                <a:cs typeface="Perpetua"/>
              </a:rPr>
              <a:t>	Pseudocode</a:t>
            </a:r>
            <a:r>
              <a:rPr sz="2600" b="1" spc="57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58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5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method</a:t>
            </a:r>
            <a:r>
              <a:rPr sz="2600" spc="57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57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describing</a:t>
            </a:r>
            <a:r>
              <a:rPr sz="2600" spc="560" dirty="0">
                <a:latin typeface="Perpetua"/>
                <a:cs typeface="Perpetua"/>
              </a:rPr>
              <a:t>  </a:t>
            </a:r>
            <a:r>
              <a:rPr sz="2600" spc="-140" dirty="0">
                <a:latin typeface="Perpetua"/>
                <a:cs typeface="Perpetua"/>
              </a:rPr>
              <a:t>computer </a:t>
            </a:r>
            <a:r>
              <a:rPr sz="2600" dirty="0">
                <a:latin typeface="Perpetua"/>
                <a:cs typeface="Perpetua"/>
              </a:rPr>
              <a:t>algorithms</a:t>
            </a:r>
            <a:r>
              <a:rPr sz="2600" spc="1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1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combination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natural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language</a:t>
            </a:r>
            <a:r>
              <a:rPr sz="2600" spc="110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programming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language.</a:t>
            </a:r>
            <a:r>
              <a:rPr sz="2600" spc="8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essentially</a:t>
            </a:r>
            <a:r>
              <a:rPr sz="2600" spc="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intermittent</a:t>
            </a:r>
            <a:r>
              <a:rPr sz="2600" spc="14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step </a:t>
            </a:r>
            <a:r>
              <a:rPr sz="2600" spc="-10" dirty="0">
                <a:latin typeface="Perpetua"/>
                <a:cs typeface="Perpetua"/>
              </a:rPr>
              <a:t>towards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development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actual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code.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425" y="659480"/>
            <a:ext cx="6101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Pseudo</a:t>
            </a:r>
            <a:r>
              <a:rPr sz="3600" spc="-145" dirty="0"/>
              <a:t> </a:t>
            </a:r>
            <a:r>
              <a:rPr sz="3600" dirty="0"/>
              <a:t>code</a:t>
            </a:r>
            <a:r>
              <a:rPr sz="3600" spc="-150" dirty="0"/>
              <a:t> </a:t>
            </a:r>
            <a:r>
              <a:rPr sz="3600" spc="-10" dirty="0"/>
              <a:t>for</a:t>
            </a:r>
            <a:r>
              <a:rPr sz="3600" spc="-145" dirty="0"/>
              <a:t> </a:t>
            </a:r>
            <a:r>
              <a:rPr sz="3600" spc="-10" dirty="0"/>
              <a:t>addition</a:t>
            </a:r>
            <a:r>
              <a:rPr sz="3600" spc="-155" dirty="0"/>
              <a:t> </a:t>
            </a:r>
            <a:r>
              <a:rPr sz="3600" dirty="0"/>
              <a:t>of</a:t>
            </a:r>
            <a:r>
              <a:rPr sz="3600" spc="-145" dirty="0"/>
              <a:t> </a:t>
            </a:r>
            <a:r>
              <a:rPr sz="3600" spc="-50" dirty="0"/>
              <a:t>two </a:t>
            </a:r>
            <a:r>
              <a:rPr sz="3600" spc="-10" dirty="0"/>
              <a:t>numbers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294" y="1815060"/>
            <a:ext cx="4954905" cy="4277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b="1" dirty="0">
                <a:latin typeface="Perpetua"/>
                <a:cs typeface="Perpetua"/>
              </a:rPr>
              <a:t>Pseudocode</a:t>
            </a:r>
            <a:r>
              <a:rPr sz="2600" b="1" spc="-8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to</a:t>
            </a:r>
            <a:r>
              <a:rPr sz="2600" b="1" spc="-125" dirty="0">
                <a:latin typeface="Perpetua"/>
                <a:cs typeface="Perpetua"/>
              </a:rPr>
              <a:t> </a:t>
            </a:r>
            <a:r>
              <a:rPr sz="2600" b="1" spc="-25" dirty="0">
                <a:latin typeface="Perpetua"/>
                <a:cs typeface="Perpetua"/>
              </a:rPr>
              <a:t>Add</a:t>
            </a:r>
            <a:r>
              <a:rPr sz="2600" b="1" spc="-310" dirty="0">
                <a:latin typeface="Perpetua"/>
                <a:cs typeface="Perpetua"/>
              </a:rPr>
              <a:t> </a:t>
            </a:r>
            <a:r>
              <a:rPr sz="2600" b="1" spc="-145" dirty="0">
                <a:latin typeface="Perpetua"/>
                <a:cs typeface="Perpetua"/>
              </a:rPr>
              <a:t>Two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spc="-140" dirty="0">
                <a:latin typeface="Perpetua"/>
                <a:cs typeface="Perpetua"/>
              </a:rPr>
              <a:t>Numbers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-10" dirty="0">
                <a:latin typeface="Perpetua"/>
                <a:cs typeface="Perpetua"/>
              </a:rPr>
              <a:t>BEGIN.</a:t>
            </a:r>
            <a:endParaRPr sz="2600">
              <a:latin typeface="Perpetua"/>
              <a:cs typeface="Perpetua"/>
            </a:endParaRPr>
          </a:p>
          <a:p>
            <a:pPr marL="12700" marR="1348105">
              <a:lnSpc>
                <a:spcPct val="119200"/>
              </a:lnSpc>
            </a:pPr>
            <a:r>
              <a:rPr sz="2600" b="1" dirty="0">
                <a:latin typeface="Perpetua"/>
                <a:cs typeface="Perpetua"/>
              </a:rPr>
              <a:t>NUMBER</a:t>
            </a:r>
            <a:r>
              <a:rPr sz="2600" b="1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s1,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s2,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b="1" spc="-20" dirty="0">
                <a:latin typeface="Perpetua"/>
                <a:cs typeface="Perpetua"/>
              </a:rPr>
              <a:t>sum</a:t>
            </a:r>
            <a:r>
              <a:rPr sz="2600" spc="-20" dirty="0">
                <a:latin typeface="Perpetua"/>
                <a:cs typeface="Perpetua"/>
              </a:rPr>
              <a:t>. </a:t>
            </a:r>
            <a:r>
              <a:rPr sz="2600" dirty="0">
                <a:latin typeface="Perpetua"/>
                <a:cs typeface="Perpetua"/>
              </a:rPr>
              <a:t>OUTPUT("Input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number1:") </a:t>
            </a:r>
            <a:r>
              <a:rPr sz="2600" dirty="0">
                <a:latin typeface="Perpetua"/>
                <a:cs typeface="Perpetua"/>
              </a:rPr>
              <a:t>INPUT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s1.</a:t>
            </a:r>
            <a:endParaRPr sz="2600">
              <a:latin typeface="Perpetua"/>
              <a:cs typeface="Perpetua"/>
            </a:endParaRPr>
          </a:p>
          <a:p>
            <a:pPr marL="12700" marR="1348105">
              <a:lnSpc>
                <a:spcPct val="119200"/>
              </a:lnSpc>
            </a:pPr>
            <a:r>
              <a:rPr sz="2600" dirty="0">
                <a:latin typeface="Perpetua"/>
                <a:cs typeface="Perpetua"/>
              </a:rPr>
              <a:t>OUTPUT("Input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number2:") </a:t>
            </a:r>
            <a:r>
              <a:rPr sz="2600" dirty="0">
                <a:latin typeface="Perpetua"/>
                <a:cs typeface="Perpetua"/>
              </a:rPr>
              <a:t>INPUT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s2.</a:t>
            </a:r>
            <a:endParaRPr sz="2600">
              <a:latin typeface="Perpetua"/>
              <a:cs typeface="Perpetua"/>
            </a:endParaRPr>
          </a:p>
          <a:p>
            <a:pPr marL="12700" marR="2973705">
              <a:lnSpc>
                <a:spcPct val="119200"/>
              </a:lnSpc>
            </a:pPr>
            <a:r>
              <a:rPr sz="2600" b="1" spc="-10" dirty="0">
                <a:latin typeface="Perpetua"/>
                <a:cs typeface="Perpetua"/>
              </a:rPr>
              <a:t>sum</a:t>
            </a:r>
            <a:r>
              <a:rPr sz="2600" spc="-10" dirty="0">
                <a:latin typeface="Perpetua"/>
                <a:cs typeface="Perpetua"/>
              </a:rPr>
              <a:t>=s1+s2. </a:t>
            </a:r>
            <a:r>
              <a:rPr sz="2600" dirty="0">
                <a:latin typeface="Perpetua"/>
                <a:cs typeface="Perpetua"/>
              </a:rPr>
              <a:t>OUTPUT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b="1" spc="-20" dirty="0">
                <a:latin typeface="Perpetua"/>
                <a:cs typeface="Perpetua"/>
              </a:rPr>
              <a:t>sum</a:t>
            </a:r>
            <a:r>
              <a:rPr sz="2600" spc="-2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25715" cy="374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flowchart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schematic</a:t>
            </a:r>
            <a:r>
              <a:rPr sz="2600" spc="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representation</a:t>
            </a:r>
            <a:r>
              <a:rPr sz="2600" spc="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565" dirty="0">
                <a:latin typeface="Perpetua"/>
                <a:cs typeface="Perpetua"/>
              </a:rPr>
              <a:t>or</a:t>
            </a:r>
            <a:r>
              <a:rPr sz="2600" dirty="0">
                <a:latin typeface="Perpetua"/>
                <a:cs typeface="Perpetua"/>
              </a:rPr>
              <a:t> a</a:t>
            </a:r>
            <a:r>
              <a:rPr sz="2600" spc="4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stepwise</a:t>
            </a:r>
            <a:r>
              <a:rPr sz="2600" spc="4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process,</a:t>
            </a:r>
            <a:r>
              <a:rPr sz="2600" spc="3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showing</a:t>
            </a:r>
            <a:r>
              <a:rPr sz="2600" spc="4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steps</a:t>
            </a:r>
            <a:r>
              <a:rPr sz="2600" spc="5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4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boxes</a:t>
            </a:r>
            <a:r>
              <a:rPr sz="2600" spc="5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4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various </a:t>
            </a:r>
            <a:r>
              <a:rPr sz="2600" dirty="0">
                <a:latin typeface="Perpetua"/>
                <a:cs typeface="Perpetua"/>
              </a:rPr>
              <a:t>kinds,</a:t>
            </a:r>
            <a:r>
              <a:rPr sz="2600" spc="5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their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order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connecting</a:t>
            </a:r>
            <a:r>
              <a:rPr sz="2600" spc="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these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with</a:t>
            </a:r>
            <a:r>
              <a:rPr sz="2600" spc="45" dirty="0">
                <a:latin typeface="Perpetua"/>
                <a:cs typeface="Perpetua"/>
              </a:rPr>
              <a:t>  </a:t>
            </a:r>
            <a:r>
              <a:rPr sz="2600" spc="-10" dirty="0">
                <a:latin typeface="Perpetua"/>
                <a:cs typeface="Perpetua"/>
              </a:rPr>
              <a:t>arrows. </a:t>
            </a:r>
            <a:r>
              <a:rPr sz="2600" dirty="0">
                <a:latin typeface="Perpetua"/>
                <a:cs typeface="Perpetua"/>
              </a:rPr>
              <a:t>Flowcharts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used</a:t>
            </a:r>
            <a:r>
              <a:rPr sz="2600" spc="3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2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designing</a:t>
            </a:r>
            <a:r>
              <a:rPr sz="2600" spc="2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documenting</a:t>
            </a:r>
            <a:r>
              <a:rPr sz="2600" spc="2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2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process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program.</a:t>
            </a:r>
            <a:endParaRPr sz="2600">
              <a:latin typeface="Perpetua"/>
              <a:cs typeface="Perpetua"/>
            </a:endParaRPr>
          </a:p>
          <a:p>
            <a:pPr marL="287020" marR="14604" indent="-274955" algn="just">
              <a:lnSpc>
                <a:spcPct val="100000"/>
              </a:lnSpc>
              <a:spcBef>
                <a:spcPts val="432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</a:t>
            </a:r>
            <a:r>
              <a:rPr sz="2600" spc="2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flow</a:t>
            </a:r>
            <a:r>
              <a:rPr sz="2600" spc="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chart,</a:t>
            </a:r>
            <a:r>
              <a:rPr sz="2600" spc="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flow</a:t>
            </a:r>
            <a:r>
              <a:rPr sz="2600" spc="2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diagram,</a:t>
            </a:r>
            <a:r>
              <a:rPr sz="2600" spc="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2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graphical</a:t>
            </a:r>
            <a:r>
              <a:rPr sz="2600" spc="229" dirty="0">
                <a:latin typeface="Perpetua"/>
                <a:cs typeface="Perpetua"/>
              </a:rPr>
              <a:t> </a:t>
            </a:r>
            <a:r>
              <a:rPr sz="2600" spc="-85" dirty="0">
                <a:latin typeface="Perpetua"/>
                <a:cs typeface="Perpetua"/>
              </a:rPr>
              <a:t>representation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3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3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process</a:t>
            </a:r>
            <a:r>
              <a:rPr sz="2600" spc="3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3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system</a:t>
            </a:r>
            <a:r>
              <a:rPr sz="2600" spc="4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details</a:t>
            </a:r>
            <a:r>
              <a:rPr sz="2600" spc="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3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sequencing</a:t>
            </a:r>
            <a:r>
              <a:rPr sz="2600" spc="3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3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steps </a:t>
            </a:r>
            <a:r>
              <a:rPr sz="2600" dirty="0">
                <a:latin typeface="Perpetua"/>
                <a:cs typeface="Perpetua"/>
              </a:rPr>
              <a:t>required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create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output.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0383" y="6785564"/>
            <a:ext cx="2228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112" y="815340"/>
            <a:ext cx="9086215" cy="6411595"/>
            <a:chOff x="515112" y="815340"/>
            <a:chExt cx="9086215" cy="64115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712" y="815340"/>
              <a:ext cx="8857487" cy="307085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712" y="3886200"/>
            <a:ext cx="8857487" cy="314401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112" y="743712"/>
            <a:ext cx="9027160" cy="6483350"/>
            <a:chOff x="515112" y="743712"/>
            <a:chExt cx="9027160" cy="6483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743712"/>
              <a:ext cx="7716011" cy="31424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3886200"/>
              <a:ext cx="7716011" cy="300075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47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0" dirty="0"/>
              <a:t>Algorithm</a:t>
            </a:r>
            <a:r>
              <a:rPr sz="3600" spc="-145" dirty="0"/>
              <a:t> </a:t>
            </a:r>
            <a:r>
              <a:rPr sz="3600" dirty="0"/>
              <a:t>for</a:t>
            </a:r>
            <a:r>
              <a:rPr sz="3600" spc="-190" dirty="0"/>
              <a:t> </a:t>
            </a:r>
            <a:r>
              <a:rPr sz="3600" spc="-10" dirty="0"/>
              <a:t>addition</a:t>
            </a:r>
            <a:r>
              <a:rPr sz="3600" spc="-200" dirty="0"/>
              <a:t> </a:t>
            </a:r>
            <a:r>
              <a:rPr sz="3600" dirty="0"/>
              <a:t>of</a:t>
            </a:r>
            <a:r>
              <a:rPr sz="3600" spc="-160" dirty="0"/>
              <a:t> </a:t>
            </a:r>
            <a:r>
              <a:rPr sz="3600" spc="-25" dirty="0"/>
              <a:t>two</a:t>
            </a:r>
            <a:r>
              <a:rPr sz="3600" spc="-160" dirty="0"/>
              <a:t> </a:t>
            </a:r>
            <a:r>
              <a:rPr sz="3600" spc="-10" dirty="0"/>
              <a:t>number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25899"/>
            <a:ext cx="7605395" cy="42779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1959" indent="-429259">
              <a:lnSpc>
                <a:spcPct val="100000"/>
              </a:lnSpc>
              <a:spcBef>
                <a:spcPts val="38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Input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:</a:t>
            </a:r>
            <a:r>
              <a:rPr sz="2600" spc="-409" dirty="0">
                <a:latin typeface="Perpetua"/>
                <a:cs typeface="Perpetua"/>
              </a:rPr>
              <a:t> </a:t>
            </a:r>
            <a:r>
              <a:rPr sz="2600" spc="-120" dirty="0">
                <a:latin typeface="Perpetua"/>
                <a:cs typeface="Perpetua"/>
              </a:rPr>
              <a:t>Two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numbers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num1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num2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1: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Start</a:t>
            </a:r>
            <a:endParaRPr sz="2600">
              <a:latin typeface="Perpetua"/>
              <a:cs typeface="Perpetua"/>
            </a:endParaRPr>
          </a:p>
          <a:p>
            <a:pPr marL="287020" marR="167005" indent="-274955">
              <a:lnSpc>
                <a:spcPts val="2810"/>
              </a:lnSpc>
              <a:spcBef>
                <a:spcPts val="64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Step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2:</a:t>
            </a:r>
            <a:r>
              <a:rPr sz="2600" spc="-1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Declare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sum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 0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(This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optional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step,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during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190" dirty="0">
                <a:latin typeface="Perpetua"/>
                <a:cs typeface="Perpetua"/>
              </a:rPr>
              <a:t>step5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add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declaration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assign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directly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well)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4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3: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Read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number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num1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4: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Read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number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num2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5:</a:t>
            </a:r>
            <a:r>
              <a:rPr sz="2600" spc="-3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Add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num1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num2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assign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result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variable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400" dirty="0">
                <a:latin typeface="Perpetua"/>
                <a:cs typeface="Perpetua"/>
              </a:rPr>
              <a:t>sum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8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6: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Print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sum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7: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Stop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29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spc="-10" dirty="0">
                <a:latin typeface="Perpetua"/>
                <a:cs typeface="Perpetua"/>
              </a:rPr>
              <a:t>Output: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Sum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num1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num2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47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Flowchart</a:t>
            </a:r>
            <a:r>
              <a:rPr sz="3600" spc="-190" dirty="0"/>
              <a:t> </a:t>
            </a:r>
            <a:r>
              <a:rPr sz="3600" dirty="0"/>
              <a:t>for</a:t>
            </a:r>
            <a:r>
              <a:rPr sz="3600" spc="-160" dirty="0"/>
              <a:t> </a:t>
            </a:r>
            <a:r>
              <a:rPr sz="3600" spc="-10" dirty="0"/>
              <a:t>addition</a:t>
            </a:r>
            <a:r>
              <a:rPr sz="3600" spc="-170" dirty="0"/>
              <a:t> </a:t>
            </a:r>
            <a:r>
              <a:rPr sz="3600" dirty="0"/>
              <a:t>of</a:t>
            </a:r>
            <a:r>
              <a:rPr sz="3600" spc="-165" dirty="0"/>
              <a:t> </a:t>
            </a:r>
            <a:r>
              <a:rPr sz="3600" spc="-25" dirty="0"/>
              <a:t>two</a:t>
            </a:r>
            <a:r>
              <a:rPr sz="3600" spc="-160" dirty="0"/>
              <a:t> </a:t>
            </a:r>
            <a:r>
              <a:rPr sz="3600" spc="-10" dirty="0"/>
              <a:t>number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1815083"/>
            <a:ext cx="9027160" cy="5412105"/>
            <a:chOff x="515112" y="1815083"/>
            <a:chExt cx="9027160" cy="5412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958340"/>
              <a:ext cx="4000500" cy="1927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0956" y="1815083"/>
              <a:ext cx="4715256" cy="20711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0327" y="3886200"/>
              <a:ext cx="4000500" cy="31242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0956" y="3886200"/>
              <a:ext cx="4715256" cy="304342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144000" cy="3429000"/>
            <a:chOff x="457200" y="457200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9144000" cy="3429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687" y="527304"/>
              <a:ext cx="8956547" cy="1965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732" y="723900"/>
              <a:ext cx="9014460" cy="31622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6636" y="521207"/>
              <a:ext cx="9027160" cy="3365500"/>
            </a:xfrm>
            <a:custGeom>
              <a:avLst/>
              <a:gdLst/>
              <a:ahLst/>
              <a:cxnLst/>
              <a:rect l="l" t="t" r="r" b="b"/>
              <a:pathLst>
                <a:path w="9027160" h="3365500">
                  <a:moveTo>
                    <a:pt x="13715" y="3364992"/>
                  </a:moveTo>
                  <a:lnTo>
                    <a:pt x="0" y="3364992"/>
                  </a:lnTo>
                  <a:lnTo>
                    <a:pt x="0" y="318516"/>
                  </a:lnTo>
                  <a:lnTo>
                    <a:pt x="7619" y="268223"/>
                  </a:lnTo>
                  <a:lnTo>
                    <a:pt x="21335" y="220979"/>
                  </a:lnTo>
                  <a:lnTo>
                    <a:pt x="25907" y="205740"/>
                  </a:lnTo>
                  <a:lnTo>
                    <a:pt x="33527" y="190500"/>
                  </a:lnTo>
                  <a:lnTo>
                    <a:pt x="41147" y="176783"/>
                  </a:lnTo>
                  <a:lnTo>
                    <a:pt x="48767" y="161544"/>
                  </a:lnTo>
                  <a:lnTo>
                    <a:pt x="57911" y="147827"/>
                  </a:lnTo>
                  <a:lnTo>
                    <a:pt x="67055" y="135635"/>
                  </a:lnTo>
                  <a:lnTo>
                    <a:pt x="77724" y="121919"/>
                  </a:lnTo>
                  <a:lnTo>
                    <a:pt x="86867" y="109727"/>
                  </a:lnTo>
                  <a:lnTo>
                    <a:pt x="99059" y="99060"/>
                  </a:lnTo>
                  <a:lnTo>
                    <a:pt x="109728" y="86867"/>
                  </a:lnTo>
                  <a:lnTo>
                    <a:pt x="121919" y="77724"/>
                  </a:lnTo>
                  <a:lnTo>
                    <a:pt x="135636" y="67055"/>
                  </a:lnTo>
                  <a:lnTo>
                    <a:pt x="147828" y="57911"/>
                  </a:lnTo>
                  <a:lnTo>
                    <a:pt x="161543" y="48767"/>
                  </a:lnTo>
                  <a:lnTo>
                    <a:pt x="176784" y="41148"/>
                  </a:lnTo>
                  <a:lnTo>
                    <a:pt x="190499" y="33528"/>
                  </a:lnTo>
                  <a:lnTo>
                    <a:pt x="205739" y="25907"/>
                  </a:lnTo>
                  <a:lnTo>
                    <a:pt x="220980" y="21335"/>
                  </a:lnTo>
                  <a:lnTo>
                    <a:pt x="236220" y="15239"/>
                  </a:lnTo>
                  <a:lnTo>
                    <a:pt x="252984" y="10667"/>
                  </a:lnTo>
                  <a:lnTo>
                    <a:pt x="268224" y="7619"/>
                  </a:lnTo>
                  <a:lnTo>
                    <a:pt x="301751" y="1524"/>
                  </a:lnTo>
                  <a:lnTo>
                    <a:pt x="318515" y="0"/>
                  </a:lnTo>
                  <a:lnTo>
                    <a:pt x="8706612" y="0"/>
                  </a:lnTo>
                  <a:lnTo>
                    <a:pt x="8724900" y="1524"/>
                  </a:lnTo>
                  <a:lnTo>
                    <a:pt x="8758428" y="7619"/>
                  </a:lnTo>
                  <a:lnTo>
                    <a:pt x="8773668" y="10667"/>
                  </a:lnTo>
                  <a:lnTo>
                    <a:pt x="8779256" y="12191"/>
                  </a:lnTo>
                  <a:lnTo>
                    <a:pt x="336803" y="12191"/>
                  </a:lnTo>
                  <a:lnTo>
                    <a:pt x="288036" y="16763"/>
                  </a:lnTo>
                  <a:lnTo>
                    <a:pt x="225551" y="32004"/>
                  </a:lnTo>
                  <a:lnTo>
                    <a:pt x="169163" y="59435"/>
                  </a:lnTo>
                  <a:lnTo>
                    <a:pt x="118871" y="96012"/>
                  </a:lnTo>
                  <a:lnTo>
                    <a:pt x="108203" y="108204"/>
                  </a:lnTo>
                  <a:lnTo>
                    <a:pt x="97536" y="118871"/>
                  </a:lnTo>
                  <a:lnTo>
                    <a:pt x="68579" y="155448"/>
                  </a:lnTo>
                  <a:lnTo>
                    <a:pt x="45719" y="196596"/>
                  </a:lnTo>
                  <a:lnTo>
                    <a:pt x="38100" y="210312"/>
                  </a:lnTo>
                  <a:lnTo>
                    <a:pt x="22859" y="256031"/>
                  </a:lnTo>
                  <a:lnTo>
                    <a:pt x="13715" y="320040"/>
                  </a:lnTo>
                  <a:lnTo>
                    <a:pt x="13715" y="3364992"/>
                  </a:lnTo>
                  <a:close/>
                </a:path>
                <a:path w="9027160" h="3365500">
                  <a:moveTo>
                    <a:pt x="9026652" y="3364992"/>
                  </a:moveTo>
                  <a:lnTo>
                    <a:pt x="9012936" y="3364992"/>
                  </a:lnTo>
                  <a:lnTo>
                    <a:pt x="9012936" y="320040"/>
                  </a:lnTo>
                  <a:lnTo>
                    <a:pt x="9009888" y="286512"/>
                  </a:lnTo>
                  <a:lnTo>
                    <a:pt x="8994648" y="225552"/>
                  </a:lnTo>
                  <a:lnTo>
                    <a:pt x="8967216" y="169164"/>
                  </a:lnTo>
                  <a:lnTo>
                    <a:pt x="8939784" y="131064"/>
                  </a:lnTo>
                  <a:lnTo>
                    <a:pt x="8907780" y="97535"/>
                  </a:lnTo>
                  <a:lnTo>
                    <a:pt x="8871204" y="68579"/>
                  </a:lnTo>
                  <a:lnTo>
                    <a:pt x="8830056" y="44196"/>
                  </a:lnTo>
                  <a:lnTo>
                    <a:pt x="8770620" y="22859"/>
                  </a:lnTo>
                  <a:lnTo>
                    <a:pt x="8689848" y="12191"/>
                  </a:lnTo>
                  <a:lnTo>
                    <a:pt x="8779256" y="12191"/>
                  </a:lnTo>
                  <a:lnTo>
                    <a:pt x="8820912" y="25907"/>
                  </a:lnTo>
                  <a:lnTo>
                    <a:pt x="8863584" y="48767"/>
                  </a:lnTo>
                  <a:lnTo>
                    <a:pt x="8903208" y="76200"/>
                  </a:lnTo>
                  <a:lnTo>
                    <a:pt x="8938260" y="109727"/>
                  </a:lnTo>
                  <a:lnTo>
                    <a:pt x="8968740" y="147827"/>
                  </a:lnTo>
                  <a:lnTo>
                    <a:pt x="8993124" y="190500"/>
                  </a:lnTo>
                  <a:lnTo>
                    <a:pt x="9011412" y="236219"/>
                  </a:lnTo>
                  <a:lnTo>
                    <a:pt x="9025128" y="301752"/>
                  </a:lnTo>
                  <a:lnTo>
                    <a:pt x="9025255" y="320040"/>
                  </a:lnTo>
                  <a:lnTo>
                    <a:pt x="9026652" y="336804"/>
                  </a:lnTo>
                  <a:lnTo>
                    <a:pt x="9026652" y="33649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1208" y="1854708"/>
              <a:ext cx="9020810" cy="120650"/>
            </a:xfrm>
            <a:custGeom>
              <a:avLst/>
              <a:gdLst/>
              <a:ahLst/>
              <a:cxnLst/>
              <a:rect l="l" t="t" r="r" b="b"/>
              <a:pathLst>
                <a:path w="9020810" h="120650">
                  <a:moveTo>
                    <a:pt x="9020556" y="120396"/>
                  </a:moveTo>
                  <a:lnTo>
                    <a:pt x="0" y="120396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20396"/>
                  </a:lnTo>
                  <a:close/>
                </a:path>
              </a:pathLst>
            </a:custGeom>
            <a:solidFill>
              <a:srgbClr val="E6B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208" y="3435096"/>
              <a:ext cx="9020810" cy="109855"/>
            </a:xfrm>
            <a:custGeom>
              <a:avLst/>
              <a:gdLst/>
              <a:ahLst/>
              <a:cxnLst/>
              <a:rect l="l" t="t" r="r" b="b"/>
              <a:pathLst>
                <a:path w="9020810" h="109854">
                  <a:moveTo>
                    <a:pt x="9020556" y="109727"/>
                  </a:moveTo>
                  <a:lnTo>
                    <a:pt x="0" y="109727"/>
                  </a:lnTo>
                  <a:lnTo>
                    <a:pt x="0" y="0"/>
                  </a:lnTo>
                  <a:lnTo>
                    <a:pt x="9020556" y="0"/>
                  </a:lnTo>
                  <a:lnTo>
                    <a:pt x="9020556" y="109727"/>
                  </a:lnTo>
                  <a:close/>
                </a:path>
              </a:pathLst>
            </a:custGeom>
            <a:solidFill>
              <a:srgbClr val="9083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31384" y="3614429"/>
            <a:ext cx="41205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86510" algn="l"/>
                <a:tab pos="3406140" algn="l"/>
              </a:tabLst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Space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complexity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Time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379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85"/>
              </a:spcBef>
            </a:pPr>
            <a:r>
              <a:rPr b="1" spc="-345" dirty="0">
                <a:solidFill>
                  <a:srgbClr val="FFFFFF"/>
                </a:solidFill>
                <a:latin typeface="Arial"/>
                <a:cs typeface="Arial"/>
              </a:rPr>
              <a:t>Complexity</a:t>
            </a:r>
            <a:r>
              <a:rPr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26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b="1" spc="-280" dirty="0">
                <a:solidFill>
                  <a:srgbClr val="FFFFFF"/>
                </a:solidFill>
                <a:latin typeface="Arial"/>
                <a:cs typeface="Arial"/>
              </a:rPr>
              <a:t>algorithm: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831384" y="3970973"/>
            <a:ext cx="44075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0555" algn="l"/>
                <a:tab pos="3488054" algn="l"/>
              </a:tabLst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Asymptotic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notation-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Big-</a:t>
            </a:r>
            <a:r>
              <a:rPr sz="2600" b="1" spc="-25" dirty="0">
                <a:solidFill>
                  <a:srgbClr val="696464"/>
                </a:solidFill>
                <a:latin typeface="Perpetua"/>
                <a:cs typeface="Perpetua"/>
              </a:rPr>
              <a:t>O,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01870" y="3614429"/>
            <a:ext cx="1673225" cy="113601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" marR="5080" indent="-23495" algn="just">
              <a:lnSpc>
                <a:spcPts val="2810"/>
              </a:lnSpc>
              <a:spcBef>
                <a:spcPts val="455"/>
              </a:spcBef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complexity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Theta</a:t>
            </a:r>
            <a:r>
              <a:rPr sz="2600" b="1" spc="455" dirty="0">
                <a:solidFill>
                  <a:srgbClr val="696464"/>
                </a:solidFill>
                <a:latin typeface="Perpetua"/>
                <a:cs typeface="Perpetua"/>
              </a:rPr>
              <a:t>  </a:t>
            </a:r>
            <a:r>
              <a:rPr sz="2600" b="1" spc="-25" dirty="0">
                <a:solidFill>
                  <a:srgbClr val="696464"/>
                </a:solidFill>
                <a:latin typeface="Perpetua"/>
                <a:cs typeface="Perpetua"/>
              </a:rPr>
              <a:t>and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using</a:t>
            </a:r>
            <a:r>
              <a:rPr sz="2600" b="1" spc="530" dirty="0">
                <a:solidFill>
                  <a:srgbClr val="696464"/>
                </a:solidFill>
                <a:latin typeface="Perpetua"/>
                <a:cs typeface="Perpetua"/>
              </a:rPr>
              <a:t>  </a:t>
            </a:r>
            <a:r>
              <a:rPr sz="2600" b="1" spc="-20" dirty="0">
                <a:solidFill>
                  <a:srgbClr val="696464"/>
                </a:solidFill>
                <a:latin typeface="Perpetua"/>
                <a:cs typeface="Perpetua"/>
              </a:rPr>
              <a:t>step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31384" y="4327679"/>
            <a:ext cx="433133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tabLst>
                <a:tab pos="1348105" algn="l"/>
                <a:tab pos="2717800" algn="l"/>
              </a:tabLst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Omega,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Finding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	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complexity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count</a:t>
            </a:r>
            <a:r>
              <a:rPr sz="2600" b="1" spc="-7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method,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Time</a:t>
            </a:r>
            <a:r>
              <a:rPr spc="-215" dirty="0"/>
              <a:t> </a:t>
            </a:r>
            <a:r>
              <a:rPr spc="-75" dirty="0"/>
              <a:t>Complexity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95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i="1" dirty="0">
                <a:latin typeface="Perpetua"/>
                <a:cs typeface="Perpetua"/>
              </a:rPr>
              <a:t>	The</a:t>
            </a:r>
            <a:r>
              <a:rPr sz="2800" spc="70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field</a:t>
            </a:r>
            <a:r>
              <a:rPr sz="2800" spc="80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of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computer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science,</a:t>
            </a:r>
            <a:r>
              <a:rPr sz="2800" spc="55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Perpetua"/>
                <a:cs typeface="Perpetua"/>
              </a:rPr>
              <a:t>which</a:t>
            </a:r>
            <a:r>
              <a:rPr sz="2800" spc="65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studies</a:t>
            </a:r>
            <a:r>
              <a:rPr sz="2800" spc="75" dirty="0">
                <a:latin typeface="Times New Roman"/>
                <a:cs typeface="Times New Roman"/>
              </a:rPr>
              <a:t>  </a:t>
            </a:r>
            <a:r>
              <a:rPr sz="2800" i="1" dirty="0">
                <a:latin typeface="Perpetua"/>
                <a:cs typeface="Perpetua"/>
              </a:rPr>
              <a:t>efficiency</a:t>
            </a:r>
            <a:r>
              <a:rPr sz="2800" spc="65" dirty="0">
                <a:latin typeface="Times New Roman"/>
                <a:cs typeface="Times New Roman"/>
              </a:rPr>
              <a:t>  </a:t>
            </a:r>
            <a:r>
              <a:rPr sz="2800" i="1" spc="-640" dirty="0">
                <a:latin typeface="Perpetua"/>
                <a:cs typeface="Perpetua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algorithms,</a:t>
            </a:r>
            <a:r>
              <a:rPr sz="2800" spc="-365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Perpetua"/>
                <a:cs typeface="Perpetua"/>
              </a:rPr>
              <a:t>is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Perpetua"/>
                <a:cs typeface="Perpetua"/>
              </a:rPr>
              <a:t>known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Perpetua"/>
                <a:cs typeface="Perpetua"/>
              </a:rPr>
              <a:t>as</a:t>
            </a:r>
            <a:r>
              <a:rPr sz="2800" spc="-114" dirty="0"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F0000"/>
                </a:solidFill>
                <a:latin typeface="Perpetua"/>
                <a:cs typeface="Perpetua"/>
              </a:rPr>
              <a:t>analysis</a:t>
            </a:r>
            <a:r>
              <a:rPr sz="2800" spc="-8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BF0000"/>
                </a:solidFill>
                <a:latin typeface="Perpetua"/>
                <a:cs typeface="Perpetua"/>
              </a:rPr>
              <a:t>of</a:t>
            </a:r>
            <a:r>
              <a:rPr sz="2800" spc="-135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BF0000"/>
                </a:solidFill>
                <a:latin typeface="Perpetua"/>
                <a:cs typeface="Perpetua"/>
              </a:rPr>
              <a:t>algorithms.</a:t>
            </a:r>
            <a:endParaRPr sz="2800">
              <a:latin typeface="Perpetua"/>
              <a:cs typeface="Perpetua"/>
            </a:endParaRPr>
          </a:p>
          <a:p>
            <a:pPr marL="286385" marR="6350" indent="-274320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dirty="0"/>
              <a:t>	Time</a:t>
            </a:r>
            <a:r>
              <a:rPr sz="2800" spc="440" dirty="0"/>
              <a:t> </a:t>
            </a:r>
            <a:r>
              <a:rPr sz="2800" dirty="0"/>
              <a:t>Complexity</a:t>
            </a:r>
            <a:r>
              <a:rPr sz="2800" spc="440" dirty="0"/>
              <a:t> </a:t>
            </a:r>
            <a:r>
              <a:rPr sz="2800" dirty="0"/>
              <a:t>is</a:t>
            </a:r>
            <a:r>
              <a:rPr sz="2800" spc="450" dirty="0"/>
              <a:t> </a:t>
            </a:r>
            <a:r>
              <a:rPr sz="2800" dirty="0"/>
              <a:t>the</a:t>
            </a:r>
            <a:r>
              <a:rPr sz="2800" spc="465" dirty="0"/>
              <a:t> </a:t>
            </a:r>
            <a:r>
              <a:rPr sz="2800" dirty="0"/>
              <a:t>amount</a:t>
            </a:r>
            <a:r>
              <a:rPr sz="2800" spc="455" dirty="0"/>
              <a:t> </a:t>
            </a:r>
            <a:r>
              <a:rPr sz="2800" dirty="0"/>
              <a:t>of</a:t>
            </a:r>
            <a:r>
              <a:rPr sz="2800" spc="434" dirty="0"/>
              <a:t> </a:t>
            </a:r>
            <a:r>
              <a:rPr sz="2800" dirty="0"/>
              <a:t>time</a:t>
            </a:r>
            <a:r>
              <a:rPr sz="2800" spc="440" dirty="0"/>
              <a:t> </a:t>
            </a:r>
            <a:r>
              <a:rPr sz="2800" dirty="0"/>
              <a:t>taken</a:t>
            </a:r>
            <a:r>
              <a:rPr sz="2800" spc="459" dirty="0"/>
              <a:t> </a:t>
            </a:r>
            <a:r>
              <a:rPr sz="2800" dirty="0"/>
              <a:t>by</a:t>
            </a:r>
            <a:r>
              <a:rPr sz="2800" spc="440" dirty="0"/>
              <a:t> </a:t>
            </a:r>
            <a:r>
              <a:rPr sz="2800" spc="-425" dirty="0"/>
              <a:t>the</a:t>
            </a:r>
            <a:r>
              <a:rPr sz="2800" dirty="0"/>
              <a:t> algorithm</a:t>
            </a:r>
            <a:r>
              <a:rPr sz="2800" spc="170" dirty="0"/>
              <a:t> </a:t>
            </a:r>
            <a:r>
              <a:rPr sz="2800" dirty="0"/>
              <a:t>to</a:t>
            </a:r>
            <a:r>
              <a:rPr sz="2800" spc="145" dirty="0"/>
              <a:t> </a:t>
            </a:r>
            <a:r>
              <a:rPr sz="2800" dirty="0"/>
              <a:t>run.</a:t>
            </a:r>
            <a:r>
              <a:rPr sz="2800" spc="30" dirty="0"/>
              <a:t> </a:t>
            </a:r>
            <a:r>
              <a:rPr sz="2800" dirty="0"/>
              <a:t>It</a:t>
            </a:r>
            <a:r>
              <a:rPr sz="2800" spc="160" dirty="0"/>
              <a:t> </a:t>
            </a:r>
            <a:r>
              <a:rPr sz="2800" dirty="0"/>
              <a:t>measures</a:t>
            </a:r>
            <a:r>
              <a:rPr sz="2800" spc="160" dirty="0"/>
              <a:t> </a:t>
            </a:r>
            <a:r>
              <a:rPr sz="2800" dirty="0"/>
              <a:t>the</a:t>
            </a:r>
            <a:r>
              <a:rPr sz="2800" spc="150" dirty="0"/>
              <a:t> </a:t>
            </a:r>
            <a:r>
              <a:rPr sz="2800" dirty="0"/>
              <a:t>time</a:t>
            </a:r>
            <a:r>
              <a:rPr sz="2800" spc="155" dirty="0"/>
              <a:t> </a:t>
            </a:r>
            <a:r>
              <a:rPr sz="2800" dirty="0"/>
              <a:t>taken</a:t>
            </a:r>
            <a:r>
              <a:rPr sz="2800" spc="145" dirty="0"/>
              <a:t> </a:t>
            </a:r>
            <a:r>
              <a:rPr sz="2800" dirty="0"/>
              <a:t>to</a:t>
            </a:r>
            <a:r>
              <a:rPr sz="2800" spc="145" dirty="0"/>
              <a:t> </a:t>
            </a:r>
            <a:r>
              <a:rPr sz="2800" spc="-10" dirty="0"/>
              <a:t>execute </a:t>
            </a:r>
            <a:r>
              <a:rPr sz="2800" dirty="0"/>
              <a:t>each</a:t>
            </a:r>
            <a:r>
              <a:rPr sz="2800" spc="-50" dirty="0"/>
              <a:t> </a:t>
            </a:r>
            <a:r>
              <a:rPr sz="2800" dirty="0"/>
              <a:t>statement</a:t>
            </a:r>
            <a:r>
              <a:rPr sz="2800" spc="-60" dirty="0"/>
              <a:t> </a:t>
            </a:r>
            <a:r>
              <a:rPr sz="2800" dirty="0"/>
              <a:t>of</a:t>
            </a:r>
            <a:r>
              <a:rPr sz="2800" spc="-30" dirty="0"/>
              <a:t> </a:t>
            </a:r>
            <a:r>
              <a:rPr sz="2800" dirty="0"/>
              <a:t>code</a:t>
            </a:r>
            <a:r>
              <a:rPr sz="2800" spc="-20" dirty="0"/>
              <a:t> </a:t>
            </a:r>
            <a:r>
              <a:rPr sz="2800" dirty="0"/>
              <a:t>in</a:t>
            </a:r>
            <a:r>
              <a:rPr sz="2800" spc="-25" dirty="0"/>
              <a:t> </a:t>
            </a:r>
            <a:r>
              <a:rPr sz="2800" dirty="0"/>
              <a:t>an</a:t>
            </a:r>
            <a:r>
              <a:rPr sz="2800" spc="-10" dirty="0"/>
              <a:t> algorithm.</a:t>
            </a:r>
            <a:endParaRPr sz="2800"/>
          </a:p>
          <a:p>
            <a:pPr marL="286385" marR="5715" indent="-274320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286385" algn="l"/>
                <a:tab pos="453390" algn="l"/>
              </a:tabLst>
            </a:pPr>
            <a:r>
              <a:rPr sz="2800" b="1" dirty="0">
                <a:latin typeface="Perpetua"/>
                <a:cs typeface="Perpetua"/>
              </a:rPr>
              <a:t>	Time</a:t>
            </a:r>
            <a:r>
              <a:rPr sz="2800" b="1" spc="50" dirty="0">
                <a:latin typeface="Perpetua"/>
                <a:cs typeface="Perpetua"/>
              </a:rPr>
              <a:t>  </a:t>
            </a:r>
            <a:r>
              <a:rPr sz="2800" b="1" dirty="0">
                <a:latin typeface="Perpetua"/>
                <a:cs typeface="Perpetua"/>
              </a:rPr>
              <a:t>Complexity</a:t>
            </a:r>
            <a:r>
              <a:rPr sz="2800" b="1" spc="45" dirty="0">
                <a:latin typeface="Perpetua"/>
                <a:cs typeface="Perpetua"/>
              </a:rPr>
              <a:t>  </a:t>
            </a:r>
            <a:r>
              <a:rPr sz="2800" dirty="0"/>
              <a:t>can</a:t>
            </a:r>
            <a:r>
              <a:rPr sz="2800" spc="55" dirty="0"/>
              <a:t>  </a:t>
            </a:r>
            <a:r>
              <a:rPr sz="2800" dirty="0"/>
              <a:t>be</a:t>
            </a:r>
            <a:r>
              <a:rPr sz="2800" spc="50" dirty="0"/>
              <a:t>  </a:t>
            </a:r>
            <a:r>
              <a:rPr sz="2800" dirty="0"/>
              <a:t>calculated</a:t>
            </a:r>
            <a:r>
              <a:rPr sz="2800" spc="55" dirty="0"/>
              <a:t>  </a:t>
            </a:r>
            <a:r>
              <a:rPr sz="2800" dirty="0"/>
              <a:t>by</a:t>
            </a:r>
            <a:r>
              <a:rPr sz="2800" spc="50" dirty="0"/>
              <a:t>  </a:t>
            </a:r>
            <a:r>
              <a:rPr sz="2800" dirty="0"/>
              <a:t>using</a:t>
            </a:r>
            <a:r>
              <a:rPr sz="2800" spc="45" dirty="0"/>
              <a:t>  </a:t>
            </a:r>
            <a:r>
              <a:rPr sz="2800" spc="-555" dirty="0"/>
              <a:t>Two</a:t>
            </a:r>
            <a:r>
              <a:rPr sz="2800" dirty="0"/>
              <a:t> types</a:t>
            </a:r>
            <a:r>
              <a:rPr sz="2800" spc="-50" dirty="0"/>
              <a:t> </a:t>
            </a:r>
            <a:r>
              <a:rPr sz="2800" dirty="0"/>
              <a:t>of</a:t>
            </a:r>
            <a:r>
              <a:rPr sz="2800" spc="-40" dirty="0"/>
              <a:t> </a:t>
            </a:r>
            <a:r>
              <a:rPr sz="2800" dirty="0"/>
              <a:t>methods.They</a:t>
            </a:r>
            <a:r>
              <a:rPr sz="2800" spc="-10" dirty="0"/>
              <a:t> </a:t>
            </a:r>
            <a:r>
              <a:rPr sz="2800" spc="-20" dirty="0"/>
              <a:t>are:</a:t>
            </a:r>
            <a:endParaRPr sz="2800">
              <a:latin typeface="Perpetua"/>
              <a:cs typeface="Perpetua"/>
            </a:endParaRPr>
          </a:p>
          <a:p>
            <a:pPr marL="454025" indent="-44132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454025" algn="l"/>
              </a:tabLst>
            </a:pPr>
            <a:r>
              <a:rPr sz="2800" dirty="0"/>
              <a:t>Step</a:t>
            </a:r>
            <a:r>
              <a:rPr sz="2800" spc="-65" dirty="0"/>
              <a:t> </a:t>
            </a:r>
            <a:r>
              <a:rPr sz="2800" dirty="0"/>
              <a:t>Count</a:t>
            </a:r>
            <a:r>
              <a:rPr sz="2800" spc="-55" dirty="0"/>
              <a:t> </a:t>
            </a:r>
            <a:r>
              <a:rPr sz="2800" spc="-10" dirty="0"/>
              <a:t>Method</a:t>
            </a:r>
            <a:endParaRPr sz="2800"/>
          </a:p>
          <a:p>
            <a:pPr marL="454025" indent="-44132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3928"/>
              <a:buFont typeface="Webdings"/>
              <a:buChar char="●"/>
              <a:tabLst>
                <a:tab pos="454025" algn="l"/>
              </a:tabLst>
            </a:pPr>
            <a:r>
              <a:rPr sz="2800" dirty="0"/>
              <a:t>Asymptotic</a:t>
            </a:r>
            <a:r>
              <a:rPr sz="2800" spc="-100" dirty="0"/>
              <a:t> </a:t>
            </a:r>
            <a:r>
              <a:rPr sz="2800" spc="-10" dirty="0"/>
              <a:t>Notation.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720383" y="6785564"/>
            <a:ext cx="2228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47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609600"/>
            <a:ext cx="9144000" cy="6617334"/>
            <a:chOff x="457200" y="609600"/>
            <a:chExt cx="9144000" cy="6617334"/>
          </a:xfrm>
        </p:grpSpPr>
        <p:sp>
          <p:nvSpPr>
            <p:cNvPr id="3" name="object 3"/>
            <p:cNvSpPr/>
            <p:nvPr/>
          </p:nvSpPr>
          <p:spPr>
            <a:xfrm>
              <a:off x="681215" y="609599"/>
              <a:ext cx="8920480" cy="3276600"/>
            </a:xfrm>
            <a:custGeom>
              <a:avLst/>
              <a:gdLst/>
              <a:ahLst/>
              <a:cxnLst/>
              <a:rect l="l" t="t" r="r" b="b"/>
              <a:pathLst>
                <a:path w="8920480" h="3276600">
                  <a:moveTo>
                    <a:pt x="8919985" y="0"/>
                  </a:moveTo>
                  <a:lnTo>
                    <a:pt x="0" y="0"/>
                  </a:lnTo>
                  <a:lnTo>
                    <a:pt x="0" y="1394460"/>
                  </a:lnTo>
                  <a:lnTo>
                    <a:pt x="0" y="3276600"/>
                  </a:lnTo>
                  <a:lnTo>
                    <a:pt x="147828" y="3276600"/>
                  </a:lnTo>
                  <a:lnTo>
                    <a:pt x="147828" y="1394460"/>
                  </a:lnTo>
                  <a:lnTo>
                    <a:pt x="8772157" y="1394460"/>
                  </a:lnTo>
                  <a:lnTo>
                    <a:pt x="8772157" y="3276600"/>
                  </a:lnTo>
                  <a:lnTo>
                    <a:pt x="8919985" y="3276600"/>
                  </a:lnTo>
                  <a:lnTo>
                    <a:pt x="8919985" y="1394460"/>
                  </a:lnTo>
                  <a:lnTo>
                    <a:pt x="89199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2960" y="758951"/>
              <a:ext cx="8630920" cy="3126740"/>
            </a:xfrm>
            <a:custGeom>
              <a:avLst/>
              <a:gdLst/>
              <a:ahLst/>
              <a:cxnLst/>
              <a:rect l="l" t="t" r="r" b="b"/>
              <a:pathLst>
                <a:path w="8630920" h="3126740">
                  <a:moveTo>
                    <a:pt x="96012" y="1121676"/>
                  </a:moveTo>
                  <a:lnTo>
                    <a:pt x="57912" y="1121676"/>
                  </a:lnTo>
                  <a:lnTo>
                    <a:pt x="57912" y="1133868"/>
                  </a:lnTo>
                  <a:lnTo>
                    <a:pt x="96012" y="1133868"/>
                  </a:lnTo>
                  <a:lnTo>
                    <a:pt x="96012" y="1121676"/>
                  </a:lnTo>
                  <a:close/>
                </a:path>
                <a:path w="8630920" h="3126740">
                  <a:moveTo>
                    <a:pt x="146304" y="1121676"/>
                  </a:moveTo>
                  <a:lnTo>
                    <a:pt x="108204" y="1121676"/>
                  </a:lnTo>
                  <a:lnTo>
                    <a:pt x="108204" y="1133868"/>
                  </a:lnTo>
                  <a:lnTo>
                    <a:pt x="146304" y="1133868"/>
                  </a:lnTo>
                  <a:lnTo>
                    <a:pt x="146304" y="1121676"/>
                  </a:lnTo>
                  <a:close/>
                </a:path>
                <a:path w="8630920" h="3126740">
                  <a:moveTo>
                    <a:pt x="196596" y="1121676"/>
                  </a:moveTo>
                  <a:lnTo>
                    <a:pt x="158496" y="1121676"/>
                  </a:lnTo>
                  <a:lnTo>
                    <a:pt x="158496" y="1133868"/>
                  </a:lnTo>
                  <a:lnTo>
                    <a:pt x="196596" y="1133868"/>
                  </a:lnTo>
                  <a:lnTo>
                    <a:pt x="196596" y="1121676"/>
                  </a:lnTo>
                  <a:close/>
                </a:path>
                <a:path w="8630920" h="3126740">
                  <a:moveTo>
                    <a:pt x="248412" y="1121676"/>
                  </a:moveTo>
                  <a:lnTo>
                    <a:pt x="210312" y="1121676"/>
                  </a:lnTo>
                  <a:lnTo>
                    <a:pt x="210312" y="1133868"/>
                  </a:lnTo>
                  <a:lnTo>
                    <a:pt x="248412" y="1133868"/>
                  </a:lnTo>
                  <a:lnTo>
                    <a:pt x="248412" y="1121676"/>
                  </a:lnTo>
                  <a:close/>
                </a:path>
                <a:path w="8630920" h="3126740">
                  <a:moveTo>
                    <a:pt x="298704" y="1121676"/>
                  </a:moveTo>
                  <a:lnTo>
                    <a:pt x="260604" y="1121676"/>
                  </a:lnTo>
                  <a:lnTo>
                    <a:pt x="260604" y="1133868"/>
                  </a:lnTo>
                  <a:lnTo>
                    <a:pt x="298704" y="1133868"/>
                  </a:lnTo>
                  <a:lnTo>
                    <a:pt x="298704" y="1121676"/>
                  </a:lnTo>
                  <a:close/>
                </a:path>
                <a:path w="8630920" h="3126740">
                  <a:moveTo>
                    <a:pt x="348996" y="1121676"/>
                  </a:moveTo>
                  <a:lnTo>
                    <a:pt x="310896" y="1121676"/>
                  </a:lnTo>
                  <a:lnTo>
                    <a:pt x="310896" y="1133868"/>
                  </a:lnTo>
                  <a:lnTo>
                    <a:pt x="348996" y="1133868"/>
                  </a:lnTo>
                  <a:lnTo>
                    <a:pt x="348996" y="1121676"/>
                  </a:lnTo>
                  <a:close/>
                </a:path>
                <a:path w="8630920" h="3126740">
                  <a:moveTo>
                    <a:pt x="400812" y="1121676"/>
                  </a:moveTo>
                  <a:lnTo>
                    <a:pt x="362712" y="1121676"/>
                  </a:lnTo>
                  <a:lnTo>
                    <a:pt x="362712" y="1133868"/>
                  </a:lnTo>
                  <a:lnTo>
                    <a:pt x="400812" y="1133868"/>
                  </a:lnTo>
                  <a:lnTo>
                    <a:pt x="400812" y="1121676"/>
                  </a:lnTo>
                  <a:close/>
                </a:path>
                <a:path w="8630920" h="3126740">
                  <a:moveTo>
                    <a:pt x="451104" y="1121676"/>
                  </a:moveTo>
                  <a:lnTo>
                    <a:pt x="413004" y="1121676"/>
                  </a:lnTo>
                  <a:lnTo>
                    <a:pt x="413004" y="1133868"/>
                  </a:lnTo>
                  <a:lnTo>
                    <a:pt x="451104" y="1133868"/>
                  </a:lnTo>
                  <a:lnTo>
                    <a:pt x="451104" y="1121676"/>
                  </a:lnTo>
                  <a:close/>
                </a:path>
                <a:path w="8630920" h="3126740">
                  <a:moveTo>
                    <a:pt x="501396" y="1121676"/>
                  </a:moveTo>
                  <a:lnTo>
                    <a:pt x="463296" y="1121676"/>
                  </a:lnTo>
                  <a:lnTo>
                    <a:pt x="463296" y="1133868"/>
                  </a:lnTo>
                  <a:lnTo>
                    <a:pt x="501396" y="1133868"/>
                  </a:lnTo>
                  <a:lnTo>
                    <a:pt x="501396" y="1121676"/>
                  </a:lnTo>
                  <a:close/>
                </a:path>
                <a:path w="8630920" h="3126740">
                  <a:moveTo>
                    <a:pt x="553212" y="1121676"/>
                  </a:moveTo>
                  <a:lnTo>
                    <a:pt x="515112" y="1121676"/>
                  </a:lnTo>
                  <a:lnTo>
                    <a:pt x="515112" y="1133868"/>
                  </a:lnTo>
                  <a:lnTo>
                    <a:pt x="553212" y="1133868"/>
                  </a:lnTo>
                  <a:lnTo>
                    <a:pt x="553212" y="1121676"/>
                  </a:lnTo>
                  <a:close/>
                </a:path>
                <a:path w="8630920" h="3126740">
                  <a:moveTo>
                    <a:pt x="603504" y="1121676"/>
                  </a:moveTo>
                  <a:lnTo>
                    <a:pt x="565404" y="1121676"/>
                  </a:lnTo>
                  <a:lnTo>
                    <a:pt x="565404" y="1133868"/>
                  </a:lnTo>
                  <a:lnTo>
                    <a:pt x="603504" y="1133868"/>
                  </a:lnTo>
                  <a:lnTo>
                    <a:pt x="603504" y="1121676"/>
                  </a:lnTo>
                  <a:close/>
                </a:path>
                <a:path w="8630920" h="3126740">
                  <a:moveTo>
                    <a:pt x="653796" y="1121676"/>
                  </a:moveTo>
                  <a:lnTo>
                    <a:pt x="615696" y="1121676"/>
                  </a:lnTo>
                  <a:lnTo>
                    <a:pt x="615696" y="1133868"/>
                  </a:lnTo>
                  <a:lnTo>
                    <a:pt x="653796" y="1133868"/>
                  </a:lnTo>
                  <a:lnTo>
                    <a:pt x="653796" y="1121676"/>
                  </a:lnTo>
                  <a:close/>
                </a:path>
                <a:path w="8630920" h="3126740">
                  <a:moveTo>
                    <a:pt x="705612" y="1121676"/>
                  </a:moveTo>
                  <a:lnTo>
                    <a:pt x="667512" y="1121676"/>
                  </a:lnTo>
                  <a:lnTo>
                    <a:pt x="667512" y="1133868"/>
                  </a:lnTo>
                  <a:lnTo>
                    <a:pt x="705612" y="1133868"/>
                  </a:lnTo>
                  <a:lnTo>
                    <a:pt x="705612" y="1121676"/>
                  </a:lnTo>
                  <a:close/>
                </a:path>
                <a:path w="8630920" h="3126740">
                  <a:moveTo>
                    <a:pt x="755904" y="1121676"/>
                  </a:moveTo>
                  <a:lnTo>
                    <a:pt x="717804" y="1121676"/>
                  </a:lnTo>
                  <a:lnTo>
                    <a:pt x="717804" y="1133868"/>
                  </a:lnTo>
                  <a:lnTo>
                    <a:pt x="755904" y="1133868"/>
                  </a:lnTo>
                  <a:lnTo>
                    <a:pt x="755904" y="1121676"/>
                  </a:lnTo>
                  <a:close/>
                </a:path>
                <a:path w="8630920" h="3126740">
                  <a:moveTo>
                    <a:pt x="806196" y="1121676"/>
                  </a:moveTo>
                  <a:lnTo>
                    <a:pt x="768096" y="1121676"/>
                  </a:lnTo>
                  <a:lnTo>
                    <a:pt x="768096" y="1133868"/>
                  </a:lnTo>
                  <a:lnTo>
                    <a:pt x="806196" y="1133868"/>
                  </a:lnTo>
                  <a:lnTo>
                    <a:pt x="806196" y="1121676"/>
                  </a:lnTo>
                  <a:close/>
                </a:path>
                <a:path w="8630920" h="3126740">
                  <a:moveTo>
                    <a:pt x="858012" y="1121676"/>
                  </a:moveTo>
                  <a:lnTo>
                    <a:pt x="819912" y="1121676"/>
                  </a:lnTo>
                  <a:lnTo>
                    <a:pt x="819912" y="1133868"/>
                  </a:lnTo>
                  <a:lnTo>
                    <a:pt x="858012" y="1133868"/>
                  </a:lnTo>
                  <a:lnTo>
                    <a:pt x="858012" y="1121676"/>
                  </a:lnTo>
                  <a:close/>
                </a:path>
                <a:path w="8630920" h="3126740">
                  <a:moveTo>
                    <a:pt x="908304" y="1121676"/>
                  </a:moveTo>
                  <a:lnTo>
                    <a:pt x="870204" y="1121676"/>
                  </a:lnTo>
                  <a:lnTo>
                    <a:pt x="870204" y="1133868"/>
                  </a:lnTo>
                  <a:lnTo>
                    <a:pt x="908304" y="1133868"/>
                  </a:lnTo>
                  <a:lnTo>
                    <a:pt x="908304" y="1121676"/>
                  </a:lnTo>
                  <a:close/>
                </a:path>
                <a:path w="8630920" h="3126740">
                  <a:moveTo>
                    <a:pt x="958596" y="1121676"/>
                  </a:moveTo>
                  <a:lnTo>
                    <a:pt x="920496" y="1121676"/>
                  </a:lnTo>
                  <a:lnTo>
                    <a:pt x="920496" y="1133868"/>
                  </a:lnTo>
                  <a:lnTo>
                    <a:pt x="958596" y="1133868"/>
                  </a:lnTo>
                  <a:lnTo>
                    <a:pt x="958596" y="1121676"/>
                  </a:lnTo>
                  <a:close/>
                </a:path>
                <a:path w="8630920" h="3126740">
                  <a:moveTo>
                    <a:pt x="1010412" y="1121676"/>
                  </a:moveTo>
                  <a:lnTo>
                    <a:pt x="972312" y="1121676"/>
                  </a:lnTo>
                  <a:lnTo>
                    <a:pt x="972312" y="1133868"/>
                  </a:lnTo>
                  <a:lnTo>
                    <a:pt x="1010412" y="1133868"/>
                  </a:lnTo>
                  <a:lnTo>
                    <a:pt x="1010412" y="1121676"/>
                  </a:lnTo>
                  <a:close/>
                </a:path>
                <a:path w="8630920" h="3126740">
                  <a:moveTo>
                    <a:pt x="1060704" y="1121676"/>
                  </a:moveTo>
                  <a:lnTo>
                    <a:pt x="1022604" y="1121676"/>
                  </a:lnTo>
                  <a:lnTo>
                    <a:pt x="1022604" y="1133868"/>
                  </a:lnTo>
                  <a:lnTo>
                    <a:pt x="1060704" y="1133868"/>
                  </a:lnTo>
                  <a:lnTo>
                    <a:pt x="1060704" y="1121676"/>
                  </a:lnTo>
                  <a:close/>
                </a:path>
                <a:path w="8630920" h="3126740">
                  <a:moveTo>
                    <a:pt x="1110983" y="1121676"/>
                  </a:moveTo>
                  <a:lnTo>
                    <a:pt x="1072883" y="1121676"/>
                  </a:lnTo>
                  <a:lnTo>
                    <a:pt x="1072883" y="1133868"/>
                  </a:lnTo>
                  <a:lnTo>
                    <a:pt x="1110983" y="1133868"/>
                  </a:lnTo>
                  <a:lnTo>
                    <a:pt x="1110983" y="1121676"/>
                  </a:lnTo>
                  <a:close/>
                </a:path>
                <a:path w="8630920" h="3126740">
                  <a:moveTo>
                    <a:pt x="1162799" y="1121676"/>
                  </a:moveTo>
                  <a:lnTo>
                    <a:pt x="1124699" y="1121676"/>
                  </a:lnTo>
                  <a:lnTo>
                    <a:pt x="1124699" y="1133868"/>
                  </a:lnTo>
                  <a:lnTo>
                    <a:pt x="1162799" y="1133868"/>
                  </a:lnTo>
                  <a:lnTo>
                    <a:pt x="1162799" y="1121676"/>
                  </a:lnTo>
                  <a:close/>
                </a:path>
                <a:path w="8630920" h="3126740">
                  <a:moveTo>
                    <a:pt x="1213091" y="1121676"/>
                  </a:moveTo>
                  <a:lnTo>
                    <a:pt x="1174991" y="1121676"/>
                  </a:lnTo>
                  <a:lnTo>
                    <a:pt x="1174991" y="1133868"/>
                  </a:lnTo>
                  <a:lnTo>
                    <a:pt x="1213091" y="1133868"/>
                  </a:lnTo>
                  <a:lnTo>
                    <a:pt x="1213091" y="1121676"/>
                  </a:lnTo>
                  <a:close/>
                </a:path>
                <a:path w="8630920" h="3126740">
                  <a:moveTo>
                    <a:pt x="1263383" y="1121676"/>
                  </a:moveTo>
                  <a:lnTo>
                    <a:pt x="1225283" y="1121676"/>
                  </a:lnTo>
                  <a:lnTo>
                    <a:pt x="1225283" y="1133868"/>
                  </a:lnTo>
                  <a:lnTo>
                    <a:pt x="1263383" y="1133868"/>
                  </a:lnTo>
                  <a:lnTo>
                    <a:pt x="1263383" y="1121676"/>
                  </a:lnTo>
                  <a:close/>
                </a:path>
                <a:path w="8630920" h="3126740">
                  <a:moveTo>
                    <a:pt x="1315199" y="1121676"/>
                  </a:moveTo>
                  <a:lnTo>
                    <a:pt x="1277099" y="1121676"/>
                  </a:lnTo>
                  <a:lnTo>
                    <a:pt x="1277099" y="1133868"/>
                  </a:lnTo>
                  <a:lnTo>
                    <a:pt x="1315199" y="1133868"/>
                  </a:lnTo>
                  <a:lnTo>
                    <a:pt x="1315199" y="1121676"/>
                  </a:lnTo>
                  <a:close/>
                </a:path>
                <a:path w="8630920" h="3126740">
                  <a:moveTo>
                    <a:pt x="1365491" y="1121676"/>
                  </a:moveTo>
                  <a:lnTo>
                    <a:pt x="1327391" y="1121676"/>
                  </a:lnTo>
                  <a:lnTo>
                    <a:pt x="1327391" y="1133868"/>
                  </a:lnTo>
                  <a:lnTo>
                    <a:pt x="1365491" y="1133868"/>
                  </a:lnTo>
                  <a:lnTo>
                    <a:pt x="1365491" y="1121676"/>
                  </a:lnTo>
                  <a:close/>
                </a:path>
                <a:path w="8630920" h="3126740">
                  <a:moveTo>
                    <a:pt x="1415783" y="1121676"/>
                  </a:moveTo>
                  <a:lnTo>
                    <a:pt x="1377683" y="1121676"/>
                  </a:lnTo>
                  <a:lnTo>
                    <a:pt x="1377683" y="1133868"/>
                  </a:lnTo>
                  <a:lnTo>
                    <a:pt x="1415783" y="1133868"/>
                  </a:lnTo>
                  <a:lnTo>
                    <a:pt x="1415783" y="1121676"/>
                  </a:lnTo>
                  <a:close/>
                </a:path>
                <a:path w="8630920" h="3126740">
                  <a:moveTo>
                    <a:pt x="1467599" y="1121676"/>
                  </a:moveTo>
                  <a:lnTo>
                    <a:pt x="1429499" y="1121676"/>
                  </a:lnTo>
                  <a:lnTo>
                    <a:pt x="1429499" y="1133868"/>
                  </a:lnTo>
                  <a:lnTo>
                    <a:pt x="1467599" y="1133868"/>
                  </a:lnTo>
                  <a:lnTo>
                    <a:pt x="1467599" y="1121676"/>
                  </a:lnTo>
                  <a:close/>
                </a:path>
                <a:path w="8630920" h="3126740">
                  <a:moveTo>
                    <a:pt x="1517891" y="1121676"/>
                  </a:moveTo>
                  <a:lnTo>
                    <a:pt x="1479791" y="1121676"/>
                  </a:lnTo>
                  <a:lnTo>
                    <a:pt x="1479791" y="1133868"/>
                  </a:lnTo>
                  <a:lnTo>
                    <a:pt x="1517891" y="1133868"/>
                  </a:lnTo>
                  <a:lnTo>
                    <a:pt x="1517891" y="1121676"/>
                  </a:lnTo>
                  <a:close/>
                </a:path>
                <a:path w="8630920" h="3126740">
                  <a:moveTo>
                    <a:pt x="1568183" y="1121676"/>
                  </a:moveTo>
                  <a:lnTo>
                    <a:pt x="1530083" y="1121676"/>
                  </a:lnTo>
                  <a:lnTo>
                    <a:pt x="1530083" y="1133868"/>
                  </a:lnTo>
                  <a:lnTo>
                    <a:pt x="1568183" y="1133868"/>
                  </a:lnTo>
                  <a:lnTo>
                    <a:pt x="1568183" y="1121676"/>
                  </a:lnTo>
                  <a:close/>
                </a:path>
                <a:path w="8630920" h="3126740">
                  <a:moveTo>
                    <a:pt x="1619999" y="1121676"/>
                  </a:moveTo>
                  <a:lnTo>
                    <a:pt x="1581899" y="1121676"/>
                  </a:lnTo>
                  <a:lnTo>
                    <a:pt x="1581899" y="1133868"/>
                  </a:lnTo>
                  <a:lnTo>
                    <a:pt x="1619999" y="1133868"/>
                  </a:lnTo>
                  <a:lnTo>
                    <a:pt x="1619999" y="1121676"/>
                  </a:lnTo>
                  <a:close/>
                </a:path>
                <a:path w="8630920" h="3126740">
                  <a:moveTo>
                    <a:pt x="1670291" y="1121676"/>
                  </a:moveTo>
                  <a:lnTo>
                    <a:pt x="1632191" y="1121676"/>
                  </a:lnTo>
                  <a:lnTo>
                    <a:pt x="1632191" y="1133868"/>
                  </a:lnTo>
                  <a:lnTo>
                    <a:pt x="1670291" y="1133868"/>
                  </a:lnTo>
                  <a:lnTo>
                    <a:pt x="1670291" y="1121676"/>
                  </a:lnTo>
                  <a:close/>
                </a:path>
                <a:path w="8630920" h="3126740">
                  <a:moveTo>
                    <a:pt x="1720583" y="1121676"/>
                  </a:moveTo>
                  <a:lnTo>
                    <a:pt x="1682483" y="1121676"/>
                  </a:lnTo>
                  <a:lnTo>
                    <a:pt x="1682483" y="1133868"/>
                  </a:lnTo>
                  <a:lnTo>
                    <a:pt x="1720583" y="1133868"/>
                  </a:lnTo>
                  <a:lnTo>
                    <a:pt x="1720583" y="1121676"/>
                  </a:lnTo>
                  <a:close/>
                </a:path>
                <a:path w="8630920" h="3126740">
                  <a:moveTo>
                    <a:pt x="1772399" y="1121676"/>
                  </a:moveTo>
                  <a:lnTo>
                    <a:pt x="1734299" y="1121676"/>
                  </a:lnTo>
                  <a:lnTo>
                    <a:pt x="1734299" y="1133868"/>
                  </a:lnTo>
                  <a:lnTo>
                    <a:pt x="1772399" y="1133868"/>
                  </a:lnTo>
                  <a:lnTo>
                    <a:pt x="1772399" y="1121676"/>
                  </a:lnTo>
                  <a:close/>
                </a:path>
                <a:path w="8630920" h="3126740">
                  <a:moveTo>
                    <a:pt x="1822691" y="1121676"/>
                  </a:moveTo>
                  <a:lnTo>
                    <a:pt x="1784591" y="1121676"/>
                  </a:lnTo>
                  <a:lnTo>
                    <a:pt x="1784591" y="1133868"/>
                  </a:lnTo>
                  <a:lnTo>
                    <a:pt x="1822691" y="1133868"/>
                  </a:lnTo>
                  <a:lnTo>
                    <a:pt x="1822691" y="1121676"/>
                  </a:lnTo>
                  <a:close/>
                </a:path>
                <a:path w="8630920" h="3126740">
                  <a:moveTo>
                    <a:pt x="1872983" y="1121676"/>
                  </a:moveTo>
                  <a:lnTo>
                    <a:pt x="1834883" y="1121676"/>
                  </a:lnTo>
                  <a:lnTo>
                    <a:pt x="1834883" y="1133868"/>
                  </a:lnTo>
                  <a:lnTo>
                    <a:pt x="1872983" y="1133868"/>
                  </a:lnTo>
                  <a:lnTo>
                    <a:pt x="1872983" y="1121676"/>
                  </a:lnTo>
                  <a:close/>
                </a:path>
                <a:path w="8630920" h="3126740">
                  <a:moveTo>
                    <a:pt x="1924799" y="1121676"/>
                  </a:moveTo>
                  <a:lnTo>
                    <a:pt x="1886699" y="1121676"/>
                  </a:lnTo>
                  <a:lnTo>
                    <a:pt x="1886699" y="1133868"/>
                  </a:lnTo>
                  <a:lnTo>
                    <a:pt x="1924799" y="1133868"/>
                  </a:lnTo>
                  <a:lnTo>
                    <a:pt x="1924799" y="1121676"/>
                  </a:lnTo>
                  <a:close/>
                </a:path>
                <a:path w="8630920" h="3126740">
                  <a:moveTo>
                    <a:pt x="1975091" y="1121676"/>
                  </a:moveTo>
                  <a:lnTo>
                    <a:pt x="1936991" y="1121676"/>
                  </a:lnTo>
                  <a:lnTo>
                    <a:pt x="1936991" y="1133868"/>
                  </a:lnTo>
                  <a:lnTo>
                    <a:pt x="1975091" y="1133868"/>
                  </a:lnTo>
                  <a:lnTo>
                    <a:pt x="1975091" y="1121676"/>
                  </a:lnTo>
                  <a:close/>
                </a:path>
                <a:path w="8630920" h="3126740">
                  <a:moveTo>
                    <a:pt x="2025383" y="1121676"/>
                  </a:moveTo>
                  <a:lnTo>
                    <a:pt x="1987283" y="1121676"/>
                  </a:lnTo>
                  <a:lnTo>
                    <a:pt x="1987283" y="1133868"/>
                  </a:lnTo>
                  <a:lnTo>
                    <a:pt x="2025383" y="1133868"/>
                  </a:lnTo>
                  <a:lnTo>
                    <a:pt x="2025383" y="1121676"/>
                  </a:lnTo>
                  <a:close/>
                </a:path>
                <a:path w="8630920" h="3126740">
                  <a:moveTo>
                    <a:pt x="2077199" y="1121676"/>
                  </a:moveTo>
                  <a:lnTo>
                    <a:pt x="2039099" y="1121676"/>
                  </a:lnTo>
                  <a:lnTo>
                    <a:pt x="2039099" y="1133868"/>
                  </a:lnTo>
                  <a:lnTo>
                    <a:pt x="2077199" y="1133868"/>
                  </a:lnTo>
                  <a:lnTo>
                    <a:pt x="2077199" y="1121676"/>
                  </a:lnTo>
                  <a:close/>
                </a:path>
                <a:path w="8630920" h="3126740">
                  <a:moveTo>
                    <a:pt x="2127491" y="1121676"/>
                  </a:moveTo>
                  <a:lnTo>
                    <a:pt x="2089391" y="1121676"/>
                  </a:lnTo>
                  <a:lnTo>
                    <a:pt x="2089391" y="1133868"/>
                  </a:lnTo>
                  <a:lnTo>
                    <a:pt x="2127491" y="1133868"/>
                  </a:lnTo>
                  <a:lnTo>
                    <a:pt x="2127491" y="1121676"/>
                  </a:lnTo>
                  <a:close/>
                </a:path>
                <a:path w="8630920" h="3126740">
                  <a:moveTo>
                    <a:pt x="2177796" y="1121676"/>
                  </a:moveTo>
                  <a:lnTo>
                    <a:pt x="2139696" y="1121676"/>
                  </a:lnTo>
                  <a:lnTo>
                    <a:pt x="2139696" y="1133868"/>
                  </a:lnTo>
                  <a:lnTo>
                    <a:pt x="2177796" y="1133868"/>
                  </a:lnTo>
                  <a:lnTo>
                    <a:pt x="2177796" y="1121676"/>
                  </a:lnTo>
                  <a:close/>
                </a:path>
                <a:path w="8630920" h="3126740">
                  <a:moveTo>
                    <a:pt x="2229612" y="1121676"/>
                  </a:moveTo>
                  <a:lnTo>
                    <a:pt x="2191512" y="1121676"/>
                  </a:lnTo>
                  <a:lnTo>
                    <a:pt x="2191512" y="1133868"/>
                  </a:lnTo>
                  <a:lnTo>
                    <a:pt x="2229612" y="1133868"/>
                  </a:lnTo>
                  <a:lnTo>
                    <a:pt x="2229612" y="1121676"/>
                  </a:lnTo>
                  <a:close/>
                </a:path>
                <a:path w="8630920" h="3126740">
                  <a:moveTo>
                    <a:pt x="2279904" y="1121676"/>
                  </a:moveTo>
                  <a:lnTo>
                    <a:pt x="2241804" y="1121676"/>
                  </a:lnTo>
                  <a:lnTo>
                    <a:pt x="2241804" y="1133868"/>
                  </a:lnTo>
                  <a:lnTo>
                    <a:pt x="2279904" y="1133868"/>
                  </a:lnTo>
                  <a:lnTo>
                    <a:pt x="2279904" y="1121676"/>
                  </a:lnTo>
                  <a:close/>
                </a:path>
                <a:path w="8630920" h="3126740">
                  <a:moveTo>
                    <a:pt x="2330196" y="1121676"/>
                  </a:moveTo>
                  <a:lnTo>
                    <a:pt x="2292096" y="1121676"/>
                  </a:lnTo>
                  <a:lnTo>
                    <a:pt x="2292096" y="1133868"/>
                  </a:lnTo>
                  <a:lnTo>
                    <a:pt x="2330196" y="1133868"/>
                  </a:lnTo>
                  <a:lnTo>
                    <a:pt x="2330196" y="1121676"/>
                  </a:lnTo>
                  <a:close/>
                </a:path>
                <a:path w="8630920" h="3126740">
                  <a:moveTo>
                    <a:pt x="2382012" y="1121676"/>
                  </a:moveTo>
                  <a:lnTo>
                    <a:pt x="2343912" y="1121676"/>
                  </a:lnTo>
                  <a:lnTo>
                    <a:pt x="2343912" y="1133868"/>
                  </a:lnTo>
                  <a:lnTo>
                    <a:pt x="2382012" y="1133868"/>
                  </a:lnTo>
                  <a:lnTo>
                    <a:pt x="2382012" y="1121676"/>
                  </a:lnTo>
                  <a:close/>
                </a:path>
                <a:path w="8630920" h="3126740">
                  <a:moveTo>
                    <a:pt x="2432304" y="1121676"/>
                  </a:moveTo>
                  <a:lnTo>
                    <a:pt x="2394204" y="1121676"/>
                  </a:lnTo>
                  <a:lnTo>
                    <a:pt x="2394204" y="1133868"/>
                  </a:lnTo>
                  <a:lnTo>
                    <a:pt x="2432304" y="1133868"/>
                  </a:lnTo>
                  <a:lnTo>
                    <a:pt x="2432304" y="1121676"/>
                  </a:lnTo>
                  <a:close/>
                </a:path>
                <a:path w="8630920" h="3126740">
                  <a:moveTo>
                    <a:pt x="2482596" y="1121676"/>
                  </a:moveTo>
                  <a:lnTo>
                    <a:pt x="2444496" y="1121676"/>
                  </a:lnTo>
                  <a:lnTo>
                    <a:pt x="2444496" y="1133868"/>
                  </a:lnTo>
                  <a:lnTo>
                    <a:pt x="2482596" y="1133868"/>
                  </a:lnTo>
                  <a:lnTo>
                    <a:pt x="2482596" y="1121676"/>
                  </a:lnTo>
                  <a:close/>
                </a:path>
                <a:path w="8630920" h="3126740">
                  <a:moveTo>
                    <a:pt x="2534412" y="1121676"/>
                  </a:moveTo>
                  <a:lnTo>
                    <a:pt x="2496312" y="1121676"/>
                  </a:lnTo>
                  <a:lnTo>
                    <a:pt x="2496312" y="1133868"/>
                  </a:lnTo>
                  <a:lnTo>
                    <a:pt x="2534412" y="1133868"/>
                  </a:lnTo>
                  <a:lnTo>
                    <a:pt x="2534412" y="1121676"/>
                  </a:lnTo>
                  <a:close/>
                </a:path>
                <a:path w="8630920" h="3126740">
                  <a:moveTo>
                    <a:pt x="2584704" y="1121676"/>
                  </a:moveTo>
                  <a:lnTo>
                    <a:pt x="2546604" y="1121676"/>
                  </a:lnTo>
                  <a:lnTo>
                    <a:pt x="2546604" y="1133868"/>
                  </a:lnTo>
                  <a:lnTo>
                    <a:pt x="2584704" y="1133868"/>
                  </a:lnTo>
                  <a:lnTo>
                    <a:pt x="2584704" y="1121676"/>
                  </a:lnTo>
                  <a:close/>
                </a:path>
                <a:path w="8630920" h="3126740">
                  <a:moveTo>
                    <a:pt x="2634996" y="1121676"/>
                  </a:moveTo>
                  <a:lnTo>
                    <a:pt x="2596896" y="1121676"/>
                  </a:lnTo>
                  <a:lnTo>
                    <a:pt x="2596896" y="1133868"/>
                  </a:lnTo>
                  <a:lnTo>
                    <a:pt x="2634996" y="1133868"/>
                  </a:lnTo>
                  <a:lnTo>
                    <a:pt x="2634996" y="1121676"/>
                  </a:lnTo>
                  <a:close/>
                </a:path>
                <a:path w="8630920" h="3126740">
                  <a:moveTo>
                    <a:pt x="2686812" y="1121676"/>
                  </a:moveTo>
                  <a:lnTo>
                    <a:pt x="2648712" y="1121676"/>
                  </a:lnTo>
                  <a:lnTo>
                    <a:pt x="2648712" y="1133868"/>
                  </a:lnTo>
                  <a:lnTo>
                    <a:pt x="2686812" y="1133868"/>
                  </a:lnTo>
                  <a:lnTo>
                    <a:pt x="2686812" y="1121676"/>
                  </a:lnTo>
                  <a:close/>
                </a:path>
                <a:path w="8630920" h="3126740">
                  <a:moveTo>
                    <a:pt x="2737104" y="1121676"/>
                  </a:moveTo>
                  <a:lnTo>
                    <a:pt x="2699004" y="1121676"/>
                  </a:lnTo>
                  <a:lnTo>
                    <a:pt x="2699004" y="1133868"/>
                  </a:lnTo>
                  <a:lnTo>
                    <a:pt x="2737104" y="1133868"/>
                  </a:lnTo>
                  <a:lnTo>
                    <a:pt x="2737104" y="1121676"/>
                  </a:lnTo>
                  <a:close/>
                </a:path>
                <a:path w="8630920" h="3126740">
                  <a:moveTo>
                    <a:pt x="2787396" y="1121676"/>
                  </a:moveTo>
                  <a:lnTo>
                    <a:pt x="2749296" y="1121676"/>
                  </a:lnTo>
                  <a:lnTo>
                    <a:pt x="2749296" y="1133868"/>
                  </a:lnTo>
                  <a:lnTo>
                    <a:pt x="2787396" y="1133868"/>
                  </a:lnTo>
                  <a:lnTo>
                    <a:pt x="2787396" y="1121676"/>
                  </a:lnTo>
                  <a:close/>
                </a:path>
                <a:path w="8630920" h="3126740">
                  <a:moveTo>
                    <a:pt x="2839212" y="1121676"/>
                  </a:moveTo>
                  <a:lnTo>
                    <a:pt x="2801112" y="1121676"/>
                  </a:lnTo>
                  <a:lnTo>
                    <a:pt x="2801112" y="1133868"/>
                  </a:lnTo>
                  <a:lnTo>
                    <a:pt x="2839212" y="1133868"/>
                  </a:lnTo>
                  <a:lnTo>
                    <a:pt x="2839212" y="1121676"/>
                  </a:lnTo>
                  <a:close/>
                </a:path>
                <a:path w="8630920" h="3126740">
                  <a:moveTo>
                    <a:pt x="2889504" y="1121676"/>
                  </a:moveTo>
                  <a:lnTo>
                    <a:pt x="2851404" y="1121676"/>
                  </a:lnTo>
                  <a:lnTo>
                    <a:pt x="2851404" y="1133868"/>
                  </a:lnTo>
                  <a:lnTo>
                    <a:pt x="2889504" y="1133868"/>
                  </a:lnTo>
                  <a:lnTo>
                    <a:pt x="2889504" y="1121676"/>
                  </a:lnTo>
                  <a:close/>
                </a:path>
                <a:path w="8630920" h="3126740">
                  <a:moveTo>
                    <a:pt x="2939796" y="1121676"/>
                  </a:moveTo>
                  <a:lnTo>
                    <a:pt x="2901696" y="1121676"/>
                  </a:lnTo>
                  <a:lnTo>
                    <a:pt x="2901696" y="1133868"/>
                  </a:lnTo>
                  <a:lnTo>
                    <a:pt x="2939796" y="1133868"/>
                  </a:lnTo>
                  <a:lnTo>
                    <a:pt x="2939796" y="1121676"/>
                  </a:lnTo>
                  <a:close/>
                </a:path>
                <a:path w="8630920" h="3126740">
                  <a:moveTo>
                    <a:pt x="2991612" y="1121676"/>
                  </a:moveTo>
                  <a:lnTo>
                    <a:pt x="2953512" y="1121676"/>
                  </a:lnTo>
                  <a:lnTo>
                    <a:pt x="2953512" y="1133868"/>
                  </a:lnTo>
                  <a:lnTo>
                    <a:pt x="2991612" y="1133868"/>
                  </a:lnTo>
                  <a:lnTo>
                    <a:pt x="2991612" y="1121676"/>
                  </a:lnTo>
                  <a:close/>
                </a:path>
                <a:path w="8630920" h="3126740">
                  <a:moveTo>
                    <a:pt x="3041904" y="1121676"/>
                  </a:moveTo>
                  <a:lnTo>
                    <a:pt x="3003804" y="1121676"/>
                  </a:lnTo>
                  <a:lnTo>
                    <a:pt x="3003804" y="1133868"/>
                  </a:lnTo>
                  <a:lnTo>
                    <a:pt x="3041904" y="1133868"/>
                  </a:lnTo>
                  <a:lnTo>
                    <a:pt x="3041904" y="1121676"/>
                  </a:lnTo>
                  <a:close/>
                </a:path>
                <a:path w="8630920" h="3126740">
                  <a:moveTo>
                    <a:pt x="3092196" y="1121676"/>
                  </a:moveTo>
                  <a:lnTo>
                    <a:pt x="3054096" y="1121676"/>
                  </a:lnTo>
                  <a:lnTo>
                    <a:pt x="3054096" y="1133868"/>
                  </a:lnTo>
                  <a:lnTo>
                    <a:pt x="3092196" y="1133868"/>
                  </a:lnTo>
                  <a:lnTo>
                    <a:pt x="3092196" y="1121676"/>
                  </a:lnTo>
                  <a:close/>
                </a:path>
                <a:path w="8630920" h="3126740">
                  <a:moveTo>
                    <a:pt x="3144012" y="1121676"/>
                  </a:moveTo>
                  <a:lnTo>
                    <a:pt x="3105912" y="1121676"/>
                  </a:lnTo>
                  <a:lnTo>
                    <a:pt x="3105912" y="1133868"/>
                  </a:lnTo>
                  <a:lnTo>
                    <a:pt x="3144012" y="1133868"/>
                  </a:lnTo>
                  <a:lnTo>
                    <a:pt x="3144012" y="1121676"/>
                  </a:lnTo>
                  <a:close/>
                </a:path>
                <a:path w="8630920" h="3126740">
                  <a:moveTo>
                    <a:pt x="8630412" y="2540"/>
                  </a:moveTo>
                  <a:lnTo>
                    <a:pt x="8628634" y="2540"/>
                  </a:lnTo>
                  <a:lnTo>
                    <a:pt x="8628634" y="0"/>
                  </a:lnTo>
                  <a:lnTo>
                    <a:pt x="13462" y="0"/>
                  </a:lnTo>
                  <a:lnTo>
                    <a:pt x="13462" y="6350"/>
                  </a:lnTo>
                  <a:lnTo>
                    <a:pt x="9639" y="10172"/>
                  </a:lnTo>
                  <a:lnTo>
                    <a:pt x="9639" y="6350"/>
                  </a:lnTo>
                  <a:lnTo>
                    <a:pt x="13462" y="6350"/>
                  </a:lnTo>
                  <a:lnTo>
                    <a:pt x="13462" y="0"/>
                  </a:lnTo>
                  <a:lnTo>
                    <a:pt x="1765" y="0"/>
                  </a:lnTo>
                  <a:lnTo>
                    <a:pt x="1765" y="2540"/>
                  </a:lnTo>
                  <a:lnTo>
                    <a:pt x="0" y="2540"/>
                  </a:lnTo>
                  <a:lnTo>
                    <a:pt x="0" y="6350"/>
                  </a:lnTo>
                  <a:lnTo>
                    <a:pt x="0" y="13970"/>
                  </a:lnTo>
                  <a:lnTo>
                    <a:pt x="0" y="3126740"/>
                  </a:lnTo>
                  <a:lnTo>
                    <a:pt x="13716" y="3126740"/>
                  </a:lnTo>
                  <a:lnTo>
                    <a:pt x="13716" y="1133868"/>
                  </a:lnTo>
                  <a:lnTo>
                    <a:pt x="44196" y="1133868"/>
                  </a:lnTo>
                  <a:lnTo>
                    <a:pt x="44196" y="1121676"/>
                  </a:lnTo>
                  <a:lnTo>
                    <a:pt x="13716" y="1121676"/>
                  </a:lnTo>
                  <a:lnTo>
                    <a:pt x="13716" y="13970"/>
                  </a:lnTo>
                  <a:lnTo>
                    <a:pt x="9639" y="13970"/>
                  </a:lnTo>
                  <a:lnTo>
                    <a:pt x="9639" y="13716"/>
                  </a:lnTo>
                  <a:lnTo>
                    <a:pt x="13716" y="13716"/>
                  </a:lnTo>
                  <a:lnTo>
                    <a:pt x="8618220" y="13716"/>
                  </a:lnTo>
                  <a:lnTo>
                    <a:pt x="8618220" y="13970"/>
                  </a:lnTo>
                  <a:lnTo>
                    <a:pt x="8618220" y="3126740"/>
                  </a:lnTo>
                  <a:lnTo>
                    <a:pt x="8630412" y="3126740"/>
                  </a:lnTo>
                  <a:lnTo>
                    <a:pt x="8630412" y="13970"/>
                  </a:lnTo>
                  <a:lnTo>
                    <a:pt x="8621471" y="13970"/>
                  </a:lnTo>
                  <a:lnTo>
                    <a:pt x="8621471" y="10160"/>
                  </a:lnTo>
                  <a:lnTo>
                    <a:pt x="8624316" y="13716"/>
                  </a:lnTo>
                  <a:lnTo>
                    <a:pt x="8630412" y="13716"/>
                  </a:lnTo>
                  <a:lnTo>
                    <a:pt x="8630412" y="6350"/>
                  </a:lnTo>
                  <a:lnTo>
                    <a:pt x="8630412" y="6096"/>
                  </a:lnTo>
                  <a:lnTo>
                    <a:pt x="8630412" y="2540"/>
                  </a:lnTo>
                  <a:close/>
                </a:path>
              </a:pathLst>
            </a:custGeom>
            <a:solidFill>
              <a:srgbClr val="164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28872" y="1880628"/>
              <a:ext cx="3594100" cy="12700"/>
            </a:xfrm>
            <a:custGeom>
              <a:avLst/>
              <a:gdLst/>
              <a:ahLst/>
              <a:cxnLst/>
              <a:rect l="l" t="t" r="r" b="b"/>
              <a:pathLst>
                <a:path w="3594100" h="12700">
                  <a:moveTo>
                    <a:pt x="3810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8100" y="12192"/>
                  </a:lnTo>
                  <a:lnTo>
                    <a:pt x="38100" y="0"/>
                  </a:lnTo>
                  <a:close/>
                </a:path>
                <a:path w="3594100" h="12700">
                  <a:moveTo>
                    <a:pt x="88392" y="0"/>
                  </a:moveTo>
                  <a:lnTo>
                    <a:pt x="50292" y="0"/>
                  </a:lnTo>
                  <a:lnTo>
                    <a:pt x="50292" y="12192"/>
                  </a:lnTo>
                  <a:lnTo>
                    <a:pt x="88392" y="12192"/>
                  </a:lnTo>
                  <a:lnTo>
                    <a:pt x="88392" y="0"/>
                  </a:lnTo>
                  <a:close/>
                </a:path>
                <a:path w="3594100" h="12700">
                  <a:moveTo>
                    <a:pt x="138684" y="0"/>
                  </a:moveTo>
                  <a:lnTo>
                    <a:pt x="100584" y="0"/>
                  </a:lnTo>
                  <a:lnTo>
                    <a:pt x="100584" y="12192"/>
                  </a:lnTo>
                  <a:lnTo>
                    <a:pt x="138684" y="12192"/>
                  </a:lnTo>
                  <a:lnTo>
                    <a:pt x="138684" y="0"/>
                  </a:lnTo>
                  <a:close/>
                </a:path>
                <a:path w="3594100" h="12700">
                  <a:moveTo>
                    <a:pt x="190500" y="0"/>
                  </a:moveTo>
                  <a:lnTo>
                    <a:pt x="152400" y="0"/>
                  </a:lnTo>
                  <a:lnTo>
                    <a:pt x="152400" y="12192"/>
                  </a:lnTo>
                  <a:lnTo>
                    <a:pt x="190500" y="12192"/>
                  </a:lnTo>
                  <a:lnTo>
                    <a:pt x="190500" y="0"/>
                  </a:lnTo>
                  <a:close/>
                </a:path>
                <a:path w="3594100" h="12700">
                  <a:moveTo>
                    <a:pt x="240792" y="0"/>
                  </a:moveTo>
                  <a:lnTo>
                    <a:pt x="202692" y="0"/>
                  </a:lnTo>
                  <a:lnTo>
                    <a:pt x="202692" y="12192"/>
                  </a:lnTo>
                  <a:lnTo>
                    <a:pt x="240792" y="12192"/>
                  </a:lnTo>
                  <a:lnTo>
                    <a:pt x="240792" y="0"/>
                  </a:lnTo>
                  <a:close/>
                </a:path>
                <a:path w="3594100" h="12700">
                  <a:moveTo>
                    <a:pt x="291084" y="0"/>
                  </a:moveTo>
                  <a:lnTo>
                    <a:pt x="252984" y="0"/>
                  </a:lnTo>
                  <a:lnTo>
                    <a:pt x="252984" y="12192"/>
                  </a:lnTo>
                  <a:lnTo>
                    <a:pt x="291084" y="12192"/>
                  </a:lnTo>
                  <a:lnTo>
                    <a:pt x="291084" y="0"/>
                  </a:lnTo>
                  <a:close/>
                </a:path>
                <a:path w="3594100" h="12700">
                  <a:moveTo>
                    <a:pt x="342900" y="0"/>
                  </a:moveTo>
                  <a:lnTo>
                    <a:pt x="304800" y="0"/>
                  </a:lnTo>
                  <a:lnTo>
                    <a:pt x="304800" y="12192"/>
                  </a:lnTo>
                  <a:lnTo>
                    <a:pt x="342900" y="12192"/>
                  </a:lnTo>
                  <a:lnTo>
                    <a:pt x="342900" y="0"/>
                  </a:lnTo>
                  <a:close/>
                </a:path>
                <a:path w="3594100" h="12700">
                  <a:moveTo>
                    <a:pt x="393192" y="0"/>
                  </a:moveTo>
                  <a:lnTo>
                    <a:pt x="355092" y="0"/>
                  </a:lnTo>
                  <a:lnTo>
                    <a:pt x="355092" y="12192"/>
                  </a:lnTo>
                  <a:lnTo>
                    <a:pt x="393192" y="12192"/>
                  </a:lnTo>
                  <a:lnTo>
                    <a:pt x="393192" y="0"/>
                  </a:lnTo>
                  <a:close/>
                </a:path>
                <a:path w="3594100" h="12700">
                  <a:moveTo>
                    <a:pt x="443484" y="0"/>
                  </a:moveTo>
                  <a:lnTo>
                    <a:pt x="405384" y="0"/>
                  </a:lnTo>
                  <a:lnTo>
                    <a:pt x="405384" y="12192"/>
                  </a:lnTo>
                  <a:lnTo>
                    <a:pt x="443484" y="12192"/>
                  </a:lnTo>
                  <a:lnTo>
                    <a:pt x="443484" y="0"/>
                  </a:lnTo>
                  <a:close/>
                </a:path>
                <a:path w="3594100" h="12700">
                  <a:moveTo>
                    <a:pt x="495300" y="0"/>
                  </a:moveTo>
                  <a:lnTo>
                    <a:pt x="457200" y="0"/>
                  </a:lnTo>
                  <a:lnTo>
                    <a:pt x="457200" y="12192"/>
                  </a:lnTo>
                  <a:lnTo>
                    <a:pt x="495300" y="12192"/>
                  </a:lnTo>
                  <a:lnTo>
                    <a:pt x="495300" y="0"/>
                  </a:lnTo>
                  <a:close/>
                </a:path>
                <a:path w="3594100" h="12700">
                  <a:moveTo>
                    <a:pt x="545592" y="0"/>
                  </a:moveTo>
                  <a:lnTo>
                    <a:pt x="507492" y="0"/>
                  </a:lnTo>
                  <a:lnTo>
                    <a:pt x="507492" y="12192"/>
                  </a:lnTo>
                  <a:lnTo>
                    <a:pt x="545592" y="12192"/>
                  </a:lnTo>
                  <a:lnTo>
                    <a:pt x="545592" y="0"/>
                  </a:lnTo>
                  <a:close/>
                </a:path>
                <a:path w="3594100" h="12700">
                  <a:moveTo>
                    <a:pt x="595884" y="0"/>
                  </a:moveTo>
                  <a:lnTo>
                    <a:pt x="557784" y="0"/>
                  </a:lnTo>
                  <a:lnTo>
                    <a:pt x="557784" y="12192"/>
                  </a:lnTo>
                  <a:lnTo>
                    <a:pt x="595884" y="12192"/>
                  </a:lnTo>
                  <a:lnTo>
                    <a:pt x="595884" y="0"/>
                  </a:lnTo>
                  <a:close/>
                </a:path>
                <a:path w="3594100" h="12700">
                  <a:moveTo>
                    <a:pt x="647700" y="0"/>
                  </a:moveTo>
                  <a:lnTo>
                    <a:pt x="609600" y="0"/>
                  </a:lnTo>
                  <a:lnTo>
                    <a:pt x="609600" y="12192"/>
                  </a:lnTo>
                  <a:lnTo>
                    <a:pt x="647700" y="12192"/>
                  </a:lnTo>
                  <a:lnTo>
                    <a:pt x="647700" y="0"/>
                  </a:lnTo>
                  <a:close/>
                </a:path>
                <a:path w="3594100" h="12700">
                  <a:moveTo>
                    <a:pt x="697992" y="0"/>
                  </a:moveTo>
                  <a:lnTo>
                    <a:pt x="659892" y="0"/>
                  </a:lnTo>
                  <a:lnTo>
                    <a:pt x="659892" y="12192"/>
                  </a:lnTo>
                  <a:lnTo>
                    <a:pt x="697992" y="12192"/>
                  </a:lnTo>
                  <a:lnTo>
                    <a:pt x="697992" y="0"/>
                  </a:lnTo>
                  <a:close/>
                </a:path>
                <a:path w="3594100" h="12700">
                  <a:moveTo>
                    <a:pt x="748284" y="0"/>
                  </a:moveTo>
                  <a:lnTo>
                    <a:pt x="710184" y="0"/>
                  </a:lnTo>
                  <a:lnTo>
                    <a:pt x="710184" y="12192"/>
                  </a:lnTo>
                  <a:lnTo>
                    <a:pt x="748284" y="12192"/>
                  </a:lnTo>
                  <a:lnTo>
                    <a:pt x="748284" y="0"/>
                  </a:lnTo>
                  <a:close/>
                </a:path>
                <a:path w="3594100" h="12700">
                  <a:moveTo>
                    <a:pt x="800100" y="0"/>
                  </a:moveTo>
                  <a:lnTo>
                    <a:pt x="762000" y="0"/>
                  </a:lnTo>
                  <a:lnTo>
                    <a:pt x="762000" y="12192"/>
                  </a:lnTo>
                  <a:lnTo>
                    <a:pt x="800100" y="12192"/>
                  </a:lnTo>
                  <a:lnTo>
                    <a:pt x="800100" y="0"/>
                  </a:lnTo>
                  <a:close/>
                </a:path>
                <a:path w="3594100" h="12700">
                  <a:moveTo>
                    <a:pt x="850392" y="0"/>
                  </a:moveTo>
                  <a:lnTo>
                    <a:pt x="812292" y="0"/>
                  </a:lnTo>
                  <a:lnTo>
                    <a:pt x="812292" y="12192"/>
                  </a:lnTo>
                  <a:lnTo>
                    <a:pt x="850392" y="12192"/>
                  </a:lnTo>
                  <a:lnTo>
                    <a:pt x="850392" y="0"/>
                  </a:lnTo>
                  <a:close/>
                </a:path>
                <a:path w="3594100" h="12700">
                  <a:moveTo>
                    <a:pt x="900684" y="0"/>
                  </a:moveTo>
                  <a:lnTo>
                    <a:pt x="862584" y="0"/>
                  </a:lnTo>
                  <a:lnTo>
                    <a:pt x="862584" y="12192"/>
                  </a:lnTo>
                  <a:lnTo>
                    <a:pt x="900684" y="12192"/>
                  </a:lnTo>
                  <a:lnTo>
                    <a:pt x="900684" y="0"/>
                  </a:lnTo>
                  <a:close/>
                </a:path>
                <a:path w="3594100" h="12700">
                  <a:moveTo>
                    <a:pt x="952500" y="0"/>
                  </a:moveTo>
                  <a:lnTo>
                    <a:pt x="914400" y="0"/>
                  </a:lnTo>
                  <a:lnTo>
                    <a:pt x="914400" y="12192"/>
                  </a:lnTo>
                  <a:lnTo>
                    <a:pt x="952500" y="12192"/>
                  </a:lnTo>
                  <a:lnTo>
                    <a:pt x="952500" y="0"/>
                  </a:lnTo>
                  <a:close/>
                </a:path>
                <a:path w="3594100" h="12700">
                  <a:moveTo>
                    <a:pt x="1002792" y="0"/>
                  </a:moveTo>
                  <a:lnTo>
                    <a:pt x="964692" y="0"/>
                  </a:lnTo>
                  <a:lnTo>
                    <a:pt x="964692" y="12192"/>
                  </a:lnTo>
                  <a:lnTo>
                    <a:pt x="1002792" y="12192"/>
                  </a:lnTo>
                  <a:lnTo>
                    <a:pt x="1002792" y="0"/>
                  </a:lnTo>
                  <a:close/>
                </a:path>
                <a:path w="3594100" h="12700">
                  <a:moveTo>
                    <a:pt x="1053084" y="0"/>
                  </a:moveTo>
                  <a:lnTo>
                    <a:pt x="1014984" y="0"/>
                  </a:lnTo>
                  <a:lnTo>
                    <a:pt x="1014984" y="12192"/>
                  </a:lnTo>
                  <a:lnTo>
                    <a:pt x="1053084" y="12192"/>
                  </a:lnTo>
                  <a:lnTo>
                    <a:pt x="1053084" y="0"/>
                  </a:lnTo>
                  <a:close/>
                </a:path>
                <a:path w="3594100" h="12700">
                  <a:moveTo>
                    <a:pt x="1104900" y="0"/>
                  </a:moveTo>
                  <a:lnTo>
                    <a:pt x="1066800" y="0"/>
                  </a:lnTo>
                  <a:lnTo>
                    <a:pt x="1066800" y="12192"/>
                  </a:lnTo>
                  <a:lnTo>
                    <a:pt x="1104900" y="12192"/>
                  </a:lnTo>
                  <a:lnTo>
                    <a:pt x="1104900" y="0"/>
                  </a:lnTo>
                  <a:close/>
                </a:path>
                <a:path w="3594100" h="12700">
                  <a:moveTo>
                    <a:pt x="1155192" y="0"/>
                  </a:moveTo>
                  <a:lnTo>
                    <a:pt x="1117092" y="0"/>
                  </a:lnTo>
                  <a:lnTo>
                    <a:pt x="1117092" y="12192"/>
                  </a:lnTo>
                  <a:lnTo>
                    <a:pt x="1155192" y="12192"/>
                  </a:lnTo>
                  <a:lnTo>
                    <a:pt x="1155192" y="0"/>
                  </a:lnTo>
                  <a:close/>
                </a:path>
                <a:path w="3594100" h="12700">
                  <a:moveTo>
                    <a:pt x="1205471" y="0"/>
                  </a:moveTo>
                  <a:lnTo>
                    <a:pt x="1167371" y="0"/>
                  </a:lnTo>
                  <a:lnTo>
                    <a:pt x="1167371" y="12192"/>
                  </a:lnTo>
                  <a:lnTo>
                    <a:pt x="1205471" y="12192"/>
                  </a:lnTo>
                  <a:lnTo>
                    <a:pt x="1205471" y="0"/>
                  </a:lnTo>
                  <a:close/>
                </a:path>
                <a:path w="3594100" h="12700">
                  <a:moveTo>
                    <a:pt x="1257287" y="0"/>
                  </a:moveTo>
                  <a:lnTo>
                    <a:pt x="1219187" y="0"/>
                  </a:lnTo>
                  <a:lnTo>
                    <a:pt x="1219187" y="12192"/>
                  </a:lnTo>
                  <a:lnTo>
                    <a:pt x="1257287" y="12192"/>
                  </a:lnTo>
                  <a:lnTo>
                    <a:pt x="1257287" y="0"/>
                  </a:lnTo>
                  <a:close/>
                </a:path>
                <a:path w="3594100" h="12700">
                  <a:moveTo>
                    <a:pt x="1307579" y="0"/>
                  </a:moveTo>
                  <a:lnTo>
                    <a:pt x="1269479" y="0"/>
                  </a:lnTo>
                  <a:lnTo>
                    <a:pt x="1269479" y="12192"/>
                  </a:lnTo>
                  <a:lnTo>
                    <a:pt x="1307579" y="12192"/>
                  </a:lnTo>
                  <a:lnTo>
                    <a:pt x="1307579" y="0"/>
                  </a:lnTo>
                  <a:close/>
                </a:path>
                <a:path w="3594100" h="12700">
                  <a:moveTo>
                    <a:pt x="1357871" y="0"/>
                  </a:moveTo>
                  <a:lnTo>
                    <a:pt x="1319771" y="0"/>
                  </a:lnTo>
                  <a:lnTo>
                    <a:pt x="1319771" y="12192"/>
                  </a:lnTo>
                  <a:lnTo>
                    <a:pt x="1357871" y="12192"/>
                  </a:lnTo>
                  <a:lnTo>
                    <a:pt x="1357871" y="0"/>
                  </a:lnTo>
                  <a:close/>
                </a:path>
                <a:path w="3594100" h="12700">
                  <a:moveTo>
                    <a:pt x="1409687" y="0"/>
                  </a:moveTo>
                  <a:lnTo>
                    <a:pt x="1371587" y="0"/>
                  </a:lnTo>
                  <a:lnTo>
                    <a:pt x="1371587" y="12192"/>
                  </a:lnTo>
                  <a:lnTo>
                    <a:pt x="1409687" y="12192"/>
                  </a:lnTo>
                  <a:lnTo>
                    <a:pt x="1409687" y="0"/>
                  </a:lnTo>
                  <a:close/>
                </a:path>
                <a:path w="3594100" h="12700">
                  <a:moveTo>
                    <a:pt x="1459979" y="0"/>
                  </a:moveTo>
                  <a:lnTo>
                    <a:pt x="1421879" y="0"/>
                  </a:lnTo>
                  <a:lnTo>
                    <a:pt x="1421879" y="12192"/>
                  </a:lnTo>
                  <a:lnTo>
                    <a:pt x="1459979" y="12192"/>
                  </a:lnTo>
                  <a:lnTo>
                    <a:pt x="1459979" y="0"/>
                  </a:lnTo>
                  <a:close/>
                </a:path>
                <a:path w="3594100" h="12700">
                  <a:moveTo>
                    <a:pt x="1510271" y="0"/>
                  </a:moveTo>
                  <a:lnTo>
                    <a:pt x="1472171" y="0"/>
                  </a:lnTo>
                  <a:lnTo>
                    <a:pt x="1472171" y="12192"/>
                  </a:lnTo>
                  <a:lnTo>
                    <a:pt x="1510271" y="12192"/>
                  </a:lnTo>
                  <a:lnTo>
                    <a:pt x="1510271" y="0"/>
                  </a:lnTo>
                  <a:close/>
                </a:path>
                <a:path w="3594100" h="12700">
                  <a:moveTo>
                    <a:pt x="1562087" y="0"/>
                  </a:moveTo>
                  <a:lnTo>
                    <a:pt x="1523987" y="0"/>
                  </a:lnTo>
                  <a:lnTo>
                    <a:pt x="1523987" y="12192"/>
                  </a:lnTo>
                  <a:lnTo>
                    <a:pt x="1562087" y="12192"/>
                  </a:lnTo>
                  <a:lnTo>
                    <a:pt x="1562087" y="0"/>
                  </a:lnTo>
                  <a:close/>
                </a:path>
                <a:path w="3594100" h="12700">
                  <a:moveTo>
                    <a:pt x="1612379" y="0"/>
                  </a:moveTo>
                  <a:lnTo>
                    <a:pt x="1574279" y="0"/>
                  </a:lnTo>
                  <a:lnTo>
                    <a:pt x="1574279" y="12192"/>
                  </a:lnTo>
                  <a:lnTo>
                    <a:pt x="1612379" y="12192"/>
                  </a:lnTo>
                  <a:lnTo>
                    <a:pt x="1612379" y="0"/>
                  </a:lnTo>
                  <a:close/>
                </a:path>
                <a:path w="3594100" h="12700">
                  <a:moveTo>
                    <a:pt x="1662671" y="0"/>
                  </a:moveTo>
                  <a:lnTo>
                    <a:pt x="1624571" y="0"/>
                  </a:lnTo>
                  <a:lnTo>
                    <a:pt x="1624571" y="12192"/>
                  </a:lnTo>
                  <a:lnTo>
                    <a:pt x="1662671" y="12192"/>
                  </a:lnTo>
                  <a:lnTo>
                    <a:pt x="1662671" y="0"/>
                  </a:lnTo>
                  <a:close/>
                </a:path>
                <a:path w="3594100" h="12700">
                  <a:moveTo>
                    <a:pt x="1714487" y="0"/>
                  </a:moveTo>
                  <a:lnTo>
                    <a:pt x="1676387" y="0"/>
                  </a:lnTo>
                  <a:lnTo>
                    <a:pt x="1676387" y="12192"/>
                  </a:lnTo>
                  <a:lnTo>
                    <a:pt x="1714487" y="12192"/>
                  </a:lnTo>
                  <a:lnTo>
                    <a:pt x="1714487" y="0"/>
                  </a:lnTo>
                  <a:close/>
                </a:path>
                <a:path w="3594100" h="12700">
                  <a:moveTo>
                    <a:pt x="1764779" y="0"/>
                  </a:moveTo>
                  <a:lnTo>
                    <a:pt x="1726679" y="0"/>
                  </a:lnTo>
                  <a:lnTo>
                    <a:pt x="1726679" y="12192"/>
                  </a:lnTo>
                  <a:lnTo>
                    <a:pt x="1764779" y="12192"/>
                  </a:lnTo>
                  <a:lnTo>
                    <a:pt x="1764779" y="0"/>
                  </a:lnTo>
                  <a:close/>
                </a:path>
                <a:path w="3594100" h="12700">
                  <a:moveTo>
                    <a:pt x="1815071" y="0"/>
                  </a:moveTo>
                  <a:lnTo>
                    <a:pt x="1776971" y="0"/>
                  </a:lnTo>
                  <a:lnTo>
                    <a:pt x="1776971" y="12192"/>
                  </a:lnTo>
                  <a:lnTo>
                    <a:pt x="1815071" y="12192"/>
                  </a:lnTo>
                  <a:lnTo>
                    <a:pt x="1815071" y="0"/>
                  </a:lnTo>
                  <a:close/>
                </a:path>
                <a:path w="3594100" h="12700">
                  <a:moveTo>
                    <a:pt x="1866887" y="0"/>
                  </a:moveTo>
                  <a:lnTo>
                    <a:pt x="1828787" y="0"/>
                  </a:lnTo>
                  <a:lnTo>
                    <a:pt x="1828787" y="12192"/>
                  </a:lnTo>
                  <a:lnTo>
                    <a:pt x="1866887" y="12192"/>
                  </a:lnTo>
                  <a:lnTo>
                    <a:pt x="1866887" y="0"/>
                  </a:lnTo>
                  <a:close/>
                </a:path>
                <a:path w="3594100" h="12700">
                  <a:moveTo>
                    <a:pt x="1917179" y="0"/>
                  </a:moveTo>
                  <a:lnTo>
                    <a:pt x="1879079" y="0"/>
                  </a:lnTo>
                  <a:lnTo>
                    <a:pt x="1879079" y="12192"/>
                  </a:lnTo>
                  <a:lnTo>
                    <a:pt x="1917179" y="12192"/>
                  </a:lnTo>
                  <a:lnTo>
                    <a:pt x="1917179" y="0"/>
                  </a:lnTo>
                  <a:close/>
                </a:path>
                <a:path w="3594100" h="12700">
                  <a:moveTo>
                    <a:pt x="1967471" y="0"/>
                  </a:moveTo>
                  <a:lnTo>
                    <a:pt x="1929371" y="0"/>
                  </a:lnTo>
                  <a:lnTo>
                    <a:pt x="1929371" y="12192"/>
                  </a:lnTo>
                  <a:lnTo>
                    <a:pt x="1967471" y="12192"/>
                  </a:lnTo>
                  <a:lnTo>
                    <a:pt x="1967471" y="0"/>
                  </a:lnTo>
                  <a:close/>
                </a:path>
                <a:path w="3594100" h="12700">
                  <a:moveTo>
                    <a:pt x="2019287" y="0"/>
                  </a:moveTo>
                  <a:lnTo>
                    <a:pt x="1981187" y="0"/>
                  </a:lnTo>
                  <a:lnTo>
                    <a:pt x="1981187" y="12192"/>
                  </a:lnTo>
                  <a:lnTo>
                    <a:pt x="2019287" y="12192"/>
                  </a:lnTo>
                  <a:lnTo>
                    <a:pt x="2019287" y="0"/>
                  </a:lnTo>
                  <a:close/>
                </a:path>
                <a:path w="3594100" h="12700">
                  <a:moveTo>
                    <a:pt x="2069579" y="0"/>
                  </a:moveTo>
                  <a:lnTo>
                    <a:pt x="2031479" y="0"/>
                  </a:lnTo>
                  <a:lnTo>
                    <a:pt x="2031479" y="12192"/>
                  </a:lnTo>
                  <a:lnTo>
                    <a:pt x="2069579" y="12192"/>
                  </a:lnTo>
                  <a:lnTo>
                    <a:pt x="2069579" y="0"/>
                  </a:lnTo>
                  <a:close/>
                </a:path>
                <a:path w="3594100" h="12700">
                  <a:moveTo>
                    <a:pt x="2119871" y="0"/>
                  </a:moveTo>
                  <a:lnTo>
                    <a:pt x="2081771" y="0"/>
                  </a:lnTo>
                  <a:lnTo>
                    <a:pt x="2081771" y="12192"/>
                  </a:lnTo>
                  <a:lnTo>
                    <a:pt x="2119871" y="12192"/>
                  </a:lnTo>
                  <a:lnTo>
                    <a:pt x="2119871" y="0"/>
                  </a:lnTo>
                  <a:close/>
                </a:path>
                <a:path w="3594100" h="12700">
                  <a:moveTo>
                    <a:pt x="2171687" y="0"/>
                  </a:moveTo>
                  <a:lnTo>
                    <a:pt x="2133587" y="0"/>
                  </a:lnTo>
                  <a:lnTo>
                    <a:pt x="2133587" y="12192"/>
                  </a:lnTo>
                  <a:lnTo>
                    <a:pt x="2171687" y="12192"/>
                  </a:lnTo>
                  <a:lnTo>
                    <a:pt x="2171687" y="0"/>
                  </a:lnTo>
                  <a:close/>
                </a:path>
                <a:path w="3594100" h="12700">
                  <a:moveTo>
                    <a:pt x="2221979" y="0"/>
                  </a:moveTo>
                  <a:lnTo>
                    <a:pt x="2183879" y="0"/>
                  </a:lnTo>
                  <a:lnTo>
                    <a:pt x="2183879" y="12192"/>
                  </a:lnTo>
                  <a:lnTo>
                    <a:pt x="2221979" y="12192"/>
                  </a:lnTo>
                  <a:lnTo>
                    <a:pt x="2221979" y="0"/>
                  </a:lnTo>
                  <a:close/>
                </a:path>
                <a:path w="3594100" h="12700">
                  <a:moveTo>
                    <a:pt x="2272271" y="0"/>
                  </a:moveTo>
                  <a:lnTo>
                    <a:pt x="2234171" y="0"/>
                  </a:lnTo>
                  <a:lnTo>
                    <a:pt x="2234171" y="12192"/>
                  </a:lnTo>
                  <a:lnTo>
                    <a:pt x="2272271" y="12192"/>
                  </a:lnTo>
                  <a:lnTo>
                    <a:pt x="2272271" y="0"/>
                  </a:lnTo>
                  <a:close/>
                </a:path>
                <a:path w="3594100" h="12700">
                  <a:moveTo>
                    <a:pt x="2324087" y="0"/>
                  </a:moveTo>
                  <a:lnTo>
                    <a:pt x="2285987" y="0"/>
                  </a:lnTo>
                  <a:lnTo>
                    <a:pt x="2285987" y="12192"/>
                  </a:lnTo>
                  <a:lnTo>
                    <a:pt x="2324087" y="12192"/>
                  </a:lnTo>
                  <a:lnTo>
                    <a:pt x="2324087" y="0"/>
                  </a:lnTo>
                  <a:close/>
                </a:path>
                <a:path w="3594100" h="12700">
                  <a:moveTo>
                    <a:pt x="2374379" y="0"/>
                  </a:moveTo>
                  <a:lnTo>
                    <a:pt x="2336279" y="0"/>
                  </a:lnTo>
                  <a:lnTo>
                    <a:pt x="2336279" y="12192"/>
                  </a:lnTo>
                  <a:lnTo>
                    <a:pt x="2374379" y="12192"/>
                  </a:lnTo>
                  <a:lnTo>
                    <a:pt x="2374379" y="0"/>
                  </a:lnTo>
                  <a:close/>
                </a:path>
                <a:path w="3594100" h="12700">
                  <a:moveTo>
                    <a:pt x="2424671" y="0"/>
                  </a:moveTo>
                  <a:lnTo>
                    <a:pt x="2386571" y="0"/>
                  </a:lnTo>
                  <a:lnTo>
                    <a:pt x="2386571" y="12192"/>
                  </a:lnTo>
                  <a:lnTo>
                    <a:pt x="2424671" y="12192"/>
                  </a:lnTo>
                  <a:lnTo>
                    <a:pt x="2424671" y="0"/>
                  </a:lnTo>
                  <a:close/>
                </a:path>
                <a:path w="3594100" h="12700">
                  <a:moveTo>
                    <a:pt x="2476487" y="0"/>
                  </a:moveTo>
                  <a:lnTo>
                    <a:pt x="2438387" y="0"/>
                  </a:lnTo>
                  <a:lnTo>
                    <a:pt x="2438387" y="12192"/>
                  </a:lnTo>
                  <a:lnTo>
                    <a:pt x="2476487" y="12192"/>
                  </a:lnTo>
                  <a:lnTo>
                    <a:pt x="2476487" y="0"/>
                  </a:lnTo>
                  <a:close/>
                </a:path>
                <a:path w="3594100" h="12700">
                  <a:moveTo>
                    <a:pt x="2526779" y="0"/>
                  </a:moveTo>
                  <a:lnTo>
                    <a:pt x="2488679" y="0"/>
                  </a:lnTo>
                  <a:lnTo>
                    <a:pt x="2488679" y="12192"/>
                  </a:lnTo>
                  <a:lnTo>
                    <a:pt x="2526779" y="12192"/>
                  </a:lnTo>
                  <a:lnTo>
                    <a:pt x="2526779" y="0"/>
                  </a:lnTo>
                  <a:close/>
                </a:path>
                <a:path w="3594100" h="12700">
                  <a:moveTo>
                    <a:pt x="2577071" y="0"/>
                  </a:moveTo>
                  <a:lnTo>
                    <a:pt x="2538971" y="0"/>
                  </a:lnTo>
                  <a:lnTo>
                    <a:pt x="2538971" y="12192"/>
                  </a:lnTo>
                  <a:lnTo>
                    <a:pt x="2577071" y="12192"/>
                  </a:lnTo>
                  <a:lnTo>
                    <a:pt x="2577071" y="0"/>
                  </a:lnTo>
                  <a:close/>
                </a:path>
                <a:path w="3594100" h="12700">
                  <a:moveTo>
                    <a:pt x="2628887" y="0"/>
                  </a:moveTo>
                  <a:lnTo>
                    <a:pt x="2590787" y="0"/>
                  </a:lnTo>
                  <a:lnTo>
                    <a:pt x="2590787" y="12192"/>
                  </a:lnTo>
                  <a:lnTo>
                    <a:pt x="2628887" y="12192"/>
                  </a:lnTo>
                  <a:lnTo>
                    <a:pt x="2628887" y="0"/>
                  </a:lnTo>
                  <a:close/>
                </a:path>
                <a:path w="3594100" h="12700">
                  <a:moveTo>
                    <a:pt x="2679179" y="0"/>
                  </a:moveTo>
                  <a:lnTo>
                    <a:pt x="2641079" y="0"/>
                  </a:lnTo>
                  <a:lnTo>
                    <a:pt x="2641079" y="12192"/>
                  </a:lnTo>
                  <a:lnTo>
                    <a:pt x="2679179" y="12192"/>
                  </a:lnTo>
                  <a:lnTo>
                    <a:pt x="2679179" y="0"/>
                  </a:lnTo>
                  <a:close/>
                </a:path>
                <a:path w="3594100" h="12700">
                  <a:moveTo>
                    <a:pt x="2729471" y="0"/>
                  </a:moveTo>
                  <a:lnTo>
                    <a:pt x="2691371" y="0"/>
                  </a:lnTo>
                  <a:lnTo>
                    <a:pt x="2691371" y="12192"/>
                  </a:lnTo>
                  <a:lnTo>
                    <a:pt x="2729471" y="12192"/>
                  </a:lnTo>
                  <a:lnTo>
                    <a:pt x="2729471" y="0"/>
                  </a:lnTo>
                  <a:close/>
                </a:path>
                <a:path w="3594100" h="12700">
                  <a:moveTo>
                    <a:pt x="2781287" y="0"/>
                  </a:moveTo>
                  <a:lnTo>
                    <a:pt x="2743187" y="0"/>
                  </a:lnTo>
                  <a:lnTo>
                    <a:pt x="2743187" y="12192"/>
                  </a:lnTo>
                  <a:lnTo>
                    <a:pt x="2781287" y="12192"/>
                  </a:lnTo>
                  <a:lnTo>
                    <a:pt x="2781287" y="0"/>
                  </a:lnTo>
                  <a:close/>
                </a:path>
                <a:path w="3594100" h="12700">
                  <a:moveTo>
                    <a:pt x="2831579" y="0"/>
                  </a:moveTo>
                  <a:lnTo>
                    <a:pt x="2793479" y="0"/>
                  </a:lnTo>
                  <a:lnTo>
                    <a:pt x="2793479" y="12192"/>
                  </a:lnTo>
                  <a:lnTo>
                    <a:pt x="2831579" y="12192"/>
                  </a:lnTo>
                  <a:lnTo>
                    <a:pt x="2831579" y="0"/>
                  </a:lnTo>
                  <a:close/>
                </a:path>
                <a:path w="3594100" h="12700">
                  <a:moveTo>
                    <a:pt x="2881871" y="0"/>
                  </a:moveTo>
                  <a:lnTo>
                    <a:pt x="2843771" y="0"/>
                  </a:lnTo>
                  <a:lnTo>
                    <a:pt x="2843771" y="12192"/>
                  </a:lnTo>
                  <a:lnTo>
                    <a:pt x="2881871" y="12192"/>
                  </a:lnTo>
                  <a:lnTo>
                    <a:pt x="2881871" y="0"/>
                  </a:lnTo>
                  <a:close/>
                </a:path>
                <a:path w="3594100" h="12700">
                  <a:moveTo>
                    <a:pt x="2933687" y="0"/>
                  </a:moveTo>
                  <a:lnTo>
                    <a:pt x="2895587" y="0"/>
                  </a:lnTo>
                  <a:lnTo>
                    <a:pt x="2895587" y="12192"/>
                  </a:lnTo>
                  <a:lnTo>
                    <a:pt x="2933687" y="12192"/>
                  </a:lnTo>
                  <a:lnTo>
                    <a:pt x="2933687" y="0"/>
                  </a:lnTo>
                  <a:close/>
                </a:path>
                <a:path w="3594100" h="12700">
                  <a:moveTo>
                    <a:pt x="2983979" y="0"/>
                  </a:moveTo>
                  <a:lnTo>
                    <a:pt x="2945879" y="0"/>
                  </a:lnTo>
                  <a:lnTo>
                    <a:pt x="2945879" y="12192"/>
                  </a:lnTo>
                  <a:lnTo>
                    <a:pt x="2983979" y="12192"/>
                  </a:lnTo>
                  <a:lnTo>
                    <a:pt x="2983979" y="0"/>
                  </a:lnTo>
                  <a:close/>
                </a:path>
                <a:path w="3594100" h="12700">
                  <a:moveTo>
                    <a:pt x="3034271" y="0"/>
                  </a:moveTo>
                  <a:lnTo>
                    <a:pt x="2996171" y="0"/>
                  </a:lnTo>
                  <a:lnTo>
                    <a:pt x="2996171" y="12192"/>
                  </a:lnTo>
                  <a:lnTo>
                    <a:pt x="3034271" y="12192"/>
                  </a:lnTo>
                  <a:lnTo>
                    <a:pt x="3034271" y="0"/>
                  </a:lnTo>
                  <a:close/>
                </a:path>
                <a:path w="3594100" h="12700">
                  <a:moveTo>
                    <a:pt x="3086087" y="0"/>
                  </a:moveTo>
                  <a:lnTo>
                    <a:pt x="3047987" y="0"/>
                  </a:lnTo>
                  <a:lnTo>
                    <a:pt x="3047987" y="12192"/>
                  </a:lnTo>
                  <a:lnTo>
                    <a:pt x="3086087" y="12192"/>
                  </a:lnTo>
                  <a:lnTo>
                    <a:pt x="3086087" y="0"/>
                  </a:lnTo>
                  <a:close/>
                </a:path>
                <a:path w="3594100" h="12700">
                  <a:moveTo>
                    <a:pt x="3136379" y="0"/>
                  </a:moveTo>
                  <a:lnTo>
                    <a:pt x="3098279" y="0"/>
                  </a:lnTo>
                  <a:lnTo>
                    <a:pt x="3098279" y="12192"/>
                  </a:lnTo>
                  <a:lnTo>
                    <a:pt x="3136379" y="12192"/>
                  </a:lnTo>
                  <a:lnTo>
                    <a:pt x="3136379" y="0"/>
                  </a:lnTo>
                  <a:close/>
                </a:path>
                <a:path w="3594100" h="12700">
                  <a:moveTo>
                    <a:pt x="3186671" y="0"/>
                  </a:moveTo>
                  <a:lnTo>
                    <a:pt x="3148571" y="0"/>
                  </a:lnTo>
                  <a:lnTo>
                    <a:pt x="3148571" y="12192"/>
                  </a:lnTo>
                  <a:lnTo>
                    <a:pt x="3186671" y="12192"/>
                  </a:lnTo>
                  <a:lnTo>
                    <a:pt x="3186671" y="0"/>
                  </a:lnTo>
                  <a:close/>
                </a:path>
                <a:path w="3594100" h="12700">
                  <a:moveTo>
                    <a:pt x="3238487" y="0"/>
                  </a:moveTo>
                  <a:lnTo>
                    <a:pt x="3200387" y="0"/>
                  </a:lnTo>
                  <a:lnTo>
                    <a:pt x="3200387" y="12192"/>
                  </a:lnTo>
                  <a:lnTo>
                    <a:pt x="3238487" y="12192"/>
                  </a:lnTo>
                  <a:lnTo>
                    <a:pt x="3238487" y="0"/>
                  </a:lnTo>
                  <a:close/>
                </a:path>
                <a:path w="3594100" h="12700">
                  <a:moveTo>
                    <a:pt x="3288779" y="0"/>
                  </a:moveTo>
                  <a:lnTo>
                    <a:pt x="3250679" y="0"/>
                  </a:lnTo>
                  <a:lnTo>
                    <a:pt x="3250679" y="12192"/>
                  </a:lnTo>
                  <a:lnTo>
                    <a:pt x="3288779" y="12192"/>
                  </a:lnTo>
                  <a:lnTo>
                    <a:pt x="3288779" y="0"/>
                  </a:lnTo>
                  <a:close/>
                </a:path>
                <a:path w="3594100" h="12700">
                  <a:moveTo>
                    <a:pt x="3339071" y="0"/>
                  </a:moveTo>
                  <a:lnTo>
                    <a:pt x="3300971" y="0"/>
                  </a:lnTo>
                  <a:lnTo>
                    <a:pt x="3300971" y="12192"/>
                  </a:lnTo>
                  <a:lnTo>
                    <a:pt x="3339071" y="12192"/>
                  </a:lnTo>
                  <a:lnTo>
                    <a:pt x="3339071" y="0"/>
                  </a:lnTo>
                  <a:close/>
                </a:path>
                <a:path w="3594100" h="12700">
                  <a:moveTo>
                    <a:pt x="3390887" y="0"/>
                  </a:moveTo>
                  <a:lnTo>
                    <a:pt x="3352787" y="0"/>
                  </a:lnTo>
                  <a:lnTo>
                    <a:pt x="3352787" y="12192"/>
                  </a:lnTo>
                  <a:lnTo>
                    <a:pt x="3390887" y="12192"/>
                  </a:lnTo>
                  <a:lnTo>
                    <a:pt x="3390887" y="0"/>
                  </a:lnTo>
                  <a:close/>
                </a:path>
                <a:path w="3594100" h="12700">
                  <a:moveTo>
                    <a:pt x="3441179" y="0"/>
                  </a:moveTo>
                  <a:lnTo>
                    <a:pt x="3403079" y="0"/>
                  </a:lnTo>
                  <a:lnTo>
                    <a:pt x="3403079" y="12192"/>
                  </a:lnTo>
                  <a:lnTo>
                    <a:pt x="3441179" y="12192"/>
                  </a:lnTo>
                  <a:lnTo>
                    <a:pt x="3441179" y="0"/>
                  </a:lnTo>
                  <a:close/>
                </a:path>
                <a:path w="3594100" h="12700">
                  <a:moveTo>
                    <a:pt x="3491471" y="0"/>
                  </a:moveTo>
                  <a:lnTo>
                    <a:pt x="3453371" y="0"/>
                  </a:lnTo>
                  <a:lnTo>
                    <a:pt x="3453371" y="12192"/>
                  </a:lnTo>
                  <a:lnTo>
                    <a:pt x="3491471" y="12192"/>
                  </a:lnTo>
                  <a:lnTo>
                    <a:pt x="3491471" y="0"/>
                  </a:lnTo>
                  <a:close/>
                </a:path>
                <a:path w="3594100" h="12700">
                  <a:moveTo>
                    <a:pt x="3543287" y="0"/>
                  </a:moveTo>
                  <a:lnTo>
                    <a:pt x="3505187" y="0"/>
                  </a:lnTo>
                  <a:lnTo>
                    <a:pt x="3505187" y="12192"/>
                  </a:lnTo>
                  <a:lnTo>
                    <a:pt x="3543287" y="12192"/>
                  </a:lnTo>
                  <a:lnTo>
                    <a:pt x="3543287" y="0"/>
                  </a:lnTo>
                  <a:close/>
                </a:path>
                <a:path w="3594100" h="12700">
                  <a:moveTo>
                    <a:pt x="3593579" y="0"/>
                  </a:moveTo>
                  <a:lnTo>
                    <a:pt x="3555479" y="0"/>
                  </a:lnTo>
                  <a:lnTo>
                    <a:pt x="3555479" y="12192"/>
                  </a:lnTo>
                  <a:lnTo>
                    <a:pt x="3593579" y="12192"/>
                  </a:lnTo>
                  <a:lnTo>
                    <a:pt x="3593579" y="0"/>
                  </a:lnTo>
                  <a:close/>
                </a:path>
              </a:pathLst>
            </a:custGeom>
            <a:solidFill>
              <a:srgbClr val="164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84351" y="1880628"/>
              <a:ext cx="1963420" cy="12700"/>
            </a:xfrm>
            <a:custGeom>
              <a:avLst/>
              <a:gdLst/>
              <a:ahLst/>
              <a:cxnLst/>
              <a:rect l="l" t="t" r="r" b="b"/>
              <a:pathLst>
                <a:path w="1963420" h="12700">
                  <a:moveTo>
                    <a:pt x="38100" y="0"/>
                  </a:moveTo>
                  <a:lnTo>
                    <a:pt x="0" y="0"/>
                  </a:lnTo>
                  <a:lnTo>
                    <a:pt x="0" y="12192"/>
                  </a:lnTo>
                  <a:lnTo>
                    <a:pt x="38100" y="12192"/>
                  </a:lnTo>
                  <a:lnTo>
                    <a:pt x="38100" y="0"/>
                  </a:lnTo>
                  <a:close/>
                </a:path>
                <a:path w="1963420" h="12700">
                  <a:moveTo>
                    <a:pt x="88392" y="0"/>
                  </a:moveTo>
                  <a:lnTo>
                    <a:pt x="50292" y="0"/>
                  </a:lnTo>
                  <a:lnTo>
                    <a:pt x="50292" y="12192"/>
                  </a:lnTo>
                  <a:lnTo>
                    <a:pt x="88392" y="12192"/>
                  </a:lnTo>
                  <a:lnTo>
                    <a:pt x="88392" y="0"/>
                  </a:lnTo>
                  <a:close/>
                </a:path>
                <a:path w="1963420" h="12700">
                  <a:moveTo>
                    <a:pt x="140208" y="0"/>
                  </a:moveTo>
                  <a:lnTo>
                    <a:pt x="102108" y="0"/>
                  </a:lnTo>
                  <a:lnTo>
                    <a:pt x="102108" y="12192"/>
                  </a:lnTo>
                  <a:lnTo>
                    <a:pt x="140208" y="12192"/>
                  </a:lnTo>
                  <a:lnTo>
                    <a:pt x="140208" y="0"/>
                  </a:lnTo>
                  <a:close/>
                </a:path>
                <a:path w="1963420" h="12700">
                  <a:moveTo>
                    <a:pt x="190500" y="0"/>
                  </a:moveTo>
                  <a:lnTo>
                    <a:pt x="152400" y="0"/>
                  </a:lnTo>
                  <a:lnTo>
                    <a:pt x="152400" y="12192"/>
                  </a:lnTo>
                  <a:lnTo>
                    <a:pt x="190500" y="12192"/>
                  </a:lnTo>
                  <a:lnTo>
                    <a:pt x="190500" y="0"/>
                  </a:lnTo>
                  <a:close/>
                </a:path>
                <a:path w="1963420" h="12700">
                  <a:moveTo>
                    <a:pt x="240792" y="0"/>
                  </a:moveTo>
                  <a:lnTo>
                    <a:pt x="202692" y="0"/>
                  </a:lnTo>
                  <a:lnTo>
                    <a:pt x="202692" y="12192"/>
                  </a:lnTo>
                  <a:lnTo>
                    <a:pt x="240792" y="12192"/>
                  </a:lnTo>
                  <a:lnTo>
                    <a:pt x="240792" y="0"/>
                  </a:lnTo>
                  <a:close/>
                </a:path>
                <a:path w="1963420" h="12700">
                  <a:moveTo>
                    <a:pt x="292608" y="0"/>
                  </a:moveTo>
                  <a:lnTo>
                    <a:pt x="254508" y="0"/>
                  </a:lnTo>
                  <a:lnTo>
                    <a:pt x="254508" y="12192"/>
                  </a:lnTo>
                  <a:lnTo>
                    <a:pt x="292608" y="12192"/>
                  </a:lnTo>
                  <a:lnTo>
                    <a:pt x="292608" y="0"/>
                  </a:lnTo>
                  <a:close/>
                </a:path>
                <a:path w="1963420" h="12700">
                  <a:moveTo>
                    <a:pt x="342900" y="0"/>
                  </a:moveTo>
                  <a:lnTo>
                    <a:pt x="304800" y="0"/>
                  </a:lnTo>
                  <a:lnTo>
                    <a:pt x="304800" y="12192"/>
                  </a:lnTo>
                  <a:lnTo>
                    <a:pt x="342900" y="12192"/>
                  </a:lnTo>
                  <a:lnTo>
                    <a:pt x="342900" y="0"/>
                  </a:lnTo>
                  <a:close/>
                </a:path>
                <a:path w="1963420" h="12700">
                  <a:moveTo>
                    <a:pt x="393192" y="0"/>
                  </a:moveTo>
                  <a:lnTo>
                    <a:pt x="355092" y="0"/>
                  </a:lnTo>
                  <a:lnTo>
                    <a:pt x="355092" y="12192"/>
                  </a:lnTo>
                  <a:lnTo>
                    <a:pt x="393192" y="12192"/>
                  </a:lnTo>
                  <a:lnTo>
                    <a:pt x="393192" y="0"/>
                  </a:lnTo>
                  <a:close/>
                </a:path>
                <a:path w="1963420" h="12700">
                  <a:moveTo>
                    <a:pt x="445008" y="0"/>
                  </a:moveTo>
                  <a:lnTo>
                    <a:pt x="406908" y="0"/>
                  </a:lnTo>
                  <a:lnTo>
                    <a:pt x="406908" y="12192"/>
                  </a:lnTo>
                  <a:lnTo>
                    <a:pt x="445008" y="12192"/>
                  </a:lnTo>
                  <a:lnTo>
                    <a:pt x="445008" y="0"/>
                  </a:lnTo>
                  <a:close/>
                </a:path>
                <a:path w="1963420" h="12700">
                  <a:moveTo>
                    <a:pt x="495300" y="0"/>
                  </a:moveTo>
                  <a:lnTo>
                    <a:pt x="457200" y="0"/>
                  </a:lnTo>
                  <a:lnTo>
                    <a:pt x="457200" y="12192"/>
                  </a:lnTo>
                  <a:lnTo>
                    <a:pt x="495300" y="12192"/>
                  </a:lnTo>
                  <a:lnTo>
                    <a:pt x="495300" y="0"/>
                  </a:lnTo>
                  <a:close/>
                </a:path>
                <a:path w="1963420" h="12700">
                  <a:moveTo>
                    <a:pt x="545592" y="0"/>
                  </a:moveTo>
                  <a:lnTo>
                    <a:pt x="507492" y="0"/>
                  </a:lnTo>
                  <a:lnTo>
                    <a:pt x="507492" y="12192"/>
                  </a:lnTo>
                  <a:lnTo>
                    <a:pt x="545592" y="12192"/>
                  </a:lnTo>
                  <a:lnTo>
                    <a:pt x="545592" y="0"/>
                  </a:lnTo>
                  <a:close/>
                </a:path>
                <a:path w="1963420" h="12700">
                  <a:moveTo>
                    <a:pt x="597408" y="0"/>
                  </a:moveTo>
                  <a:lnTo>
                    <a:pt x="559308" y="0"/>
                  </a:lnTo>
                  <a:lnTo>
                    <a:pt x="559308" y="12192"/>
                  </a:lnTo>
                  <a:lnTo>
                    <a:pt x="597408" y="12192"/>
                  </a:lnTo>
                  <a:lnTo>
                    <a:pt x="597408" y="0"/>
                  </a:lnTo>
                  <a:close/>
                </a:path>
                <a:path w="1963420" h="12700">
                  <a:moveTo>
                    <a:pt x="647700" y="0"/>
                  </a:moveTo>
                  <a:lnTo>
                    <a:pt x="609600" y="0"/>
                  </a:lnTo>
                  <a:lnTo>
                    <a:pt x="609600" y="12192"/>
                  </a:lnTo>
                  <a:lnTo>
                    <a:pt x="647700" y="12192"/>
                  </a:lnTo>
                  <a:lnTo>
                    <a:pt x="647700" y="0"/>
                  </a:lnTo>
                  <a:close/>
                </a:path>
                <a:path w="1963420" h="12700">
                  <a:moveTo>
                    <a:pt x="697992" y="0"/>
                  </a:moveTo>
                  <a:lnTo>
                    <a:pt x="659892" y="0"/>
                  </a:lnTo>
                  <a:lnTo>
                    <a:pt x="659892" y="12192"/>
                  </a:lnTo>
                  <a:lnTo>
                    <a:pt x="697992" y="12192"/>
                  </a:lnTo>
                  <a:lnTo>
                    <a:pt x="697992" y="0"/>
                  </a:lnTo>
                  <a:close/>
                </a:path>
                <a:path w="1963420" h="12700">
                  <a:moveTo>
                    <a:pt x="749808" y="0"/>
                  </a:moveTo>
                  <a:lnTo>
                    <a:pt x="711708" y="0"/>
                  </a:lnTo>
                  <a:lnTo>
                    <a:pt x="711708" y="12192"/>
                  </a:lnTo>
                  <a:lnTo>
                    <a:pt x="749808" y="12192"/>
                  </a:lnTo>
                  <a:lnTo>
                    <a:pt x="749808" y="0"/>
                  </a:lnTo>
                  <a:close/>
                </a:path>
                <a:path w="1963420" h="12700">
                  <a:moveTo>
                    <a:pt x="800100" y="0"/>
                  </a:moveTo>
                  <a:lnTo>
                    <a:pt x="762000" y="0"/>
                  </a:lnTo>
                  <a:lnTo>
                    <a:pt x="762000" y="12192"/>
                  </a:lnTo>
                  <a:lnTo>
                    <a:pt x="800100" y="12192"/>
                  </a:lnTo>
                  <a:lnTo>
                    <a:pt x="800100" y="0"/>
                  </a:lnTo>
                  <a:close/>
                </a:path>
                <a:path w="1963420" h="12700">
                  <a:moveTo>
                    <a:pt x="850392" y="0"/>
                  </a:moveTo>
                  <a:lnTo>
                    <a:pt x="812292" y="0"/>
                  </a:lnTo>
                  <a:lnTo>
                    <a:pt x="812292" y="12192"/>
                  </a:lnTo>
                  <a:lnTo>
                    <a:pt x="850392" y="12192"/>
                  </a:lnTo>
                  <a:lnTo>
                    <a:pt x="850392" y="0"/>
                  </a:lnTo>
                  <a:close/>
                </a:path>
                <a:path w="1963420" h="12700">
                  <a:moveTo>
                    <a:pt x="902208" y="0"/>
                  </a:moveTo>
                  <a:lnTo>
                    <a:pt x="864108" y="0"/>
                  </a:lnTo>
                  <a:lnTo>
                    <a:pt x="864108" y="12192"/>
                  </a:lnTo>
                  <a:lnTo>
                    <a:pt x="902208" y="12192"/>
                  </a:lnTo>
                  <a:lnTo>
                    <a:pt x="902208" y="0"/>
                  </a:lnTo>
                  <a:close/>
                </a:path>
                <a:path w="1963420" h="12700">
                  <a:moveTo>
                    <a:pt x="952500" y="0"/>
                  </a:moveTo>
                  <a:lnTo>
                    <a:pt x="914400" y="0"/>
                  </a:lnTo>
                  <a:lnTo>
                    <a:pt x="914400" y="12192"/>
                  </a:lnTo>
                  <a:lnTo>
                    <a:pt x="952500" y="12192"/>
                  </a:lnTo>
                  <a:lnTo>
                    <a:pt x="952500" y="0"/>
                  </a:lnTo>
                  <a:close/>
                </a:path>
                <a:path w="1963420" h="12700">
                  <a:moveTo>
                    <a:pt x="1002792" y="0"/>
                  </a:moveTo>
                  <a:lnTo>
                    <a:pt x="964692" y="0"/>
                  </a:lnTo>
                  <a:lnTo>
                    <a:pt x="964692" y="12192"/>
                  </a:lnTo>
                  <a:lnTo>
                    <a:pt x="1002792" y="12192"/>
                  </a:lnTo>
                  <a:lnTo>
                    <a:pt x="1002792" y="0"/>
                  </a:lnTo>
                  <a:close/>
                </a:path>
                <a:path w="1963420" h="12700">
                  <a:moveTo>
                    <a:pt x="1054608" y="0"/>
                  </a:moveTo>
                  <a:lnTo>
                    <a:pt x="1016508" y="0"/>
                  </a:lnTo>
                  <a:lnTo>
                    <a:pt x="1016508" y="12192"/>
                  </a:lnTo>
                  <a:lnTo>
                    <a:pt x="1054608" y="12192"/>
                  </a:lnTo>
                  <a:lnTo>
                    <a:pt x="1054608" y="0"/>
                  </a:lnTo>
                  <a:close/>
                </a:path>
                <a:path w="1963420" h="12700">
                  <a:moveTo>
                    <a:pt x="1104900" y="0"/>
                  </a:moveTo>
                  <a:lnTo>
                    <a:pt x="1066800" y="0"/>
                  </a:lnTo>
                  <a:lnTo>
                    <a:pt x="1066800" y="12192"/>
                  </a:lnTo>
                  <a:lnTo>
                    <a:pt x="1104900" y="12192"/>
                  </a:lnTo>
                  <a:lnTo>
                    <a:pt x="1104900" y="0"/>
                  </a:lnTo>
                  <a:close/>
                </a:path>
                <a:path w="1963420" h="12700">
                  <a:moveTo>
                    <a:pt x="1155192" y="0"/>
                  </a:moveTo>
                  <a:lnTo>
                    <a:pt x="1117092" y="0"/>
                  </a:lnTo>
                  <a:lnTo>
                    <a:pt x="1117092" y="12192"/>
                  </a:lnTo>
                  <a:lnTo>
                    <a:pt x="1155192" y="12192"/>
                  </a:lnTo>
                  <a:lnTo>
                    <a:pt x="1155192" y="0"/>
                  </a:lnTo>
                  <a:close/>
                </a:path>
                <a:path w="1963420" h="12700">
                  <a:moveTo>
                    <a:pt x="1207008" y="0"/>
                  </a:moveTo>
                  <a:lnTo>
                    <a:pt x="1168908" y="0"/>
                  </a:lnTo>
                  <a:lnTo>
                    <a:pt x="1168908" y="12192"/>
                  </a:lnTo>
                  <a:lnTo>
                    <a:pt x="1207008" y="12192"/>
                  </a:lnTo>
                  <a:lnTo>
                    <a:pt x="1207008" y="0"/>
                  </a:lnTo>
                  <a:close/>
                </a:path>
                <a:path w="1963420" h="12700">
                  <a:moveTo>
                    <a:pt x="1257300" y="0"/>
                  </a:moveTo>
                  <a:lnTo>
                    <a:pt x="1219200" y="0"/>
                  </a:lnTo>
                  <a:lnTo>
                    <a:pt x="1219200" y="12192"/>
                  </a:lnTo>
                  <a:lnTo>
                    <a:pt x="1257300" y="12192"/>
                  </a:lnTo>
                  <a:lnTo>
                    <a:pt x="1257300" y="0"/>
                  </a:lnTo>
                  <a:close/>
                </a:path>
                <a:path w="1963420" h="12700">
                  <a:moveTo>
                    <a:pt x="1307592" y="0"/>
                  </a:moveTo>
                  <a:lnTo>
                    <a:pt x="1269492" y="0"/>
                  </a:lnTo>
                  <a:lnTo>
                    <a:pt x="1269492" y="12192"/>
                  </a:lnTo>
                  <a:lnTo>
                    <a:pt x="1307592" y="12192"/>
                  </a:lnTo>
                  <a:lnTo>
                    <a:pt x="1307592" y="0"/>
                  </a:lnTo>
                  <a:close/>
                </a:path>
                <a:path w="1963420" h="12700">
                  <a:moveTo>
                    <a:pt x="1359408" y="0"/>
                  </a:moveTo>
                  <a:lnTo>
                    <a:pt x="1321308" y="0"/>
                  </a:lnTo>
                  <a:lnTo>
                    <a:pt x="1321308" y="12192"/>
                  </a:lnTo>
                  <a:lnTo>
                    <a:pt x="1359408" y="12192"/>
                  </a:lnTo>
                  <a:lnTo>
                    <a:pt x="1359408" y="0"/>
                  </a:lnTo>
                  <a:close/>
                </a:path>
                <a:path w="1963420" h="12700">
                  <a:moveTo>
                    <a:pt x="1409700" y="0"/>
                  </a:moveTo>
                  <a:lnTo>
                    <a:pt x="1371600" y="0"/>
                  </a:lnTo>
                  <a:lnTo>
                    <a:pt x="1371600" y="12192"/>
                  </a:lnTo>
                  <a:lnTo>
                    <a:pt x="1409700" y="12192"/>
                  </a:lnTo>
                  <a:lnTo>
                    <a:pt x="1409700" y="0"/>
                  </a:lnTo>
                  <a:close/>
                </a:path>
                <a:path w="1963420" h="12700">
                  <a:moveTo>
                    <a:pt x="1459992" y="0"/>
                  </a:moveTo>
                  <a:lnTo>
                    <a:pt x="1421892" y="0"/>
                  </a:lnTo>
                  <a:lnTo>
                    <a:pt x="1421892" y="12192"/>
                  </a:lnTo>
                  <a:lnTo>
                    <a:pt x="1459992" y="12192"/>
                  </a:lnTo>
                  <a:lnTo>
                    <a:pt x="1459992" y="0"/>
                  </a:lnTo>
                  <a:close/>
                </a:path>
                <a:path w="1963420" h="12700">
                  <a:moveTo>
                    <a:pt x="1511808" y="0"/>
                  </a:moveTo>
                  <a:lnTo>
                    <a:pt x="1473708" y="0"/>
                  </a:lnTo>
                  <a:lnTo>
                    <a:pt x="1473708" y="12192"/>
                  </a:lnTo>
                  <a:lnTo>
                    <a:pt x="1511808" y="12192"/>
                  </a:lnTo>
                  <a:lnTo>
                    <a:pt x="1511808" y="0"/>
                  </a:lnTo>
                  <a:close/>
                </a:path>
                <a:path w="1963420" h="12700">
                  <a:moveTo>
                    <a:pt x="1562100" y="0"/>
                  </a:moveTo>
                  <a:lnTo>
                    <a:pt x="1524000" y="0"/>
                  </a:lnTo>
                  <a:lnTo>
                    <a:pt x="1524000" y="12192"/>
                  </a:lnTo>
                  <a:lnTo>
                    <a:pt x="1562100" y="12192"/>
                  </a:lnTo>
                  <a:lnTo>
                    <a:pt x="1562100" y="0"/>
                  </a:lnTo>
                  <a:close/>
                </a:path>
                <a:path w="1963420" h="12700">
                  <a:moveTo>
                    <a:pt x="1612392" y="0"/>
                  </a:moveTo>
                  <a:lnTo>
                    <a:pt x="1574292" y="0"/>
                  </a:lnTo>
                  <a:lnTo>
                    <a:pt x="1574292" y="12192"/>
                  </a:lnTo>
                  <a:lnTo>
                    <a:pt x="1612392" y="12192"/>
                  </a:lnTo>
                  <a:lnTo>
                    <a:pt x="1612392" y="0"/>
                  </a:lnTo>
                  <a:close/>
                </a:path>
                <a:path w="1963420" h="12700">
                  <a:moveTo>
                    <a:pt x="1664208" y="0"/>
                  </a:moveTo>
                  <a:lnTo>
                    <a:pt x="1626108" y="0"/>
                  </a:lnTo>
                  <a:lnTo>
                    <a:pt x="1626108" y="12192"/>
                  </a:lnTo>
                  <a:lnTo>
                    <a:pt x="1664208" y="12192"/>
                  </a:lnTo>
                  <a:lnTo>
                    <a:pt x="1664208" y="0"/>
                  </a:lnTo>
                  <a:close/>
                </a:path>
                <a:path w="1963420" h="12700">
                  <a:moveTo>
                    <a:pt x="1714500" y="0"/>
                  </a:moveTo>
                  <a:lnTo>
                    <a:pt x="1676400" y="0"/>
                  </a:lnTo>
                  <a:lnTo>
                    <a:pt x="1676400" y="12192"/>
                  </a:lnTo>
                  <a:lnTo>
                    <a:pt x="1714500" y="12192"/>
                  </a:lnTo>
                  <a:lnTo>
                    <a:pt x="1714500" y="0"/>
                  </a:lnTo>
                  <a:close/>
                </a:path>
                <a:path w="1963420" h="12700">
                  <a:moveTo>
                    <a:pt x="1764792" y="0"/>
                  </a:moveTo>
                  <a:lnTo>
                    <a:pt x="1726692" y="0"/>
                  </a:lnTo>
                  <a:lnTo>
                    <a:pt x="1726692" y="12192"/>
                  </a:lnTo>
                  <a:lnTo>
                    <a:pt x="1764792" y="12192"/>
                  </a:lnTo>
                  <a:lnTo>
                    <a:pt x="1764792" y="0"/>
                  </a:lnTo>
                  <a:close/>
                </a:path>
                <a:path w="1963420" h="12700">
                  <a:moveTo>
                    <a:pt x="1816608" y="0"/>
                  </a:moveTo>
                  <a:lnTo>
                    <a:pt x="1778508" y="0"/>
                  </a:lnTo>
                  <a:lnTo>
                    <a:pt x="1778508" y="12192"/>
                  </a:lnTo>
                  <a:lnTo>
                    <a:pt x="1816608" y="12192"/>
                  </a:lnTo>
                  <a:lnTo>
                    <a:pt x="1816608" y="0"/>
                  </a:lnTo>
                  <a:close/>
                </a:path>
                <a:path w="1963420" h="12700">
                  <a:moveTo>
                    <a:pt x="1866900" y="0"/>
                  </a:moveTo>
                  <a:lnTo>
                    <a:pt x="1828800" y="0"/>
                  </a:lnTo>
                  <a:lnTo>
                    <a:pt x="1828800" y="12192"/>
                  </a:lnTo>
                  <a:lnTo>
                    <a:pt x="1866900" y="12192"/>
                  </a:lnTo>
                  <a:lnTo>
                    <a:pt x="1866900" y="0"/>
                  </a:lnTo>
                  <a:close/>
                </a:path>
                <a:path w="1963420" h="12700">
                  <a:moveTo>
                    <a:pt x="1917192" y="0"/>
                  </a:moveTo>
                  <a:lnTo>
                    <a:pt x="1879092" y="0"/>
                  </a:lnTo>
                  <a:lnTo>
                    <a:pt x="1879092" y="12192"/>
                  </a:lnTo>
                  <a:lnTo>
                    <a:pt x="1917192" y="12192"/>
                  </a:lnTo>
                  <a:lnTo>
                    <a:pt x="1917192" y="0"/>
                  </a:lnTo>
                  <a:close/>
                </a:path>
                <a:path w="1963420" h="12700">
                  <a:moveTo>
                    <a:pt x="1962912" y="0"/>
                  </a:moveTo>
                  <a:lnTo>
                    <a:pt x="1930908" y="0"/>
                  </a:lnTo>
                  <a:lnTo>
                    <a:pt x="1930908" y="12192"/>
                  </a:lnTo>
                  <a:lnTo>
                    <a:pt x="1962912" y="12192"/>
                  </a:lnTo>
                  <a:lnTo>
                    <a:pt x="1962912" y="0"/>
                  </a:lnTo>
                  <a:close/>
                </a:path>
              </a:pathLst>
            </a:custGeom>
            <a:solidFill>
              <a:srgbClr val="164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44795" y="1566672"/>
              <a:ext cx="594360" cy="609600"/>
            </a:xfrm>
            <a:custGeom>
              <a:avLst/>
              <a:gdLst/>
              <a:ahLst/>
              <a:cxnLst/>
              <a:rect l="l" t="t" r="r" b="b"/>
              <a:pathLst>
                <a:path w="594360" h="609600">
                  <a:moveTo>
                    <a:pt x="297180" y="609600"/>
                  </a:moveTo>
                  <a:lnTo>
                    <a:pt x="248412" y="605028"/>
                  </a:lnTo>
                  <a:lnTo>
                    <a:pt x="202692" y="594360"/>
                  </a:lnTo>
                  <a:lnTo>
                    <a:pt x="160020" y="574548"/>
                  </a:lnTo>
                  <a:lnTo>
                    <a:pt x="120396" y="550164"/>
                  </a:lnTo>
                  <a:lnTo>
                    <a:pt x="86868" y="519683"/>
                  </a:lnTo>
                  <a:lnTo>
                    <a:pt x="56388" y="484631"/>
                  </a:lnTo>
                  <a:lnTo>
                    <a:pt x="32004" y="445008"/>
                  </a:lnTo>
                  <a:lnTo>
                    <a:pt x="13716" y="400812"/>
                  </a:lnTo>
                  <a:lnTo>
                    <a:pt x="3048" y="353568"/>
                  </a:lnTo>
                  <a:lnTo>
                    <a:pt x="0" y="304800"/>
                  </a:lnTo>
                  <a:lnTo>
                    <a:pt x="3048" y="254508"/>
                  </a:lnTo>
                  <a:lnTo>
                    <a:pt x="13716" y="208787"/>
                  </a:lnTo>
                  <a:lnTo>
                    <a:pt x="32004" y="164592"/>
                  </a:lnTo>
                  <a:lnTo>
                    <a:pt x="56388" y="124968"/>
                  </a:lnTo>
                  <a:lnTo>
                    <a:pt x="86868" y="88392"/>
                  </a:lnTo>
                  <a:lnTo>
                    <a:pt x="120396" y="57911"/>
                  </a:lnTo>
                  <a:lnTo>
                    <a:pt x="160020" y="33528"/>
                  </a:lnTo>
                  <a:lnTo>
                    <a:pt x="202692" y="15240"/>
                  </a:lnTo>
                  <a:lnTo>
                    <a:pt x="248412" y="3048"/>
                  </a:lnTo>
                  <a:lnTo>
                    <a:pt x="297180" y="0"/>
                  </a:lnTo>
                  <a:lnTo>
                    <a:pt x="344424" y="3048"/>
                  </a:lnTo>
                  <a:lnTo>
                    <a:pt x="390144" y="15240"/>
                  </a:lnTo>
                  <a:lnTo>
                    <a:pt x="432816" y="33528"/>
                  </a:lnTo>
                  <a:lnTo>
                    <a:pt x="472440" y="57911"/>
                  </a:lnTo>
                  <a:lnTo>
                    <a:pt x="507492" y="88392"/>
                  </a:lnTo>
                  <a:lnTo>
                    <a:pt x="536448" y="124968"/>
                  </a:lnTo>
                  <a:lnTo>
                    <a:pt x="560832" y="164592"/>
                  </a:lnTo>
                  <a:lnTo>
                    <a:pt x="579120" y="208787"/>
                  </a:lnTo>
                  <a:lnTo>
                    <a:pt x="589788" y="254508"/>
                  </a:lnTo>
                  <a:lnTo>
                    <a:pt x="594360" y="304800"/>
                  </a:lnTo>
                  <a:lnTo>
                    <a:pt x="589788" y="353568"/>
                  </a:lnTo>
                  <a:lnTo>
                    <a:pt x="579120" y="400812"/>
                  </a:lnTo>
                  <a:lnTo>
                    <a:pt x="560832" y="445008"/>
                  </a:lnTo>
                  <a:lnTo>
                    <a:pt x="536448" y="484631"/>
                  </a:lnTo>
                  <a:lnTo>
                    <a:pt x="507492" y="519683"/>
                  </a:lnTo>
                  <a:lnTo>
                    <a:pt x="472440" y="550164"/>
                  </a:lnTo>
                  <a:lnTo>
                    <a:pt x="432816" y="574548"/>
                  </a:lnTo>
                  <a:lnTo>
                    <a:pt x="390144" y="594360"/>
                  </a:lnTo>
                  <a:lnTo>
                    <a:pt x="344424" y="605028"/>
                  </a:lnTo>
                  <a:lnTo>
                    <a:pt x="29718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11839" y="1635251"/>
              <a:ext cx="460375" cy="471170"/>
            </a:xfrm>
            <a:custGeom>
              <a:avLst/>
              <a:gdLst/>
              <a:ahLst/>
              <a:cxnLst/>
              <a:rect l="l" t="t" r="r" b="b"/>
              <a:pathLst>
                <a:path w="460375" h="471169">
                  <a:moveTo>
                    <a:pt x="426732" y="234696"/>
                  </a:moveTo>
                  <a:lnTo>
                    <a:pt x="425208" y="216408"/>
                  </a:lnTo>
                  <a:lnTo>
                    <a:pt x="417588" y="176784"/>
                  </a:lnTo>
                  <a:lnTo>
                    <a:pt x="409968" y="158496"/>
                  </a:lnTo>
                  <a:lnTo>
                    <a:pt x="409968" y="219456"/>
                  </a:lnTo>
                  <a:lnTo>
                    <a:pt x="409968" y="237744"/>
                  </a:lnTo>
                  <a:lnTo>
                    <a:pt x="394728" y="310896"/>
                  </a:lnTo>
                  <a:lnTo>
                    <a:pt x="368820" y="355092"/>
                  </a:lnTo>
                  <a:lnTo>
                    <a:pt x="329196" y="390144"/>
                  </a:lnTo>
                  <a:lnTo>
                    <a:pt x="265188" y="417576"/>
                  </a:lnTo>
                  <a:lnTo>
                    <a:pt x="228612" y="422148"/>
                  </a:lnTo>
                  <a:lnTo>
                    <a:pt x="210324" y="420636"/>
                  </a:lnTo>
                  <a:lnTo>
                    <a:pt x="158508" y="406920"/>
                  </a:lnTo>
                  <a:lnTo>
                    <a:pt x="114312" y="379488"/>
                  </a:lnTo>
                  <a:lnTo>
                    <a:pt x="79260" y="338340"/>
                  </a:lnTo>
                  <a:lnTo>
                    <a:pt x="56400" y="289560"/>
                  </a:lnTo>
                  <a:lnTo>
                    <a:pt x="48780" y="234696"/>
                  </a:lnTo>
                  <a:lnTo>
                    <a:pt x="50304" y="216420"/>
                  </a:lnTo>
                  <a:lnTo>
                    <a:pt x="64020" y="163080"/>
                  </a:lnTo>
                  <a:lnTo>
                    <a:pt x="91452" y="118884"/>
                  </a:lnTo>
                  <a:lnTo>
                    <a:pt x="129552" y="82308"/>
                  </a:lnTo>
                  <a:lnTo>
                    <a:pt x="176796" y="59448"/>
                  </a:lnTo>
                  <a:lnTo>
                    <a:pt x="230136" y="51828"/>
                  </a:lnTo>
                  <a:lnTo>
                    <a:pt x="249999" y="51828"/>
                  </a:lnTo>
                  <a:lnTo>
                    <a:pt x="330720" y="83820"/>
                  </a:lnTo>
                  <a:lnTo>
                    <a:pt x="370344" y="120396"/>
                  </a:lnTo>
                  <a:lnTo>
                    <a:pt x="396252" y="166116"/>
                  </a:lnTo>
                  <a:lnTo>
                    <a:pt x="409968" y="219456"/>
                  </a:lnTo>
                  <a:lnTo>
                    <a:pt x="409968" y="158496"/>
                  </a:lnTo>
                  <a:lnTo>
                    <a:pt x="382536" y="108204"/>
                  </a:lnTo>
                  <a:lnTo>
                    <a:pt x="324624" y="59436"/>
                  </a:lnTo>
                  <a:lnTo>
                    <a:pt x="306336" y="51828"/>
                  </a:lnTo>
                  <a:lnTo>
                    <a:pt x="288048" y="44208"/>
                  </a:lnTo>
                  <a:lnTo>
                    <a:pt x="269760" y="38112"/>
                  </a:lnTo>
                  <a:lnTo>
                    <a:pt x="230136" y="35064"/>
                  </a:lnTo>
                  <a:lnTo>
                    <a:pt x="190512" y="38112"/>
                  </a:lnTo>
                  <a:lnTo>
                    <a:pt x="153936" y="50304"/>
                  </a:lnTo>
                  <a:lnTo>
                    <a:pt x="120408" y="68592"/>
                  </a:lnTo>
                  <a:lnTo>
                    <a:pt x="89928" y="92976"/>
                  </a:lnTo>
                  <a:lnTo>
                    <a:pt x="67068" y="123456"/>
                  </a:lnTo>
                  <a:lnTo>
                    <a:pt x="48780" y="158508"/>
                  </a:lnTo>
                  <a:lnTo>
                    <a:pt x="36588" y="196596"/>
                  </a:lnTo>
                  <a:lnTo>
                    <a:pt x="32016" y="234696"/>
                  </a:lnTo>
                  <a:lnTo>
                    <a:pt x="32016" y="237756"/>
                  </a:lnTo>
                  <a:lnTo>
                    <a:pt x="41160" y="295668"/>
                  </a:lnTo>
                  <a:lnTo>
                    <a:pt x="56400" y="332244"/>
                  </a:lnTo>
                  <a:lnTo>
                    <a:pt x="77736" y="364248"/>
                  </a:lnTo>
                  <a:lnTo>
                    <a:pt x="135648" y="414540"/>
                  </a:lnTo>
                  <a:lnTo>
                    <a:pt x="170700" y="429768"/>
                  </a:lnTo>
                  <a:lnTo>
                    <a:pt x="208800" y="437400"/>
                  </a:lnTo>
                  <a:lnTo>
                    <a:pt x="228612" y="438924"/>
                  </a:lnTo>
                  <a:lnTo>
                    <a:pt x="249948" y="437400"/>
                  </a:lnTo>
                  <a:lnTo>
                    <a:pt x="268236" y="434340"/>
                  </a:lnTo>
                  <a:lnTo>
                    <a:pt x="288048" y="429768"/>
                  </a:lnTo>
                  <a:lnTo>
                    <a:pt x="306336" y="423672"/>
                  </a:lnTo>
                  <a:lnTo>
                    <a:pt x="307860" y="422148"/>
                  </a:lnTo>
                  <a:lnTo>
                    <a:pt x="355104" y="393192"/>
                  </a:lnTo>
                  <a:lnTo>
                    <a:pt x="381012" y="364236"/>
                  </a:lnTo>
                  <a:lnTo>
                    <a:pt x="402348" y="333756"/>
                  </a:lnTo>
                  <a:lnTo>
                    <a:pt x="417588" y="297180"/>
                  </a:lnTo>
                  <a:lnTo>
                    <a:pt x="425208" y="257556"/>
                  </a:lnTo>
                  <a:lnTo>
                    <a:pt x="426732" y="234696"/>
                  </a:lnTo>
                  <a:close/>
                </a:path>
                <a:path w="460375" h="471169">
                  <a:moveTo>
                    <a:pt x="460248" y="234708"/>
                  </a:moveTo>
                  <a:lnTo>
                    <a:pt x="449580" y="166128"/>
                  </a:lnTo>
                  <a:lnTo>
                    <a:pt x="431292" y="123456"/>
                  </a:lnTo>
                  <a:lnTo>
                    <a:pt x="406908" y="85356"/>
                  </a:lnTo>
                  <a:lnTo>
                    <a:pt x="374904" y="53352"/>
                  </a:lnTo>
                  <a:lnTo>
                    <a:pt x="338328" y="28968"/>
                  </a:lnTo>
                  <a:lnTo>
                    <a:pt x="315468" y="18300"/>
                  </a:lnTo>
                  <a:lnTo>
                    <a:pt x="228600" y="18300"/>
                  </a:lnTo>
                  <a:lnTo>
                    <a:pt x="272796" y="21348"/>
                  </a:lnTo>
                  <a:lnTo>
                    <a:pt x="312420" y="35064"/>
                  </a:lnTo>
                  <a:lnTo>
                    <a:pt x="348996" y="54876"/>
                  </a:lnTo>
                  <a:lnTo>
                    <a:pt x="381000" y="82308"/>
                  </a:lnTo>
                  <a:lnTo>
                    <a:pt x="406908" y="112788"/>
                  </a:lnTo>
                  <a:lnTo>
                    <a:pt x="426720" y="150888"/>
                  </a:lnTo>
                  <a:lnTo>
                    <a:pt x="438912" y="192036"/>
                  </a:lnTo>
                  <a:lnTo>
                    <a:pt x="443484" y="234708"/>
                  </a:lnTo>
                  <a:lnTo>
                    <a:pt x="443484" y="237756"/>
                  </a:lnTo>
                  <a:lnTo>
                    <a:pt x="438912" y="280428"/>
                  </a:lnTo>
                  <a:lnTo>
                    <a:pt x="426720" y="321576"/>
                  </a:lnTo>
                  <a:lnTo>
                    <a:pt x="406908" y="358152"/>
                  </a:lnTo>
                  <a:lnTo>
                    <a:pt x="381000" y="391680"/>
                  </a:lnTo>
                  <a:lnTo>
                    <a:pt x="348996" y="417588"/>
                  </a:lnTo>
                  <a:lnTo>
                    <a:pt x="312420" y="438924"/>
                  </a:lnTo>
                  <a:lnTo>
                    <a:pt x="272796" y="451116"/>
                  </a:lnTo>
                  <a:lnTo>
                    <a:pt x="230238" y="455676"/>
                  </a:lnTo>
                  <a:lnTo>
                    <a:pt x="166116" y="446532"/>
                  </a:lnTo>
                  <a:lnTo>
                    <a:pt x="128016" y="429768"/>
                  </a:lnTo>
                  <a:lnTo>
                    <a:pt x="94488" y="405384"/>
                  </a:lnTo>
                  <a:lnTo>
                    <a:pt x="65532" y="376428"/>
                  </a:lnTo>
                  <a:lnTo>
                    <a:pt x="42672" y="341376"/>
                  </a:lnTo>
                  <a:lnTo>
                    <a:pt x="25908" y="303276"/>
                  </a:lnTo>
                  <a:lnTo>
                    <a:pt x="16764" y="259080"/>
                  </a:lnTo>
                  <a:lnTo>
                    <a:pt x="16764" y="234696"/>
                  </a:lnTo>
                  <a:lnTo>
                    <a:pt x="19812" y="193548"/>
                  </a:lnTo>
                  <a:lnTo>
                    <a:pt x="33528" y="150876"/>
                  </a:lnTo>
                  <a:lnTo>
                    <a:pt x="51816" y="114300"/>
                  </a:lnTo>
                  <a:lnTo>
                    <a:pt x="77724" y="82296"/>
                  </a:lnTo>
                  <a:lnTo>
                    <a:pt x="109728" y="54864"/>
                  </a:lnTo>
                  <a:lnTo>
                    <a:pt x="146304" y="35052"/>
                  </a:lnTo>
                  <a:lnTo>
                    <a:pt x="185928" y="21336"/>
                  </a:lnTo>
                  <a:lnTo>
                    <a:pt x="228600" y="18288"/>
                  </a:lnTo>
                  <a:lnTo>
                    <a:pt x="315468" y="18288"/>
                  </a:lnTo>
                  <a:lnTo>
                    <a:pt x="297180" y="10668"/>
                  </a:lnTo>
                  <a:lnTo>
                    <a:pt x="251460" y="1524"/>
                  </a:lnTo>
                  <a:lnTo>
                    <a:pt x="228600" y="0"/>
                  </a:lnTo>
                  <a:lnTo>
                    <a:pt x="182880" y="6096"/>
                  </a:lnTo>
                  <a:lnTo>
                    <a:pt x="138684" y="19812"/>
                  </a:lnTo>
                  <a:lnTo>
                    <a:pt x="100584" y="42672"/>
                  </a:lnTo>
                  <a:lnTo>
                    <a:pt x="65532" y="70104"/>
                  </a:lnTo>
                  <a:lnTo>
                    <a:pt x="38100" y="105156"/>
                  </a:lnTo>
                  <a:lnTo>
                    <a:pt x="16764" y="146304"/>
                  </a:lnTo>
                  <a:lnTo>
                    <a:pt x="4572" y="190500"/>
                  </a:lnTo>
                  <a:lnTo>
                    <a:pt x="0" y="237744"/>
                  </a:lnTo>
                  <a:lnTo>
                    <a:pt x="1524" y="262128"/>
                  </a:lnTo>
                  <a:lnTo>
                    <a:pt x="10668" y="307848"/>
                  </a:lnTo>
                  <a:lnTo>
                    <a:pt x="27432" y="348996"/>
                  </a:lnTo>
                  <a:lnTo>
                    <a:pt x="53340" y="387096"/>
                  </a:lnTo>
                  <a:lnTo>
                    <a:pt x="83820" y="419100"/>
                  </a:lnTo>
                  <a:lnTo>
                    <a:pt x="120396" y="445008"/>
                  </a:lnTo>
                  <a:lnTo>
                    <a:pt x="163068" y="463296"/>
                  </a:lnTo>
                  <a:lnTo>
                    <a:pt x="207264" y="470916"/>
                  </a:lnTo>
                  <a:lnTo>
                    <a:pt x="254508" y="470916"/>
                  </a:lnTo>
                  <a:lnTo>
                    <a:pt x="277368" y="467868"/>
                  </a:lnTo>
                  <a:lnTo>
                    <a:pt x="298704" y="461772"/>
                  </a:lnTo>
                  <a:lnTo>
                    <a:pt x="313905" y="455688"/>
                  </a:lnTo>
                  <a:lnTo>
                    <a:pt x="359664" y="431304"/>
                  </a:lnTo>
                  <a:lnTo>
                    <a:pt x="393192" y="402348"/>
                  </a:lnTo>
                  <a:lnTo>
                    <a:pt x="420624" y="367296"/>
                  </a:lnTo>
                  <a:lnTo>
                    <a:pt x="441960" y="326148"/>
                  </a:lnTo>
                  <a:lnTo>
                    <a:pt x="455676" y="281952"/>
                  </a:lnTo>
                  <a:lnTo>
                    <a:pt x="460248" y="234708"/>
                  </a:lnTo>
                  <a:close/>
                </a:path>
              </a:pathLst>
            </a:custGeom>
            <a:solidFill>
              <a:srgbClr val="164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609600"/>
              <a:ext cx="9144000" cy="32766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6989" y="6798264"/>
            <a:ext cx="104775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65"/>
              </a:lnSpc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r>
            <a:endParaRPr sz="1400">
              <a:latin typeface="Franklin Gothic Medium"/>
              <a:cs typeface="Franklin Gothic Medium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215" y="3886200"/>
            <a:ext cx="8920480" cy="3429635"/>
          </a:xfrm>
          <a:custGeom>
            <a:avLst/>
            <a:gdLst/>
            <a:ahLst/>
            <a:cxnLst/>
            <a:rect l="l" t="t" r="r" b="b"/>
            <a:pathLst>
              <a:path w="8920480" h="3429634">
                <a:moveTo>
                  <a:pt x="147828" y="0"/>
                </a:moveTo>
                <a:lnTo>
                  <a:pt x="0" y="0"/>
                </a:lnTo>
                <a:lnTo>
                  <a:pt x="0" y="3429012"/>
                </a:lnTo>
                <a:lnTo>
                  <a:pt x="147828" y="3429012"/>
                </a:lnTo>
                <a:lnTo>
                  <a:pt x="147828" y="0"/>
                </a:lnTo>
                <a:close/>
              </a:path>
              <a:path w="8920480" h="3429634">
                <a:moveTo>
                  <a:pt x="8919985" y="0"/>
                </a:moveTo>
                <a:lnTo>
                  <a:pt x="8772157" y="0"/>
                </a:lnTo>
                <a:lnTo>
                  <a:pt x="8772157" y="3429012"/>
                </a:lnTo>
                <a:lnTo>
                  <a:pt x="8919985" y="3429012"/>
                </a:lnTo>
                <a:lnTo>
                  <a:pt x="89199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457200" y="3885691"/>
            <a:ext cx="9144000" cy="3429000"/>
            <a:chOff x="457200" y="3885691"/>
            <a:chExt cx="9144000" cy="3429000"/>
          </a:xfrm>
        </p:grpSpPr>
        <p:sp>
          <p:nvSpPr>
            <p:cNvPr id="15" name="object 15"/>
            <p:cNvSpPr/>
            <p:nvPr/>
          </p:nvSpPr>
          <p:spPr>
            <a:xfrm>
              <a:off x="826008" y="6998207"/>
              <a:ext cx="8618220" cy="309880"/>
            </a:xfrm>
            <a:custGeom>
              <a:avLst/>
              <a:gdLst/>
              <a:ahLst/>
              <a:cxnLst/>
              <a:rect l="l" t="t" r="r" b="b"/>
              <a:pathLst>
                <a:path w="8618220" h="309879">
                  <a:moveTo>
                    <a:pt x="8618220" y="309372"/>
                  </a:moveTo>
                  <a:lnTo>
                    <a:pt x="0" y="309372"/>
                  </a:lnTo>
                  <a:lnTo>
                    <a:pt x="0" y="0"/>
                  </a:lnTo>
                  <a:lnTo>
                    <a:pt x="8618220" y="0"/>
                  </a:lnTo>
                  <a:lnTo>
                    <a:pt x="8618220" y="309372"/>
                  </a:lnTo>
                  <a:close/>
                </a:path>
              </a:pathLst>
            </a:custGeom>
            <a:solidFill>
              <a:srgbClr val="1A56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2960" y="3885691"/>
              <a:ext cx="8630920" cy="3429000"/>
            </a:xfrm>
            <a:custGeom>
              <a:avLst/>
              <a:gdLst/>
              <a:ahLst/>
              <a:cxnLst/>
              <a:rect l="l" t="t" r="r" b="b"/>
              <a:pathLst>
                <a:path w="8630920" h="3429000">
                  <a:moveTo>
                    <a:pt x="8630412" y="0"/>
                  </a:moveTo>
                  <a:lnTo>
                    <a:pt x="8618220" y="0"/>
                  </a:lnTo>
                  <a:lnTo>
                    <a:pt x="8618220" y="3420110"/>
                  </a:lnTo>
                  <a:lnTo>
                    <a:pt x="8618220" y="3420364"/>
                  </a:lnTo>
                  <a:lnTo>
                    <a:pt x="13716" y="3420364"/>
                  </a:lnTo>
                  <a:lnTo>
                    <a:pt x="13716" y="3426460"/>
                  </a:lnTo>
                  <a:lnTo>
                    <a:pt x="9740" y="3426460"/>
                  </a:lnTo>
                  <a:lnTo>
                    <a:pt x="9740" y="3423285"/>
                  </a:lnTo>
                  <a:lnTo>
                    <a:pt x="13716" y="3426460"/>
                  </a:lnTo>
                  <a:lnTo>
                    <a:pt x="13716" y="3420364"/>
                  </a:lnTo>
                  <a:lnTo>
                    <a:pt x="9740" y="3420364"/>
                  </a:lnTo>
                  <a:lnTo>
                    <a:pt x="9740" y="3420110"/>
                  </a:lnTo>
                  <a:lnTo>
                    <a:pt x="13716" y="3420110"/>
                  </a:lnTo>
                  <a:lnTo>
                    <a:pt x="13716" y="0"/>
                  </a:lnTo>
                  <a:lnTo>
                    <a:pt x="0" y="0"/>
                  </a:lnTo>
                  <a:lnTo>
                    <a:pt x="0" y="3420110"/>
                  </a:lnTo>
                  <a:lnTo>
                    <a:pt x="0" y="3426460"/>
                  </a:lnTo>
                  <a:lnTo>
                    <a:pt x="0" y="3429000"/>
                  </a:lnTo>
                  <a:lnTo>
                    <a:pt x="8630412" y="3429000"/>
                  </a:lnTo>
                  <a:lnTo>
                    <a:pt x="8630412" y="3426460"/>
                  </a:lnTo>
                  <a:lnTo>
                    <a:pt x="8630412" y="3420364"/>
                  </a:lnTo>
                  <a:lnTo>
                    <a:pt x="8624316" y="3420364"/>
                  </a:lnTo>
                  <a:lnTo>
                    <a:pt x="8621395" y="3423285"/>
                  </a:lnTo>
                  <a:lnTo>
                    <a:pt x="8621395" y="3420110"/>
                  </a:lnTo>
                  <a:lnTo>
                    <a:pt x="8630412" y="3420110"/>
                  </a:lnTo>
                  <a:lnTo>
                    <a:pt x="8630412" y="0"/>
                  </a:lnTo>
                  <a:close/>
                </a:path>
              </a:pathLst>
            </a:custGeom>
            <a:solidFill>
              <a:srgbClr val="164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199"/>
              <a:ext cx="9144000" cy="3352800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1664"/>
              </a:lnSpc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Space</a:t>
            </a:r>
            <a:r>
              <a:rPr spc="-160" dirty="0"/>
              <a:t> </a:t>
            </a:r>
            <a:r>
              <a:rPr spc="-70" dirty="0"/>
              <a:t>Complexity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20" y="1840535"/>
            <a:ext cx="7628255" cy="42075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675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spc="-20" dirty="0">
                <a:latin typeface="Perpetua"/>
                <a:cs typeface="Perpetua"/>
              </a:rPr>
              <a:t>Problem-</a:t>
            </a:r>
            <a:r>
              <a:rPr sz="2400" dirty="0">
                <a:latin typeface="Perpetua"/>
                <a:cs typeface="Perpetua"/>
              </a:rPr>
              <a:t>solving</a:t>
            </a:r>
            <a:r>
              <a:rPr sz="2400" spc="29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using</a:t>
            </a:r>
            <a:r>
              <a:rPr sz="2400" spc="29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computer</a:t>
            </a:r>
            <a:r>
              <a:rPr sz="2400" spc="30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requires</a:t>
            </a:r>
            <a:r>
              <a:rPr sz="2400" spc="31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memory</a:t>
            </a:r>
            <a:r>
              <a:rPr sz="2400" spc="29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310" dirty="0">
                <a:latin typeface="Perpetua"/>
                <a:cs typeface="Perpetua"/>
              </a:rPr>
              <a:t>  </a:t>
            </a:r>
            <a:r>
              <a:rPr sz="2400" spc="-175" dirty="0">
                <a:latin typeface="Perpetua"/>
                <a:cs typeface="Perpetua"/>
              </a:rPr>
              <a:t>hold </a:t>
            </a:r>
            <a:r>
              <a:rPr sz="2400" dirty="0">
                <a:latin typeface="Perpetua"/>
                <a:cs typeface="Perpetua"/>
              </a:rPr>
              <a:t>temporary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data</a:t>
            </a:r>
            <a:r>
              <a:rPr sz="2400" spc="1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final</a:t>
            </a:r>
            <a:r>
              <a:rPr sz="2400" spc="1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result</a:t>
            </a:r>
            <a:r>
              <a:rPr sz="2400" spc="1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while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program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1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execution.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amount</a:t>
            </a:r>
            <a:r>
              <a:rPr sz="2400" spc="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memory</a:t>
            </a:r>
            <a:r>
              <a:rPr sz="2400" spc="1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required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by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algorithm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solve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given problem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called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space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complexity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  <a:p>
            <a:pPr marL="287020" marR="17780" indent="-274955" algn="just">
              <a:lnSpc>
                <a:spcPct val="80000"/>
              </a:lnSpc>
              <a:spcBef>
                <a:spcPts val="60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3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space</a:t>
            </a:r>
            <a:r>
              <a:rPr sz="2400" spc="3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complexity</a:t>
            </a:r>
            <a:r>
              <a:rPr sz="2400" spc="3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3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3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algorithm</a:t>
            </a:r>
            <a:r>
              <a:rPr sz="2400" spc="3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quantifies</a:t>
            </a:r>
            <a:r>
              <a:rPr sz="2400" spc="3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3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amount</a:t>
            </a:r>
            <a:r>
              <a:rPr sz="2400" spc="350" dirty="0">
                <a:latin typeface="Perpetua"/>
                <a:cs typeface="Perpetua"/>
              </a:rPr>
              <a:t> </a:t>
            </a:r>
            <a:r>
              <a:rPr sz="2400" spc="-530" dirty="0">
                <a:latin typeface="Perpetua"/>
                <a:cs typeface="Perpetua"/>
              </a:rPr>
              <a:t>of</a:t>
            </a:r>
            <a:r>
              <a:rPr sz="2400" dirty="0">
                <a:latin typeface="Perpetua"/>
                <a:cs typeface="Perpetua"/>
              </a:rPr>
              <a:t> space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taken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by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algorithm</a:t>
            </a:r>
            <a:r>
              <a:rPr sz="2400" spc="1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run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1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function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1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length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of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input</a:t>
            </a:r>
            <a:endParaRPr sz="2400">
              <a:latin typeface="Perpetua"/>
              <a:cs typeface="Perpetua"/>
            </a:endParaRPr>
          </a:p>
          <a:p>
            <a:pPr marL="287020" marR="20955" indent="-274955" algn="just">
              <a:lnSpc>
                <a:spcPct val="80000"/>
              </a:lnSpc>
              <a:spcBef>
                <a:spcPts val="60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2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estimate</a:t>
            </a:r>
            <a:r>
              <a:rPr sz="2400" spc="2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5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memory</a:t>
            </a:r>
            <a:r>
              <a:rPr sz="2400" spc="25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requirement</a:t>
            </a:r>
            <a:r>
              <a:rPr sz="2400" spc="2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we</a:t>
            </a:r>
            <a:r>
              <a:rPr sz="2400" spc="25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need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2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focus</a:t>
            </a:r>
            <a:r>
              <a:rPr sz="2400" spc="2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</a:t>
            </a:r>
            <a:r>
              <a:rPr sz="2400" spc="270" dirty="0">
                <a:latin typeface="Perpetua"/>
                <a:cs typeface="Perpetua"/>
              </a:rPr>
              <a:t> </a:t>
            </a:r>
            <a:r>
              <a:rPr sz="2400" spc="-405" dirty="0">
                <a:latin typeface="Perpetua"/>
                <a:cs typeface="Perpetua"/>
              </a:rPr>
              <a:t>two</a:t>
            </a:r>
            <a:r>
              <a:rPr sz="2400" spc="-10" dirty="0">
                <a:latin typeface="Perpetua"/>
                <a:cs typeface="Perpetua"/>
              </a:rPr>
              <a:t> parts:</a:t>
            </a:r>
            <a:endParaRPr sz="2400">
              <a:latin typeface="Perpetua"/>
              <a:cs typeface="Perpetua"/>
            </a:endParaRPr>
          </a:p>
          <a:p>
            <a:pPr marL="287020" marR="18415" indent="-274955" algn="just">
              <a:lnSpc>
                <a:spcPts val="2300"/>
              </a:lnSpc>
              <a:spcBef>
                <a:spcPts val="585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b="1" dirty="0">
                <a:latin typeface="Perpetua"/>
                <a:cs typeface="Perpetua"/>
              </a:rPr>
              <a:t>(1)</a:t>
            </a:r>
            <a:r>
              <a:rPr sz="2400" b="1" spc="13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A</a:t>
            </a:r>
            <a:r>
              <a:rPr sz="2400" b="1" spc="1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fixed</a:t>
            </a:r>
            <a:r>
              <a:rPr sz="2400" b="1" spc="114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part:</a:t>
            </a:r>
            <a:r>
              <a:rPr sz="2400" b="1" spc="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independent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input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size.</a:t>
            </a:r>
            <a:r>
              <a:rPr sz="2400" spc="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120" dirty="0">
                <a:latin typeface="Perpetua"/>
                <a:cs typeface="Perpetua"/>
              </a:rPr>
              <a:t> </a:t>
            </a:r>
            <a:r>
              <a:rPr sz="2400" spc="-100" dirty="0">
                <a:latin typeface="Perpetua"/>
                <a:cs typeface="Perpetua"/>
              </a:rPr>
              <a:t>includes </a:t>
            </a:r>
            <a:r>
              <a:rPr sz="2400" dirty="0">
                <a:latin typeface="Perpetua"/>
                <a:cs typeface="Perpetua"/>
              </a:rPr>
              <a:t>memory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instructions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(code),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constants,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variables,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  <a:p>
            <a:pPr marL="287020" marR="18415" indent="-274955" algn="just">
              <a:lnSpc>
                <a:spcPts val="2300"/>
              </a:lnSpc>
              <a:spcBef>
                <a:spcPts val="61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b="1" dirty="0">
                <a:latin typeface="Perpetua"/>
                <a:cs typeface="Perpetua"/>
              </a:rPr>
              <a:t>(2)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A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variable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part:</a:t>
            </a:r>
            <a:r>
              <a:rPr sz="2400" b="1" spc="-1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dependent</a:t>
            </a:r>
            <a:r>
              <a:rPr sz="2400" spc="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input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size.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95" dirty="0">
                <a:latin typeface="Perpetua"/>
                <a:cs typeface="Perpetua"/>
              </a:rPr>
              <a:t>includes </a:t>
            </a:r>
            <a:r>
              <a:rPr sz="2400" dirty="0">
                <a:latin typeface="Perpetua"/>
                <a:cs typeface="Perpetua"/>
              </a:rPr>
              <a:t>memory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recursion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stack,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referenced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variables,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ts val="1664"/>
              </a:lnSpc>
            </a:pPr>
            <a:r>
              <a:rPr spc="-50" dirty="0"/>
              <a:t>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Asymptotic</a:t>
            </a:r>
            <a:r>
              <a:rPr spc="-80" dirty="0"/>
              <a:t> </a:t>
            </a:r>
            <a:r>
              <a:rPr spc="-25" dirty="0"/>
              <a:t>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515225" cy="437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Asymptotic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Notations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programming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languages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265" dirty="0">
                <a:latin typeface="Perpetua"/>
                <a:cs typeface="Perpetua"/>
              </a:rPr>
              <a:t>allow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analyze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algorithm's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running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by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identifying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its </a:t>
            </a:r>
            <a:r>
              <a:rPr sz="2600" dirty="0">
                <a:latin typeface="Perpetua"/>
                <a:cs typeface="Perpetua"/>
              </a:rPr>
              <a:t>behavior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input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size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grows.This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also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referred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an </a:t>
            </a:r>
            <a:r>
              <a:rPr sz="2600" dirty="0">
                <a:latin typeface="Perpetua"/>
                <a:cs typeface="Perpetua"/>
              </a:rPr>
              <a:t>algorithm's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growth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rate.</a:t>
            </a:r>
            <a:endParaRPr sz="2600">
              <a:latin typeface="Perpetua"/>
              <a:cs typeface="Perpetua"/>
            </a:endParaRPr>
          </a:p>
          <a:p>
            <a:pPr marL="287020" marR="685165" indent="-274955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b="1" dirty="0">
                <a:latin typeface="Perpetua"/>
                <a:cs typeface="Perpetua"/>
              </a:rPr>
              <a:t>	Asymptotic</a:t>
            </a:r>
            <a:r>
              <a:rPr sz="2600" b="1" spc="-5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notation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of</a:t>
            </a:r>
            <a:r>
              <a:rPr sz="2600" b="1" spc="-6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algorithm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is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a </a:t>
            </a:r>
            <a:r>
              <a:rPr sz="2600" b="1" spc="-10" dirty="0">
                <a:latin typeface="Perpetua"/>
                <a:cs typeface="Perpetua"/>
              </a:rPr>
              <a:t>mathematical</a:t>
            </a:r>
            <a:r>
              <a:rPr sz="2600" b="1" spc="-8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representation</a:t>
            </a:r>
            <a:r>
              <a:rPr sz="2600" b="1" spc="-7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of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its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complexity.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Asymptotic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notations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classified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into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three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types: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spc="-10" dirty="0">
                <a:latin typeface="Perpetua"/>
                <a:cs typeface="Perpetua"/>
              </a:rPr>
              <a:t>Big-</a:t>
            </a:r>
            <a:r>
              <a:rPr sz="2600" dirty="0">
                <a:latin typeface="Perpetua"/>
                <a:cs typeface="Perpetua"/>
              </a:rPr>
              <a:t>Oh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(O)</a:t>
            </a:r>
            <a:r>
              <a:rPr sz="2600" spc="-10" dirty="0">
                <a:latin typeface="Perpetua"/>
                <a:cs typeface="Perpetua"/>
              </a:rPr>
              <a:t> notation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7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Big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Omega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Ω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Perpetua"/>
                <a:cs typeface="Perpetua"/>
              </a:rPr>
              <a:t>)</a:t>
            </a:r>
            <a:r>
              <a:rPr sz="2600" spc="-10" dirty="0">
                <a:latin typeface="Perpetua"/>
                <a:cs typeface="Perpetua"/>
              </a:rPr>
              <a:t> notation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spc="-10" dirty="0">
                <a:latin typeface="Perpetua"/>
                <a:cs typeface="Perpetua"/>
              </a:rPr>
              <a:t>Big</a:t>
            </a:r>
            <a:r>
              <a:rPr sz="2600" spc="-3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Theta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Θ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Perpetua"/>
                <a:cs typeface="Perpetua"/>
              </a:rPr>
              <a:t>)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notation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Asymptotic</a:t>
            </a:r>
            <a:r>
              <a:rPr spc="-80" dirty="0"/>
              <a:t> </a:t>
            </a:r>
            <a:r>
              <a:rPr spc="-25" dirty="0"/>
              <a:t>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276" y="2069025"/>
            <a:ext cx="7304405" cy="3463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57725" algn="l"/>
              </a:tabLst>
            </a:pPr>
            <a:r>
              <a:rPr sz="2200" spc="-505" dirty="0">
                <a:solidFill>
                  <a:srgbClr val="D34816"/>
                </a:solidFill>
                <a:latin typeface="Webdings"/>
                <a:cs typeface="Webdings"/>
              </a:rPr>
              <a:t></a:t>
            </a:r>
            <a:r>
              <a:rPr sz="2600" spc="-505" dirty="0">
                <a:latin typeface="Perpetua"/>
                <a:cs typeface="Perpetua"/>
              </a:rPr>
              <a:t>O</a:t>
            </a:r>
            <a:r>
              <a:rPr sz="2600" spc="-10" dirty="0">
                <a:latin typeface="Perpetua"/>
                <a:cs typeface="Perpetua"/>
              </a:rPr>
              <a:t> notation: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asymptotic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“less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than”: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b="1" dirty="0">
                <a:latin typeface="Perpetua"/>
                <a:cs typeface="Perpetua"/>
              </a:rPr>
              <a:t>upper</a:t>
            </a:r>
            <a:r>
              <a:rPr sz="2600" b="1" spc="-5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bound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Perpetua"/>
                <a:cs typeface="Perpetua"/>
              </a:rPr>
              <a:t>f(n)=O(g(n))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implies:</a:t>
            </a:r>
            <a:r>
              <a:rPr sz="2400" spc="3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f(n)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“≤”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g(n)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b="1" spc="-25" dirty="0">
                <a:latin typeface="Perpetua"/>
                <a:cs typeface="Perpetua"/>
              </a:rPr>
              <a:t>worst-</a:t>
            </a:r>
            <a:r>
              <a:rPr sz="2400" b="1" dirty="0">
                <a:latin typeface="Perpetua"/>
                <a:cs typeface="Perpetua"/>
              </a:rPr>
              <a:t>case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complexity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  <a:tabLst>
                <a:tab pos="4881880" algn="l"/>
              </a:tabLst>
            </a:pPr>
            <a:r>
              <a:rPr sz="2200" spc="-495" dirty="0">
                <a:solidFill>
                  <a:srgbClr val="D34816"/>
                </a:solidFill>
                <a:latin typeface="Webdings"/>
                <a:cs typeface="Webdings"/>
              </a:rPr>
              <a:t></a:t>
            </a:r>
            <a:r>
              <a:rPr sz="2600" spc="-495" dirty="0">
                <a:latin typeface="Symbol"/>
                <a:cs typeface="Symbol"/>
              </a:rPr>
              <a:t>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Perpetua"/>
                <a:cs typeface="Perpetua"/>
              </a:rPr>
              <a:t>notation: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asymptotic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“greater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than”:</a:t>
            </a:r>
            <a:r>
              <a:rPr sz="2600" dirty="0">
                <a:latin typeface="Perpetua"/>
                <a:cs typeface="Perpetua"/>
              </a:rPr>
              <a:t>	</a:t>
            </a:r>
            <a:r>
              <a:rPr sz="2600" b="1" spc="-20" dirty="0">
                <a:latin typeface="Perpetua"/>
                <a:cs typeface="Perpetua"/>
              </a:rPr>
              <a:t>Lower</a:t>
            </a:r>
            <a:r>
              <a:rPr sz="2600" b="1" spc="-10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bound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  <a:tabLst>
                <a:tab pos="4133215" algn="l"/>
              </a:tabLst>
            </a:pPr>
            <a:r>
              <a:rPr sz="2400" dirty="0">
                <a:latin typeface="Perpetua"/>
                <a:cs typeface="Perpetua"/>
              </a:rPr>
              <a:t>f(n)=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Symbol"/>
                <a:cs typeface="Symbol"/>
              </a:rPr>
              <a:t>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erpetua"/>
                <a:cs typeface="Perpetua"/>
              </a:rPr>
              <a:t>(g(n))</a:t>
            </a:r>
            <a:r>
              <a:rPr sz="2400" spc="-10" dirty="0">
                <a:latin typeface="Perpetua"/>
                <a:cs typeface="Perpetua"/>
              </a:rPr>
              <a:t> implies: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f(n)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“≥”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g(n</a:t>
            </a:r>
            <a:r>
              <a:rPr sz="2400" b="1" spc="-20" dirty="0">
                <a:latin typeface="Perpetua"/>
                <a:cs typeface="Perpetua"/>
              </a:rPr>
              <a:t>)</a:t>
            </a:r>
            <a:r>
              <a:rPr sz="2400" b="1" dirty="0">
                <a:latin typeface="Perpetua"/>
                <a:cs typeface="Perpetua"/>
              </a:rPr>
              <a:t>	Best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case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Complexity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sz="2200" spc="-495" dirty="0">
                <a:solidFill>
                  <a:srgbClr val="D34816"/>
                </a:solidFill>
                <a:latin typeface="Webdings"/>
                <a:cs typeface="Webdings"/>
              </a:rPr>
              <a:t></a:t>
            </a:r>
            <a:r>
              <a:rPr sz="2600" spc="-495" dirty="0">
                <a:latin typeface="Symbol"/>
                <a:cs typeface="Symbol"/>
              </a:rPr>
              <a:t>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Perpetua"/>
                <a:cs typeface="Perpetua"/>
              </a:rPr>
              <a:t>notation: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asymptotic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“equality”: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400" dirty="0">
                <a:latin typeface="Perpetua"/>
                <a:cs typeface="Perpetua"/>
              </a:rPr>
              <a:t>f(n)=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Symbol"/>
                <a:cs typeface="Symbol"/>
              </a:rPr>
              <a:t>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Perpetua"/>
                <a:cs typeface="Perpetua"/>
              </a:rPr>
              <a:t>(g(n))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implies: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f(n)</a:t>
            </a:r>
            <a:r>
              <a:rPr sz="2400" spc="-1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“=”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g(n)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b="1" spc="-30" dirty="0">
                <a:latin typeface="Perpetua"/>
                <a:cs typeface="Perpetua"/>
              </a:rPr>
              <a:t>average-</a:t>
            </a:r>
            <a:r>
              <a:rPr sz="2400" b="1" dirty="0">
                <a:latin typeface="Perpetua"/>
                <a:cs typeface="Perpetua"/>
              </a:rPr>
              <a:t>case</a:t>
            </a:r>
            <a:r>
              <a:rPr sz="2400" b="1" spc="-35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Complexity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816" y="6785564"/>
            <a:ext cx="22479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Big</a:t>
            </a:r>
            <a:r>
              <a:rPr spc="-180" dirty="0"/>
              <a:t> </a:t>
            </a:r>
            <a:r>
              <a:rPr dirty="0"/>
              <a:t>Oh</a:t>
            </a:r>
            <a:r>
              <a:rPr spc="-170" dirty="0"/>
              <a:t> </a:t>
            </a:r>
            <a:r>
              <a:rPr spc="-30" dirty="0"/>
              <a:t>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20" y="1867860"/>
            <a:ext cx="7616190" cy="42411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7020" marR="5080" indent="-274955" algn="just">
              <a:lnSpc>
                <a:spcPts val="2590"/>
              </a:lnSpc>
              <a:spcBef>
                <a:spcPts val="425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Big-</a:t>
            </a:r>
            <a:r>
              <a:rPr sz="2400" dirty="0">
                <a:latin typeface="Perpetua"/>
                <a:cs typeface="Perpetua"/>
              </a:rPr>
              <a:t>O</a:t>
            </a:r>
            <a:r>
              <a:rPr sz="2400" spc="2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notation</a:t>
            </a:r>
            <a:r>
              <a:rPr sz="2400" spc="3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represents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8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upper</a:t>
            </a:r>
            <a:r>
              <a:rPr sz="2400" b="1" spc="254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bound</a:t>
            </a:r>
            <a:r>
              <a:rPr sz="2400" b="1" spc="26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of</a:t>
            </a:r>
            <a:r>
              <a:rPr sz="2400" b="1" spc="26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the</a:t>
            </a:r>
            <a:r>
              <a:rPr sz="2400" b="1" spc="275" dirty="0">
                <a:latin typeface="Perpetua"/>
                <a:cs typeface="Perpetua"/>
              </a:rPr>
              <a:t> </a:t>
            </a:r>
            <a:r>
              <a:rPr sz="2400" b="1" spc="-110" dirty="0">
                <a:latin typeface="Perpetua"/>
                <a:cs typeface="Perpetua"/>
              </a:rPr>
              <a:t>running </a:t>
            </a:r>
            <a:r>
              <a:rPr sz="2400" b="1" dirty="0">
                <a:latin typeface="Perpetua"/>
                <a:cs typeface="Perpetua"/>
              </a:rPr>
              <a:t>time</a:t>
            </a:r>
            <a:r>
              <a:rPr sz="2400" b="1" spc="19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19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19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algorithm.</a:t>
            </a:r>
            <a:r>
              <a:rPr sz="2400" spc="13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Therefore,</a:t>
            </a:r>
            <a:r>
              <a:rPr sz="2400" spc="15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18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gives</a:t>
            </a:r>
            <a:r>
              <a:rPr sz="2400" spc="19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85" dirty="0">
                <a:latin typeface="Perpetua"/>
                <a:cs typeface="Perpetua"/>
              </a:rPr>
              <a:t>  </a:t>
            </a:r>
            <a:r>
              <a:rPr sz="2400" b="1" spc="-25" dirty="0">
                <a:latin typeface="Perpetua"/>
                <a:cs typeface="Perpetua"/>
              </a:rPr>
              <a:t>worst-</a:t>
            </a:r>
            <a:r>
              <a:rPr sz="2400" b="1" spc="-20" dirty="0">
                <a:latin typeface="Perpetua"/>
                <a:cs typeface="Perpetua"/>
              </a:rPr>
              <a:t>case </a:t>
            </a:r>
            <a:r>
              <a:rPr sz="2400" b="1" dirty="0">
                <a:latin typeface="Perpetua"/>
                <a:cs typeface="Perpetua"/>
              </a:rPr>
              <a:t>complexity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of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an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spc="-10" dirty="0">
                <a:latin typeface="Perpetua"/>
                <a:cs typeface="Perpetua"/>
              </a:rPr>
              <a:t>algorithm.</a:t>
            </a:r>
            <a:endParaRPr sz="2400">
              <a:latin typeface="Perpetua"/>
              <a:cs typeface="Perpetua"/>
            </a:endParaRPr>
          </a:p>
          <a:p>
            <a:pPr marL="430530" indent="-417830" algn="just">
              <a:lnSpc>
                <a:spcPts val="2735"/>
              </a:lnSpc>
              <a:spcBef>
                <a:spcPts val="280"/>
              </a:spcBef>
              <a:buClr>
                <a:srgbClr val="D34816"/>
              </a:buClr>
              <a:buSzPct val="85416"/>
              <a:buFont typeface="Webdings"/>
              <a:buChar char="●"/>
              <a:tabLst>
                <a:tab pos="430530" algn="l"/>
              </a:tabLst>
            </a:pPr>
            <a:r>
              <a:rPr sz="2400" dirty="0">
                <a:latin typeface="Perpetua"/>
                <a:cs typeface="Perpetua"/>
              </a:rPr>
              <a:t>.It</a:t>
            </a:r>
            <a:r>
              <a:rPr sz="2400" spc="3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35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4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most</a:t>
            </a:r>
            <a:r>
              <a:rPr sz="2400" spc="3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widely</a:t>
            </a:r>
            <a:r>
              <a:rPr sz="2400" spc="3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used</a:t>
            </a:r>
            <a:r>
              <a:rPr sz="2400" spc="4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notation</a:t>
            </a:r>
            <a:r>
              <a:rPr sz="2400" spc="5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40" dirty="0">
                <a:latin typeface="Perpetua"/>
                <a:cs typeface="Perpetua"/>
              </a:rPr>
              <a:t>  </a:t>
            </a:r>
            <a:r>
              <a:rPr sz="2400" dirty="0">
                <a:latin typeface="Perpetua"/>
                <a:cs typeface="Perpetua"/>
              </a:rPr>
              <a:t>Asymptotic</a:t>
            </a:r>
            <a:r>
              <a:rPr sz="2400" spc="45" dirty="0">
                <a:latin typeface="Perpetua"/>
                <a:cs typeface="Perpetua"/>
              </a:rPr>
              <a:t>  </a:t>
            </a:r>
            <a:r>
              <a:rPr sz="2400" spc="-90" dirty="0">
                <a:latin typeface="Perpetua"/>
                <a:cs typeface="Perpetua"/>
              </a:rPr>
              <a:t>analysis.</a:t>
            </a:r>
            <a:endParaRPr sz="2400">
              <a:latin typeface="Perpetua"/>
              <a:cs typeface="Perpetua"/>
            </a:endParaRPr>
          </a:p>
          <a:p>
            <a:pPr marL="287020" algn="just">
              <a:lnSpc>
                <a:spcPts val="2590"/>
              </a:lnSpc>
            </a:pPr>
            <a:r>
              <a:rPr sz="2400" dirty="0">
                <a:latin typeface="Perpetua"/>
                <a:cs typeface="Perpetua"/>
              </a:rPr>
              <a:t>.It</a:t>
            </a:r>
            <a:r>
              <a:rPr sz="2400" spc="320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specifies</a:t>
            </a:r>
            <a:r>
              <a:rPr sz="2400" spc="330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330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upper</a:t>
            </a:r>
            <a:r>
              <a:rPr sz="2400" spc="320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bound</a:t>
            </a:r>
            <a:r>
              <a:rPr sz="2400" spc="330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325" dirty="0">
                <a:latin typeface="Perpetua"/>
                <a:cs typeface="Perpetua"/>
              </a:rPr>
              <a:t>   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325" dirty="0">
                <a:latin typeface="Perpetua"/>
                <a:cs typeface="Perpetua"/>
              </a:rPr>
              <a:t>    </a:t>
            </a:r>
            <a:r>
              <a:rPr sz="2400" spc="-10" dirty="0">
                <a:latin typeface="Perpetua"/>
                <a:cs typeface="Perpetua"/>
              </a:rPr>
              <a:t>function.</a:t>
            </a:r>
            <a:endParaRPr sz="2400">
              <a:latin typeface="Perpetua"/>
              <a:cs typeface="Perpetua"/>
            </a:endParaRPr>
          </a:p>
          <a:p>
            <a:pPr marL="287020" marR="6985" algn="just">
              <a:lnSpc>
                <a:spcPts val="2590"/>
              </a:lnSpc>
              <a:spcBef>
                <a:spcPts val="185"/>
              </a:spcBef>
            </a:pPr>
            <a:r>
              <a:rPr sz="2400" dirty="0">
                <a:latin typeface="Perpetua"/>
                <a:cs typeface="Perpetua"/>
              </a:rPr>
              <a:t>.The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maximum</a:t>
            </a:r>
            <a:r>
              <a:rPr sz="2400" spc="2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time</a:t>
            </a:r>
            <a:r>
              <a:rPr sz="2400" spc="2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required</a:t>
            </a:r>
            <a:r>
              <a:rPr sz="2400" spc="2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by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</a:t>
            </a:r>
            <a:r>
              <a:rPr sz="2400" spc="2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algorithm</a:t>
            </a:r>
            <a:r>
              <a:rPr sz="2400" spc="20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2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9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worst-</a:t>
            </a:r>
            <a:r>
              <a:rPr sz="2400" spc="-20" dirty="0">
                <a:latin typeface="Perpetua"/>
                <a:cs typeface="Perpetua"/>
              </a:rPr>
              <a:t>case </a:t>
            </a:r>
            <a:r>
              <a:rPr sz="2400" dirty="0">
                <a:latin typeface="Perpetua"/>
                <a:cs typeface="Perpetua"/>
              </a:rPr>
              <a:t>time</a:t>
            </a:r>
            <a:r>
              <a:rPr sz="2400" spc="49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complexity.</a:t>
            </a:r>
            <a:endParaRPr sz="2400">
              <a:latin typeface="Perpetua"/>
              <a:cs typeface="Perpetua"/>
            </a:endParaRPr>
          </a:p>
          <a:p>
            <a:pPr marL="287020" marR="9525" indent="-274955" algn="just">
              <a:lnSpc>
                <a:spcPts val="2590"/>
              </a:lnSpc>
              <a:spcBef>
                <a:spcPts val="60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4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returns</a:t>
            </a:r>
            <a:r>
              <a:rPr sz="2400" spc="45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48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highest</a:t>
            </a:r>
            <a:r>
              <a:rPr sz="2400" spc="4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possible</a:t>
            </a:r>
            <a:r>
              <a:rPr sz="2400" spc="45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output</a:t>
            </a:r>
            <a:r>
              <a:rPr sz="2400" spc="46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value(big-</a:t>
            </a:r>
            <a:r>
              <a:rPr sz="2400" dirty="0">
                <a:latin typeface="Perpetua"/>
                <a:cs typeface="Perpetua"/>
              </a:rPr>
              <a:t>O)</a:t>
            </a:r>
            <a:r>
              <a:rPr sz="2400" spc="45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4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480" dirty="0">
                <a:latin typeface="Perpetua"/>
                <a:cs typeface="Perpetua"/>
              </a:rPr>
              <a:t> </a:t>
            </a:r>
            <a:r>
              <a:rPr sz="2400" spc="-155" dirty="0">
                <a:latin typeface="Perpetua"/>
                <a:cs typeface="Perpetua"/>
              </a:rPr>
              <a:t>given </a:t>
            </a:r>
            <a:r>
              <a:rPr sz="2400" spc="-10" dirty="0">
                <a:latin typeface="Perpetua"/>
                <a:cs typeface="Perpetua"/>
              </a:rPr>
              <a:t>input.</a:t>
            </a:r>
            <a:endParaRPr sz="2400">
              <a:latin typeface="Perpetua"/>
              <a:cs typeface="Perpetua"/>
            </a:endParaRPr>
          </a:p>
          <a:p>
            <a:pPr marL="287020" marR="6350" indent="-274955" algn="just">
              <a:lnSpc>
                <a:spcPts val="2590"/>
              </a:lnSpc>
              <a:spcBef>
                <a:spcPts val="605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  <a:latin typeface="Perpetua"/>
                <a:cs typeface="Perpetua"/>
              </a:rPr>
              <a:t>	</a:t>
            </a:r>
            <a:r>
              <a:rPr sz="2400" spc="-10" dirty="0">
                <a:latin typeface="Perpetua"/>
                <a:cs typeface="Perpetua"/>
              </a:rPr>
              <a:t>Big-</a:t>
            </a:r>
            <a:r>
              <a:rPr sz="2400" dirty="0">
                <a:latin typeface="Perpetua"/>
                <a:cs typeface="Perpetua"/>
              </a:rPr>
              <a:t>Oh(Worst</a:t>
            </a:r>
            <a:r>
              <a:rPr sz="2400" spc="1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Case)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1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defined</a:t>
            </a:r>
            <a:r>
              <a:rPr sz="2400" spc="2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1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condition</a:t>
            </a:r>
            <a:r>
              <a:rPr sz="2400" spc="1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that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allows</a:t>
            </a:r>
            <a:r>
              <a:rPr sz="2400" spc="204" dirty="0">
                <a:latin typeface="Perpetua"/>
                <a:cs typeface="Perpetua"/>
              </a:rPr>
              <a:t> </a:t>
            </a:r>
            <a:r>
              <a:rPr sz="2400" spc="-540" dirty="0">
                <a:latin typeface="Perpetua"/>
                <a:cs typeface="Perpetua"/>
              </a:rPr>
              <a:t>an</a:t>
            </a:r>
            <a:r>
              <a:rPr sz="2400" dirty="0">
                <a:latin typeface="Perpetua"/>
                <a:cs typeface="Perpetua"/>
              </a:rPr>
              <a:t> algorithm</a:t>
            </a:r>
            <a:r>
              <a:rPr sz="2400" spc="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complete</a:t>
            </a:r>
            <a:r>
              <a:rPr sz="2400" spc="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statement</a:t>
            </a:r>
            <a:r>
              <a:rPr sz="2400" spc="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execution</a:t>
            </a:r>
            <a:r>
              <a:rPr sz="2400" spc="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</a:t>
            </a:r>
            <a:r>
              <a:rPr sz="2400" spc="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longest</a:t>
            </a:r>
            <a:r>
              <a:rPr sz="2400" spc="5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amount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time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possible.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Big</a:t>
            </a:r>
            <a:r>
              <a:rPr spc="-180" dirty="0"/>
              <a:t> </a:t>
            </a:r>
            <a:r>
              <a:rPr dirty="0"/>
              <a:t>Oh</a:t>
            </a:r>
            <a:r>
              <a:rPr spc="-170" dirty="0"/>
              <a:t> </a:t>
            </a:r>
            <a:r>
              <a:rPr spc="-30" dirty="0"/>
              <a:t>Notation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294" y="1890752"/>
            <a:ext cx="7450455" cy="3500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If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describes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running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algorithm,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f(n) </a:t>
            </a:r>
            <a:r>
              <a:rPr sz="2600" spc="-25" dirty="0">
                <a:latin typeface="Perpetua"/>
                <a:cs typeface="Perpetua"/>
              </a:rPr>
              <a:t>is </a:t>
            </a:r>
            <a:r>
              <a:rPr sz="2600" dirty="0">
                <a:latin typeface="Perpetua"/>
                <a:cs typeface="Perpetua"/>
              </a:rPr>
              <a:t>O(g(n))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there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exist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positive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constant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n0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such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that, </a:t>
            </a:r>
            <a:r>
              <a:rPr sz="2600" dirty="0">
                <a:latin typeface="Perpetua"/>
                <a:cs typeface="Perpetua"/>
              </a:rPr>
              <a:t>0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≤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≤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cg(n)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 n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≥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n0</a:t>
            </a:r>
            <a:endParaRPr sz="2600">
              <a:latin typeface="Perpetua"/>
              <a:cs typeface="Perpetua"/>
            </a:endParaRPr>
          </a:p>
          <a:p>
            <a:pPr marL="287020" marR="334645" indent="-274955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b="1" dirty="0">
                <a:latin typeface="Perpetua"/>
                <a:cs typeface="Perpetua"/>
              </a:rPr>
              <a:t>	It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returns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the</a:t>
            </a:r>
            <a:r>
              <a:rPr sz="2600" b="1" spc="-6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highest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possible</a:t>
            </a:r>
            <a:r>
              <a:rPr sz="2600" b="1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output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value</a:t>
            </a:r>
            <a:r>
              <a:rPr sz="2600" b="1" spc="-30" dirty="0">
                <a:latin typeface="Perpetua"/>
                <a:cs typeface="Perpetua"/>
              </a:rPr>
              <a:t> </a:t>
            </a:r>
            <a:r>
              <a:rPr sz="2600" b="1" spc="-200" dirty="0">
                <a:latin typeface="Perpetua"/>
                <a:cs typeface="Perpetua"/>
              </a:rPr>
              <a:t>(big- </a:t>
            </a:r>
            <a:r>
              <a:rPr sz="2600" b="1" dirty="0">
                <a:latin typeface="Perpetua"/>
                <a:cs typeface="Perpetua"/>
              </a:rPr>
              <a:t>O)for</a:t>
            </a:r>
            <a:r>
              <a:rPr sz="2600" b="1" spc="-6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given</a:t>
            </a:r>
            <a:r>
              <a:rPr sz="2600" b="1" spc="-3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input.</a:t>
            </a:r>
            <a:endParaRPr sz="2600">
              <a:latin typeface="Perpetua"/>
              <a:cs typeface="Perpetua"/>
            </a:endParaRPr>
          </a:p>
          <a:p>
            <a:pPr marL="12700" marR="3415029" indent="429259">
              <a:lnSpc>
                <a:spcPct val="119200"/>
              </a:lnSpc>
              <a:spcBef>
                <a:spcPts val="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b="1" dirty="0">
                <a:latin typeface="Perpetua"/>
                <a:cs typeface="Perpetua"/>
              </a:rPr>
              <a:t>The</a:t>
            </a:r>
            <a:r>
              <a:rPr sz="2600" b="1" spc="-5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execution</a:t>
            </a:r>
            <a:r>
              <a:rPr sz="2600" b="1" spc="-5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time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serves </a:t>
            </a:r>
            <a:r>
              <a:rPr sz="2600" b="1" dirty="0">
                <a:latin typeface="Perpetua"/>
                <a:cs typeface="Perpetua"/>
              </a:rPr>
              <a:t>as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an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upper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bound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spc="-25" dirty="0">
                <a:latin typeface="Perpetua"/>
                <a:cs typeface="Perpetua"/>
              </a:rPr>
              <a:t>the </a:t>
            </a:r>
            <a:r>
              <a:rPr sz="2600" b="1" spc="-20" dirty="0">
                <a:latin typeface="Perpetua"/>
                <a:cs typeface="Perpetua"/>
              </a:rPr>
              <a:t>algorithm’s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time</a:t>
            </a:r>
            <a:r>
              <a:rPr sz="2600" b="1" spc="-30" dirty="0">
                <a:latin typeface="Perpetua"/>
                <a:cs typeface="Perpetua"/>
              </a:rPr>
              <a:t> </a:t>
            </a:r>
            <a:r>
              <a:rPr sz="2600" b="1" spc="-20" dirty="0">
                <a:latin typeface="Perpetua"/>
                <a:cs typeface="Perpetua"/>
              </a:rPr>
              <a:t>complexity.</a:t>
            </a:r>
            <a:endParaRPr sz="2600">
              <a:latin typeface="Perpetua"/>
              <a:cs typeface="Perpetu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3955" y="4172711"/>
            <a:ext cx="3329940" cy="248564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847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6981" y="4175664"/>
              <a:ext cx="248031" cy="1682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37614" y="1861861"/>
            <a:ext cx="7601584" cy="4345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indent="-429259">
              <a:lnSpc>
                <a:spcPts val="2965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54659" algn="l"/>
              </a:tabLst>
            </a:pPr>
            <a:r>
              <a:rPr sz="2600" dirty="0">
                <a:latin typeface="Perpetua"/>
                <a:cs typeface="Perpetua"/>
              </a:rPr>
              <a:t>Consider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following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g(n)...</a:t>
            </a:r>
            <a:endParaRPr sz="2600">
              <a:latin typeface="Perpetua"/>
              <a:cs typeface="Perpetua"/>
            </a:endParaRPr>
          </a:p>
          <a:p>
            <a:pPr marL="299720" marR="5537835">
              <a:lnSpc>
                <a:spcPts val="2810"/>
              </a:lnSpc>
              <a:spcBef>
                <a:spcPts val="200"/>
              </a:spcBef>
            </a:pP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3n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+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2 </a:t>
            </a:r>
            <a:r>
              <a:rPr sz="2600" b="1" dirty="0">
                <a:latin typeface="Perpetua"/>
                <a:cs typeface="Perpetua"/>
              </a:rPr>
              <a:t>g(n)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610"/>
              </a:lnSpc>
            </a:pPr>
            <a:r>
              <a:rPr sz="2600" dirty="0">
                <a:latin typeface="Perpetua"/>
                <a:cs typeface="Perpetua"/>
              </a:rPr>
              <a:t>If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want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O(g(n))</a:t>
            </a:r>
            <a:r>
              <a:rPr sz="2600" b="1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must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810"/>
              </a:lnSpc>
            </a:pPr>
            <a:r>
              <a:rPr sz="2600" dirty="0">
                <a:latin typeface="Perpetua"/>
                <a:cs typeface="Perpetua"/>
              </a:rPr>
              <a:t>satisfy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&lt;=</a:t>
            </a:r>
            <a:r>
              <a:rPr sz="2600" b="1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g(n)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values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&gt; 0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n</a:t>
            </a:r>
            <a:r>
              <a:rPr sz="2550" b="1" baseline="-21241" dirty="0">
                <a:latin typeface="Perpetua"/>
                <a:cs typeface="Perpetua"/>
              </a:rPr>
              <a:t>0</a:t>
            </a:r>
            <a:r>
              <a:rPr sz="2600" b="1" dirty="0">
                <a:latin typeface="Perpetua"/>
                <a:cs typeface="Perpetua"/>
              </a:rPr>
              <a:t>&gt;= </a:t>
            </a:r>
            <a:r>
              <a:rPr sz="2600" b="1" spc="-5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586105" marR="5165725" indent="-287020">
              <a:lnSpc>
                <a:spcPts val="2880"/>
              </a:lnSpc>
              <a:spcBef>
                <a:spcPts val="140"/>
              </a:spcBef>
            </a:pP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&lt;=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g(n) </a:t>
            </a:r>
            <a:r>
              <a:rPr sz="2600" dirty="0">
                <a:latin typeface="Perpetua"/>
                <a:cs typeface="Perpetua"/>
              </a:rPr>
              <a:t>3n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&lt;=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525"/>
              </a:lnSpc>
            </a:pPr>
            <a:r>
              <a:rPr sz="2600" spc="-10" dirty="0">
                <a:latin typeface="Perpetua"/>
                <a:cs typeface="Perpetua"/>
              </a:rPr>
              <a:t>Above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condition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always</a:t>
            </a:r>
            <a:r>
              <a:rPr sz="2600" spc="-3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TRUE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values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4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805"/>
              </a:lnSpc>
            </a:pPr>
            <a:r>
              <a:rPr sz="2600" b="1" dirty="0">
                <a:latin typeface="Perpetua"/>
                <a:cs typeface="Perpetua"/>
              </a:rPr>
              <a:t>&gt;=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spc="-25" dirty="0">
                <a:latin typeface="Perpetua"/>
                <a:cs typeface="Perpetua"/>
              </a:rPr>
              <a:t>2</a:t>
            </a:r>
            <a:r>
              <a:rPr sz="2600" spc="-2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99720" marR="978535">
              <a:lnSpc>
                <a:spcPts val="2810"/>
              </a:lnSpc>
              <a:spcBef>
                <a:spcPts val="195"/>
              </a:spcBef>
            </a:pPr>
            <a:r>
              <a:rPr sz="2600" dirty="0">
                <a:latin typeface="Perpetua"/>
                <a:cs typeface="Perpetua"/>
              </a:rPr>
              <a:t>By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-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Oh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notation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time </a:t>
            </a:r>
            <a:r>
              <a:rPr sz="2600" dirty="0">
                <a:latin typeface="Perpetua"/>
                <a:cs typeface="Perpetua"/>
              </a:rPr>
              <a:t>complexity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follows...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765"/>
              </a:lnSpc>
            </a:pPr>
            <a:r>
              <a:rPr sz="2600" b="1" dirty="0">
                <a:latin typeface="Perpetua"/>
                <a:cs typeface="Perpetua"/>
              </a:rPr>
              <a:t>3n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+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2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15" dirty="0">
                <a:latin typeface="Perpetua"/>
                <a:cs typeface="Perpetua"/>
              </a:rPr>
              <a:t> </a:t>
            </a:r>
            <a:r>
              <a:rPr sz="2600" b="1" spc="-20" dirty="0">
                <a:latin typeface="Perpetua"/>
                <a:cs typeface="Perpetua"/>
              </a:rPr>
              <a:t>O(n)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80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5" dirty="0"/>
              <a:t>Omega</a:t>
            </a:r>
            <a:r>
              <a:rPr spc="-165" dirty="0"/>
              <a:t> </a:t>
            </a:r>
            <a:r>
              <a:rPr spc="-25" dirty="0"/>
              <a:t>Notation</a:t>
            </a:r>
            <a:r>
              <a:rPr spc="-140" dirty="0"/>
              <a:t> </a:t>
            </a:r>
            <a:r>
              <a:rPr spc="-20" dirty="0"/>
              <a:t>(</a:t>
            </a:r>
            <a:r>
              <a:rPr spc="-20" dirty="0">
                <a:latin typeface="Calibri"/>
                <a:cs typeface="Calibri"/>
              </a:rPr>
              <a:t>Ω-</a:t>
            </a:r>
            <a:r>
              <a:rPr spc="-10" dirty="0"/>
              <a:t>Notation):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715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/>
              <a:t>	Omega</a:t>
            </a:r>
            <a:r>
              <a:rPr spc="190" dirty="0"/>
              <a:t> </a:t>
            </a:r>
            <a:r>
              <a:rPr dirty="0"/>
              <a:t>notation</a:t>
            </a:r>
            <a:r>
              <a:rPr spc="204" dirty="0"/>
              <a:t> </a:t>
            </a:r>
            <a:r>
              <a:rPr dirty="0"/>
              <a:t>represents</a:t>
            </a:r>
            <a:r>
              <a:rPr spc="195" dirty="0"/>
              <a:t> </a:t>
            </a:r>
            <a:r>
              <a:rPr dirty="0"/>
              <a:t>the</a:t>
            </a:r>
            <a:r>
              <a:rPr spc="185" dirty="0"/>
              <a:t> </a:t>
            </a:r>
            <a:r>
              <a:rPr dirty="0"/>
              <a:t>lower</a:t>
            </a:r>
            <a:r>
              <a:rPr spc="215" dirty="0"/>
              <a:t> </a:t>
            </a:r>
            <a:r>
              <a:rPr dirty="0"/>
              <a:t>bound</a:t>
            </a:r>
            <a:r>
              <a:rPr spc="200" dirty="0"/>
              <a:t> </a:t>
            </a:r>
            <a:r>
              <a:rPr dirty="0"/>
              <a:t>of</a:t>
            </a:r>
            <a:r>
              <a:rPr spc="200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spc="-135" dirty="0"/>
              <a:t>running </a:t>
            </a:r>
            <a:r>
              <a:rPr dirty="0"/>
              <a:t>time</a:t>
            </a:r>
            <a:r>
              <a:rPr spc="195" dirty="0"/>
              <a:t>  </a:t>
            </a:r>
            <a:r>
              <a:rPr dirty="0"/>
              <a:t>of</a:t>
            </a:r>
            <a:r>
              <a:rPr spc="200" dirty="0"/>
              <a:t>  </a:t>
            </a:r>
            <a:r>
              <a:rPr dirty="0"/>
              <a:t>an</a:t>
            </a:r>
            <a:r>
              <a:rPr spc="195" dirty="0"/>
              <a:t>  </a:t>
            </a:r>
            <a:r>
              <a:rPr dirty="0"/>
              <a:t>algorithm.</a:t>
            </a:r>
            <a:r>
              <a:rPr spc="135" dirty="0"/>
              <a:t>  </a:t>
            </a:r>
            <a:r>
              <a:rPr dirty="0"/>
              <a:t>Thus,</a:t>
            </a:r>
            <a:r>
              <a:rPr spc="150" dirty="0"/>
              <a:t>  </a:t>
            </a:r>
            <a:r>
              <a:rPr dirty="0"/>
              <a:t>it</a:t>
            </a:r>
            <a:r>
              <a:rPr spc="190" dirty="0"/>
              <a:t>  </a:t>
            </a:r>
            <a:r>
              <a:rPr dirty="0"/>
              <a:t>provides</a:t>
            </a:r>
            <a:r>
              <a:rPr spc="200" dirty="0"/>
              <a:t>  </a:t>
            </a:r>
            <a:r>
              <a:rPr dirty="0"/>
              <a:t>the</a:t>
            </a:r>
            <a:r>
              <a:rPr spc="195" dirty="0"/>
              <a:t>  </a:t>
            </a:r>
            <a:r>
              <a:rPr dirty="0"/>
              <a:t>best</a:t>
            </a:r>
            <a:r>
              <a:rPr spc="190" dirty="0"/>
              <a:t>  </a:t>
            </a:r>
            <a:r>
              <a:rPr spc="-20" dirty="0"/>
              <a:t>case </a:t>
            </a:r>
            <a:r>
              <a:rPr dirty="0"/>
              <a:t>complexity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spc="-10" dirty="0"/>
              <a:t>algorithm.</a:t>
            </a: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b="1" dirty="0">
                <a:latin typeface="Perpetua"/>
                <a:cs typeface="Perpetua"/>
              </a:rPr>
              <a:t>	The</a:t>
            </a:r>
            <a:r>
              <a:rPr b="1" spc="19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execution</a:t>
            </a:r>
            <a:r>
              <a:rPr b="1" spc="18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time</a:t>
            </a:r>
            <a:r>
              <a:rPr b="1" spc="19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serves</a:t>
            </a:r>
            <a:r>
              <a:rPr b="1" spc="17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as</a:t>
            </a:r>
            <a:r>
              <a:rPr b="1" spc="15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a</a:t>
            </a:r>
            <a:r>
              <a:rPr b="1" spc="17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lower</a:t>
            </a:r>
            <a:r>
              <a:rPr b="1" spc="17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bound</a:t>
            </a:r>
            <a:r>
              <a:rPr b="1" spc="18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on</a:t>
            </a:r>
            <a:r>
              <a:rPr b="1" spc="160" dirty="0">
                <a:latin typeface="Perpetua"/>
                <a:cs typeface="Perpetua"/>
              </a:rPr>
              <a:t> </a:t>
            </a:r>
            <a:r>
              <a:rPr b="1" spc="-434" dirty="0">
                <a:latin typeface="Perpetua"/>
                <a:cs typeface="Perpetua"/>
              </a:rPr>
              <a:t>the</a:t>
            </a:r>
            <a:r>
              <a:rPr b="1" spc="-10" dirty="0">
                <a:latin typeface="Perpetua"/>
                <a:cs typeface="Perpetua"/>
              </a:rPr>
              <a:t> algorithm’s</a:t>
            </a:r>
            <a:r>
              <a:rPr b="1" spc="-9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time</a:t>
            </a:r>
            <a:r>
              <a:rPr b="1" spc="-75" dirty="0">
                <a:latin typeface="Perpetua"/>
                <a:cs typeface="Perpetua"/>
              </a:rPr>
              <a:t> </a:t>
            </a:r>
            <a:r>
              <a:rPr b="1" spc="-10" dirty="0">
                <a:latin typeface="Perpetua"/>
                <a:cs typeface="Perpetua"/>
              </a:rPr>
              <a:t>complexity.</a:t>
            </a:r>
          </a:p>
          <a:p>
            <a:pPr marL="287020" marR="6985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b="1" dirty="0">
                <a:latin typeface="Perpetua"/>
                <a:cs typeface="Perpetua"/>
              </a:rPr>
              <a:t>	It</a:t>
            </a:r>
            <a:r>
              <a:rPr b="1" spc="320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is</a:t>
            </a:r>
            <a:r>
              <a:rPr b="1" spc="320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defined</a:t>
            </a:r>
            <a:r>
              <a:rPr b="1" spc="325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as</a:t>
            </a:r>
            <a:r>
              <a:rPr b="1" spc="325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the</a:t>
            </a:r>
            <a:r>
              <a:rPr b="1" spc="330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condition</a:t>
            </a:r>
            <a:r>
              <a:rPr b="1" spc="325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that</a:t>
            </a:r>
            <a:r>
              <a:rPr b="1" spc="320" dirty="0">
                <a:latin typeface="Perpetua"/>
                <a:cs typeface="Perpetua"/>
              </a:rPr>
              <a:t>  </a:t>
            </a:r>
            <a:r>
              <a:rPr b="1" dirty="0">
                <a:latin typeface="Perpetua"/>
                <a:cs typeface="Perpetua"/>
              </a:rPr>
              <a:t>allows</a:t>
            </a:r>
            <a:r>
              <a:rPr b="1" spc="325" dirty="0">
                <a:latin typeface="Perpetua"/>
                <a:cs typeface="Perpetua"/>
              </a:rPr>
              <a:t>  </a:t>
            </a:r>
            <a:r>
              <a:rPr b="1" spc="-650" dirty="0">
                <a:latin typeface="Perpetua"/>
                <a:cs typeface="Perpetua"/>
              </a:rPr>
              <a:t>an</a:t>
            </a:r>
            <a:r>
              <a:rPr b="1" dirty="0">
                <a:latin typeface="Perpetua"/>
                <a:cs typeface="Perpetua"/>
              </a:rPr>
              <a:t> algorithm</a:t>
            </a:r>
            <a:r>
              <a:rPr b="1" spc="40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to</a:t>
            </a:r>
            <a:r>
              <a:rPr b="1" spc="40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complete</a:t>
            </a:r>
            <a:r>
              <a:rPr b="1" spc="39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statement</a:t>
            </a:r>
            <a:r>
              <a:rPr b="1" spc="40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execution</a:t>
            </a:r>
            <a:r>
              <a:rPr b="1" spc="37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in</a:t>
            </a:r>
            <a:r>
              <a:rPr b="1" spc="380" dirty="0">
                <a:latin typeface="Perpetua"/>
                <a:cs typeface="Perpetua"/>
              </a:rPr>
              <a:t> </a:t>
            </a:r>
            <a:r>
              <a:rPr b="1" spc="-25" dirty="0">
                <a:latin typeface="Perpetua"/>
                <a:cs typeface="Perpetua"/>
              </a:rPr>
              <a:t>the </a:t>
            </a:r>
            <a:r>
              <a:rPr b="1" dirty="0">
                <a:latin typeface="Perpetua"/>
                <a:cs typeface="Perpetua"/>
              </a:rPr>
              <a:t>shortest</a:t>
            </a:r>
            <a:r>
              <a:rPr b="1" spc="-3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amount</a:t>
            </a:r>
            <a:r>
              <a:rPr b="1" spc="-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of </a:t>
            </a:r>
            <a:r>
              <a:rPr b="1" spc="-10" dirty="0">
                <a:latin typeface="Perpetua"/>
                <a:cs typeface="Perpetua"/>
              </a:rPr>
              <a:t>time.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287" rIns="0" bIns="0" rtlCol="0">
            <a:spAutoFit/>
          </a:bodyPr>
          <a:lstStyle/>
          <a:p>
            <a:pPr marL="12700" marR="5080">
              <a:lnSpc>
                <a:spcPts val="4220"/>
              </a:lnSpc>
              <a:spcBef>
                <a:spcPts val="305"/>
              </a:spcBef>
            </a:pPr>
            <a:r>
              <a:rPr sz="3600" spc="-45" dirty="0"/>
              <a:t>Mathematical</a:t>
            </a:r>
            <a:r>
              <a:rPr sz="3600" spc="-145" dirty="0"/>
              <a:t> </a:t>
            </a:r>
            <a:r>
              <a:rPr sz="3600" spc="-30" dirty="0"/>
              <a:t>Representation</a:t>
            </a:r>
            <a:r>
              <a:rPr sz="3600" spc="-155" dirty="0"/>
              <a:t> </a:t>
            </a:r>
            <a:r>
              <a:rPr sz="3600" spc="-25" dirty="0"/>
              <a:t>of </a:t>
            </a:r>
            <a:r>
              <a:rPr sz="3600" spc="-70" dirty="0"/>
              <a:t>Omega</a:t>
            </a:r>
            <a:r>
              <a:rPr sz="3600" spc="-140" dirty="0"/>
              <a:t> </a:t>
            </a:r>
            <a:r>
              <a:rPr sz="3600" spc="-20" dirty="0"/>
              <a:t>Notation</a:t>
            </a:r>
            <a:r>
              <a:rPr sz="3600" spc="-114" dirty="0"/>
              <a:t> </a:t>
            </a:r>
            <a:r>
              <a:rPr sz="3600" spc="-20" dirty="0"/>
              <a:t>(</a:t>
            </a:r>
            <a:r>
              <a:rPr sz="3600" spc="-20" dirty="0">
                <a:latin typeface="Calibri"/>
                <a:cs typeface="Calibri"/>
              </a:rPr>
              <a:t>Ω-</a:t>
            </a:r>
            <a:r>
              <a:rPr sz="3600" spc="-10" dirty="0"/>
              <a:t>Notation):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/>
              <a:t>	Let</a:t>
            </a:r>
            <a:r>
              <a:rPr spc="-40" dirty="0"/>
              <a:t> </a:t>
            </a:r>
            <a:r>
              <a:rPr dirty="0"/>
              <a:t>g</a:t>
            </a:r>
            <a:r>
              <a:rPr spc="-2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f</a:t>
            </a:r>
            <a:r>
              <a:rPr spc="-30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function</a:t>
            </a:r>
            <a:r>
              <a:rPr spc="-25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set</a:t>
            </a:r>
            <a:r>
              <a:rPr spc="-1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natural</a:t>
            </a:r>
            <a:r>
              <a:rPr spc="-5" dirty="0"/>
              <a:t> </a:t>
            </a:r>
            <a:r>
              <a:rPr dirty="0"/>
              <a:t>numbers</a:t>
            </a:r>
            <a:r>
              <a:rPr spc="-15" dirty="0"/>
              <a:t> </a:t>
            </a:r>
            <a:r>
              <a:rPr spc="-625" dirty="0"/>
              <a:t>to</a:t>
            </a:r>
            <a:r>
              <a:rPr dirty="0"/>
              <a:t> itself.</a:t>
            </a:r>
            <a:r>
              <a:rPr spc="-114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function</a:t>
            </a:r>
            <a:r>
              <a:rPr spc="-2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said to</a:t>
            </a:r>
            <a:r>
              <a:rPr spc="-30" dirty="0"/>
              <a:t> </a:t>
            </a:r>
            <a:r>
              <a:rPr dirty="0"/>
              <a:t>be</a:t>
            </a:r>
            <a:r>
              <a:rPr spc="5" dirty="0"/>
              <a:t> </a:t>
            </a:r>
            <a:r>
              <a:rPr dirty="0"/>
              <a:t>Ω(g),</a:t>
            </a:r>
            <a:r>
              <a:rPr spc="-114" dirty="0"/>
              <a:t> </a:t>
            </a:r>
            <a:r>
              <a:rPr dirty="0"/>
              <a:t>if</a:t>
            </a:r>
            <a:r>
              <a:rPr spc="-10" dirty="0"/>
              <a:t> </a:t>
            </a:r>
            <a:r>
              <a:rPr dirty="0"/>
              <a:t>there</a:t>
            </a:r>
            <a:r>
              <a:rPr spc="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constant</a:t>
            </a:r>
            <a:r>
              <a:rPr spc="10" dirty="0"/>
              <a:t> </a:t>
            </a:r>
            <a:r>
              <a:rPr spc="-50" dirty="0"/>
              <a:t>c</a:t>
            </a:r>
          </a:p>
          <a:p>
            <a:pPr marL="287020">
              <a:lnSpc>
                <a:spcPct val="100000"/>
              </a:lnSpc>
            </a:pPr>
            <a:r>
              <a:rPr dirty="0"/>
              <a:t>&gt;</a:t>
            </a:r>
            <a:r>
              <a:rPr spc="45" dirty="0"/>
              <a:t> </a:t>
            </a:r>
            <a:r>
              <a:rPr dirty="0"/>
              <a:t>0</a:t>
            </a:r>
            <a:r>
              <a:rPr spc="50" dirty="0"/>
              <a:t> </a:t>
            </a:r>
            <a:r>
              <a:rPr dirty="0"/>
              <a:t>and</a:t>
            </a:r>
            <a:r>
              <a:rPr spc="45" dirty="0"/>
              <a:t> </a:t>
            </a:r>
            <a:r>
              <a:rPr dirty="0"/>
              <a:t>a</a:t>
            </a:r>
            <a:r>
              <a:rPr spc="55" dirty="0"/>
              <a:t> </a:t>
            </a:r>
            <a:r>
              <a:rPr dirty="0"/>
              <a:t>natural</a:t>
            </a:r>
            <a:r>
              <a:rPr spc="45" dirty="0"/>
              <a:t> </a:t>
            </a:r>
            <a:r>
              <a:rPr dirty="0"/>
              <a:t>number</a:t>
            </a:r>
            <a:r>
              <a:rPr spc="55" dirty="0"/>
              <a:t> </a:t>
            </a:r>
            <a:r>
              <a:rPr dirty="0"/>
              <a:t>n0</a:t>
            </a:r>
            <a:r>
              <a:rPr spc="50" dirty="0"/>
              <a:t> </a:t>
            </a:r>
            <a:r>
              <a:rPr dirty="0"/>
              <a:t>such</a:t>
            </a:r>
            <a:r>
              <a:rPr spc="70" dirty="0"/>
              <a:t> </a:t>
            </a:r>
            <a:r>
              <a:rPr dirty="0"/>
              <a:t>that</a:t>
            </a:r>
            <a:r>
              <a:rPr spc="40" dirty="0"/>
              <a:t> </a:t>
            </a:r>
            <a:r>
              <a:rPr dirty="0"/>
              <a:t>c*g(n)</a:t>
            </a:r>
            <a:r>
              <a:rPr spc="60" dirty="0"/>
              <a:t> </a:t>
            </a:r>
            <a:r>
              <a:rPr dirty="0"/>
              <a:t>≤</a:t>
            </a:r>
            <a:r>
              <a:rPr spc="40" dirty="0"/>
              <a:t> </a:t>
            </a:r>
            <a:r>
              <a:rPr dirty="0"/>
              <a:t>f(n)</a:t>
            </a:r>
            <a:r>
              <a:rPr spc="60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dirty="0"/>
              <a:t>all</a:t>
            </a:r>
            <a:r>
              <a:rPr spc="15" dirty="0"/>
              <a:t> </a:t>
            </a:r>
            <a:r>
              <a:rPr spc="-50" dirty="0"/>
              <a:t>n</a:t>
            </a:r>
          </a:p>
          <a:p>
            <a:pPr marL="287020">
              <a:lnSpc>
                <a:spcPct val="100000"/>
              </a:lnSpc>
            </a:pPr>
            <a:r>
              <a:rPr dirty="0"/>
              <a:t>≥</a:t>
            </a:r>
            <a:r>
              <a:rPr spc="-20" dirty="0"/>
              <a:t> </a:t>
            </a:r>
            <a:r>
              <a:rPr spc="-35" dirty="0"/>
              <a:t>n0</a:t>
            </a:r>
          </a:p>
          <a:p>
            <a:pPr marL="287020" marR="6985" indent="-274955">
              <a:lnSpc>
                <a:spcPts val="3050"/>
              </a:lnSpc>
              <a:spcBef>
                <a:spcPts val="83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>
                <a:latin typeface="Times New Roman"/>
                <a:cs typeface="Times New Roman"/>
              </a:rPr>
              <a:t>	Ω</a:t>
            </a:r>
            <a:r>
              <a:rPr dirty="0"/>
              <a:t>(g(n)) =</a:t>
            </a:r>
            <a:r>
              <a:rPr spc="5" dirty="0"/>
              <a:t> </a:t>
            </a:r>
            <a:r>
              <a:rPr dirty="0"/>
              <a:t>{</a:t>
            </a:r>
            <a:r>
              <a:rPr spc="10" dirty="0"/>
              <a:t> </a:t>
            </a:r>
            <a:r>
              <a:rPr dirty="0"/>
              <a:t>f(n):</a:t>
            </a:r>
            <a:r>
              <a:rPr spc="-95" dirty="0"/>
              <a:t> </a:t>
            </a:r>
            <a:r>
              <a:rPr dirty="0"/>
              <a:t>there</a:t>
            </a:r>
            <a:r>
              <a:rPr spc="-5" dirty="0"/>
              <a:t> </a:t>
            </a:r>
            <a:r>
              <a:rPr dirty="0"/>
              <a:t>exist positive</a:t>
            </a:r>
            <a:r>
              <a:rPr spc="20" dirty="0"/>
              <a:t> </a:t>
            </a:r>
            <a:r>
              <a:rPr dirty="0"/>
              <a:t>constants</a:t>
            </a:r>
            <a:r>
              <a:rPr spc="5" dirty="0"/>
              <a:t> </a:t>
            </a:r>
            <a:r>
              <a:rPr dirty="0"/>
              <a:t>c</a:t>
            </a:r>
            <a:r>
              <a:rPr spc="-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n0</a:t>
            </a:r>
            <a:r>
              <a:rPr spc="-5" dirty="0"/>
              <a:t> </a:t>
            </a:r>
            <a:r>
              <a:rPr spc="-305" dirty="0"/>
              <a:t>such </a:t>
            </a:r>
            <a:r>
              <a:rPr dirty="0"/>
              <a:t>that</a:t>
            </a:r>
            <a:r>
              <a:rPr spc="-10" dirty="0"/>
              <a:t> </a:t>
            </a:r>
            <a:r>
              <a:rPr dirty="0"/>
              <a:t>0</a:t>
            </a:r>
            <a:r>
              <a:rPr spc="-25" dirty="0"/>
              <a:t> </a:t>
            </a:r>
            <a:r>
              <a:rPr dirty="0"/>
              <a:t>≤</a:t>
            </a:r>
            <a:r>
              <a:rPr spc="-25" dirty="0"/>
              <a:t> </a:t>
            </a:r>
            <a:r>
              <a:rPr dirty="0"/>
              <a:t>cg(n)</a:t>
            </a:r>
            <a:r>
              <a:rPr spc="-5" dirty="0"/>
              <a:t> </a:t>
            </a:r>
            <a:r>
              <a:rPr dirty="0"/>
              <a:t>≤ f(n)</a:t>
            </a:r>
            <a:r>
              <a:rPr spc="-1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all n</a:t>
            </a:r>
            <a:r>
              <a:rPr spc="-50" dirty="0"/>
              <a:t> </a:t>
            </a:r>
            <a:r>
              <a:rPr dirty="0"/>
              <a:t>≥ n0</a:t>
            </a:r>
            <a:r>
              <a:rPr spc="-25" dirty="0"/>
              <a:t> </a:t>
            </a:r>
            <a:r>
              <a:rPr spc="-50" dirty="0"/>
              <a:t>}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2328" y="4387596"/>
            <a:ext cx="3553967" cy="257098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847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6981" y="4175664"/>
              <a:ext cx="248031" cy="1682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437594" y="1861861"/>
            <a:ext cx="7325359" cy="443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659" indent="-429259">
              <a:lnSpc>
                <a:spcPts val="2965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54659" algn="l"/>
              </a:tabLst>
            </a:pPr>
            <a:r>
              <a:rPr sz="2600" dirty="0">
                <a:latin typeface="Perpetua"/>
                <a:cs typeface="Perpetua"/>
              </a:rPr>
              <a:t>Consider</a:t>
            </a:r>
            <a:r>
              <a:rPr sz="2600" spc="-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following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g(n)...</a:t>
            </a:r>
            <a:endParaRPr sz="2600">
              <a:latin typeface="Perpetua"/>
              <a:cs typeface="Perpetua"/>
            </a:endParaRPr>
          </a:p>
          <a:p>
            <a:pPr marL="299720" marR="5261610">
              <a:lnSpc>
                <a:spcPts val="2810"/>
              </a:lnSpc>
              <a:spcBef>
                <a:spcPts val="200"/>
              </a:spcBef>
            </a:pP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3n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+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2 </a:t>
            </a:r>
            <a:r>
              <a:rPr sz="2600" b="1" dirty="0">
                <a:latin typeface="Perpetua"/>
                <a:cs typeface="Perpetua"/>
              </a:rPr>
              <a:t>g(n)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5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99720" marR="17780">
              <a:lnSpc>
                <a:spcPct val="88900"/>
              </a:lnSpc>
              <a:spcBef>
                <a:spcPts val="60"/>
              </a:spcBef>
            </a:pPr>
            <a:r>
              <a:rPr sz="2600" dirty="0">
                <a:latin typeface="Perpetua"/>
                <a:cs typeface="Perpetua"/>
              </a:rPr>
              <a:t>If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want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Ω</a:t>
            </a:r>
            <a:r>
              <a:rPr sz="2600" b="1" dirty="0">
                <a:latin typeface="Perpetua"/>
                <a:cs typeface="Perpetua"/>
              </a:rPr>
              <a:t>(g(n))</a:t>
            </a:r>
            <a:r>
              <a:rPr sz="2600" b="1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must </a:t>
            </a:r>
            <a:r>
              <a:rPr sz="2600" dirty="0">
                <a:latin typeface="Perpetua"/>
                <a:cs typeface="Perpetua"/>
              </a:rPr>
              <a:t>satisfy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f(n)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&gt;=</a:t>
            </a:r>
            <a:r>
              <a:rPr sz="2600" b="1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g(n)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values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&gt; 0</a:t>
            </a:r>
            <a:r>
              <a:rPr sz="2600" b="1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n</a:t>
            </a:r>
            <a:r>
              <a:rPr sz="2550" b="1" baseline="-21241" dirty="0">
                <a:latin typeface="Perpetua"/>
                <a:cs typeface="Perpetua"/>
              </a:rPr>
              <a:t>0</a:t>
            </a:r>
            <a:r>
              <a:rPr sz="2600" b="1" dirty="0">
                <a:latin typeface="Perpetua"/>
                <a:cs typeface="Perpetua"/>
              </a:rPr>
              <a:t>&gt;= </a:t>
            </a:r>
            <a:r>
              <a:rPr sz="2600" b="1" spc="-50" dirty="0">
                <a:latin typeface="Perpetua"/>
                <a:cs typeface="Perpetua"/>
              </a:rPr>
              <a:t>1 </a:t>
            </a:r>
            <a:r>
              <a:rPr sz="2600" dirty="0">
                <a:latin typeface="Perpetua"/>
                <a:cs typeface="Perpetua"/>
              </a:rPr>
              <a:t>f(n)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g(n)</a:t>
            </a:r>
            <a:endParaRPr sz="2600">
              <a:latin typeface="Perpetua"/>
              <a:cs typeface="Perpetua"/>
            </a:endParaRPr>
          </a:p>
          <a:p>
            <a:pPr marL="586105">
              <a:lnSpc>
                <a:spcPts val="2690"/>
              </a:lnSpc>
            </a:pPr>
            <a:r>
              <a:rPr sz="2600" dirty="0">
                <a:latin typeface="Perpetua"/>
                <a:cs typeface="Perpetua"/>
              </a:rPr>
              <a:t>3n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2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&gt;=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n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930"/>
              </a:lnSpc>
            </a:pPr>
            <a:r>
              <a:rPr sz="2600" spc="-10" dirty="0">
                <a:latin typeface="Perpetua"/>
                <a:cs typeface="Perpetua"/>
              </a:rPr>
              <a:t>Above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condition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always</a:t>
            </a:r>
            <a:r>
              <a:rPr sz="2600" spc="-3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TRUE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values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of</a:t>
            </a:r>
            <a:endParaRPr sz="2600">
              <a:latin typeface="Perpetua"/>
              <a:cs typeface="Perpetua"/>
            </a:endParaRPr>
          </a:p>
          <a:p>
            <a:pPr marL="25400">
              <a:lnSpc>
                <a:spcPts val="2965"/>
              </a:lnSpc>
              <a:spcBef>
                <a:spcPts val="290"/>
              </a:spcBef>
            </a:pPr>
            <a:r>
              <a:rPr sz="2600" b="1" dirty="0">
                <a:latin typeface="Perpetua"/>
                <a:cs typeface="Perpetua"/>
              </a:rPr>
              <a:t>C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</a:t>
            </a:r>
            <a:r>
              <a:rPr sz="2600" b="1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1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n</a:t>
            </a:r>
            <a:r>
              <a:rPr sz="2600" b="1" spc="-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&gt;=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spc="-25" dirty="0">
                <a:latin typeface="Perpetua"/>
                <a:cs typeface="Perpetua"/>
              </a:rPr>
              <a:t>1</a:t>
            </a:r>
            <a:r>
              <a:rPr sz="2600" spc="-2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99720" marR="215900">
              <a:lnSpc>
                <a:spcPts val="2810"/>
              </a:lnSpc>
              <a:spcBef>
                <a:spcPts val="195"/>
              </a:spcBef>
            </a:pPr>
            <a:r>
              <a:rPr sz="2600" dirty="0">
                <a:latin typeface="Perpetua"/>
                <a:cs typeface="Perpetua"/>
              </a:rPr>
              <a:t>By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Big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-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Omega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notation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can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time </a:t>
            </a:r>
            <a:r>
              <a:rPr sz="2600" dirty="0">
                <a:latin typeface="Perpetua"/>
                <a:cs typeface="Perpetua"/>
              </a:rPr>
              <a:t>complexity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follows...</a:t>
            </a:r>
            <a:endParaRPr sz="2600">
              <a:latin typeface="Perpetua"/>
              <a:cs typeface="Perpetua"/>
            </a:endParaRPr>
          </a:p>
          <a:p>
            <a:pPr marL="299720">
              <a:lnSpc>
                <a:spcPts val="2835"/>
              </a:lnSpc>
            </a:pPr>
            <a:r>
              <a:rPr sz="2600" b="1" dirty="0">
                <a:latin typeface="Perpetua"/>
                <a:cs typeface="Perpetua"/>
              </a:rPr>
              <a:t>3n</a:t>
            </a:r>
            <a:r>
              <a:rPr sz="2600" b="1" spc="-3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+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2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= </a:t>
            </a:r>
            <a:r>
              <a:rPr sz="2600" b="1" spc="-20" dirty="0">
                <a:latin typeface="Times New Roman"/>
                <a:cs typeface="Times New Roman"/>
              </a:rPr>
              <a:t>Ω</a:t>
            </a:r>
            <a:r>
              <a:rPr sz="2600" b="1" spc="-20" dirty="0">
                <a:latin typeface="Perpetua"/>
                <a:cs typeface="Perpetua"/>
              </a:rPr>
              <a:t>(n)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336" y="6785564"/>
            <a:ext cx="2286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57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6009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Theta</a:t>
            </a:r>
            <a:r>
              <a:rPr spc="-210" dirty="0"/>
              <a:t> </a:t>
            </a:r>
            <a:r>
              <a:rPr spc="-25" dirty="0"/>
              <a:t>Notation</a:t>
            </a:r>
            <a:r>
              <a:rPr spc="-190" dirty="0"/>
              <a:t> </a:t>
            </a:r>
            <a:r>
              <a:rPr spc="-50" dirty="0"/>
              <a:t>(Θ-</a:t>
            </a:r>
            <a:r>
              <a:rPr spc="-10" dirty="0"/>
              <a:t>Notation):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28890" cy="2876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Theta</a:t>
            </a:r>
            <a:r>
              <a:rPr sz="2600" spc="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notation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encloses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function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from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above</a:t>
            </a:r>
            <a:r>
              <a:rPr sz="2600" spc="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spc="-275" dirty="0">
                <a:latin typeface="Perpetua"/>
                <a:cs typeface="Perpetua"/>
              </a:rPr>
              <a:t>below. </a:t>
            </a:r>
            <a:r>
              <a:rPr sz="2600" dirty="0">
                <a:latin typeface="Perpetua"/>
                <a:cs typeface="Perpetua"/>
              </a:rPr>
              <a:t>Since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4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represents</a:t>
            </a:r>
            <a:r>
              <a:rPr sz="2600" spc="4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upper</a:t>
            </a:r>
            <a:r>
              <a:rPr sz="2600" spc="4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lower</a:t>
            </a:r>
            <a:r>
              <a:rPr sz="2600" spc="4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bound</a:t>
            </a:r>
            <a:r>
              <a:rPr sz="2600" spc="4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45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running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time</a:t>
            </a:r>
            <a:r>
              <a:rPr sz="2600" spc="17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7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algorithm,</a:t>
            </a:r>
            <a:r>
              <a:rPr sz="2600" spc="10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it</a:t>
            </a:r>
            <a:r>
              <a:rPr sz="2600" spc="18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7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used</a:t>
            </a:r>
            <a:r>
              <a:rPr sz="2600" spc="16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175" dirty="0">
                <a:latin typeface="Perpetua"/>
                <a:cs typeface="Perpetua"/>
              </a:rPr>
              <a:t>  </a:t>
            </a:r>
            <a:r>
              <a:rPr sz="2600" spc="-10" dirty="0">
                <a:latin typeface="Perpetua"/>
                <a:cs typeface="Perpetua"/>
              </a:rPr>
              <a:t>analyzing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b="1" spc="-30" dirty="0">
                <a:latin typeface="Perpetua"/>
                <a:cs typeface="Perpetua"/>
              </a:rPr>
              <a:t>average-</a:t>
            </a:r>
            <a:r>
              <a:rPr sz="2600" b="1" dirty="0">
                <a:latin typeface="Perpetua"/>
                <a:cs typeface="Perpetua"/>
              </a:rPr>
              <a:t>case</a:t>
            </a:r>
            <a:r>
              <a:rPr sz="2600" b="1" spc="-4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complexity</a:t>
            </a:r>
            <a:r>
              <a:rPr sz="2600" b="1" spc="-1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of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an</a:t>
            </a:r>
            <a:r>
              <a:rPr sz="2600" b="1" spc="-2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algorithm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7020" marR="2032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Theta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(Average</a:t>
            </a:r>
            <a:r>
              <a:rPr sz="2600" spc="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Case)</a:t>
            </a:r>
            <a:r>
              <a:rPr sz="2600" spc="3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You</a:t>
            </a:r>
            <a:r>
              <a:rPr sz="2600" spc="3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add</a:t>
            </a:r>
            <a:r>
              <a:rPr sz="2600" spc="3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3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running</a:t>
            </a:r>
            <a:r>
              <a:rPr sz="2600" spc="3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times</a:t>
            </a:r>
            <a:r>
              <a:rPr sz="2600" spc="3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for</a:t>
            </a:r>
            <a:r>
              <a:rPr sz="2600" spc="395" dirty="0">
                <a:latin typeface="Perpetua"/>
                <a:cs typeface="Perpetua"/>
              </a:rPr>
              <a:t> </a:t>
            </a:r>
            <a:r>
              <a:rPr sz="2600" spc="-315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possible</a:t>
            </a:r>
            <a:r>
              <a:rPr sz="2600" spc="11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input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combination</a:t>
            </a:r>
            <a:r>
              <a:rPr sz="2600" spc="11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12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take</a:t>
            </a:r>
            <a:r>
              <a:rPr sz="2600" spc="13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1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average</a:t>
            </a:r>
            <a:r>
              <a:rPr sz="2600" spc="114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125" dirty="0">
                <a:latin typeface="Perpetua"/>
                <a:cs typeface="Perpetua"/>
              </a:rPr>
              <a:t> 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average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case.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Mathematical</a:t>
            </a:r>
            <a:r>
              <a:rPr spc="-160" dirty="0"/>
              <a:t> </a:t>
            </a:r>
            <a:r>
              <a:rPr spc="-35" dirty="0"/>
              <a:t>Representation</a:t>
            </a:r>
            <a:r>
              <a:rPr spc="-125" dirty="0"/>
              <a:t> </a:t>
            </a:r>
            <a:r>
              <a:rPr spc="-25" dirty="0"/>
              <a:t>of </a:t>
            </a:r>
            <a:r>
              <a:rPr dirty="0"/>
              <a:t>Theta</a:t>
            </a:r>
            <a:r>
              <a:rPr spc="-245" dirty="0"/>
              <a:t> </a:t>
            </a:r>
            <a:r>
              <a:rPr spc="-10" dirty="0"/>
              <a:t>notation: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/>
              <a:t>	Let</a:t>
            </a:r>
            <a:r>
              <a:rPr spc="-40" dirty="0"/>
              <a:t> </a:t>
            </a:r>
            <a:r>
              <a:rPr dirty="0"/>
              <a:t>g</a:t>
            </a:r>
            <a:r>
              <a:rPr spc="-2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f</a:t>
            </a:r>
            <a:r>
              <a:rPr spc="-30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function</a:t>
            </a:r>
            <a:r>
              <a:rPr spc="-25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set</a:t>
            </a:r>
            <a:r>
              <a:rPr spc="-1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natural</a:t>
            </a:r>
            <a:r>
              <a:rPr spc="-5" dirty="0"/>
              <a:t> </a:t>
            </a:r>
            <a:r>
              <a:rPr dirty="0"/>
              <a:t>numbers</a:t>
            </a:r>
            <a:r>
              <a:rPr spc="-15" dirty="0"/>
              <a:t> </a:t>
            </a:r>
            <a:r>
              <a:rPr spc="-625" dirty="0"/>
              <a:t>to</a:t>
            </a:r>
            <a:r>
              <a:rPr dirty="0"/>
              <a:t> itself.</a:t>
            </a:r>
            <a:r>
              <a:rPr spc="-40" dirty="0"/>
              <a:t> </a:t>
            </a:r>
            <a:r>
              <a:rPr dirty="0"/>
              <a:t>The</a:t>
            </a:r>
            <a:r>
              <a:rPr spc="80" dirty="0"/>
              <a:t> </a:t>
            </a:r>
            <a:r>
              <a:rPr dirty="0"/>
              <a:t>function</a:t>
            </a:r>
            <a:r>
              <a:rPr spc="70" dirty="0"/>
              <a:t> </a:t>
            </a:r>
            <a:r>
              <a:rPr dirty="0"/>
              <a:t>f</a:t>
            </a:r>
            <a:r>
              <a:rPr spc="70" dirty="0"/>
              <a:t> </a:t>
            </a:r>
            <a:r>
              <a:rPr dirty="0"/>
              <a:t>is</a:t>
            </a:r>
            <a:r>
              <a:rPr spc="90" dirty="0"/>
              <a:t> </a:t>
            </a:r>
            <a:r>
              <a:rPr dirty="0"/>
              <a:t>said</a:t>
            </a:r>
            <a:r>
              <a:rPr spc="75" dirty="0"/>
              <a:t> </a:t>
            </a:r>
            <a:r>
              <a:rPr dirty="0"/>
              <a:t>to</a:t>
            </a:r>
            <a:r>
              <a:rPr spc="70" dirty="0"/>
              <a:t> </a:t>
            </a:r>
            <a:r>
              <a:rPr dirty="0"/>
              <a:t>be</a:t>
            </a:r>
            <a:r>
              <a:rPr spc="65" dirty="0"/>
              <a:t> </a:t>
            </a:r>
            <a:r>
              <a:rPr dirty="0">
                <a:latin typeface="Times New Roman"/>
                <a:cs typeface="Times New Roman"/>
              </a:rPr>
              <a:t>Θ</a:t>
            </a:r>
            <a:r>
              <a:rPr dirty="0"/>
              <a:t>(g),</a:t>
            </a:r>
            <a:r>
              <a:rPr spc="-35" dirty="0"/>
              <a:t> </a:t>
            </a:r>
            <a:r>
              <a:rPr dirty="0"/>
              <a:t>if</a:t>
            </a:r>
            <a:r>
              <a:rPr spc="90" dirty="0"/>
              <a:t> </a:t>
            </a:r>
            <a:r>
              <a:rPr dirty="0"/>
              <a:t>there</a:t>
            </a:r>
            <a:r>
              <a:rPr spc="80" dirty="0"/>
              <a:t> </a:t>
            </a:r>
            <a:r>
              <a:rPr dirty="0"/>
              <a:t>are</a:t>
            </a:r>
            <a:r>
              <a:rPr spc="80" dirty="0"/>
              <a:t> </a:t>
            </a:r>
            <a:r>
              <a:rPr spc="-10" dirty="0"/>
              <a:t>constants </a:t>
            </a:r>
            <a:r>
              <a:rPr dirty="0"/>
              <a:t>c1,</a:t>
            </a:r>
            <a:r>
              <a:rPr spc="-140" dirty="0"/>
              <a:t> </a:t>
            </a:r>
            <a:r>
              <a:rPr dirty="0"/>
              <a:t>c2</a:t>
            </a:r>
            <a:r>
              <a:rPr spc="-20" dirty="0"/>
              <a:t> </a:t>
            </a:r>
            <a:r>
              <a:rPr dirty="0"/>
              <a:t>&gt;</a:t>
            </a:r>
            <a:r>
              <a:rPr spc="-20" dirty="0"/>
              <a:t> </a:t>
            </a:r>
            <a:r>
              <a:rPr dirty="0"/>
              <a:t>0</a:t>
            </a:r>
            <a:r>
              <a:rPr spc="-20" dirty="0"/>
              <a:t> </a:t>
            </a:r>
            <a:r>
              <a:rPr dirty="0"/>
              <a:t>and a</a:t>
            </a:r>
            <a:r>
              <a:rPr spc="-15" dirty="0"/>
              <a:t> </a:t>
            </a:r>
            <a:r>
              <a:rPr dirty="0"/>
              <a:t>natural number</a:t>
            </a:r>
            <a:r>
              <a:rPr spc="-40" dirty="0"/>
              <a:t> </a:t>
            </a:r>
            <a:r>
              <a:rPr dirty="0"/>
              <a:t>n0</a:t>
            </a:r>
            <a:r>
              <a:rPr spc="-25" dirty="0"/>
              <a:t> </a:t>
            </a:r>
            <a:r>
              <a:rPr dirty="0"/>
              <a:t>such</a:t>
            </a:r>
            <a:r>
              <a:rPr spc="5" dirty="0"/>
              <a:t> </a:t>
            </a:r>
            <a:r>
              <a:rPr spc="-20" dirty="0"/>
              <a:t>that</a:t>
            </a:r>
          </a:p>
          <a:p>
            <a:pPr marL="309880" algn="just">
              <a:lnSpc>
                <a:spcPct val="100000"/>
              </a:lnSpc>
              <a:spcBef>
                <a:spcPts val="605"/>
              </a:spcBef>
            </a:pPr>
            <a:r>
              <a:rPr b="1" dirty="0">
                <a:latin typeface="Perpetua"/>
                <a:cs typeface="Perpetua"/>
              </a:rPr>
              <a:t>c1*</a:t>
            </a:r>
            <a:r>
              <a:rPr b="1" spc="-2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g(n)</a:t>
            </a:r>
            <a:r>
              <a:rPr b="1" spc="-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≤</a:t>
            </a:r>
            <a:r>
              <a:rPr b="1" spc="-2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f(n)</a:t>
            </a:r>
            <a:r>
              <a:rPr b="1" spc="-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≤</a:t>
            </a:r>
            <a:r>
              <a:rPr b="1" spc="-20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c2</a:t>
            </a:r>
            <a:r>
              <a:rPr b="1" spc="-1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* g(n)</a:t>
            </a:r>
            <a:r>
              <a:rPr b="1" spc="-3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for</a:t>
            </a:r>
            <a:r>
              <a:rPr b="1" spc="-1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all n</a:t>
            </a:r>
            <a:r>
              <a:rPr b="1" spc="-5" dirty="0">
                <a:latin typeface="Perpetua"/>
                <a:cs typeface="Perpetua"/>
              </a:rPr>
              <a:t> </a:t>
            </a:r>
            <a:r>
              <a:rPr b="1" dirty="0">
                <a:latin typeface="Perpetua"/>
                <a:cs typeface="Perpetua"/>
              </a:rPr>
              <a:t>≥</a:t>
            </a:r>
            <a:r>
              <a:rPr b="1" spc="10" dirty="0">
                <a:latin typeface="Perpetua"/>
                <a:cs typeface="Perpetua"/>
              </a:rPr>
              <a:t> </a:t>
            </a:r>
            <a:r>
              <a:rPr b="1" spc="-25" dirty="0">
                <a:latin typeface="Perpetua"/>
                <a:cs typeface="Perpetua"/>
              </a:rPr>
              <a:t>n0</a:t>
            </a:r>
          </a:p>
          <a:p>
            <a:pPr marL="287020" marR="6350" indent="-274955" algn="just">
              <a:lnSpc>
                <a:spcPts val="3050"/>
              </a:lnSpc>
              <a:spcBef>
                <a:spcPts val="83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>
                <a:latin typeface="Times New Roman"/>
                <a:cs typeface="Times New Roman"/>
              </a:rPr>
              <a:t>	Θ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/>
              <a:t>(g(n))</a:t>
            </a:r>
            <a:r>
              <a:rPr spc="40" dirty="0"/>
              <a:t> </a:t>
            </a:r>
            <a:r>
              <a:rPr dirty="0"/>
              <a:t>=</a:t>
            </a:r>
            <a:r>
              <a:rPr spc="25" dirty="0"/>
              <a:t> </a:t>
            </a:r>
            <a:r>
              <a:rPr dirty="0"/>
              <a:t>{f(n)</a:t>
            </a:r>
            <a:r>
              <a:rPr spc="30" dirty="0"/>
              <a:t>  </a:t>
            </a:r>
            <a:r>
              <a:rPr dirty="0"/>
              <a:t>there</a:t>
            </a:r>
            <a:r>
              <a:rPr spc="35" dirty="0"/>
              <a:t> </a:t>
            </a:r>
            <a:r>
              <a:rPr dirty="0"/>
              <a:t>exist</a:t>
            </a:r>
            <a:r>
              <a:rPr spc="20" dirty="0"/>
              <a:t> </a:t>
            </a:r>
            <a:r>
              <a:rPr dirty="0"/>
              <a:t>positive</a:t>
            </a:r>
            <a:r>
              <a:rPr spc="45" dirty="0"/>
              <a:t> </a:t>
            </a:r>
            <a:r>
              <a:rPr dirty="0"/>
              <a:t>constants</a:t>
            </a:r>
            <a:r>
              <a:rPr spc="35" dirty="0"/>
              <a:t> </a:t>
            </a:r>
            <a:r>
              <a:rPr dirty="0"/>
              <a:t>c1</a:t>
            </a:r>
            <a:r>
              <a:rPr spc="30" dirty="0"/>
              <a:t>  </a:t>
            </a:r>
            <a:r>
              <a:rPr dirty="0"/>
              <a:t>c2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615" dirty="0"/>
              <a:t>n0</a:t>
            </a:r>
            <a:r>
              <a:rPr dirty="0"/>
              <a:t> such</a:t>
            </a:r>
            <a:r>
              <a:rPr spc="-25" dirty="0"/>
              <a:t> </a:t>
            </a:r>
            <a:r>
              <a:rPr dirty="0"/>
              <a:t>that</a:t>
            </a:r>
            <a:r>
              <a:rPr spc="-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≤</a:t>
            </a:r>
            <a:r>
              <a:rPr spc="-20" dirty="0"/>
              <a:t> </a:t>
            </a:r>
            <a:r>
              <a:rPr dirty="0"/>
              <a:t>c1</a:t>
            </a:r>
            <a:r>
              <a:rPr spc="-25" dirty="0"/>
              <a:t> </a:t>
            </a:r>
            <a:r>
              <a:rPr dirty="0"/>
              <a:t>*</a:t>
            </a:r>
            <a:r>
              <a:rPr spc="5" dirty="0"/>
              <a:t> </a:t>
            </a:r>
            <a:r>
              <a:rPr dirty="0"/>
              <a:t>g(n)</a:t>
            </a:r>
            <a:r>
              <a:rPr spc="-5" dirty="0"/>
              <a:t> </a:t>
            </a:r>
            <a:r>
              <a:rPr dirty="0"/>
              <a:t>≤</a:t>
            </a:r>
            <a:r>
              <a:rPr spc="-20" dirty="0"/>
              <a:t> </a:t>
            </a:r>
            <a:r>
              <a:rPr dirty="0"/>
              <a:t>f(n)</a:t>
            </a:r>
            <a:r>
              <a:rPr spc="-10" dirty="0"/>
              <a:t> </a:t>
            </a:r>
            <a:r>
              <a:rPr dirty="0"/>
              <a:t>≤</a:t>
            </a:r>
            <a:r>
              <a:rPr spc="-20" dirty="0"/>
              <a:t> </a:t>
            </a:r>
            <a:r>
              <a:rPr dirty="0"/>
              <a:t>c2</a:t>
            </a:r>
            <a:r>
              <a:rPr spc="-20" dirty="0"/>
              <a:t> </a:t>
            </a:r>
            <a:r>
              <a:rPr dirty="0"/>
              <a:t>*</a:t>
            </a:r>
            <a:r>
              <a:rPr spc="5" dirty="0"/>
              <a:t> </a:t>
            </a:r>
            <a:r>
              <a:rPr dirty="0"/>
              <a:t>g(n)</a:t>
            </a:r>
            <a:r>
              <a:rPr spc="-10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≥</a:t>
            </a:r>
            <a:r>
              <a:rPr spc="-25" dirty="0"/>
              <a:t> n0}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5584" y="4529327"/>
            <a:ext cx="3357371" cy="250088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307" y="1145514"/>
            <a:ext cx="1847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5457" y="4334256"/>
              <a:ext cx="228600" cy="15582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24920" y="1867860"/>
            <a:ext cx="7656830" cy="43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 indent="-274320">
              <a:lnSpc>
                <a:spcPts val="2735"/>
              </a:lnSpc>
              <a:spcBef>
                <a:spcPts val="100"/>
              </a:spcBef>
              <a:buChar char="●"/>
              <a:tabLst>
                <a:tab pos="312420" algn="l"/>
                <a:tab pos="3251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Perpetua"/>
                <a:cs typeface="Perpetua"/>
              </a:rPr>
              <a:t>Consider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following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f(n)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g(n)...</a:t>
            </a:r>
            <a:endParaRPr sz="2400">
              <a:latin typeface="Perpetua"/>
              <a:cs typeface="Perpetua"/>
            </a:endParaRPr>
          </a:p>
          <a:p>
            <a:pPr marL="312420" marR="5718175">
              <a:lnSpc>
                <a:spcPts val="2590"/>
              </a:lnSpc>
              <a:spcBef>
                <a:spcPts val="185"/>
              </a:spcBef>
            </a:pPr>
            <a:r>
              <a:rPr sz="2400" b="1" dirty="0">
                <a:latin typeface="Perpetua"/>
                <a:cs typeface="Perpetua"/>
              </a:rPr>
              <a:t>f(n)</a:t>
            </a:r>
            <a:r>
              <a:rPr sz="2400" b="1" spc="-3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=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3n</a:t>
            </a:r>
            <a:r>
              <a:rPr sz="2400" b="1" spc="-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+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spc="-60" dirty="0">
                <a:latin typeface="Perpetua"/>
                <a:cs typeface="Perpetua"/>
              </a:rPr>
              <a:t>2 </a:t>
            </a:r>
            <a:r>
              <a:rPr sz="2400" b="1" dirty="0">
                <a:latin typeface="Perpetua"/>
                <a:cs typeface="Perpetua"/>
              </a:rPr>
              <a:t>g(n)</a:t>
            </a:r>
            <a:r>
              <a:rPr sz="2400" b="1" spc="-3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=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spc="-50" dirty="0">
                <a:latin typeface="Perpetua"/>
                <a:cs typeface="Perpetua"/>
              </a:rPr>
              <a:t>n</a:t>
            </a:r>
            <a:endParaRPr sz="2400">
              <a:latin typeface="Perpetua"/>
              <a:cs typeface="Perpetua"/>
            </a:endParaRPr>
          </a:p>
          <a:p>
            <a:pPr marL="312420">
              <a:lnSpc>
                <a:spcPts val="2440"/>
              </a:lnSpc>
            </a:pPr>
            <a:r>
              <a:rPr sz="2400" dirty="0">
                <a:latin typeface="Perpetua"/>
                <a:cs typeface="Perpetua"/>
              </a:rPr>
              <a:t>If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want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represent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f(n)</a:t>
            </a:r>
            <a:r>
              <a:rPr sz="2400" b="1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Θ</a:t>
            </a:r>
            <a:r>
              <a:rPr sz="2400" b="1" dirty="0">
                <a:latin typeface="Perpetua"/>
                <a:cs typeface="Perpetua"/>
              </a:rPr>
              <a:t>(g(n))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then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must</a:t>
            </a:r>
            <a:endParaRPr sz="2400">
              <a:latin typeface="Perpetua"/>
              <a:cs typeface="Perpetua"/>
            </a:endParaRPr>
          </a:p>
          <a:p>
            <a:pPr marL="312420" marR="586105">
              <a:lnSpc>
                <a:spcPts val="2590"/>
              </a:lnSpc>
              <a:spcBef>
                <a:spcPts val="150"/>
              </a:spcBef>
            </a:pPr>
            <a:r>
              <a:rPr sz="2400" dirty="0">
                <a:latin typeface="Perpetua"/>
                <a:cs typeface="Perpetua"/>
              </a:rPr>
              <a:t>satisfy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1</a:t>
            </a:r>
            <a:r>
              <a:rPr sz="2400" b="1" spc="247" baseline="-20833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g(n)</a:t>
            </a:r>
            <a:r>
              <a:rPr sz="2400" b="1" spc="-2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&lt;=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f(n)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&lt;=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2</a:t>
            </a:r>
            <a:r>
              <a:rPr sz="2400" b="1" spc="240" baseline="-20833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g(n)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all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values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1</a:t>
            </a:r>
            <a:r>
              <a:rPr sz="2400" b="1" spc="254" baseline="-20833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&gt;</a:t>
            </a:r>
            <a:r>
              <a:rPr sz="2400" b="1" spc="-20" dirty="0">
                <a:latin typeface="Perpetua"/>
                <a:cs typeface="Perpetua"/>
              </a:rPr>
              <a:t> </a:t>
            </a:r>
            <a:r>
              <a:rPr sz="2400" b="1" spc="-25" dirty="0">
                <a:latin typeface="Perpetua"/>
                <a:cs typeface="Perpetua"/>
              </a:rPr>
              <a:t>0,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2</a:t>
            </a:r>
            <a:r>
              <a:rPr sz="2400" b="1" spc="232" baseline="-20833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&gt;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0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n</a:t>
            </a:r>
            <a:r>
              <a:rPr sz="2400" b="1" baseline="-20833" dirty="0">
                <a:latin typeface="Perpetua"/>
                <a:cs typeface="Perpetua"/>
              </a:rPr>
              <a:t>0</a:t>
            </a:r>
            <a:r>
              <a:rPr sz="2400" b="1" dirty="0">
                <a:latin typeface="Perpetua"/>
                <a:cs typeface="Perpetua"/>
              </a:rPr>
              <a:t>&gt;=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spc="-50" dirty="0"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  <a:p>
            <a:pPr marL="312420">
              <a:lnSpc>
                <a:spcPts val="2445"/>
              </a:lnSpc>
            </a:pPr>
            <a:r>
              <a:rPr sz="2400" dirty="0">
                <a:latin typeface="Perpetua"/>
                <a:cs typeface="Perpetua"/>
              </a:rPr>
              <a:t>C</a:t>
            </a:r>
            <a:r>
              <a:rPr sz="2400" baseline="-20833" dirty="0">
                <a:latin typeface="Perpetua"/>
                <a:cs typeface="Perpetua"/>
              </a:rPr>
              <a:t>1</a:t>
            </a:r>
            <a:r>
              <a:rPr sz="2400" spc="217" baseline="-20833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g(n)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&lt;=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f(n)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&lt;=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</a:t>
            </a:r>
            <a:r>
              <a:rPr sz="2400" baseline="-20833" dirty="0">
                <a:latin typeface="Perpetua"/>
                <a:cs typeface="Perpetua"/>
              </a:rPr>
              <a:t>2</a:t>
            </a:r>
            <a:r>
              <a:rPr sz="2400" spc="262" baseline="-20833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g(n)</a:t>
            </a:r>
            <a:endParaRPr sz="2400">
              <a:latin typeface="Perpetua"/>
              <a:cs typeface="Perpetua"/>
            </a:endParaRPr>
          </a:p>
          <a:p>
            <a:pPr marL="575945">
              <a:lnSpc>
                <a:spcPts val="2590"/>
              </a:lnSpc>
            </a:pPr>
            <a:r>
              <a:rPr sz="2400" dirty="0">
                <a:latin typeface="Perpetua"/>
                <a:cs typeface="Perpetua"/>
              </a:rPr>
              <a:t>C</a:t>
            </a:r>
            <a:r>
              <a:rPr sz="2400" baseline="-20833" dirty="0">
                <a:latin typeface="Perpetua"/>
                <a:cs typeface="Perpetua"/>
              </a:rPr>
              <a:t>1</a:t>
            </a:r>
            <a:r>
              <a:rPr sz="2400" spc="225" baseline="-20833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 &lt;=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3n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+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 &lt;=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</a:t>
            </a:r>
            <a:r>
              <a:rPr sz="2400" baseline="-20833" dirty="0">
                <a:latin typeface="Perpetua"/>
                <a:cs typeface="Perpetua"/>
              </a:rPr>
              <a:t>2</a:t>
            </a:r>
            <a:r>
              <a:rPr sz="2400" spc="247" baseline="-20833" dirty="0">
                <a:latin typeface="Perpetua"/>
                <a:cs typeface="Perpetua"/>
              </a:rPr>
              <a:t> </a:t>
            </a:r>
            <a:r>
              <a:rPr sz="2400" spc="-50" dirty="0">
                <a:latin typeface="Perpetua"/>
                <a:cs typeface="Perpetua"/>
              </a:rPr>
              <a:t>n</a:t>
            </a:r>
            <a:endParaRPr sz="2400">
              <a:latin typeface="Perpetua"/>
              <a:cs typeface="Perpetua"/>
            </a:endParaRPr>
          </a:p>
          <a:p>
            <a:pPr marL="312420" marR="546100">
              <a:lnSpc>
                <a:spcPts val="2590"/>
              </a:lnSpc>
              <a:spcBef>
                <a:spcPts val="150"/>
              </a:spcBef>
            </a:pPr>
            <a:r>
              <a:rPr sz="2400" spc="-20" dirty="0">
                <a:latin typeface="Perpetua"/>
                <a:cs typeface="Perpetua"/>
              </a:rPr>
              <a:t>Above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condition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always</a:t>
            </a:r>
            <a:r>
              <a:rPr sz="2400" spc="-31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TRUE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all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values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of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1</a:t>
            </a:r>
            <a:r>
              <a:rPr sz="2400" b="1" spc="225" baseline="-20833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=</a:t>
            </a:r>
            <a:r>
              <a:rPr sz="2400" b="1" spc="-3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1,</a:t>
            </a:r>
            <a:r>
              <a:rPr sz="2400" b="1" spc="-13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C</a:t>
            </a:r>
            <a:r>
              <a:rPr sz="2400" b="1" baseline="-20833" dirty="0">
                <a:latin typeface="Perpetua"/>
                <a:cs typeface="Perpetua"/>
              </a:rPr>
              <a:t>2</a:t>
            </a:r>
            <a:r>
              <a:rPr sz="2400" b="1" spc="240" baseline="-20833" dirty="0">
                <a:latin typeface="Perpetua"/>
                <a:cs typeface="Perpetua"/>
              </a:rPr>
              <a:t> </a:t>
            </a:r>
            <a:r>
              <a:rPr sz="2400" b="1" spc="-50" dirty="0">
                <a:latin typeface="Perpetua"/>
                <a:cs typeface="Perpetua"/>
              </a:rPr>
              <a:t>= </a:t>
            </a:r>
            <a:r>
              <a:rPr sz="2400" b="1" dirty="0">
                <a:latin typeface="Perpetua"/>
                <a:cs typeface="Perpetua"/>
              </a:rPr>
              <a:t>4</a:t>
            </a:r>
            <a:r>
              <a:rPr sz="2400" b="1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and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n</a:t>
            </a:r>
            <a:r>
              <a:rPr sz="2400" b="1" spc="-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&gt;=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spc="-25" dirty="0">
                <a:latin typeface="Perpetua"/>
                <a:cs typeface="Perpetua"/>
              </a:rPr>
              <a:t>2</a:t>
            </a:r>
            <a:r>
              <a:rPr sz="2400" spc="-25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312420" marR="43180">
              <a:lnSpc>
                <a:spcPts val="259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By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using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Big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-</a:t>
            </a:r>
            <a:r>
              <a:rPr sz="2400" spc="-3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Theta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notation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we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can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represent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time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compexity </a:t>
            </a:r>
            <a:r>
              <a:rPr sz="2400" dirty="0">
                <a:latin typeface="Perpetua"/>
                <a:cs typeface="Perpetua"/>
              </a:rPr>
              <a:t>as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follows...</a:t>
            </a:r>
            <a:endParaRPr sz="2400">
              <a:latin typeface="Perpetua"/>
              <a:cs typeface="Perpetua"/>
            </a:endParaRPr>
          </a:p>
          <a:p>
            <a:pPr marL="312420">
              <a:lnSpc>
                <a:spcPts val="2615"/>
              </a:lnSpc>
            </a:pPr>
            <a:r>
              <a:rPr sz="2400" b="1" dirty="0">
                <a:latin typeface="Perpetua"/>
                <a:cs typeface="Perpetua"/>
              </a:rPr>
              <a:t>3n</a:t>
            </a:r>
            <a:r>
              <a:rPr sz="2400" b="1" spc="-3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+</a:t>
            </a:r>
            <a:r>
              <a:rPr sz="2400" b="1" spc="-1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2</a:t>
            </a:r>
            <a:r>
              <a:rPr sz="2400" b="1" spc="-1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= </a:t>
            </a:r>
            <a:r>
              <a:rPr sz="2400" b="1" spc="-20" dirty="0">
                <a:latin typeface="Times New Roman"/>
                <a:cs typeface="Times New Roman"/>
              </a:rPr>
              <a:t>Θ</a:t>
            </a:r>
            <a:r>
              <a:rPr sz="2400" b="1" spc="-20" dirty="0">
                <a:latin typeface="Perpetua"/>
                <a:cs typeface="Perpetua"/>
              </a:rPr>
              <a:t>(n)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190" dirty="0"/>
              <a:t> </a:t>
            </a:r>
            <a:r>
              <a:rPr dirty="0"/>
              <a:t>Count</a:t>
            </a:r>
            <a:r>
              <a:rPr spc="-165" dirty="0"/>
              <a:t> </a:t>
            </a:r>
            <a:r>
              <a:rPr spc="-10" dirty="0"/>
              <a:t>Method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26350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17145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The</a:t>
            </a:r>
            <a:r>
              <a:rPr sz="2600" spc="2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count</a:t>
            </a:r>
            <a:r>
              <a:rPr sz="2600" spc="2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method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one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1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method</a:t>
            </a:r>
            <a:r>
              <a:rPr sz="2600" spc="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analyze</a:t>
            </a:r>
            <a:r>
              <a:rPr sz="2600" spc="225" dirty="0">
                <a:latin typeface="Perpetua"/>
                <a:cs typeface="Perpetua"/>
              </a:rPr>
              <a:t> </a:t>
            </a:r>
            <a:r>
              <a:rPr sz="2600" spc="-420" dirty="0">
                <a:latin typeface="Perpetua"/>
                <a:cs typeface="Perpetua"/>
              </a:rPr>
              <a:t>the</a:t>
            </a:r>
            <a:r>
              <a:rPr sz="2600" dirty="0">
                <a:latin typeface="Perpetua"/>
                <a:cs typeface="Perpetua"/>
              </a:rPr>
              <a:t> algorithm.</a:t>
            </a:r>
            <a:r>
              <a:rPr sz="2600" spc="25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3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method,</a:t>
            </a:r>
            <a:r>
              <a:rPr sz="2600" spc="2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3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count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number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3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times</a:t>
            </a:r>
            <a:r>
              <a:rPr sz="2600" spc="36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one </a:t>
            </a:r>
            <a:r>
              <a:rPr sz="2600" dirty="0">
                <a:latin typeface="Perpetua"/>
                <a:cs typeface="Perpetua"/>
              </a:rPr>
              <a:t>instruction</a:t>
            </a:r>
            <a:r>
              <a:rPr sz="2600" spc="3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3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executing.</a:t>
            </a:r>
            <a:r>
              <a:rPr sz="2600" spc="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From</a:t>
            </a:r>
            <a:r>
              <a:rPr sz="2600" spc="3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that</a:t>
            </a:r>
            <a:r>
              <a:rPr sz="2600" spc="3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3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try</a:t>
            </a:r>
            <a:r>
              <a:rPr sz="2600" spc="3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find</a:t>
            </a:r>
            <a:r>
              <a:rPr sz="2600" spc="37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complexity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Suppose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have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one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perform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sequential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30" dirty="0">
                <a:latin typeface="Perpetua"/>
                <a:cs typeface="Perpetua"/>
              </a:rPr>
              <a:t>search. </a:t>
            </a:r>
            <a:r>
              <a:rPr sz="2600" dirty="0">
                <a:latin typeface="Perpetua"/>
                <a:cs typeface="Perpetua"/>
              </a:rPr>
              <a:t>Suppose</a:t>
            </a:r>
            <a:r>
              <a:rPr sz="2600" spc="5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each</a:t>
            </a:r>
            <a:r>
              <a:rPr sz="2600" spc="48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instruction</a:t>
            </a:r>
            <a:r>
              <a:rPr sz="2600" spc="5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4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take</a:t>
            </a:r>
            <a:r>
              <a:rPr sz="2600" spc="4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c1,</a:t>
            </a:r>
            <a:r>
              <a:rPr sz="2600" spc="4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c2,</a:t>
            </a:r>
            <a:r>
              <a:rPr sz="2600" spc="40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….</a:t>
            </a:r>
            <a:r>
              <a:rPr sz="2600" spc="4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amount</a:t>
            </a:r>
            <a:r>
              <a:rPr sz="2600" spc="500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time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execute,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then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we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will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try</a:t>
            </a:r>
            <a:r>
              <a:rPr sz="2600" spc="4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35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find</a:t>
            </a:r>
            <a:r>
              <a:rPr sz="2600" spc="5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out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40" dirty="0">
                <a:latin typeface="Perpetua"/>
                <a:cs typeface="Perpetua"/>
              </a:rPr>
              <a:t>  </a:t>
            </a:r>
            <a:r>
              <a:rPr sz="2600" spc="-20" dirty="0">
                <a:latin typeface="Perpetua"/>
                <a:cs typeface="Perpetua"/>
              </a:rPr>
              <a:t>time </a:t>
            </a:r>
            <a:r>
              <a:rPr sz="2600" dirty="0">
                <a:latin typeface="Perpetua"/>
                <a:cs typeface="Perpetua"/>
              </a:rPr>
              <a:t>complexity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this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algorithm</a:t>
            </a:r>
            <a:endParaRPr sz="2600">
              <a:latin typeface="Perpetua"/>
              <a:cs typeface="Perpetua"/>
            </a:endParaRPr>
          </a:p>
          <a:p>
            <a:pPr marL="287020" marR="140970" indent="-274955" algn="just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The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step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Count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method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also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called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Frequency</a:t>
            </a:r>
            <a:r>
              <a:rPr sz="2600" b="1" spc="-10" dirty="0">
                <a:latin typeface="Perpetua"/>
                <a:cs typeface="Perpetua"/>
              </a:rPr>
              <a:t> </a:t>
            </a:r>
            <a:r>
              <a:rPr sz="2600" b="1" spc="-204" dirty="0">
                <a:latin typeface="Perpetua"/>
                <a:cs typeface="Perpetua"/>
              </a:rPr>
              <a:t>Count </a:t>
            </a:r>
            <a:r>
              <a:rPr sz="2600" b="1" spc="-10" dirty="0">
                <a:latin typeface="Perpetua"/>
                <a:cs typeface="Perpetua"/>
              </a:rPr>
              <a:t>method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336" y="6785564"/>
            <a:ext cx="2286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61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Time</a:t>
            </a:r>
            <a:r>
              <a:rPr spc="-215" dirty="0"/>
              <a:t> </a:t>
            </a:r>
            <a:r>
              <a:rPr spc="-75" dirty="0"/>
              <a:t>Complexity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2029967"/>
            <a:ext cx="9027160" cy="5196840"/>
            <a:chOff x="515112" y="2029967"/>
            <a:chExt cx="9027160" cy="5196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840" y="2029967"/>
              <a:ext cx="7572755" cy="18562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840" y="3886200"/>
              <a:ext cx="7572755" cy="3072383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0425" y="659480"/>
            <a:ext cx="5946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Time</a:t>
            </a:r>
            <a:r>
              <a:rPr sz="3600" spc="-145" dirty="0"/>
              <a:t> </a:t>
            </a:r>
            <a:r>
              <a:rPr sz="3600" dirty="0"/>
              <a:t>and</a:t>
            </a:r>
            <a:r>
              <a:rPr sz="3600" spc="-165" dirty="0"/>
              <a:t> </a:t>
            </a:r>
            <a:r>
              <a:rPr sz="3600" dirty="0"/>
              <a:t>Space</a:t>
            </a:r>
            <a:r>
              <a:rPr sz="3600" spc="-140" dirty="0"/>
              <a:t> </a:t>
            </a:r>
            <a:r>
              <a:rPr sz="3600" spc="-60" dirty="0"/>
              <a:t>Complexity</a:t>
            </a:r>
            <a:r>
              <a:rPr sz="3600" spc="-125" dirty="0"/>
              <a:t> </a:t>
            </a:r>
            <a:r>
              <a:rPr sz="3600" spc="-25" dirty="0"/>
              <a:t>for </a:t>
            </a:r>
            <a:r>
              <a:rPr sz="3600" spc="-10" dirty="0"/>
              <a:t>addition</a:t>
            </a:r>
            <a:r>
              <a:rPr sz="3600" spc="-200" dirty="0"/>
              <a:t> </a:t>
            </a:r>
            <a:r>
              <a:rPr sz="3600" dirty="0"/>
              <a:t>of</a:t>
            </a:r>
            <a:r>
              <a:rPr sz="3600" spc="-155" dirty="0"/>
              <a:t> </a:t>
            </a:r>
            <a:r>
              <a:rPr sz="3600" spc="-25" dirty="0"/>
              <a:t>two</a:t>
            </a:r>
            <a:r>
              <a:rPr sz="3600" spc="-160" dirty="0"/>
              <a:t> </a:t>
            </a:r>
            <a:r>
              <a:rPr sz="3600" spc="-10" dirty="0"/>
              <a:t>numbers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/>
              <a:t>	The</a:t>
            </a:r>
            <a:r>
              <a:rPr spc="125" dirty="0"/>
              <a:t>  </a:t>
            </a:r>
            <a:r>
              <a:rPr dirty="0"/>
              <a:t>time</a:t>
            </a:r>
            <a:r>
              <a:rPr spc="375" dirty="0"/>
              <a:t>   </a:t>
            </a:r>
            <a:r>
              <a:rPr dirty="0"/>
              <a:t>complexity</a:t>
            </a:r>
            <a:r>
              <a:rPr spc="140" dirty="0"/>
              <a:t>  </a:t>
            </a:r>
            <a:r>
              <a:rPr dirty="0"/>
              <a:t>of</a:t>
            </a:r>
            <a:r>
              <a:rPr spc="140" dirty="0"/>
              <a:t>  </a:t>
            </a:r>
            <a:r>
              <a:rPr dirty="0"/>
              <a:t>the</a:t>
            </a:r>
            <a:r>
              <a:rPr spc="130" dirty="0"/>
              <a:t>  </a:t>
            </a:r>
            <a:r>
              <a:rPr dirty="0"/>
              <a:t>problem</a:t>
            </a:r>
            <a:r>
              <a:rPr spc="120" dirty="0"/>
              <a:t>  </a:t>
            </a:r>
            <a:r>
              <a:rPr dirty="0"/>
              <a:t>addition</a:t>
            </a:r>
            <a:r>
              <a:rPr spc="125" dirty="0"/>
              <a:t>  </a:t>
            </a:r>
            <a:r>
              <a:rPr dirty="0"/>
              <a:t>of</a:t>
            </a:r>
            <a:r>
              <a:rPr spc="125" dirty="0"/>
              <a:t>  </a:t>
            </a:r>
            <a:r>
              <a:rPr spc="-475" dirty="0"/>
              <a:t>two</a:t>
            </a:r>
            <a:r>
              <a:rPr dirty="0"/>
              <a:t> numbers</a:t>
            </a:r>
            <a:r>
              <a:rPr spc="1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C/C++</a:t>
            </a:r>
            <a:r>
              <a:rPr spc="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O(1)</a:t>
            </a:r>
            <a:r>
              <a:rPr spc="15" dirty="0"/>
              <a:t> </a:t>
            </a:r>
            <a:r>
              <a:rPr dirty="0"/>
              <a:t>because it</a:t>
            </a:r>
            <a:r>
              <a:rPr spc="-10" dirty="0"/>
              <a:t> </a:t>
            </a:r>
            <a:r>
              <a:rPr dirty="0"/>
              <a:t>doesn't</a:t>
            </a:r>
            <a:r>
              <a:rPr spc="-10" dirty="0"/>
              <a:t> </a:t>
            </a:r>
            <a:r>
              <a:rPr dirty="0"/>
              <a:t>depend</a:t>
            </a:r>
            <a:r>
              <a:rPr spc="-2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25" dirty="0"/>
              <a:t>the </a:t>
            </a:r>
            <a:r>
              <a:rPr dirty="0"/>
              <a:t>input</a:t>
            </a:r>
            <a:r>
              <a:rPr spc="-50" dirty="0"/>
              <a:t> </a:t>
            </a:r>
            <a:r>
              <a:rPr spc="-10" dirty="0"/>
              <a:t>values.</a:t>
            </a:r>
          </a:p>
          <a:p>
            <a:pPr marL="287020" marR="376555" indent="-274955" algn="just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dirty="0"/>
              <a:t>	The</a:t>
            </a:r>
            <a:r>
              <a:rPr spc="-65" dirty="0"/>
              <a:t> </a:t>
            </a:r>
            <a:r>
              <a:rPr dirty="0"/>
              <a:t>space</a:t>
            </a:r>
            <a:r>
              <a:rPr spc="-4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only</a:t>
            </a:r>
            <a:r>
              <a:rPr spc="-40" dirty="0"/>
              <a:t> </a:t>
            </a:r>
            <a:r>
              <a:rPr dirty="0"/>
              <a:t>taken</a:t>
            </a:r>
            <a:r>
              <a:rPr spc="-7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store</a:t>
            </a:r>
            <a:r>
              <a:rPr spc="-6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two</a:t>
            </a:r>
            <a:r>
              <a:rPr spc="-45" dirty="0"/>
              <a:t> </a:t>
            </a:r>
            <a:r>
              <a:rPr dirty="0"/>
              <a:t>variables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200" dirty="0"/>
              <a:t>their </a:t>
            </a:r>
            <a:r>
              <a:rPr dirty="0"/>
              <a:t>sum</a:t>
            </a:r>
            <a:r>
              <a:rPr spc="-45" dirty="0"/>
              <a:t> </a:t>
            </a:r>
            <a:r>
              <a:rPr dirty="0"/>
              <a:t>hence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space</a:t>
            </a:r>
            <a:r>
              <a:rPr spc="-35" dirty="0"/>
              <a:t> </a:t>
            </a:r>
            <a:r>
              <a:rPr dirty="0"/>
              <a:t>complexity</a:t>
            </a:r>
            <a:r>
              <a:rPr spc="-1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program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find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addition</a:t>
            </a:r>
            <a:r>
              <a:rPr spc="-4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numbers</a:t>
            </a:r>
            <a:r>
              <a:rPr spc="-2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C</a:t>
            </a:r>
            <a:r>
              <a:rPr spc="-3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-10" dirty="0"/>
              <a:t>O(1).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200"/>
            <a:ext cx="9084945" cy="6769734"/>
            <a:chOff x="457200" y="457200"/>
            <a:chExt cx="9084945" cy="676973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200"/>
              <a:ext cx="8644128" cy="3429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" y="3886200"/>
            <a:ext cx="8644128" cy="32156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74295" rIns="0" bIns="0" rtlCol="0">
            <a:spAutoFit/>
          </a:bodyPr>
          <a:lstStyle/>
          <a:p>
            <a:pPr marL="3832860" marR="626745" indent="-3206750">
              <a:lnSpc>
                <a:spcPct val="100000"/>
              </a:lnSpc>
              <a:spcBef>
                <a:spcPts val="585"/>
              </a:spcBef>
            </a:pPr>
            <a:r>
              <a:rPr sz="4000" b="1" spc="-360" dirty="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sz="4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26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40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315" dirty="0">
                <a:solidFill>
                  <a:srgbClr val="FFFFFF"/>
                </a:solidFill>
                <a:latin typeface="Arial"/>
                <a:cs typeface="Arial"/>
              </a:rPr>
              <a:t>programming</a:t>
            </a:r>
            <a:r>
              <a:rPr sz="40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305" dirty="0">
                <a:solidFill>
                  <a:srgbClr val="FFFFFF"/>
                </a:solidFill>
                <a:latin typeface="Arial"/>
                <a:cs typeface="Arial"/>
              </a:rPr>
              <a:t>constructs- </a:t>
            </a:r>
            <a:r>
              <a:rPr sz="4000" b="1" spc="-85" dirty="0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322117" y="3871987"/>
            <a:ext cx="43713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Quadratic,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Cubic,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Logarithmic.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208" y="1975104"/>
            <a:ext cx="9020810" cy="1460500"/>
          </a:xfrm>
          <a:prstGeom prst="rect">
            <a:avLst/>
          </a:prstGeom>
          <a:solidFill>
            <a:srgbClr val="D34816"/>
          </a:solidFill>
        </p:spPr>
        <p:txBody>
          <a:bodyPr vert="horz" wrap="square" lIns="0" tIns="379095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2985"/>
              </a:spcBef>
            </a:pPr>
            <a:r>
              <a:rPr sz="4000" b="1" spc="-320" dirty="0">
                <a:solidFill>
                  <a:srgbClr val="FFFFFF"/>
                </a:solidFill>
                <a:latin typeface="Arial"/>
                <a:cs typeface="Arial"/>
              </a:rPr>
              <a:t>Algorithmic</a:t>
            </a:r>
            <a:r>
              <a:rPr sz="40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265" dirty="0">
                <a:solidFill>
                  <a:srgbClr val="FFFFFF"/>
                </a:solidFill>
                <a:latin typeface="Arial"/>
                <a:cs typeface="Arial"/>
              </a:rPr>
              <a:t>Strategies-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3886200"/>
              <a:ext cx="9144000" cy="3428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3886200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3429000"/>
                  </a:moveTo>
                  <a:lnTo>
                    <a:pt x="0" y="3429000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3429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3886200"/>
              <a:ext cx="9014460" cy="31699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452" y="7056119"/>
              <a:ext cx="8923782" cy="1630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16636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689848" y="3340607"/>
                  </a:moveTo>
                  <a:lnTo>
                    <a:pt x="336803" y="3340607"/>
                  </a:lnTo>
                  <a:lnTo>
                    <a:pt x="284988" y="3336036"/>
                  </a:lnTo>
                  <a:lnTo>
                    <a:pt x="236220" y="3325368"/>
                  </a:lnTo>
                  <a:lnTo>
                    <a:pt x="190499" y="3307080"/>
                  </a:lnTo>
                  <a:lnTo>
                    <a:pt x="135636" y="3273552"/>
                  </a:lnTo>
                  <a:lnTo>
                    <a:pt x="99059" y="3241548"/>
                  </a:lnTo>
                  <a:lnTo>
                    <a:pt x="67055" y="3204972"/>
                  </a:lnTo>
                  <a:lnTo>
                    <a:pt x="57911" y="3191255"/>
                  </a:lnTo>
                  <a:lnTo>
                    <a:pt x="48767" y="3179064"/>
                  </a:lnTo>
                  <a:lnTo>
                    <a:pt x="41147" y="3163823"/>
                  </a:lnTo>
                  <a:lnTo>
                    <a:pt x="33527" y="3150107"/>
                  </a:lnTo>
                  <a:lnTo>
                    <a:pt x="15239" y="3104388"/>
                  </a:lnTo>
                  <a:lnTo>
                    <a:pt x="10667" y="3087623"/>
                  </a:lnTo>
                  <a:lnTo>
                    <a:pt x="7619" y="3072384"/>
                  </a:lnTo>
                  <a:lnTo>
                    <a:pt x="1524" y="3038855"/>
                  </a:lnTo>
                  <a:lnTo>
                    <a:pt x="1524" y="3020568"/>
                  </a:lnTo>
                  <a:lnTo>
                    <a:pt x="0" y="3003804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0568"/>
                  </a:lnTo>
                  <a:lnTo>
                    <a:pt x="15239" y="3037332"/>
                  </a:lnTo>
                  <a:lnTo>
                    <a:pt x="22859" y="3084576"/>
                  </a:lnTo>
                  <a:lnTo>
                    <a:pt x="38100" y="3130296"/>
                  </a:lnTo>
                  <a:lnTo>
                    <a:pt x="59435" y="3171444"/>
                  </a:lnTo>
                  <a:lnTo>
                    <a:pt x="86867" y="3209544"/>
                  </a:lnTo>
                  <a:lnTo>
                    <a:pt x="118871" y="3243072"/>
                  </a:lnTo>
                  <a:lnTo>
                    <a:pt x="155447" y="3272028"/>
                  </a:lnTo>
                  <a:lnTo>
                    <a:pt x="196595" y="3294888"/>
                  </a:lnTo>
                  <a:lnTo>
                    <a:pt x="210311" y="3302507"/>
                  </a:lnTo>
                  <a:lnTo>
                    <a:pt x="225551" y="3307080"/>
                  </a:lnTo>
                  <a:lnTo>
                    <a:pt x="240791" y="3313176"/>
                  </a:lnTo>
                  <a:lnTo>
                    <a:pt x="256032" y="3317748"/>
                  </a:lnTo>
                  <a:lnTo>
                    <a:pt x="286511" y="3323844"/>
                  </a:lnTo>
                  <a:lnTo>
                    <a:pt x="320039" y="3326892"/>
                  </a:lnTo>
                  <a:lnTo>
                    <a:pt x="8784843" y="3326892"/>
                  </a:lnTo>
                  <a:lnTo>
                    <a:pt x="8773668" y="3329939"/>
                  </a:lnTo>
                  <a:lnTo>
                    <a:pt x="8758428" y="3332988"/>
                  </a:lnTo>
                  <a:lnTo>
                    <a:pt x="8741664" y="3336036"/>
                  </a:lnTo>
                  <a:lnTo>
                    <a:pt x="8689848" y="3340607"/>
                  </a:lnTo>
                  <a:close/>
                </a:path>
                <a:path w="9027160" h="3340734">
                  <a:moveTo>
                    <a:pt x="8784843" y="3326892"/>
                  </a:moveTo>
                  <a:lnTo>
                    <a:pt x="8706612" y="3326892"/>
                  </a:lnTo>
                  <a:lnTo>
                    <a:pt x="8738616" y="3323844"/>
                  </a:lnTo>
                  <a:lnTo>
                    <a:pt x="8755380" y="3320796"/>
                  </a:lnTo>
                  <a:lnTo>
                    <a:pt x="8770620" y="3317748"/>
                  </a:lnTo>
                  <a:lnTo>
                    <a:pt x="8785860" y="3313176"/>
                  </a:lnTo>
                  <a:lnTo>
                    <a:pt x="8801100" y="3307080"/>
                  </a:lnTo>
                  <a:lnTo>
                    <a:pt x="8816340" y="3302507"/>
                  </a:lnTo>
                  <a:lnTo>
                    <a:pt x="8830056" y="3294888"/>
                  </a:lnTo>
                  <a:lnTo>
                    <a:pt x="8843772" y="3288792"/>
                  </a:lnTo>
                  <a:lnTo>
                    <a:pt x="8857488" y="3281172"/>
                  </a:lnTo>
                  <a:lnTo>
                    <a:pt x="8895588" y="3253739"/>
                  </a:lnTo>
                  <a:lnTo>
                    <a:pt x="8929116" y="3221736"/>
                  </a:lnTo>
                  <a:lnTo>
                    <a:pt x="8958072" y="3185160"/>
                  </a:lnTo>
                  <a:lnTo>
                    <a:pt x="8980932" y="3144012"/>
                  </a:lnTo>
                  <a:lnTo>
                    <a:pt x="8988552" y="3130296"/>
                  </a:lnTo>
                  <a:lnTo>
                    <a:pt x="9003792" y="3084576"/>
                  </a:lnTo>
                  <a:lnTo>
                    <a:pt x="9011412" y="3037332"/>
                  </a:lnTo>
                  <a:lnTo>
                    <a:pt x="9012936" y="3020568"/>
                  </a:lnTo>
                  <a:lnTo>
                    <a:pt x="9012936" y="0"/>
                  </a:lnTo>
                  <a:lnTo>
                    <a:pt x="9026652" y="0"/>
                  </a:lnTo>
                  <a:lnTo>
                    <a:pt x="9026652" y="3020568"/>
                  </a:lnTo>
                  <a:lnTo>
                    <a:pt x="9025128" y="3037332"/>
                  </a:lnTo>
                  <a:lnTo>
                    <a:pt x="9015984" y="3087623"/>
                  </a:lnTo>
                  <a:lnTo>
                    <a:pt x="9011412" y="3104388"/>
                  </a:lnTo>
                  <a:lnTo>
                    <a:pt x="9005316" y="3119628"/>
                  </a:lnTo>
                  <a:lnTo>
                    <a:pt x="9000744" y="3134868"/>
                  </a:lnTo>
                  <a:lnTo>
                    <a:pt x="8993124" y="3150107"/>
                  </a:lnTo>
                  <a:lnTo>
                    <a:pt x="8977884" y="3177539"/>
                  </a:lnTo>
                  <a:lnTo>
                    <a:pt x="8959596" y="3204972"/>
                  </a:lnTo>
                  <a:lnTo>
                    <a:pt x="8948928" y="3217164"/>
                  </a:lnTo>
                  <a:lnTo>
                    <a:pt x="8939784" y="3229355"/>
                  </a:lnTo>
                  <a:lnTo>
                    <a:pt x="8904732" y="3262884"/>
                  </a:lnTo>
                  <a:lnTo>
                    <a:pt x="8865108" y="3291839"/>
                  </a:lnTo>
                  <a:lnTo>
                    <a:pt x="8849868" y="3299460"/>
                  </a:lnTo>
                  <a:lnTo>
                    <a:pt x="8836152" y="3307080"/>
                  </a:lnTo>
                  <a:lnTo>
                    <a:pt x="8790432" y="3325368"/>
                  </a:lnTo>
                  <a:lnTo>
                    <a:pt x="8784843" y="33268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840427" y="3643334"/>
            <a:ext cx="622427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Introduction</a:t>
            </a:r>
            <a:r>
              <a:rPr sz="2600" b="1" spc="-7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to</a:t>
            </a:r>
            <a:r>
              <a:rPr sz="2600" b="1" spc="-4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algorithm</a:t>
            </a:r>
            <a:r>
              <a:rPr sz="2600" b="1" spc="-3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design</a:t>
            </a:r>
            <a:r>
              <a:rPr sz="2600" b="1" spc="-4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strategies-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Divide</a:t>
            </a:r>
            <a:r>
              <a:rPr sz="2600" b="1" spc="-8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30" dirty="0">
                <a:solidFill>
                  <a:srgbClr val="696464"/>
                </a:solidFill>
                <a:latin typeface="Perpetua"/>
                <a:cs typeface="Perpetua"/>
              </a:rPr>
              <a:t> Conquer,</a:t>
            </a:r>
            <a:r>
              <a:rPr sz="2600" b="1" spc="-120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and</a:t>
            </a:r>
            <a:r>
              <a:rPr sz="2600" b="1" spc="-5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dirty="0">
                <a:solidFill>
                  <a:srgbClr val="696464"/>
                </a:solidFill>
                <a:latin typeface="Perpetua"/>
                <a:cs typeface="Perpetua"/>
              </a:rPr>
              <a:t>Greedy</a:t>
            </a:r>
            <a:r>
              <a:rPr sz="2600" b="1" spc="-45" dirty="0">
                <a:solidFill>
                  <a:srgbClr val="696464"/>
                </a:solidFill>
                <a:latin typeface="Perpetua"/>
                <a:cs typeface="Perpetua"/>
              </a:rPr>
              <a:t> </a:t>
            </a:r>
            <a:r>
              <a:rPr sz="2600" b="1" spc="-10" dirty="0">
                <a:solidFill>
                  <a:srgbClr val="696464"/>
                </a:solidFill>
                <a:latin typeface="Perpetua"/>
                <a:cs typeface="Perpetua"/>
              </a:rPr>
              <a:t>strategy.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3504" y="666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lnTo>
                  <a:pt x="182897" y="452565"/>
                </a:lnTo>
                <a:lnTo>
                  <a:pt x="140160" y="439269"/>
                </a:lnTo>
                <a:lnTo>
                  <a:pt x="101351" y="418221"/>
                </a:lnTo>
                <a:lnTo>
                  <a:pt x="67437" y="390334"/>
                </a:lnTo>
                <a:lnTo>
                  <a:pt x="39379" y="356517"/>
                </a:lnTo>
                <a:lnTo>
                  <a:pt x="18145" y="317682"/>
                </a:lnTo>
                <a:lnTo>
                  <a:pt x="4697" y="274739"/>
                </a:lnTo>
                <a:lnTo>
                  <a:pt x="0" y="228600"/>
                </a:lnTo>
                <a:lnTo>
                  <a:pt x="4697" y="182897"/>
                </a:lnTo>
                <a:lnTo>
                  <a:pt x="18145" y="140160"/>
                </a:lnTo>
                <a:lnTo>
                  <a:pt x="39379" y="101351"/>
                </a:lnTo>
                <a:lnTo>
                  <a:pt x="67437" y="67437"/>
                </a:lnTo>
                <a:lnTo>
                  <a:pt x="101351" y="39379"/>
                </a:lnTo>
                <a:lnTo>
                  <a:pt x="140160" y="18145"/>
                </a:lnTo>
                <a:lnTo>
                  <a:pt x="182897" y="4697"/>
                </a:lnTo>
                <a:lnTo>
                  <a:pt x="228600" y="0"/>
                </a:lnTo>
                <a:lnTo>
                  <a:pt x="274739" y="4697"/>
                </a:lnTo>
                <a:lnTo>
                  <a:pt x="317682" y="18145"/>
                </a:lnTo>
                <a:lnTo>
                  <a:pt x="356517" y="39379"/>
                </a:lnTo>
                <a:lnTo>
                  <a:pt x="390334" y="67437"/>
                </a:lnTo>
                <a:lnTo>
                  <a:pt x="418221" y="101351"/>
                </a:lnTo>
                <a:lnTo>
                  <a:pt x="439269" y="140160"/>
                </a:lnTo>
                <a:lnTo>
                  <a:pt x="452565" y="182897"/>
                </a:lnTo>
                <a:lnTo>
                  <a:pt x="457200" y="228600"/>
                </a:lnTo>
                <a:lnTo>
                  <a:pt x="452565" y="274739"/>
                </a:lnTo>
                <a:lnTo>
                  <a:pt x="439269" y="317682"/>
                </a:lnTo>
                <a:lnTo>
                  <a:pt x="418221" y="356517"/>
                </a:lnTo>
                <a:lnTo>
                  <a:pt x="390334" y="390334"/>
                </a:lnTo>
                <a:lnTo>
                  <a:pt x="356517" y="418221"/>
                </a:lnTo>
                <a:lnTo>
                  <a:pt x="317682" y="439269"/>
                </a:lnTo>
                <a:lnTo>
                  <a:pt x="274739" y="452565"/>
                </a:lnTo>
                <a:lnTo>
                  <a:pt x="228600" y="457200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  <a:r>
              <a:rPr spc="-155" dirty="0"/>
              <a:t> </a:t>
            </a:r>
            <a:r>
              <a:rPr dirty="0"/>
              <a:t>design</a:t>
            </a:r>
            <a:r>
              <a:rPr spc="-120" dirty="0"/>
              <a:t> </a:t>
            </a:r>
            <a:r>
              <a:rPr spc="-35" dirty="0"/>
              <a:t>Strategies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36794" y="1874541"/>
            <a:ext cx="7325995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7625" indent="179705" algn="just">
              <a:lnSpc>
                <a:spcPct val="150000"/>
              </a:lnSpc>
              <a:spcBef>
                <a:spcPts val="100"/>
              </a:spcBef>
              <a:buClr>
                <a:srgbClr val="EF7E08"/>
              </a:buClr>
              <a:buSzPct val="77500"/>
              <a:buFont typeface="Gadugi"/>
              <a:buChar char="•"/>
              <a:tabLst>
                <a:tab pos="192405" algn="l"/>
              </a:tabLst>
            </a:pPr>
            <a:r>
              <a:rPr sz="2000" dirty="0">
                <a:latin typeface="Georgia"/>
                <a:cs typeface="Georgia"/>
              </a:rPr>
              <a:t>Divide</a:t>
            </a:r>
            <a:r>
              <a:rPr sz="2000" spc="8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7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conquer</a:t>
            </a:r>
            <a:r>
              <a:rPr sz="2000" spc="7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8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7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divide</a:t>
            </a:r>
            <a:r>
              <a:rPr sz="2000" spc="8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7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75" dirty="0">
                <a:latin typeface="Georgia"/>
                <a:cs typeface="Georgia"/>
              </a:rPr>
              <a:t>  </a:t>
            </a:r>
            <a:r>
              <a:rPr sz="2000" spc="-20" dirty="0">
                <a:latin typeface="Georgia"/>
                <a:cs typeface="Georgia"/>
              </a:rPr>
              <a:t>into </a:t>
            </a:r>
            <a:r>
              <a:rPr sz="2000" dirty="0">
                <a:latin typeface="Georgia"/>
                <a:cs typeface="Georgia"/>
              </a:rPr>
              <a:t>smaller</a:t>
            </a:r>
            <a:r>
              <a:rPr sz="2000" spc="4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subproblems</a:t>
            </a:r>
            <a:r>
              <a:rPr sz="2000" spc="4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4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5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same</a:t>
            </a:r>
            <a:r>
              <a:rPr sz="2000" spc="3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type;</a:t>
            </a:r>
            <a:r>
              <a:rPr sz="2000" spc="4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solve</a:t>
            </a:r>
            <a:r>
              <a:rPr sz="2000" spc="5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those</a:t>
            </a:r>
            <a:r>
              <a:rPr sz="2000" spc="220" dirty="0">
                <a:latin typeface="Georgia"/>
                <a:cs typeface="Georgia"/>
              </a:rPr>
              <a:t>   </a:t>
            </a:r>
            <a:r>
              <a:rPr sz="2000" spc="-10" dirty="0">
                <a:latin typeface="Georgia"/>
                <a:cs typeface="Georgia"/>
              </a:rPr>
              <a:t>smaller </a:t>
            </a:r>
            <a:r>
              <a:rPr sz="2000" dirty="0">
                <a:latin typeface="Georgia"/>
                <a:cs typeface="Georgia"/>
              </a:rPr>
              <a:t>problems,</a:t>
            </a:r>
            <a:r>
              <a:rPr sz="2000" spc="43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4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combine</a:t>
            </a:r>
            <a:r>
              <a:rPr sz="2000" spc="4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those</a:t>
            </a:r>
            <a:r>
              <a:rPr sz="2000" spc="4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solutions</a:t>
            </a:r>
            <a:r>
              <a:rPr sz="2000" spc="4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45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solve</a:t>
            </a:r>
            <a:r>
              <a:rPr sz="2000" spc="44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45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original problem.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Eg.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Binary</a:t>
            </a:r>
            <a:r>
              <a:rPr sz="2000" spc="-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Search,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Quick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Sort,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Merge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Sort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25"/>
              </a:spcBef>
              <a:buClr>
                <a:srgbClr val="EF7E08"/>
              </a:buClr>
              <a:buFont typeface="Gadugi"/>
              <a:buChar char="•"/>
            </a:pPr>
            <a:endParaRPr sz="2000">
              <a:latin typeface="Georgia"/>
              <a:cs typeface="Georgia"/>
            </a:endParaRPr>
          </a:p>
          <a:p>
            <a:pPr marL="12700" marR="5080" indent="179705" algn="just">
              <a:lnSpc>
                <a:spcPct val="150000"/>
              </a:lnSpc>
              <a:buClr>
                <a:srgbClr val="EF7E08"/>
              </a:buClr>
              <a:buSzPct val="77500"/>
              <a:buFont typeface="Gadugi"/>
              <a:buChar char="•"/>
              <a:tabLst>
                <a:tab pos="192405" algn="l"/>
              </a:tabLst>
            </a:pPr>
            <a:r>
              <a:rPr sz="2000" dirty="0">
                <a:latin typeface="Georgia"/>
                <a:cs typeface="Georgia"/>
              </a:rPr>
              <a:t>Greedy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find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</a:t>
            </a:r>
            <a:r>
              <a:rPr sz="2000" spc="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optimal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at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local</a:t>
            </a:r>
            <a:r>
              <a:rPr sz="2000" spc="70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level </a:t>
            </a:r>
            <a:r>
              <a:rPr sz="2000" dirty="0">
                <a:latin typeface="Georgia"/>
                <a:cs typeface="Georgia"/>
              </a:rPr>
              <a:t>with</a:t>
            </a:r>
            <a:r>
              <a:rPr sz="2000" spc="4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4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intent</a:t>
            </a:r>
            <a:r>
              <a:rPr sz="2000" spc="45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4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finding</a:t>
            </a:r>
            <a:r>
              <a:rPr sz="2000" spc="4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</a:t>
            </a:r>
            <a:r>
              <a:rPr sz="2000" spc="4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optimal</a:t>
            </a:r>
            <a:r>
              <a:rPr sz="2000" spc="43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4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for</a:t>
            </a:r>
            <a:r>
              <a:rPr sz="2000" spc="4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44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whole </a:t>
            </a:r>
            <a:r>
              <a:rPr sz="2000" dirty="0">
                <a:latin typeface="Georgia"/>
                <a:cs typeface="Georgia"/>
              </a:rPr>
              <a:t>problem.</a:t>
            </a:r>
            <a:r>
              <a:rPr sz="2000" spc="12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Eg.</a:t>
            </a:r>
            <a:r>
              <a:rPr sz="2000" spc="13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Job</a:t>
            </a:r>
            <a:r>
              <a:rPr sz="2000" spc="340" dirty="0">
                <a:latin typeface="Georgia"/>
                <a:cs typeface="Georgia"/>
              </a:rPr>
              <a:t>   </a:t>
            </a:r>
            <a:r>
              <a:rPr sz="2000" dirty="0">
                <a:latin typeface="Georgia"/>
                <a:cs typeface="Georgia"/>
              </a:rPr>
              <a:t>Scheduling,</a:t>
            </a:r>
            <a:r>
              <a:rPr sz="2000" spc="12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Activity</a:t>
            </a:r>
            <a:r>
              <a:rPr sz="2000" spc="13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selection,</a:t>
            </a:r>
            <a:r>
              <a:rPr sz="2000" spc="12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Fractional Knapsack,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MST,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Huffman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Code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  <a:r>
              <a:rPr spc="-155" dirty="0"/>
              <a:t> </a:t>
            </a:r>
            <a:r>
              <a:rPr dirty="0"/>
              <a:t>design</a:t>
            </a:r>
            <a:r>
              <a:rPr spc="-120" dirty="0"/>
              <a:t> </a:t>
            </a:r>
            <a:r>
              <a:rPr spc="-35" dirty="0"/>
              <a:t>Strategies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287" y="1874541"/>
            <a:ext cx="7611745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just">
              <a:lnSpc>
                <a:spcPct val="150000"/>
              </a:lnSpc>
              <a:spcBef>
                <a:spcPts val="100"/>
              </a:spcBef>
              <a:buClr>
                <a:srgbClr val="EF7E08"/>
              </a:buClr>
              <a:buSzPct val="77500"/>
              <a:buFont typeface="Gadugi"/>
              <a:buChar char="•"/>
              <a:tabLst>
                <a:tab pos="12700" algn="l"/>
                <a:tab pos="191770" algn="l"/>
              </a:tabLst>
            </a:pPr>
            <a:r>
              <a:rPr sz="2000" dirty="0">
                <a:latin typeface="Georgia"/>
                <a:cs typeface="Georgia"/>
              </a:rPr>
              <a:t>	Backtracking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divide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into</a:t>
            </a:r>
            <a:r>
              <a:rPr sz="2000" spc="70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subproblems, </a:t>
            </a:r>
            <a:r>
              <a:rPr sz="2000" dirty="0">
                <a:latin typeface="Georgia"/>
                <a:cs typeface="Georgia"/>
              </a:rPr>
              <a:t>each</a:t>
            </a:r>
            <a:r>
              <a:rPr sz="2000" spc="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which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can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be</a:t>
            </a:r>
            <a:r>
              <a:rPr sz="2000" spc="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attempted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be</a:t>
            </a:r>
            <a:r>
              <a:rPr sz="2000" spc="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solved;</a:t>
            </a:r>
            <a:r>
              <a:rPr sz="2000" spc="114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however,</a:t>
            </a:r>
            <a:r>
              <a:rPr sz="2000" spc="1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if</a:t>
            </a:r>
            <a:r>
              <a:rPr sz="2000" spc="1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114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desired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3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2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not</a:t>
            </a:r>
            <a:r>
              <a:rPr sz="2000" spc="3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reached,</a:t>
            </a:r>
            <a:r>
              <a:rPr sz="2000" spc="3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move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backwards</a:t>
            </a:r>
            <a:r>
              <a:rPr sz="2000" spc="3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</a:t>
            </a:r>
            <a:r>
              <a:rPr sz="2000" spc="3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3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30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until</a:t>
            </a:r>
            <a:r>
              <a:rPr sz="2000" spc="320" dirty="0">
                <a:latin typeface="Georgia"/>
                <a:cs typeface="Georgia"/>
              </a:rPr>
              <a:t> </a:t>
            </a:r>
            <a:r>
              <a:rPr sz="2000" spc="-50" dirty="0">
                <a:latin typeface="Georgia"/>
                <a:cs typeface="Georgia"/>
              </a:rPr>
              <a:t>a </a:t>
            </a:r>
            <a:r>
              <a:rPr sz="2000" dirty="0">
                <a:latin typeface="Georgia"/>
                <a:cs typeface="Georgia"/>
              </a:rPr>
              <a:t>path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found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that</a:t>
            </a:r>
            <a:r>
              <a:rPr sz="2000" spc="5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moves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it</a:t>
            </a:r>
            <a:r>
              <a:rPr sz="2000" spc="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forward.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Eg.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8</a:t>
            </a:r>
            <a:r>
              <a:rPr sz="2000" spc="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Queen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Problem,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Sum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of </a:t>
            </a:r>
            <a:r>
              <a:rPr sz="2000" spc="-10" dirty="0">
                <a:latin typeface="Georgia"/>
                <a:cs typeface="Georgia"/>
              </a:rPr>
              <a:t>Subset,</a:t>
            </a:r>
            <a:r>
              <a:rPr sz="2000" spc="-11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Graph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Coloring</a:t>
            </a:r>
            <a:endParaRPr sz="2000">
              <a:latin typeface="Georgia"/>
              <a:cs typeface="Georgia"/>
            </a:endParaRPr>
          </a:p>
          <a:p>
            <a:pPr marL="12700" marR="5080" indent="-635" algn="just">
              <a:lnSpc>
                <a:spcPct val="150000"/>
              </a:lnSpc>
              <a:buClr>
                <a:srgbClr val="EF7E08"/>
              </a:buClr>
              <a:buSzPct val="77500"/>
              <a:buFont typeface="Gadugi"/>
              <a:buChar char="•"/>
              <a:tabLst>
                <a:tab pos="12700" algn="l"/>
                <a:tab pos="191770" algn="l"/>
              </a:tabLst>
            </a:pPr>
            <a:r>
              <a:rPr sz="2000" dirty="0">
                <a:latin typeface="Georgia"/>
                <a:cs typeface="Georgia"/>
              </a:rPr>
              <a:t>	Dynamic</a:t>
            </a:r>
            <a:r>
              <a:rPr sz="2000" spc="2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programming</a:t>
            </a:r>
            <a:r>
              <a:rPr sz="2000" spc="28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2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2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break</a:t>
            </a:r>
            <a:r>
              <a:rPr sz="2000" spc="2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2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complex</a:t>
            </a:r>
            <a:r>
              <a:rPr sz="2000" spc="28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problem </a:t>
            </a:r>
            <a:r>
              <a:rPr sz="2000" dirty="0">
                <a:latin typeface="Georgia"/>
                <a:cs typeface="Georgia"/>
              </a:rPr>
              <a:t>into</a:t>
            </a:r>
            <a:r>
              <a:rPr sz="2000" spc="1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1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collection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simpler</a:t>
            </a:r>
            <a:r>
              <a:rPr sz="2000" spc="1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subproblems,</a:t>
            </a:r>
            <a:r>
              <a:rPr sz="2000" spc="1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then</a:t>
            </a:r>
            <a:r>
              <a:rPr sz="2000" spc="14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solve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each</a:t>
            </a:r>
            <a:r>
              <a:rPr sz="2000" spc="1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1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those subproblems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only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once,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storing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their</a:t>
            </a:r>
            <a:r>
              <a:rPr sz="2000" spc="4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for</a:t>
            </a:r>
            <a:r>
              <a:rPr sz="2000" spc="-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future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use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instead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re-</a:t>
            </a:r>
            <a:r>
              <a:rPr sz="2000" spc="-10" dirty="0">
                <a:latin typeface="Georgia"/>
                <a:cs typeface="Georgia"/>
              </a:rPr>
              <a:t>computing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their</a:t>
            </a:r>
            <a:r>
              <a:rPr sz="2000" spc="34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solutions.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Eg.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OBST,0/1</a:t>
            </a:r>
            <a:r>
              <a:rPr sz="2000" spc="-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knapsack</a:t>
            </a:r>
            <a:r>
              <a:rPr sz="2000" spc="365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problems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Algorithm</a:t>
            </a:r>
            <a:r>
              <a:rPr spc="-155" dirty="0"/>
              <a:t> </a:t>
            </a:r>
            <a:r>
              <a:rPr dirty="0"/>
              <a:t>design</a:t>
            </a:r>
            <a:r>
              <a:rPr spc="-120" dirty="0"/>
              <a:t> </a:t>
            </a:r>
            <a:r>
              <a:rPr spc="-35" dirty="0"/>
              <a:t>Strategies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36794" y="1874541"/>
            <a:ext cx="7185025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685" indent="179705" algn="just">
              <a:lnSpc>
                <a:spcPct val="150000"/>
              </a:lnSpc>
              <a:spcBef>
                <a:spcPts val="100"/>
              </a:spcBef>
              <a:buClr>
                <a:srgbClr val="EF7E08"/>
              </a:buClr>
              <a:buSzPct val="77500"/>
              <a:buFont typeface="Gadugi"/>
              <a:buChar char="•"/>
              <a:tabLst>
                <a:tab pos="192405" algn="l"/>
              </a:tabLst>
            </a:pPr>
            <a:r>
              <a:rPr sz="2000" dirty="0">
                <a:latin typeface="Georgia"/>
                <a:cs typeface="Georgia"/>
              </a:rPr>
              <a:t>Brute</a:t>
            </a:r>
            <a:r>
              <a:rPr sz="2000" spc="2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force</a:t>
            </a:r>
            <a:r>
              <a:rPr sz="2000" spc="3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3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try</a:t>
            </a:r>
            <a:r>
              <a:rPr sz="2000" spc="2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all</a:t>
            </a:r>
            <a:r>
              <a:rPr sz="2000" spc="4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possible</a:t>
            </a:r>
            <a:r>
              <a:rPr sz="2000" spc="2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solutions</a:t>
            </a:r>
            <a:r>
              <a:rPr sz="2000" spc="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until</a:t>
            </a:r>
            <a:r>
              <a:rPr sz="2000" spc="25" dirty="0">
                <a:latin typeface="Georgia"/>
                <a:cs typeface="Georgia"/>
              </a:rPr>
              <a:t>  </a:t>
            </a:r>
            <a:r>
              <a:rPr sz="2000" spc="-50" dirty="0">
                <a:latin typeface="Georgia"/>
                <a:cs typeface="Georgia"/>
              </a:rPr>
              <a:t>a </a:t>
            </a:r>
            <a:r>
              <a:rPr sz="2000" spc="-10" dirty="0">
                <a:latin typeface="Georgia"/>
                <a:cs typeface="Georgia"/>
              </a:rPr>
              <a:t>satisfactory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-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found.eg.</a:t>
            </a:r>
            <a:r>
              <a:rPr sz="2000" spc="-9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Sequential</a:t>
            </a:r>
            <a:r>
              <a:rPr sz="2000" spc="-10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Search,</a:t>
            </a:r>
            <a:r>
              <a:rPr sz="2000" spc="-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Bubble</a:t>
            </a:r>
            <a:r>
              <a:rPr sz="2000" spc="-9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Sort</a:t>
            </a:r>
            <a:endParaRPr sz="2000">
              <a:latin typeface="Georgia"/>
              <a:cs typeface="Georgia"/>
            </a:endParaRPr>
          </a:p>
          <a:p>
            <a:pPr marL="12700" marR="5080" indent="179705" algn="just">
              <a:lnSpc>
                <a:spcPct val="150000"/>
              </a:lnSpc>
              <a:buClr>
                <a:srgbClr val="EF7E08"/>
              </a:buClr>
              <a:buSzPct val="77500"/>
              <a:buFont typeface="Gadugi"/>
              <a:buChar char="•"/>
              <a:tabLst>
                <a:tab pos="192405" algn="l"/>
              </a:tabLst>
            </a:pPr>
            <a:r>
              <a:rPr sz="2000" dirty="0">
                <a:latin typeface="Georgia"/>
                <a:cs typeface="Georgia"/>
              </a:rPr>
              <a:t>Randomized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use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random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number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at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least</a:t>
            </a:r>
            <a:r>
              <a:rPr sz="2000" spc="480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once </a:t>
            </a:r>
            <a:r>
              <a:rPr sz="2000" dirty="0">
                <a:latin typeface="Georgia"/>
                <a:cs typeface="Georgia"/>
              </a:rPr>
              <a:t>during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1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computation</a:t>
            </a:r>
            <a:r>
              <a:rPr sz="2000" spc="1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find</a:t>
            </a:r>
            <a:r>
              <a:rPr sz="2000" spc="1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1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14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1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15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problem.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Eg. </a:t>
            </a:r>
            <a:r>
              <a:rPr sz="2000" spc="-10" dirty="0">
                <a:latin typeface="Georgia"/>
                <a:cs typeface="Georgia"/>
              </a:rPr>
              <a:t>Randomized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quick</a:t>
            </a:r>
            <a:r>
              <a:rPr sz="2000" spc="-1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sort</a:t>
            </a:r>
            <a:endParaRPr sz="2000">
              <a:latin typeface="Georgia"/>
              <a:cs typeface="Georgia"/>
            </a:endParaRPr>
          </a:p>
          <a:p>
            <a:pPr marL="12700" marR="5080" indent="179705" algn="just">
              <a:lnSpc>
                <a:spcPct val="150000"/>
              </a:lnSpc>
              <a:buClr>
                <a:srgbClr val="EF7E08"/>
              </a:buClr>
              <a:buSzPct val="77500"/>
              <a:buFont typeface="Gadugi"/>
              <a:buChar char="•"/>
              <a:tabLst>
                <a:tab pos="192405" algn="l"/>
              </a:tabLst>
            </a:pPr>
            <a:r>
              <a:rPr sz="2000" dirty="0">
                <a:latin typeface="Georgia"/>
                <a:cs typeface="Georgia"/>
              </a:rPr>
              <a:t>Recursive</a:t>
            </a:r>
            <a:r>
              <a:rPr sz="2000" spc="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algorithms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–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solve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lowest</a:t>
            </a:r>
            <a:r>
              <a:rPr sz="2000" spc="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simplest</a:t>
            </a:r>
            <a:r>
              <a:rPr sz="2000" spc="7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version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2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2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204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22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then</a:t>
            </a:r>
            <a:r>
              <a:rPr sz="2000" spc="2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solve</a:t>
            </a:r>
            <a:r>
              <a:rPr sz="2000" spc="2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increasingly</a:t>
            </a:r>
            <a:r>
              <a:rPr sz="2000" spc="2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larger</a:t>
            </a:r>
            <a:r>
              <a:rPr sz="2000" spc="22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versions</a:t>
            </a:r>
            <a:r>
              <a:rPr sz="2000" spc="229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22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the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until the</a:t>
            </a:r>
            <a:r>
              <a:rPr sz="2000" spc="-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solution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-1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original</a:t>
            </a:r>
            <a:r>
              <a:rPr sz="2000" spc="4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problem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found.</a:t>
            </a:r>
            <a:r>
              <a:rPr sz="2000" spc="1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Eg. </a:t>
            </a:r>
            <a:r>
              <a:rPr sz="2000" dirty="0">
                <a:latin typeface="Georgia"/>
                <a:cs typeface="Georgia"/>
              </a:rPr>
              <a:t>Factorial</a:t>
            </a:r>
            <a:r>
              <a:rPr sz="2000" spc="-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of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number,</a:t>
            </a:r>
            <a:r>
              <a:rPr sz="2000" spc="-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merge</a:t>
            </a:r>
            <a:r>
              <a:rPr sz="2000" spc="-8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sort,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quick</a:t>
            </a:r>
            <a:r>
              <a:rPr sz="2000" spc="-45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sort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Divide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0" dirty="0"/>
              <a:t> </a:t>
            </a:r>
            <a:r>
              <a:rPr spc="-10" dirty="0"/>
              <a:t>Conquer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7020" marR="5080" indent="-274955">
              <a:lnSpc>
                <a:spcPts val="2590"/>
              </a:lnSpc>
              <a:spcBef>
                <a:spcPts val="425"/>
              </a:spcBef>
            </a:pPr>
            <a:r>
              <a:rPr sz="2400" i="1" dirty="0">
                <a:latin typeface="Perpetua"/>
                <a:cs typeface="Perpetua"/>
              </a:rPr>
              <a:t>Divide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and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Conquer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is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an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algorithmic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paradigm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in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which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problem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is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solved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using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Divide,</a:t>
            </a:r>
            <a:r>
              <a:rPr sz="2400" spc="-3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Conquer,</a:t>
            </a:r>
            <a:r>
              <a:rPr sz="2400" spc="-30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and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Perpetua"/>
                <a:cs typeface="Perpetua"/>
              </a:rPr>
              <a:t>Combine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Perpetua"/>
                <a:cs typeface="Perpetua"/>
              </a:rPr>
              <a:t>strategy.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8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Divide</a:t>
            </a:r>
            <a:r>
              <a:rPr sz="2400" b="1" spc="-50" dirty="0">
                <a:latin typeface="Perpetua"/>
                <a:cs typeface="Perpetua"/>
              </a:rPr>
              <a:t> </a:t>
            </a:r>
            <a:r>
              <a:rPr sz="2400" dirty="0"/>
              <a:t>the</a:t>
            </a:r>
            <a:r>
              <a:rPr sz="2400" spc="-30" dirty="0"/>
              <a:t> </a:t>
            </a:r>
            <a:r>
              <a:rPr sz="2400" dirty="0"/>
              <a:t>original</a:t>
            </a:r>
            <a:r>
              <a:rPr sz="2400" spc="-40" dirty="0"/>
              <a:t> </a:t>
            </a:r>
            <a:r>
              <a:rPr sz="2400" dirty="0"/>
              <a:t>problem</a:t>
            </a:r>
            <a:r>
              <a:rPr sz="2400" spc="-55" dirty="0"/>
              <a:t> </a:t>
            </a:r>
            <a:r>
              <a:rPr sz="2400" dirty="0"/>
              <a:t>into</a:t>
            </a:r>
            <a:r>
              <a:rPr sz="2400" spc="-10" dirty="0"/>
              <a:t> </a:t>
            </a:r>
            <a:r>
              <a:rPr sz="2400" dirty="0"/>
              <a:t>a</a:t>
            </a:r>
            <a:r>
              <a:rPr sz="2400" spc="-50" dirty="0"/>
              <a:t> </a:t>
            </a:r>
            <a:r>
              <a:rPr sz="2400" dirty="0"/>
              <a:t>set</a:t>
            </a:r>
            <a:r>
              <a:rPr sz="2400" spc="-15" dirty="0"/>
              <a:t> </a:t>
            </a:r>
            <a:r>
              <a:rPr sz="2400" dirty="0"/>
              <a:t>of</a:t>
            </a:r>
            <a:r>
              <a:rPr sz="2400" spc="-40" dirty="0"/>
              <a:t> </a:t>
            </a:r>
            <a:r>
              <a:rPr sz="2400" spc="-10" dirty="0"/>
              <a:t>subproblems.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Conquer:</a:t>
            </a:r>
            <a:r>
              <a:rPr sz="2400" b="1" spc="-60" dirty="0">
                <a:latin typeface="Perpetua"/>
                <a:cs typeface="Perpetua"/>
              </a:rPr>
              <a:t> </a:t>
            </a:r>
            <a:r>
              <a:rPr sz="2400" dirty="0"/>
              <a:t>Solve</a:t>
            </a:r>
            <a:r>
              <a:rPr sz="2400" spc="-30" dirty="0"/>
              <a:t> </a:t>
            </a:r>
            <a:r>
              <a:rPr sz="2400" dirty="0"/>
              <a:t>every</a:t>
            </a:r>
            <a:r>
              <a:rPr sz="2400" spc="-30" dirty="0"/>
              <a:t> </a:t>
            </a:r>
            <a:r>
              <a:rPr sz="2400" spc="-10" dirty="0"/>
              <a:t>subproblem</a:t>
            </a:r>
            <a:r>
              <a:rPr sz="2400" spc="-55" dirty="0"/>
              <a:t> </a:t>
            </a:r>
            <a:r>
              <a:rPr sz="2400" spc="-35" dirty="0"/>
              <a:t>individually,</a:t>
            </a:r>
            <a:r>
              <a:rPr sz="2400" spc="-114" dirty="0"/>
              <a:t> </a:t>
            </a:r>
            <a:r>
              <a:rPr sz="2400" spc="-10" dirty="0"/>
              <a:t>recursively.</a:t>
            </a:r>
            <a:endParaRPr sz="2400">
              <a:latin typeface="Perpetua"/>
              <a:cs typeface="Perpetua"/>
            </a:endParaRPr>
          </a:p>
          <a:p>
            <a:pPr marL="287020" marR="6985" indent="-274955">
              <a:lnSpc>
                <a:spcPts val="2590"/>
              </a:lnSpc>
              <a:spcBef>
                <a:spcPts val="640"/>
              </a:spcBef>
              <a:buFont typeface="Webdings"/>
              <a:buChar char="●"/>
              <a:tabLst>
                <a:tab pos="287020" algn="l"/>
                <a:tab pos="299085" algn="l"/>
              </a:tabLst>
            </a:pP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b="1" dirty="0">
                <a:latin typeface="Perpetua"/>
                <a:cs typeface="Perpetua"/>
              </a:rPr>
              <a:t>Combine:</a:t>
            </a:r>
            <a:r>
              <a:rPr sz="2400" b="1" spc="204" dirty="0">
                <a:latin typeface="Perpetua"/>
                <a:cs typeface="Perpetua"/>
              </a:rPr>
              <a:t> </a:t>
            </a:r>
            <a:r>
              <a:rPr sz="2400" dirty="0"/>
              <a:t>Put</a:t>
            </a:r>
            <a:r>
              <a:rPr sz="2400" spc="200" dirty="0"/>
              <a:t> </a:t>
            </a:r>
            <a:r>
              <a:rPr sz="2400" dirty="0"/>
              <a:t>together</a:t>
            </a:r>
            <a:r>
              <a:rPr sz="2400" spc="225" dirty="0"/>
              <a:t> </a:t>
            </a:r>
            <a:r>
              <a:rPr sz="2400" dirty="0"/>
              <a:t>the</a:t>
            </a:r>
            <a:r>
              <a:rPr sz="2400" spc="190" dirty="0"/>
              <a:t> </a:t>
            </a:r>
            <a:r>
              <a:rPr sz="2400" dirty="0"/>
              <a:t>solutions</a:t>
            </a:r>
            <a:r>
              <a:rPr sz="2400" spc="180" dirty="0"/>
              <a:t> </a:t>
            </a:r>
            <a:r>
              <a:rPr sz="2400" dirty="0"/>
              <a:t>of</a:t>
            </a:r>
            <a:r>
              <a:rPr sz="2400" spc="204" dirty="0"/>
              <a:t> </a:t>
            </a:r>
            <a:r>
              <a:rPr sz="2400" dirty="0"/>
              <a:t>the</a:t>
            </a:r>
            <a:r>
              <a:rPr sz="2400" spc="195" dirty="0"/>
              <a:t> </a:t>
            </a:r>
            <a:r>
              <a:rPr sz="2400" dirty="0"/>
              <a:t>subproblems</a:t>
            </a:r>
            <a:r>
              <a:rPr sz="2400" spc="180" dirty="0"/>
              <a:t> </a:t>
            </a:r>
            <a:r>
              <a:rPr sz="2400" dirty="0"/>
              <a:t>to</a:t>
            </a:r>
            <a:r>
              <a:rPr sz="2400" spc="210" dirty="0"/>
              <a:t> </a:t>
            </a:r>
            <a:r>
              <a:rPr sz="2400" spc="-25" dirty="0"/>
              <a:t>get </a:t>
            </a:r>
            <a:r>
              <a:rPr sz="2400" dirty="0"/>
              <a:t>the</a:t>
            </a:r>
            <a:r>
              <a:rPr sz="2400" spc="-45" dirty="0"/>
              <a:t> </a:t>
            </a:r>
            <a:r>
              <a:rPr sz="2400" dirty="0"/>
              <a:t>solution</a:t>
            </a:r>
            <a:r>
              <a:rPr sz="2400" spc="-35" dirty="0"/>
              <a:t> </a:t>
            </a:r>
            <a:r>
              <a:rPr sz="2400" dirty="0"/>
              <a:t>to</a:t>
            </a:r>
            <a:r>
              <a:rPr sz="2400" spc="-25" dirty="0"/>
              <a:t> </a:t>
            </a:r>
            <a:r>
              <a:rPr sz="2400" dirty="0"/>
              <a:t>the</a:t>
            </a:r>
            <a:r>
              <a:rPr sz="2400" spc="-35" dirty="0"/>
              <a:t> </a:t>
            </a:r>
            <a:r>
              <a:rPr sz="2400" dirty="0"/>
              <a:t>whole</a:t>
            </a:r>
            <a:r>
              <a:rPr sz="2400" spc="-55" dirty="0"/>
              <a:t> </a:t>
            </a:r>
            <a:r>
              <a:rPr sz="2400" spc="-10" dirty="0"/>
              <a:t>problem.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469"/>
              </a:spcBef>
            </a:pPr>
            <a:r>
              <a:rPr sz="2400" b="1" spc="-10" dirty="0">
                <a:latin typeface="Perpetua"/>
                <a:cs typeface="Perpetua"/>
              </a:rPr>
              <a:t>Examples: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/>
              <a:t>Binary</a:t>
            </a:r>
            <a:r>
              <a:rPr sz="2400" spc="-40" dirty="0"/>
              <a:t> </a:t>
            </a:r>
            <a:r>
              <a:rPr sz="2400" spc="-10" dirty="0"/>
              <a:t>Search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dirty="0"/>
              <a:t>Sorting</a:t>
            </a:r>
            <a:r>
              <a:rPr sz="2400" spc="25" dirty="0"/>
              <a:t> </a:t>
            </a:r>
            <a:r>
              <a:rPr sz="2400" dirty="0"/>
              <a:t>(merge sort,</a:t>
            </a:r>
            <a:r>
              <a:rPr sz="2400" spc="-90" dirty="0"/>
              <a:t> </a:t>
            </a:r>
            <a:r>
              <a:rPr sz="2400" dirty="0"/>
              <a:t>quick</a:t>
            </a:r>
            <a:r>
              <a:rPr sz="2400" spc="-5" dirty="0"/>
              <a:t> </a:t>
            </a:r>
            <a:r>
              <a:rPr sz="2400" spc="-10" dirty="0"/>
              <a:t>sort)</a:t>
            </a: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Char char="●"/>
              <a:tabLst>
                <a:tab pos="287020" algn="l"/>
                <a:tab pos="299720" algn="l"/>
              </a:tabLst>
            </a:pPr>
            <a:r>
              <a:rPr sz="2050" spc="204" dirty="0">
                <a:solidFill>
                  <a:srgbClr val="D34816"/>
                </a:solidFill>
                <a:latin typeface="Webdings"/>
                <a:cs typeface="Webdings"/>
              </a:rPr>
              <a:t>​</a:t>
            </a:r>
            <a:r>
              <a:rPr sz="2050" dirty="0">
                <a:solidFill>
                  <a:srgbClr val="D34816"/>
                </a:solidFill>
                <a:latin typeface="Times New Roman"/>
                <a:cs typeface="Times New Roman"/>
              </a:rPr>
              <a:t>	</a:t>
            </a:r>
            <a:r>
              <a:rPr sz="2400" spc="-100" dirty="0"/>
              <a:t>Tower</a:t>
            </a:r>
            <a:r>
              <a:rPr sz="2400" spc="-30" dirty="0"/>
              <a:t> </a:t>
            </a:r>
            <a:r>
              <a:rPr sz="2400" dirty="0"/>
              <a:t>of</a:t>
            </a:r>
            <a:r>
              <a:rPr sz="2400" spc="-20" dirty="0"/>
              <a:t> </a:t>
            </a:r>
            <a:r>
              <a:rPr sz="2400" spc="-10" dirty="0"/>
              <a:t>Hanoi.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112" y="1315212"/>
            <a:ext cx="9027160" cy="5911850"/>
            <a:chOff x="515112" y="1315212"/>
            <a:chExt cx="9027160" cy="59118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30096" y="1315212"/>
              <a:ext cx="6819900" cy="257098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0096" y="3886200"/>
              <a:ext cx="6819900" cy="200101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1864" y="6785564"/>
            <a:ext cx="219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3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Merge</a:t>
            </a:r>
            <a:r>
              <a:rPr spc="-170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886712"/>
            <a:ext cx="9027160" cy="5340350"/>
            <a:chOff x="515112" y="1886712"/>
            <a:chExt cx="9027160" cy="5340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327" y="1886712"/>
              <a:ext cx="7929371" cy="19994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0327" y="3886200"/>
              <a:ext cx="7929371" cy="314401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0" dirty="0"/>
              <a:t>Tower</a:t>
            </a:r>
            <a:r>
              <a:rPr spc="-130" dirty="0"/>
              <a:t> </a:t>
            </a:r>
            <a:r>
              <a:rPr dirty="0"/>
              <a:t>of</a:t>
            </a:r>
            <a:r>
              <a:rPr spc="-130" dirty="0"/>
              <a:t> </a:t>
            </a:r>
            <a:r>
              <a:rPr spc="-20" dirty="0"/>
              <a:t>Hanoi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815083"/>
            <a:ext cx="9027160" cy="5412105"/>
            <a:chOff x="515112" y="1815083"/>
            <a:chExt cx="9027160" cy="54121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8467" y="1815083"/>
              <a:ext cx="7501128" cy="20711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499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8467" y="3886200"/>
              <a:ext cx="7501128" cy="28575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Advantages</a:t>
            </a:r>
            <a:r>
              <a:rPr spc="-15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Divide</a:t>
            </a:r>
            <a:r>
              <a:rPr spc="-105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10" dirty="0"/>
              <a:t>Conquer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87020" marR="5080" indent="-274955" algn="just">
              <a:lnSpc>
                <a:spcPct val="90000"/>
              </a:lnSpc>
              <a:spcBef>
                <a:spcPts val="385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</a:rPr>
              <a:t>	</a:t>
            </a:r>
            <a:r>
              <a:rPr sz="2400" dirty="0"/>
              <a:t>Divide</a:t>
            </a:r>
            <a:r>
              <a:rPr sz="2400" spc="140" dirty="0"/>
              <a:t> </a:t>
            </a:r>
            <a:r>
              <a:rPr sz="2400" dirty="0"/>
              <a:t>and</a:t>
            </a:r>
            <a:r>
              <a:rPr sz="2400" spc="135" dirty="0"/>
              <a:t> </a:t>
            </a:r>
            <a:r>
              <a:rPr sz="2400" dirty="0"/>
              <a:t>Conquer</a:t>
            </a:r>
            <a:r>
              <a:rPr sz="2400" spc="145" dirty="0"/>
              <a:t> </a:t>
            </a:r>
            <a:r>
              <a:rPr sz="2400" dirty="0"/>
              <a:t>tend</a:t>
            </a:r>
            <a:r>
              <a:rPr sz="2400" spc="155" dirty="0"/>
              <a:t> </a:t>
            </a:r>
            <a:r>
              <a:rPr sz="2400" dirty="0"/>
              <a:t>to</a:t>
            </a:r>
            <a:r>
              <a:rPr sz="2400" spc="160" dirty="0"/>
              <a:t> </a:t>
            </a:r>
            <a:r>
              <a:rPr sz="2400" dirty="0"/>
              <a:t>successfully</a:t>
            </a:r>
            <a:r>
              <a:rPr sz="2400" spc="140" dirty="0"/>
              <a:t> </a:t>
            </a:r>
            <a:r>
              <a:rPr sz="2400" dirty="0"/>
              <a:t>solve</a:t>
            </a:r>
            <a:r>
              <a:rPr sz="2400" spc="140" dirty="0"/>
              <a:t> </a:t>
            </a:r>
            <a:r>
              <a:rPr sz="2400" dirty="0"/>
              <a:t>one</a:t>
            </a:r>
            <a:r>
              <a:rPr sz="2400" spc="165" dirty="0"/>
              <a:t> </a:t>
            </a:r>
            <a:r>
              <a:rPr sz="2400" dirty="0"/>
              <a:t>of</a:t>
            </a:r>
            <a:r>
              <a:rPr sz="2400" spc="135" dirty="0"/>
              <a:t> </a:t>
            </a:r>
            <a:r>
              <a:rPr sz="2400" dirty="0"/>
              <a:t>the</a:t>
            </a:r>
            <a:r>
              <a:rPr sz="2400" spc="140" dirty="0"/>
              <a:t> </a:t>
            </a:r>
            <a:r>
              <a:rPr sz="2400" spc="-105" dirty="0"/>
              <a:t>biggest </a:t>
            </a:r>
            <a:r>
              <a:rPr sz="2400" spc="-10" dirty="0"/>
              <a:t>problems,</a:t>
            </a:r>
            <a:r>
              <a:rPr sz="2400" spc="-55" dirty="0"/>
              <a:t> </a:t>
            </a:r>
            <a:r>
              <a:rPr sz="2400" dirty="0"/>
              <a:t>such</a:t>
            </a:r>
            <a:r>
              <a:rPr sz="2400" spc="20" dirty="0"/>
              <a:t> </a:t>
            </a:r>
            <a:r>
              <a:rPr sz="2400" dirty="0"/>
              <a:t>as</a:t>
            </a:r>
            <a:r>
              <a:rPr sz="2400" spc="35" dirty="0"/>
              <a:t> </a:t>
            </a:r>
            <a:r>
              <a:rPr sz="2400" dirty="0"/>
              <a:t>the</a:t>
            </a:r>
            <a:r>
              <a:rPr sz="2400" spc="5" dirty="0"/>
              <a:t> </a:t>
            </a:r>
            <a:r>
              <a:rPr sz="2400" spc="-75" dirty="0"/>
              <a:t>Tower</a:t>
            </a:r>
            <a:r>
              <a:rPr sz="2400" spc="35" dirty="0"/>
              <a:t> </a:t>
            </a:r>
            <a:r>
              <a:rPr sz="2400" dirty="0"/>
              <a:t>of</a:t>
            </a:r>
            <a:r>
              <a:rPr sz="2400" spc="20" dirty="0"/>
              <a:t> </a:t>
            </a:r>
            <a:r>
              <a:rPr sz="2400" dirty="0"/>
              <a:t>Hanoi,</a:t>
            </a:r>
            <a:r>
              <a:rPr sz="2400" spc="-80" dirty="0"/>
              <a:t> </a:t>
            </a:r>
            <a:r>
              <a:rPr sz="2400" dirty="0"/>
              <a:t>a</a:t>
            </a:r>
            <a:r>
              <a:rPr sz="2400" spc="35" dirty="0"/>
              <a:t> </a:t>
            </a:r>
            <a:r>
              <a:rPr sz="2400" dirty="0"/>
              <a:t>mathematical</a:t>
            </a:r>
            <a:r>
              <a:rPr sz="2400" spc="-5" dirty="0"/>
              <a:t> </a:t>
            </a:r>
            <a:r>
              <a:rPr sz="2400" dirty="0"/>
              <a:t>puzzle.</a:t>
            </a:r>
            <a:r>
              <a:rPr sz="2400" spc="-55" dirty="0"/>
              <a:t> </a:t>
            </a:r>
            <a:r>
              <a:rPr sz="2400" dirty="0"/>
              <a:t>It</a:t>
            </a:r>
            <a:r>
              <a:rPr sz="2400" spc="35" dirty="0"/>
              <a:t> </a:t>
            </a:r>
            <a:r>
              <a:rPr sz="2400" spc="-25" dirty="0"/>
              <a:t>is </a:t>
            </a:r>
            <a:r>
              <a:rPr sz="2400" dirty="0"/>
              <a:t>challenging</a:t>
            </a:r>
            <a:r>
              <a:rPr sz="2400" spc="70" dirty="0"/>
              <a:t> </a:t>
            </a:r>
            <a:r>
              <a:rPr sz="2400" dirty="0"/>
              <a:t>to</a:t>
            </a:r>
            <a:r>
              <a:rPr sz="2400" spc="75" dirty="0"/>
              <a:t> </a:t>
            </a:r>
            <a:r>
              <a:rPr sz="2400" dirty="0"/>
              <a:t>solve</a:t>
            </a:r>
            <a:r>
              <a:rPr sz="2400" spc="75" dirty="0"/>
              <a:t> </a:t>
            </a:r>
            <a:r>
              <a:rPr sz="2400" dirty="0"/>
              <a:t>complicated</a:t>
            </a:r>
            <a:r>
              <a:rPr sz="2400" spc="95" dirty="0"/>
              <a:t> </a:t>
            </a:r>
            <a:r>
              <a:rPr sz="2400" dirty="0"/>
              <a:t>problems</a:t>
            </a:r>
            <a:r>
              <a:rPr sz="2400" spc="85" dirty="0"/>
              <a:t> </a:t>
            </a:r>
            <a:r>
              <a:rPr sz="2400" dirty="0"/>
              <a:t>for</a:t>
            </a:r>
            <a:r>
              <a:rPr sz="2400" spc="80" dirty="0"/>
              <a:t> </a:t>
            </a:r>
            <a:r>
              <a:rPr sz="2400" dirty="0"/>
              <a:t>which</a:t>
            </a:r>
            <a:r>
              <a:rPr sz="2400" spc="50" dirty="0"/>
              <a:t> </a:t>
            </a:r>
            <a:r>
              <a:rPr sz="2400" dirty="0"/>
              <a:t>you</a:t>
            </a:r>
            <a:r>
              <a:rPr sz="2400" spc="75" dirty="0"/>
              <a:t> </a:t>
            </a:r>
            <a:r>
              <a:rPr sz="2400" dirty="0"/>
              <a:t>have</a:t>
            </a:r>
            <a:r>
              <a:rPr sz="2400" spc="75" dirty="0"/>
              <a:t> </a:t>
            </a:r>
            <a:r>
              <a:rPr sz="2400" spc="-25" dirty="0"/>
              <a:t>no </a:t>
            </a:r>
            <a:r>
              <a:rPr sz="2400" dirty="0"/>
              <a:t>basic</a:t>
            </a:r>
            <a:r>
              <a:rPr sz="2400" spc="-25" dirty="0"/>
              <a:t> </a:t>
            </a:r>
            <a:r>
              <a:rPr sz="2400" spc="-10" dirty="0"/>
              <a:t>idea,</a:t>
            </a:r>
            <a:r>
              <a:rPr sz="2400" spc="-125" dirty="0"/>
              <a:t> </a:t>
            </a:r>
            <a:r>
              <a:rPr sz="2400" dirty="0"/>
              <a:t>but</a:t>
            </a:r>
            <a:r>
              <a:rPr sz="2400" spc="-35" dirty="0"/>
              <a:t> </a:t>
            </a:r>
            <a:r>
              <a:rPr sz="2400" dirty="0"/>
              <a:t>with the</a:t>
            </a:r>
            <a:r>
              <a:rPr sz="2400" spc="-45" dirty="0"/>
              <a:t> </a:t>
            </a:r>
            <a:r>
              <a:rPr sz="2400" dirty="0"/>
              <a:t>help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5" dirty="0"/>
              <a:t> </a:t>
            </a:r>
            <a:r>
              <a:rPr sz="2400" dirty="0"/>
              <a:t>the</a:t>
            </a:r>
            <a:r>
              <a:rPr sz="2400" spc="-20" dirty="0"/>
              <a:t> </a:t>
            </a:r>
            <a:r>
              <a:rPr sz="2400" dirty="0"/>
              <a:t>divide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25" dirty="0"/>
              <a:t> </a:t>
            </a:r>
            <a:r>
              <a:rPr sz="2400" dirty="0"/>
              <a:t>conquer</a:t>
            </a:r>
            <a:r>
              <a:rPr sz="2400" spc="-15" dirty="0"/>
              <a:t> </a:t>
            </a:r>
            <a:r>
              <a:rPr sz="2400" spc="-10" dirty="0"/>
              <a:t>approach,</a:t>
            </a:r>
            <a:r>
              <a:rPr sz="2400" spc="-125" dirty="0"/>
              <a:t> </a:t>
            </a:r>
            <a:r>
              <a:rPr sz="2400" spc="-25" dirty="0"/>
              <a:t>it </a:t>
            </a:r>
            <a:r>
              <a:rPr sz="2400" dirty="0"/>
              <a:t>has</a:t>
            </a:r>
            <a:r>
              <a:rPr sz="2400" spc="210" dirty="0"/>
              <a:t> </a:t>
            </a:r>
            <a:r>
              <a:rPr sz="2400" dirty="0"/>
              <a:t>lessened</a:t>
            </a:r>
            <a:r>
              <a:rPr sz="2400" spc="200" dirty="0"/>
              <a:t> </a:t>
            </a:r>
            <a:r>
              <a:rPr sz="2400" dirty="0"/>
              <a:t>the</a:t>
            </a:r>
            <a:r>
              <a:rPr sz="2400" spc="210" dirty="0"/>
              <a:t> </a:t>
            </a:r>
            <a:r>
              <a:rPr sz="2400" dirty="0"/>
              <a:t>effort</a:t>
            </a:r>
            <a:r>
              <a:rPr sz="2400" spc="215" dirty="0"/>
              <a:t> </a:t>
            </a:r>
            <a:r>
              <a:rPr sz="2400" dirty="0"/>
              <a:t>as</a:t>
            </a:r>
            <a:r>
              <a:rPr sz="2400" spc="190" dirty="0"/>
              <a:t> </a:t>
            </a:r>
            <a:r>
              <a:rPr sz="2400" dirty="0"/>
              <a:t>it</a:t>
            </a:r>
            <a:r>
              <a:rPr sz="2400" spc="220" dirty="0"/>
              <a:t> </a:t>
            </a:r>
            <a:r>
              <a:rPr sz="2400" dirty="0"/>
              <a:t>works</a:t>
            </a:r>
            <a:r>
              <a:rPr sz="2400" spc="190" dirty="0"/>
              <a:t> </a:t>
            </a:r>
            <a:r>
              <a:rPr sz="2400" dirty="0"/>
              <a:t>on</a:t>
            </a:r>
            <a:r>
              <a:rPr sz="2400" spc="204" dirty="0"/>
              <a:t> </a:t>
            </a:r>
            <a:r>
              <a:rPr sz="2400" dirty="0"/>
              <a:t>dividing</a:t>
            </a:r>
            <a:r>
              <a:rPr sz="2400" spc="180" dirty="0"/>
              <a:t> </a:t>
            </a:r>
            <a:r>
              <a:rPr sz="2400" dirty="0"/>
              <a:t>the</a:t>
            </a:r>
            <a:r>
              <a:rPr sz="2400" spc="204" dirty="0"/>
              <a:t> </a:t>
            </a:r>
            <a:r>
              <a:rPr sz="2400" dirty="0"/>
              <a:t>main</a:t>
            </a:r>
            <a:r>
              <a:rPr sz="2400" spc="204" dirty="0"/>
              <a:t> </a:t>
            </a:r>
            <a:r>
              <a:rPr sz="2400" spc="-10" dirty="0"/>
              <a:t>problem </a:t>
            </a:r>
            <a:r>
              <a:rPr sz="2400" dirty="0"/>
              <a:t>into</a:t>
            </a:r>
            <a:r>
              <a:rPr sz="2400" spc="80" dirty="0"/>
              <a:t> </a:t>
            </a:r>
            <a:r>
              <a:rPr sz="2400" dirty="0"/>
              <a:t>two</a:t>
            </a:r>
            <a:r>
              <a:rPr sz="2400" spc="85" dirty="0"/>
              <a:t> </a:t>
            </a:r>
            <a:r>
              <a:rPr sz="2400" dirty="0"/>
              <a:t>halves</a:t>
            </a:r>
            <a:r>
              <a:rPr sz="2400" spc="85" dirty="0"/>
              <a:t> </a:t>
            </a:r>
            <a:r>
              <a:rPr sz="2400" dirty="0"/>
              <a:t>and</a:t>
            </a:r>
            <a:r>
              <a:rPr sz="2400" spc="95" dirty="0"/>
              <a:t> </a:t>
            </a:r>
            <a:r>
              <a:rPr sz="2400" dirty="0"/>
              <a:t>then</a:t>
            </a:r>
            <a:r>
              <a:rPr sz="2400" spc="85" dirty="0"/>
              <a:t> </a:t>
            </a:r>
            <a:r>
              <a:rPr sz="2400" dirty="0"/>
              <a:t>solve</a:t>
            </a:r>
            <a:r>
              <a:rPr sz="2400" spc="90" dirty="0"/>
              <a:t> </a:t>
            </a:r>
            <a:r>
              <a:rPr sz="2400" dirty="0"/>
              <a:t>them</a:t>
            </a:r>
            <a:r>
              <a:rPr sz="2400" spc="95" dirty="0"/>
              <a:t> </a:t>
            </a:r>
            <a:r>
              <a:rPr sz="2400" spc="-25" dirty="0"/>
              <a:t>recursively.</a:t>
            </a:r>
            <a:r>
              <a:rPr sz="2400" spc="-15" dirty="0"/>
              <a:t> </a:t>
            </a:r>
            <a:r>
              <a:rPr sz="2400" dirty="0"/>
              <a:t>This</a:t>
            </a:r>
            <a:r>
              <a:rPr sz="2400" spc="75" dirty="0"/>
              <a:t> </a:t>
            </a:r>
            <a:r>
              <a:rPr sz="2400" dirty="0"/>
              <a:t>algorithm</a:t>
            </a:r>
            <a:r>
              <a:rPr sz="2400" spc="70" dirty="0"/>
              <a:t> </a:t>
            </a:r>
            <a:r>
              <a:rPr sz="2400" spc="-25" dirty="0"/>
              <a:t>is </a:t>
            </a:r>
            <a:r>
              <a:rPr sz="2400" dirty="0"/>
              <a:t>much</a:t>
            </a:r>
            <a:r>
              <a:rPr sz="2400" spc="-30" dirty="0"/>
              <a:t> </a:t>
            </a:r>
            <a:r>
              <a:rPr sz="2400" dirty="0"/>
              <a:t>faster</a:t>
            </a:r>
            <a:r>
              <a:rPr sz="2400" spc="-40" dirty="0"/>
              <a:t> </a:t>
            </a:r>
            <a:r>
              <a:rPr sz="2400" dirty="0"/>
              <a:t>than</a:t>
            </a:r>
            <a:r>
              <a:rPr sz="2400" spc="-30" dirty="0"/>
              <a:t> </a:t>
            </a:r>
            <a:r>
              <a:rPr sz="2400" dirty="0"/>
              <a:t>other</a:t>
            </a:r>
            <a:r>
              <a:rPr sz="2400" spc="-40" dirty="0"/>
              <a:t> </a:t>
            </a:r>
            <a:r>
              <a:rPr sz="2400" spc="-10" dirty="0"/>
              <a:t>algorithms.</a:t>
            </a:r>
            <a:endParaRPr sz="2400"/>
          </a:p>
          <a:p>
            <a:pPr marL="287020" marR="5715" indent="-274955" algn="just">
              <a:lnSpc>
                <a:spcPts val="2590"/>
              </a:lnSpc>
              <a:spcBef>
                <a:spcPts val="64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</a:rPr>
              <a:t>	</a:t>
            </a:r>
            <a:r>
              <a:rPr sz="2400" dirty="0"/>
              <a:t>It</a:t>
            </a:r>
            <a:r>
              <a:rPr sz="2400" spc="285" dirty="0"/>
              <a:t> </a:t>
            </a:r>
            <a:r>
              <a:rPr sz="2400" dirty="0"/>
              <a:t>efficiently</a:t>
            </a:r>
            <a:r>
              <a:rPr sz="2400" spc="280" dirty="0"/>
              <a:t> </a:t>
            </a:r>
            <a:r>
              <a:rPr sz="2400" dirty="0"/>
              <a:t>uses</a:t>
            </a:r>
            <a:r>
              <a:rPr sz="2400" spc="270" dirty="0"/>
              <a:t> </a:t>
            </a:r>
            <a:r>
              <a:rPr sz="2400" dirty="0"/>
              <a:t>cache</a:t>
            </a:r>
            <a:r>
              <a:rPr sz="2400" spc="280" dirty="0"/>
              <a:t> </a:t>
            </a:r>
            <a:r>
              <a:rPr sz="2400" dirty="0"/>
              <a:t>memory</a:t>
            </a:r>
            <a:r>
              <a:rPr sz="2400" spc="280" dirty="0"/>
              <a:t> </a:t>
            </a:r>
            <a:r>
              <a:rPr sz="2400" dirty="0"/>
              <a:t>without</a:t>
            </a:r>
            <a:r>
              <a:rPr sz="2400" spc="285" dirty="0"/>
              <a:t> </a:t>
            </a:r>
            <a:r>
              <a:rPr sz="2400" dirty="0"/>
              <a:t>occupying</a:t>
            </a:r>
            <a:r>
              <a:rPr sz="2400" spc="280" dirty="0"/>
              <a:t> </a:t>
            </a:r>
            <a:r>
              <a:rPr sz="2400" dirty="0"/>
              <a:t>much</a:t>
            </a:r>
            <a:r>
              <a:rPr sz="2400" spc="280" dirty="0"/>
              <a:t> </a:t>
            </a:r>
            <a:r>
              <a:rPr sz="2400" spc="-155" dirty="0"/>
              <a:t>space </a:t>
            </a:r>
            <a:r>
              <a:rPr sz="2400" dirty="0"/>
              <a:t>because</a:t>
            </a:r>
            <a:r>
              <a:rPr sz="2400" spc="325" dirty="0"/>
              <a:t> </a:t>
            </a:r>
            <a:r>
              <a:rPr sz="2400" dirty="0"/>
              <a:t>it</a:t>
            </a:r>
            <a:r>
              <a:rPr sz="2400" spc="335" dirty="0"/>
              <a:t> </a:t>
            </a:r>
            <a:r>
              <a:rPr sz="2400" dirty="0"/>
              <a:t>solves</a:t>
            </a:r>
            <a:r>
              <a:rPr sz="2400" spc="335" dirty="0"/>
              <a:t> </a:t>
            </a:r>
            <a:r>
              <a:rPr sz="2400" dirty="0"/>
              <a:t>simple</a:t>
            </a:r>
            <a:r>
              <a:rPr sz="2400" spc="350" dirty="0"/>
              <a:t> </a:t>
            </a:r>
            <a:r>
              <a:rPr sz="2400" dirty="0"/>
              <a:t>subproblems</a:t>
            </a:r>
            <a:r>
              <a:rPr sz="2400" spc="335" dirty="0"/>
              <a:t> </a:t>
            </a:r>
            <a:r>
              <a:rPr sz="2400" dirty="0"/>
              <a:t>within</a:t>
            </a:r>
            <a:r>
              <a:rPr sz="2400" spc="320" dirty="0"/>
              <a:t> </a:t>
            </a:r>
            <a:r>
              <a:rPr sz="2400" dirty="0"/>
              <a:t>the</a:t>
            </a:r>
            <a:r>
              <a:rPr sz="2400" spc="355" dirty="0"/>
              <a:t> </a:t>
            </a:r>
            <a:r>
              <a:rPr sz="2400" dirty="0"/>
              <a:t>cache</a:t>
            </a:r>
            <a:r>
              <a:rPr sz="2400" spc="325" dirty="0"/>
              <a:t> </a:t>
            </a:r>
            <a:r>
              <a:rPr sz="2400" spc="-10" dirty="0"/>
              <a:t>memory </a:t>
            </a:r>
            <a:r>
              <a:rPr sz="2400" dirty="0"/>
              <a:t>instead</a:t>
            </a:r>
            <a:r>
              <a:rPr sz="2400" spc="-60" dirty="0"/>
              <a:t> </a:t>
            </a:r>
            <a:r>
              <a:rPr sz="2400" dirty="0"/>
              <a:t>of</a:t>
            </a:r>
            <a:r>
              <a:rPr sz="2400" spc="-65" dirty="0"/>
              <a:t> </a:t>
            </a:r>
            <a:r>
              <a:rPr sz="2400" dirty="0"/>
              <a:t>accessing</a:t>
            </a:r>
            <a:r>
              <a:rPr sz="2400" spc="-80" dirty="0"/>
              <a:t> </a:t>
            </a:r>
            <a:r>
              <a:rPr sz="2400" dirty="0"/>
              <a:t>the</a:t>
            </a:r>
            <a:r>
              <a:rPr sz="2400" spc="-50" dirty="0"/>
              <a:t> </a:t>
            </a:r>
            <a:r>
              <a:rPr sz="2400" spc="-10" dirty="0"/>
              <a:t>slower</a:t>
            </a:r>
            <a:r>
              <a:rPr sz="2400" spc="-30" dirty="0"/>
              <a:t> </a:t>
            </a:r>
            <a:r>
              <a:rPr sz="2400" dirty="0"/>
              <a:t>main</a:t>
            </a:r>
            <a:r>
              <a:rPr sz="2400" spc="-60" dirty="0"/>
              <a:t> </a:t>
            </a:r>
            <a:r>
              <a:rPr sz="2400" spc="-10" dirty="0"/>
              <a:t>memory.</a:t>
            </a:r>
            <a:endParaRPr sz="2400"/>
          </a:p>
          <a:p>
            <a:pPr marL="287020" marR="5715" indent="-274955" algn="just">
              <a:lnSpc>
                <a:spcPts val="2590"/>
              </a:lnSpc>
              <a:spcBef>
                <a:spcPts val="610"/>
              </a:spcBef>
              <a:buSzPct val="85416"/>
              <a:buFont typeface="Webdings"/>
              <a:buChar char="●"/>
              <a:tabLst>
                <a:tab pos="287020" algn="l"/>
                <a:tab pos="429895" algn="l"/>
              </a:tabLst>
            </a:pPr>
            <a:r>
              <a:rPr sz="2400" dirty="0">
                <a:solidFill>
                  <a:srgbClr val="D34816"/>
                </a:solidFill>
              </a:rPr>
              <a:t>	</a:t>
            </a:r>
            <a:r>
              <a:rPr sz="2400" dirty="0"/>
              <a:t>Since</a:t>
            </a:r>
            <a:r>
              <a:rPr sz="2400" spc="130" dirty="0"/>
              <a:t> </a:t>
            </a:r>
            <a:r>
              <a:rPr sz="2400" dirty="0"/>
              <a:t>these</a:t>
            </a:r>
            <a:r>
              <a:rPr sz="2400" spc="155" dirty="0"/>
              <a:t> </a:t>
            </a:r>
            <a:r>
              <a:rPr sz="2400" dirty="0"/>
              <a:t>algorithms</a:t>
            </a:r>
            <a:r>
              <a:rPr sz="2400" spc="145" dirty="0"/>
              <a:t> </a:t>
            </a:r>
            <a:r>
              <a:rPr sz="2400" dirty="0"/>
              <a:t>inhibit</a:t>
            </a:r>
            <a:r>
              <a:rPr sz="2400" spc="140" dirty="0"/>
              <a:t> </a:t>
            </a:r>
            <a:r>
              <a:rPr sz="2400" dirty="0"/>
              <a:t>parallelism,</a:t>
            </a:r>
            <a:r>
              <a:rPr sz="2400" spc="55" dirty="0"/>
              <a:t> </a:t>
            </a:r>
            <a:r>
              <a:rPr sz="2400" dirty="0"/>
              <a:t>it</a:t>
            </a:r>
            <a:r>
              <a:rPr sz="2400" spc="140" dirty="0"/>
              <a:t> </a:t>
            </a:r>
            <a:r>
              <a:rPr sz="2400" dirty="0"/>
              <a:t>does</a:t>
            </a:r>
            <a:r>
              <a:rPr sz="2400" spc="140" dirty="0"/>
              <a:t> </a:t>
            </a:r>
            <a:r>
              <a:rPr sz="2400" dirty="0"/>
              <a:t>not</a:t>
            </a:r>
            <a:r>
              <a:rPr sz="2400" spc="145" dirty="0"/>
              <a:t> </a:t>
            </a:r>
            <a:r>
              <a:rPr sz="2400" dirty="0"/>
              <a:t>involve</a:t>
            </a:r>
            <a:r>
              <a:rPr sz="2400" spc="155" dirty="0"/>
              <a:t> </a:t>
            </a:r>
            <a:r>
              <a:rPr sz="2400" spc="-380" dirty="0"/>
              <a:t>any</a:t>
            </a:r>
            <a:r>
              <a:rPr sz="2400" dirty="0"/>
              <a:t> modification</a:t>
            </a:r>
            <a:r>
              <a:rPr sz="2400" spc="50" dirty="0"/>
              <a:t>  </a:t>
            </a:r>
            <a:r>
              <a:rPr sz="2400" dirty="0"/>
              <a:t>and</a:t>
            </a:r>
            <a:r>
              <a:rPr sz="2400" spc="45" dirty="0"/>
              <a:t>  </a:t>
            </a:r>
            <a:r>
              <a:rPr sz="2400" dirty="0"/>
              <a:t>is</a:t>
            </a:r>
            <a:r>
              <a:rPr sz="2400" spc="55" dirty="0"/>
              <a:t>  </a:t>
            </a:r>
            <a:r>
              <a:rPr sz="2400" dirty="0"/>
              <a:t>handled</a:t>
            </a:r>
            <a:r>
              <a:rPr sz="2400" spc="55" dirty="0"/>
              <a:t>  </a:t>
            </a:r>
            <a:r>
              <a:rPr sz="2400" dirty="0"/>
              <a:t>by</a:t>
            </a:r>
            <a:r>
              <a:rPr sz="2400" spc="55" dirty="0"/>
              <a:t>  </a:t>
            </a:r>
            <a:r>
              <a:rPr sz="2400" dirty="0"/>
              <a:t>systems</a:t>
            </a:r>
            <a:r>
              <a:rPr sz="2400" spc="55" dirty="0"/>
              <a:t>  </a:t>
            </a:r>
            <a:r>
              <a:rPr sz="2400" dirty="0"/>
              <a:t>incorporating</a:t>
            </a:r>
            <a:r>
              <a:rPr sz="2400" spc="45" dirty="0"/>
              <a:t>  </a:t>
            </a:r>
            <a:r>
              <a:rPr sz="2400" spc="-10" dirty="0"/>
              <a:t>parallel processing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723431" y="6785564"/>
            <a:ext cx="217804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50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74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47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Disadvantages</a:t>
            </a:r>
            <a:r>
              <a:rPr sz="3600" spc="-125" dirty="0"/>
              <a:t> </a:t>
            </a:r>
            <a:r>
              <a:rPr sz="3600" dirty="0"/>
              <a:t>of</a:t>
            </a:r>
            <a:r>
              <a:rPr sz="3600" spc="-110" dirty="0"/>
              <a:t> </a:t>
            </a:r>
            <a:r>
              <a:rPr sz="3600" dirty="0"/>
              <a:t>Divide</a:t>
            </a:r>
            <a:r>
              <a:rPr sz="3600" spc="-114" dirty="0"/>
              <a:t> </a:t>
            </a:r>
            <a:r>
              <a:rPr sz="3600" dirty="0"/>
              <a:t>and</a:t>
            </a:r>
            <a:r>
              <a:rPr sz="3600" spc="-110" dirty="0"/>
              <a:t> </a:t>
            </a:r>
            <a:r>
              <a:rPr sz="3600" spc="-10" dirty="0"/>
              <a:t>Conquer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1037590" algn="l"/>
                <a:tab pos="1755139" algn="l"/>
                <a:tab pos="2522220" algn="l"/>
                <a:tab pos="4410710" algn="l"/>
              </a:tabLst>
            </a:pPr>
            <a:r>
              <a:rPr spc="-15" dirty="0"/>
              <a:t>	Since</a:t>
            </a:r>
            <a:r>
              <a:rPr dirty="0"/>
              <a:t>	</a:t>
            </a:r>
            <a:r>
              <a:rPr spc="-10" dirty="0"/>
              <a:t>most</a:t>
            </a:r>
            <a:r>
              <a:rPr dirty="0"/>
              <a:t>	</a:t>
            </a:r>
            <a:r>
              <a:rPr spc="5" dirty="0"/>
              <a:t>o</a:t>
            </a:r>
            <a:r>
              <a:rPr dirty="0"/>
              <a:t>f</a:t>
            </a:r>
            <a:r>
              <a:rPr spc="400" dirty="0"/>
              <a:t> </a:t>
            </a:r>
            <a:r>
              <a:rPr spc="-10" dirty="0"/>
              <a:t>its</a:t>
            </a:r>
            <a:r>
              <a:rPr dirty="0"/>
              <a:t>	</a:t>
            </a:r>
            <a:r>
              <a:rPr spc="-5" dirty="0"/>
              <a:t>algorithms</a:t>
            </a:r>
            <a:r>
              <a:rPr spc="395" dirty="0"/>
              <a:t> </a:t>
            </a:r>
            <a:r>
              <a:rPr spc="-15" dirty="0"/>
              <a:t>are</a:t>
            </a:r>
            <a:r>
              <a:rPr dirty="0"/>
              <a:t>		</a:t>
            </a:r>
            <a:r>
              <a:rPr spc="-10" dirty="0"/>
              <a:t>designed</a:t>
            </a:r>
            <a:r>
              <a:rPr spc="405" dirty="0"/>
              <a:t> </a:t>
            </a:r>
            <a:r>
              <a:rPr spc="-45" dirty="0"/>
              <a:t>by</a:t>
            </a:r>
            <a:r>
              <a:rPr spc="409" dirty="0"/>
              <a:t> </a:t>
            </a:r>
            <a:r>
              <a:rPr spc="-5" dirty="0"/>
              <a:t>incorporating</a:t>
            </a:r>
            <a:r>
              <a:rPr spc="-10" dirty="0"/>
              <a:t> </a:t>
            </a:r>
            <a:r>
              <a:rPr spc="-5" dirty="0"/>
              <a:t>recursion,</a:t>
            </a:r>
            <a:r>
              <a:rPr spc="-125" dirty="0"/>
              <a:t> </a:t>
            </a:r>
            <a:r>
              <a:rPr spc="-10" dirty="0"/>
              <a:t>s</a:t>
            </a:r>
            <a:r>
              <a:rPr dirty="0"/>
              <a:t>o</a:t>
            </a:r>
            <a:r>
              <a:rPr spc="15" dirty="0"/>
              <a:t> </a:t>
            </a:r>
            <a:r>
              <a:rPr spc="-10" dirty="0"/>
              <a:t>it</a:t>
            </a:r>
            <a:r>
              <a:rPr spc="5" dirty="0"/>
              <a:t> </a:t>
            </a:r>
            <a:r>
              <a:rPr spc="-10" dirty="0"/>
              <a:t>necessitates</a:t>
            </a:r>
            <a:r>
              <a:rPr spc="-25" dirty="0"/>
              <a:t> </a:t>
            </a:r>
            <a:r>
              <a:rPr spc="-10" dirty="0"/>
              <a:t>high</a:t>
            </a:r>
            <a:r>
              <a:rPr spc="15" dirty="0"/>
              <a:t> </a:t>
            </a:r>
            <a:r>
              <a:rPr spc="-10" dirty="0"/>
              <a:t>memory</a:t>
            </a:r>
            <a:r>
              <a:rPr spc="-5" dirty="0"/>
              <a:t> </a:t>
            </a:r>
            <a:r>
              <a:rPr spc="-10" dirty="0"/>
              <a:t>management.</a:t>
            </a:r>
          </a:p>
          <a:p>
            <a:pPr marL="441959" indent="-429259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dirty="0"/>
              <a:t>An</a:t>
            </a:r>
            <a:r>
              <a:rPr spc="-65" dirty="0"/>
              <a:t> </a:t>
            </a:r>
            <a:r>
              <a:rPr dirty="0"/>
              <a:t>explicit</a:t>
            </a:r>
            <a:r>
              <a:rPr spc="-50" dirty="0"/>
              <a:t> </a:t>
            </a:r>
            <a:r>
              <a:rPr dirty="0"/>
              <a:t>stack</a:t>
            </a:r>
            <a:r>
              <a:rPr spc="-40" dirty="0"/>
              <a:t> </a:t>
            </a:r>
            <a:r>
              <a:rPr dirty="0"/>
              <a:t>may</a:t>
            </a:r>
            <a:r>
              <a:rPr spc="-35" dirty="0"/>
              <a:t> </a:t>
            </a:r>
            <a:r>
              <a:rPr dirty="0"/>
              <a:t>overuse</a:t>
            </a:r>
            <a:r>
              <a:rPr spc="-8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space.</a:t>
            </a:r>
          </a:p>
          <a:p>
            <a:pPr marL="287020" marR="5080" indent="-274955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  <a:tab pos="6490970" algn="l"/>
              </a:tabLst>
            </a:pPr>
            <a:r>
              <a:rPr dirty="0"/>
              <a:t>	It</a:t>
            </a:r>
            <a:r>
              <a:rPr spc="305" dirty="0"/>
              <a:t> </a:t>
            </a:r>
            <a:r>
              <a:rPr dirty="0"/>
              <a:t>may</a:t>
            </a:r>
            <a:r>
              <a:rPr spc="295" dirty="0"/>
              <a:t> </a:t>
            </a:r>
            <a:r>
              <a:rPr dirty="0"/>
              <a:t>even</a:t>
            </a:r>
            <a:r>
              <a:rPr spc="290" dirty="0"/>
              <a:t> </a:t>
            </a:r>
            <a:r>
              <a:rPr dirty="0"/>
              <a:t>crash</a:t>
            </a:r>
            <a:r>
              <a:rPr spc="315" dirty="0"/>
              <a:t> </a:t>
            </a:r>
            <a:r>
              <a:rPr dirty="0"/>
              <a:t>the</a:t>
            </a:r>
            <a:r>
              <a:rPr spc="300" dirty="0"/>
              <a:t> </a:t>
            </a:r>
            <a:r>
              <a:rPr dirty="0"/>
              <a:t>system</a:t>
            </a:r>
            <a:r>
              <a:rPr spc="290" dirty="0"/>
              <a:t> </a:t>
            </a:r>
            <a:r>
              <a:rPr dirty="0"/>
              <a:t>if</a:t>
            </a:r>
            <a:r>
              <a:rPr spc="310" dirty="0"/>
              <a:t> </a:t>
            </a:r>
            <a:r>
              <a:rPr dirty="0"/>
              <a:t>the</a:t>
            </a:r>
            <a:r>
              <a:rPr spc="320" dirty="0"/>
              <a:t> </a:t>
            </a:r>
            <a:r>
              <a:rPr dirty="0"/>
              <a:t>recursion</a:t>
            </a:r>
            <a:r>
              <a:rPr spc="320" dirty="0"/>
              <a:t> </a:t>
            </a:r>
            <a:r>
              <a:rPr dirty="0"/>
              <a:t>is</a:t>
            </a:r>
            <a:r>
              <a:rPr spc="275" dirty="0"/>
              <a:t> </a:t>
            </a:r>
            <a:r>
              <a:rPr spc="-110" dirty="0"/>
              <a:t>performed </a:t>
            </a:r>
            <a:r>
              <a:rPr dirty="0"/>
              <a:t>rigorously</a:t>
            </a:r>
            <a:r>
              <a:rPr spc="-45" dirty="0"/>
              <a:t> </a:t>
            </a:r>
            <a:r>
              <a:rPr dirty="0"/>
              <a:t>greater</a:t>
            </a:r>
            <a:r>
              <a:rPr spc="-4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stack</a:t>
            </a:r>
            <a:r>
              <a:rPr spc="-25" dirty="0"/>
              <a:t> </a:t>
            </a:r>
            <a:r>
              <a:rPr dirty="0"/>
              <a:t>present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25" dirty="0"/>
              <a:t>CP</a:t>
            </a:r>
            <a:r>
              <a:rPr dirty="0"/>
              <a:t>	</a:t>
            </a:r>
            <a:r>
              <a:rPr spc="-50" dirty="0"/>
              <a:t>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75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Greedy</a:t>
            </a:r>
            <a:r>
              <a:rPr spc="-185" dirty="0"/>
              <a:t> </a:t>
            </a:r>
            <a:r>
              <a:rPr spc="-8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14" y="1890752"/>
            <a:ext cx="7616190" cy="240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	Greedy</a:t>
            </a:r>
            <a:r>
              <a:rPr sz="2600" u="sng" spc="3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  </a:t>
            </a:r>
            <a:r>
              <a:rPr sz="2600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Algorithm</a:t>
            </a:r>
            <a:r>
              <a:rPr sz="2600" u="none" spc="350" dirty="0">
                <a:solidFill>
                  <a:srgbClr val="CC9900"/>
                </a:solidFill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is</a:t>
            </a:r>
            <a:r>
              <a:rPr sz="2600" u="none" spc="355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defined</a:t>
            </a:r>
            <a:r>
              <a:rPr sz="2600" u="none" spc="350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as</a:t>
            </a:r>
            <a:r>
              <a:rPr sz="2600" u="none" spc="360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a</a:t>
            </a:r>
            <a:r>
              <a:rPr sz="2600" u="none" spc="340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method</a:t>
            </a:r>
            <a:r>
              <a:rPr sz="2600" u="none" spc="345" dirty="0">
                <a:latin typeface="Perpetua"/>
                <a:cs typeface="Perpetua"/>
              </a:rPr>
              <a:t>   </a:t>
            </a:r>
            <a:r>
              <a:rPr sz="2600" u="none" spc="-450" dirty="0">
                <a:latin typeface="Perpetua"/>
                <a:cs typeface="Perpetua"/>
              </a:rPr>
              <a:t>for</a:t>
            </a:r>
            <a:r>
              <a:rPr sz="2600" u="none" dirty="0">
                <a:latin typeface="Perpetua"/>
                <a:cs typeface="Perpetua"/>
              </a:rPr>
              <a:t> solving</a:t>
            </a:r>
            <a:r>
              <a:rPr sz="2600" u="none" spc="405" dirty="0">
                <a:latin typeface="Perpetua"/>
                <a:cs typeface="Perpetua"/>
              </a:rPr>
              <a:t> </a:t>
            </a:r>
            <a:r>
              <a:rPr sz="2600" b="1" u="none" dirty="0">
                <a:latin typeface="Perpetua"/>
                <a:cs typeface="Perpetua"/>
              </a:rPr>
              <a:t>optimization</a:t>
            </a:r>
            <a:r>
              <a:rPr sz="2600" b="1" u="none" spc="400" dirty="0">
                <a:latin typeface="Perpetua"/>
                <a:cs typeface="Perpetua"/>
              </a:rPr>
              <a:t> </a:t>
            </a:r>
            <a:r>
              <a:rPr sz="2600" b="1" u="none" dirty="0">
                <a:latin typeface="Perpetua"/>
                <a:cs typeface="Perpetua"/>
              </a:rPr>
              <a:t>problems</a:t>
            </a:r>
            <a:r>
              <a:rPr sz="2600" b="1" u="none" spc="390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by</a:t>
            </a:r>
            <a:r>
              <a:rPr sz="2600" u="none" spc="390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taking</a:t>
            </a:r>
            <a:r>
              <a:rPr sz="2600" u="none" spc="420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decisions</a:t>
            </a:r>
            <a:r>
              <a:rPr sz="2600" u="none" spc="430" dirty="0">
                <a:latin typeface="Perpetua"/>
                <a:cs typeface="Perpetua"/>
              </a:rPr>
              <a:t> </a:t>
            </a:r>
            <a:r>
              <a:rPr sz="2600" u="none" spc="-20" dirty="0">
                <a:latin typeface="Perpetua"/>
                <a:cs typeface="Perpetua"/>
              </a:rPr>
              <a:t>that </a:t>
            </a:r>
            <a:r>
              <a:rPr sz="2600" u="none" dirty="0">
                <a:latin typeface="Perpetua"/>
                <a:cs typeface="Perpetua"/>
              </a:rPr>
              <a:t>result</a:t>
            </a:r>
            <a:r>
              <a:rPr sz="2600" u="none" spc="20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in</a:t>
            </a:r>
            <a:r>
              <a:rPr sz="2600" u="none" spc="5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the</a:t>
            </a:r>
            <a:r>
              <a:rPr sz="2600" u="none" spc="35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most</a:t>
            </a:r>
            <a:r>
              <a:rPr sz="2600" u="none" spc="25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evident</a:t>
            </a:r>
            <a:r>
              <a:rPr sz="2600" u="none" spc="20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and</a:t>
            </a:r>
            <a:r>
              <a:rPr sz="2600" u="none" spc="35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immediate</a:t>
            </a:r>
            <a:r>
              <a:rPr sz="2600" u="none" spc="35" dirty="0">
                <a:latin typeface="Perpetua"/>
                <a:cs typeface="Perpetua"/>
              </a:rPr>
              <a:t> </a:t>
            </a:r>
            <a:r>
              <a:rPr sz="2600" u="none" dirty="0">
                <a:latin typeface="Perpetua"/>
                <a:cs typeface="Perpetua"/>
              </a:rPr>
              <a:t>benefit</a:t>
            </a:r>
            <a:r>
              <a:rPr sz="2600" u="none" spc="45" dirty="0">
                <a:latin typeface="Perpetua"/>
                <a:cs typeface="Perpetua"/>
              </a:rPr>
              <a:t> </a:t>
            </a:r>
            <a:r>
              <a:rPr sz="2600" u="none" spc="-10" dirty="0">
                <a:latin typeface="Perpetua"/>
                <a:cs typeface="Perpetua"/>
              </a:rPr>
              <a:t>irrespective </a:t>
            </a:r>
            <a:r>
              <a:rPr sz="2600" u="none" dirty="0">
                <a:latin typeface="Perpetua"/>
                <a:cs typeface="Perpetua"/>
              </a:rPr>
              <a:t>of</a:t>
            </a:r>
            <a:r>
              <a:rPr sz="2600" u="none" spc="605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the</a:t>
            </a:r>
            <a:r>
              <a:rPr sz="2600" u="none" spc="610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final</a:t>
            </a:r>
            <a:r>
              <a:rPr sz="2600" u="none" spc="605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outcome.</a:t>
            </a:r>
            <a:r>
              <a:rPr sz="2600" u="none" spc="570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It</a:t>
            </a:r>
            <a:r>
              <a:rPr sz="2600" u="none" spc="615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works</a:t>
            </a:r>
            <a:r>
              <a:rPr sz="2600" u="none" spc="605" dirty="0">
                <a:latin typeface="Perpetua"/>
                <a:cs typeface="Perpetua"/>
              </a:rPr>
              <a:t>   </a:t>
            </a:r>
            <a:r>
              <a:rPr sz="2600" u="none" dirty="0">
                <a:latin typeface="Perpetua"/>
                <a:cs typeface="Perpetua"/>
              </a:rPr>
              <a:t>for</a:t>
            </a:r>
            <a:r>
              <a:rPr sz="2600" u="none" spc="610" dirty="0">
                <a:latin typeface="Perpetua"/>
                <a:cs typeface="Perpetua"/>
              </a:rPr>
              <a:t>   </a:t>
            </a:r>
            <a:r>
              <a:rPr sz="2600" u="none" spc="-10" dirty="0">
                <a:latin typeface="Perpetua"/>
                <a:cs typeface="Perpetua"/>
              </a:rPr>
              <a:t>cases </a:t>
            </a:r>
            <a:r>
              <a:rPr sz="2600" u="none" dirty="0">
                <a:latin typeface="Perpetua"/>
                <a:cs typeface="Perpetua"/>
              </a:rPr>
              <a:t>where</a:t>
            </a:r>
            <a:r>
              <a:rPr sz="2600" u="none" spc="225" dirty="0">
                <a:latin typeface="Perpetua"/>
                <a:cs typeface="Perpetua"/>
              </a:rPr>
              <a:t>  </a:t>
            </a:r>
            <a:r>
              <a:rPr sz="2600" b="1" u="none" dirty="0">
                <a:latin typeface="Perpetua"/>
                <a:cs typeface="Perpetua"/>
              </a:rPr>
              <a:t>minimization</a:t>
            </a:r>
            <a:r>
              <a:rPr sz="2600" b="1" u="none" spc="229" dirty="0">
                <a:latin typeface="Perpetua"/>
                <a:cs typeface="Perpetua"/>
              </a:rPr>
              <a:t>  </a:t>
            </a:r>
            <a:r>
              <a:rPr sz="2600" u="none" dirty="0">
                <a:latin typeface="Perpetua"/>
                <a:cs typeface="Perpetua"/>
              </a:rPr>
              <a:t>or</a:t>
            </a:r>
            <a:r>
              <a:rPr sz="2600" u="none" spc="225" dirty="0">
                <a:latin typeface="Perpetua"/>
                <a:cs typeface="Perpetua"/>
              </a:rPr>
              <a:t>  </a:t>
            </a:r>
            <a:r>
              <a:rPr sz="2600" b="1" u="none" dirty="0">
                <a:latin typeface="Perpetua"/>
                <a:cs typeface="Perpetua"/>
              </a:rPr>
              <a:t>maximization</a:t>
            </a:r>
            <a:r>
              <a:rPr sz="2600" b="1" u="none" spc="225" dirty="0">
                <a:latin typeface="Perpetua"/>
                <a:cs typeface="Perpetua"/>
              </a:rPr>
              <a:t>  </a:t>
            </a:r>
            <a:r>
              <a:rPr sz="2600" u="none" dirty="0">
                <a:latin typeface="Perpetua"/>
                <a:cs typeface="Perpetua"/>
              </a:rPr>
              <a:t>leads</a:t>
            </a:r>
            <a:r>
              <a:rPr sz="2600" u="none" spc="220" dirty="0">
                <a:latin typeface="Perpetua"/>
                <a:cs typeface="Perpetua"/>
              </a:rPr>
              <a:t>  </a:t>
            </a:r>
            <a:r>
              <a:rPr sz="2600" u="none" dirty="0">
                <a:latin typeface="Perpetua"/>
                <a:cs typeface="Perpetua"/>
              </a:rPr>
              <a:t>to</a:t>
            </a:r>
            <a:r>
              <a:rPr sz="2600" u="none" spc="225" dirty="0">
                <a:latin typeface="Perpetua"/>
                <a:cs typeface="Perpetua"/>
              </a:rPr>
              <a:t>  </a:t>
            </a:r>
            <a:r>
              <a:rPr sz="2600" u="none" spc="-25" dirty="0">
                <a:latin typeface="Perpetua"/>
                <a:cs typeface="Perpetua"/>
              </a:rPr>
              <a:t>the </a:t>
            </a:r>
            <a:r>
              <a:rPr sz="2600" u="none" dirty="0">
                <a:latin typeface="Perpetua"/>
                <a:cs typeface="Perpetua"/>
              </a:rPr>
              <a:t>required</a:t>
            </a:r>
            <a:r>
              <a:rPr sz="2600" u="none" spc="-110" dirty="0">
                <a:latin typeface="Perpetua"/>
                <a:cs typeface="Perpetua"/>
              </a:rPr>
              <a:t> </a:t>
            </a:r>
            <a:r>
              <a:rPr sz="2600" u="none" spc="-10" dirty="0">
                <a:latin typeface="Perpetua"/>
                <a:cs typeface="Perpetua"/>
              </a:rPr>
              <a:t>solution.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/>
              <a:t>76</a:t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70" dirty="0">
                <a:latin typeface="Arial"/>
                <a:cs typeface="Arial"/>
              </a:rPr>
              <a:t>Characteristics</a:t>
            </a:r>
            <a:r>
              <a:rPr b="1" spc="-105" dirty="0">
                <a:latin typeface="Arial"/>
                <a:cs typeface="Arial"/>
              </a:rPr>
              <a:t> </a:t>
            </a:r>
            <a:r>
              <a:rPr b="1" spc="-260" dirty="0">
                <a:latin typeface="Arial"/>
                <a:cs typeface="Arial"/>
              </a:rPr>
              <a:t>of</a:t>
            </a:r>
            <a:r>
              <a:rPr b="1" spc="-85" dirty="0">
                <a:latin typeface="Arial"/>
                <a:cs typeface="Arial"/>
              </a:rPr>
              <a:t> </a:t>
            </a:r>
            <a:r>
              <a:rPr b="1" spc="-320" dirty="0">
                <a:latin typeface="Arial"/>
                <a:cs typeface="Arial"/>
              </a:rPr>
              <a:t>Greedy</a:t>
            </a:r>
            <a:r>
              <a:rPr b="1" spc="-110" dirty="0">
                <a:latin typeface="Arial"/>
                <a:cs typeface="Arial"/>
              </a:rPr>
              <a:t> </a:t>
            </a:r>
            <a:r>
              <a:rPr b="1" spc="-270" dirty="0">
                <a:latin typeface="Arial"/>
                <a:cs typeface="Arial"/>
              </a:rPr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90752"/>
            <a:ext cx="7460615" cy="3424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398780" indent="-27495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For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problem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solved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using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Greedy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approach,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650" dirty="0">
                <a:latin typeface="Perpetua"/>
                <a:cs typeface="Perpetua"/>
              </a:rPr>
              <a:t>it</a:t>
            </a:r>
            <a:r>
              <a:rPr sz="2600" dirty="0">
                <a:latin typeface="Perpetua"/>
                <a:cs typeface="Perpetua"/>
              </a:rPr>
              <a:t> must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follow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few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major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characteristics:</a:t>
            </a:r>
            <a:endParaRPr sz="2600">
              <a:latin typeface="Perpetua"/>
              <a:cs typeface="Perpetua"/>
            </a:endParaRPr>
          </a:p>
          <a:p>
            <a:pPr marL="441959" indent="-429259">
              <a:lnSpc>
                <a:spcPct val="100000"/>
              </a:lnSpc>
              <a:spcBef>
                <a:spcPts val="60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441959" algn="l"/>
              </a:tabLst>
            </a:pPr>
            <a:r>
              <a:rPr sz="2600" dirty="0">
                <a:latin typeface="Perpetua"/>
                <a:cs typeface="Perpetua"/>
              </a:rPr>
              <a:t>There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ordered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list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resources(profit,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cost,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value,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185" dirty="0">
                <a:latin typeface="Perpetua"/>
                <a:cs typeface="Perpetua"/>
              </a:rPr>
              <a:t>etc.)</a:t>
            </a:r>
            <a:endParaRPr sz="2600">
              <a:latin typeface="Perpetua"/>
              <a:cs typeface="Perpetua"/>
            </a:endParaRPr>
          </a:p>
          <a:p>
            <a:pPr marL="287020" marR="203200" indent="-274955">
              <a:lnSpc>
                <a:spcPct val="100000"/>
              </a:lnSpc>
              <a:spcBef>
                <a:spcPts val="600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Maximum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all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resources(max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profit,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max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value,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200" dirty="0">
                <a:latin typeface="Perpetua"/>
                <a:cs typeface="Perpetua"/>
              </a:rPr>
              <a:t>etc.) </a:t>
            </a:r>
            <a:r>
              <a:rPr sz="2600" dirty="0">
                <a:latin typeface="Perpetua"/>
                <a:cs typeface="Perpetua"/>
              </a:rPr>
              <a:t>are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taken</a:t>
            </a:r>
            <a:endParaRPr sz="2600">
              <a:latin typeface="Perpetua"/>
              <a:cs typeface="Perpetua"/>
            </a:endParaRPr>
          </a:p>
          <a:p>
            <a:pPr marL="287020" marR="152400" indent="-274955">
              <a:lnSpc>
                <a:spcPct val="100000"/>
              </a:lnSpc>
              <a:spcBef>
                <a:spcPts val="595"/>
              </a:spcBef>
              <a:buClr>
                <a:srgbClr val="D34816"/>
              </a:buClr>
              <a:buSzPct val="84615"/>
              <a:buFont typeface="Webdings"/>
              <a:buChar char="●"/>
              <a:tabLst>
                <a:tab pos="287020" algn="l"/>
                <a:tab pos="441325" algn="l"/>
              </a:tabLst>
            </a:pPr>
            <a:r>
              <a:rPr sz="2600" dirty="0">
                <a:latin typeface="Perpetua"/>
                <a:cs typeface="Perpetua"/>
              </a:rPr>
              <a:t>	For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example,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fractional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knapsack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problem,</a:t>
            </a:r>
            <a:r>
              <a:rPr sz="2600" spc="-12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the </a:t>
            </a:r>
            <a:r>
              <a:rPr sz="2600" dirty="0">
                <a:latin typeface="Perpetua"/>
                <a:cs typeface="Perpetua"/>
              </a:rPr>
              <a:t>maximum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value/weight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taken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first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according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available capacity.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/>
              <a:t>77</a:t>
            </a:fld>
            <a:endParaRPr spc="-25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320" dirty="0">
                <a:latin typeface="Arial"/>
                <a:cs typeface="Arial"/>
              </a:rPr>
              <a:t>Greedy</a:t>
            </a:r>
            <a:r>
              <a:rPr b="1" spc="-120" dirty="0">
                <a:latin typeface="Arial"/>
                <a:cs typeface="Arial"/>
              </a:rPr>
              <a:t> </a:t>
            </a:r>
            <a:r>
              <a:rPr b="1" spc="-325" dirty="0">
                <a:latin typeface="Arial"/>
                <a:cs typeface="Arial"/>
              </a:rPr>
              <a:t>Algorithm</a:t>
            </a:r>
            <a:r>
              <a:rPr b="1" spc="-155" dirty="0">
                <a:latin typeface="Arial"/>
                <a:cs typeface="Arial"/>
              </a:rPr>
              <a:t> </a:t>
            </a:r>
            <a:r>
              <a:rPr b="1" spc="-320" dirty="0">
                <a:latin typeface="Arial"/>
                <a:cs typeface="Arial"/>
              </a:rPr>
              <a:t>Example: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3886200"/>
            <a:ext cx="9144000" cy="3429000"/>
            <a:chOff x="457200" y="3886200"/>
            <a:chExt cx="9144000" cy="3429000"/>
          </a:xfrm>
        </p:grpSpPr>
        <p:sp>
          <p:nvSpPr>
            <p:cNvPr id="4" name="object 4"/>
            <p:cNvSpPr/>
            <p:nvPr/>
          </p:nvSpPr>
          <p:spPr>
            <a:xfrm>
              <a:off x="457200" y="3886199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40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9144000" y="34290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50385" y="1848159"/>
            <a:ext cx="7624445" cy="415226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6385" marR="16510" indent="-274320" algn="just">
              <a:lnSpc>
                <a:spcPct val="80000"/>
              </a:lnSpc>
              <a:spcBef>
                <a:spcPts val="620"/>
              </a:spcBef>
            </a:pPr>
            <a:r>
              <a:rPr sz="2200" dirty="0">
                <a:latin typeface="Perpetua"/>
                <a:cs typeface="Perpetua"/>
              </a:rPr>
              <a:t>Some</a:t>
            </a:r>
            <a:r>
              <a:rPr sz="2200" spc="250" dirty="0">
                <a:latin typeface="Perpetua"/>
                <a:cs typeface="Perpetua"/>
              </a:rPr>
              <a:t>   </a:t>
            </a:r>
            <a:r>
              <a:rPr sz="2200" dirty="0">
                <a:latin typeface="Perpetua"/>
                <a:cs typeface="Perpetua"/>
              </a:rPr>
              <a:t>Famous</a:t>
            </a:r>
            <a:r>
              <a:rPr sz="2200" spc="250" dirty="0">
                <a:latin typeface="Perpetua"/>
                <a:cs typeface="Perpetua"/>
              </a:rPr>
              <a:t>   </a:t>
            </a:r>
            <a:r>
              <a:rPr sz="2200" dirty="0">
                <a:latin typeface="Perpetua"/>
                <a:cs typeface="Perpetua"/>
              </a:rPr>
              <a:t>problems</a:t>
            </a:r>
            <a:r>
              <a:rPr sz="2200" spc="250" dirty="0">
                <a:latin typeface="Perpetua"/>
                <a:cs typeface="Perpetua"/>
              </a:rPr>
              <a:t>   </a:t>
            </a:r>
            <a:r>
              <a:rPr sz="2200" dirty="0">
                <a:latin typeface="Perpetua"/>
                <a:cs typeface="Perpetua"/>
              </a:rPr>
              <a:t>that</a:t>
            </a:r>
            <a:r>
              <a:rPr sz="2200" spc="250" dirty="0">
                <a:latin typeface="Perpetua"/>
                <a:cs typeface="Perpetua"/>
              </a:rPr>
              <a:t>   </a:t>
            </a:r>
            <a:r>
              <a:rPr sz="2200" dirty="0">
                <a:latin typeface="Perpetua"/>
                <a:cs typeface="Perpetua"/>
              </a:rPr>
              <a:t>exhibit</a:t>
            </a:r>
            <a:r>
              <a:rPr sz="2200" spc="245" dirty="0">
                <a:latin typeface="Perpetua"/>
                <a:cs typeface="Perpetua"/>
              </a:rPr>
              <a:t>   </a:t>
            </a:r>
            <a:r>
              <a:rPr sz="2200" b="1" dirty="0">
                <a:latin typeface="Perpetua"/>
                <a:cs typeface="Perpetua"/>
              </a:rPr>
              <a:t>Optimal</a:t>
            </a:r>
            <a:r>
              <a:rPr sz="2200" b="1" spc="245" dirty="0">
                <a:latin typeface="Perpetua"/>
                <a:cs typeface="Perpetua"/>
              </a:rPr>
              <a:t>   </a:t>
            </a:r>
            <a:r>
              <a:rPr sz="2200" b="1" spc="-10" dirty="0">
                <a:latin typeface="Perpetua"/>
                <a:cs typeface="Perpetua"/>
              </a:rPr>
              <a:t>substructure </a:t>
            </a:r>
            <a:r>
              <a:rPr sz="2200" b="1" dirty="0">
                <a:latin typeface="Perpetua"/>
                <a:cs typeface="Perpetua"/>
              </a:rPr>
              <a:t>property</a:t>
            </a:r>
            <a:r>
              <a:rPr sz="2200" b="1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-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can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be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solved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using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Greedy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approach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are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50" dirty="0">
                <a:latin typeface="Perpetua"/>
                <a:cs typeface="Perpetua"/>
              </a:rPr>
              <a:t>–</a:t>
            </a:r>
            <a:endParaRPr sz="2200">
              <a:latin typeface="Perpetua"/>
              <a:cs typeface="Perpetua"/>
            </a:endParaRPr>
          </a:p>
          <a:p>
            <a:pPr marL="241935" indent="-238125" algn="just">
              <a:lnSpc>
                <a:spcPct val="100000"/>
              </a:lnSpc>
              <a:spcBef>
                <a:spcPts val="75"/>
              </a:spcBef>
              <a:buSzPct val="97727"/>
              <a:buAutoNum type="arabicParenR"/>
              <a:tabLst>
                <a:tab pos="241935" algn="l"/>
              </a:tabLst>
            </a:pPr>
            <a:r>
              <a:rPr sz="2200" b="1" u="sng" spc="-8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Job</a:t>
            </a:r>
            <a:r>
              <a:rPr sz="2200" b="1" u="sng" spc="-7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sequencing</a:t>
            </a:r>
            <a:r>
              <a:rPr sz="2200" b="1" u="sng" spc="-5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Problem:</a:t>
            </a:r>
            <a:endParaRPr sz="2200">
              <a:latin typeface="Perpetua"/>
              <a:cs typeface="Perpetua"/>
            </a:endParaRPr>
          </a:p>
          <a:p>
            <a:pPr marL="286385" marR="16510" indent="-274320" algn="just">
              <a:lnSpc>
                <a:spcPct val="80000"/>
              </a:lnSpc>
              <a:spcBef>
                <a:spcPts val="600"/>
              </a:spcBef>
            </a:pPr>
            <a:r>
              <a:rPr sz="2200" dirty="0">
                <a:latin typeface="Perpetua"/>
                <a:cs typeface="Perpetua"/>
              </a:rPr>
              <a:t>Greedily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choose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jobs</a:t>
            </a:r>
            <a:r>
              <a:rPr sz="2200" spc="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with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maximum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profit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first, by</a:t>
            </a:r>
            <a:r>
              <a:rPr sz="2200" spc="9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sorting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jobs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in </a:t>
            </a:r>
            <a:r>
              <a:rPr sz="2200" dirty="0">
                <a:latin typeface="Perpetua"/>
                <a:cs typeface="Perpetua"/>
              </a:rPr>
              <a:t>decreasing</a:t>
            </a:r>
            <a:r>
              <a:rPr sz="2200" spc="1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order</a:t>
            </a:r>
            <a:r>
              <a:rPr sz="2200" spc="1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1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their</a:t>
            </a:r>
            <a:r>
              <a:rPr sz="2200" spc="1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profit.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This</a:t>
            </a:r>
            <a:r>
              <a:rPr sz="2200" spc="114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would</a:t>
            </a:r>
            <a:r>
              <a:rPr sz="2200" spc="1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help</a:t>
            </a:r>
            <a:r>
              <a:rPr sz="2200" spc="1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14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maximize</a:t>
            </a:r>
            <a:r>
              <a:rPr sz="2200" spc="1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total </a:t>
            </a:r>
            <a:r>
              <a:rPr sz="2200" dirty="0">
                <a:latin typeface="Perpetua"/>
                <a:cs typeface="Perpetua"/>
              </a:rPr>
              <a:t>profit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as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choosing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job</a:t>
            </a:r>
            <a:r>
              <a:rPr sz="2200" spc="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with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maximum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profit</a:t>
            </a:r>
            <a:r>
              <a:rPr sz="2200" spc="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for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every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time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slot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will </a:t>
            </a:r>
            <a:r>
              <a:rPr sz="2200" spc="-10" dirty="0">
                <a:latin typeface="Perpetua"/>
                <a:cs typeface="Perpetua"/>
              </a:rPr>
              <a:t>eventually</a:t>
            </a:r>
            <a:r>
              <a:rPr sz="2200" spc="-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maximize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total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profit</a:t>
            </a:r>
            <a:endParaRPr sz="2200">
              <a:latin typeface="Perpetua"/>
              <a:cs typeface="Perpetua"/>
            </a:endParaRPr>
          </a:p>
          <a:p>
            <a:pPr marL="241935" indent="-238125" algn="just">
              <a:lnSpc>
                <a:spcPct val="100000"/>
              </a:lnSpc>
              <a:spcBef>
                <a:spcPts val="70"/>
              </a:spcBef>
              <a:buSzPct val="97727"/>
              <a:buAutoNum type="arabicParenR" startAt="2"/>
              <a:tabLst>
                <a:tab pos="241935" algn="l"/>
              </a:tabLst>
            </a:pPr>
            <a:r>
              <a:rPr sz="2200" b="1" u="sng" spc="-6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Prim’s</a:t>
            </a:r>
            <a:r>
              <a:rPr sz="2200" b="1" u="sng" spc="-4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algorithm</a:t>
            </a:r>
            <a:r>
              <a:rPr sz="2200" b="1" u="sng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to</a:t>
            </a:r>
            <a:r>
              <a:rPr sz="2200" b="1" u="sng" spc="-3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find</a:t>
            </a:r>
            <a:r>
              <a:rPr sz="2200" b="1" u="sng" spc="-1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Minimum</a:t>
            </a:r>
            <a:r>
              <a:rPr sz="2200" b="1" u="sng" spc="-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 </a:t>
            </a:r>
            <a:r>
              <a:rPr sz="2200" b="1" u="sng" spc="-2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Spanning</a:t>
            </a:r>
            <a:r>
              <a:rPr sz="2200" b="1" u="none" spc="-235" dirty="0">
                <a:solidFill>
                  <a:srgbClr val="CC9900"/>
                </a:solidFill>
                <a:latin typeface="Perpetua"/>
                <a:cs typeface="Perpetua"/>
              </a:rPr>
              <a:t> </a:t>
            </a:r>
            <a:r>
              <a:rPr sz="2200" b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Tree:</a:t>
            </a:r>
            <a:endParaRPr sz="22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600"/>
              </a:spcBef>
            </a:pPr>
            <a:r>
              <a:rPr sz="2200" dirty="0">
                <a:latin typeface="Perpetua"/>
                <a:cs typeface="Perpetua"/>
              </a:rPr>
              <a:t>It</a:t>
            </a:r>
            <a:r>
              <a:rPr sz="2200" spc="1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starts</a:t>
            </a:r>
            <a:r>
              <a:rPr sz="2200" spc="1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with</a:t>
            </a:r>
            <a:r>
              <a:rPr sz="2200" spc="16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</a:t>
            </a:r>
            <a:r>
              <a:rPr sz="2200" spc="1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empty</a:t>
            </a:r>
            <a:r>
              <a:rPr sz="2200" spc="16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spanning</a:t>
            </a:r>
            <a:r>
              <a:rPr sz="2200" spc="16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tree.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16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idea</a:t>
            </a:r>
            <a:r>
              <a:rPr sz="2200" spc="1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is</a:t>
            </a:r>
            <a:r>
              <a:rPr sz="2200" spc="15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1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maintain</a:t>
            </a:r>
            <a:r>
              <a:rPr sz="2200" spc="16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two</a:t>
            </a:r>
            <a:r>
              <a:rPr sz="2200" spc="1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sets</a:t>
            </a:r>
            <a:r>
              <a:rPr sz="2200" spc="175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of </a:t>
            </a:r>
            <a:r>
              <a:rPr sz="2200" dirty="0">
                <a:latin typeface="Perpetua"/>
                <a:cs typeface="Perpetua"/>
              </a:rPr>
              <a:t>vertices.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first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set</a:t>
            </a:r>
            <a:r>
              <a:rPr sz="2200" spc="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contains</a:t>
            </a:r>
            <a:r>
              <a:rPr sz="2200" spc="7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vertices</a:t>
            </a:r>
            <a:r>
              <a:rPr sz="2200" spc="5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already</a:t>
            </a:r>
            <a:r>
              <a:rPr sz="2200" spc="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included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</a:t>
            </a:r>
            <a:r>
              <a:rPr sz="2200" spc="8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70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MST,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27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other</a:t>
            </a:r>
            <a:r>
              <a:rPr sz="2200" spc="3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set</a:t>
            </a:r>
            <a:r>
              <a:rPr sz="2200" spc="3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contains</a:t>
            </a:r>
            <a:r>
              <a:rPr sz="2200" spc="3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30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vertices</a:t>
            </a:r>
            <a:r>
              <a:rPr sz="2200" spc="2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not</a:t>
            </a:r>
            <a:r>
              <a:rPr sz="2200" spc="3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yet</a:t>
            </a:r>
            <a:r>
              <a:rPr sz="2200" spc="28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included.</a:t>
            </a:r>
            <a:r>
              <a:rPr sz="2200" spc="2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At</a:t>
            </a:r>
            <a:r>
              <a:rPr sz="2200" spc="30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every</a:t>
            </a:r>
            <a:r>
              <a:rPr sz="2200" spc="2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step,</a:t>
            </a:r>
            <a:r>
              <a:rPr sz="2200" spc="20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it </a:t>
            </a:r>
            <a:r>
              <a:rPr sz="2200" dirty="0">
                <a:latin typeface="Perpetua"/>
                <a:cs typeface="Perpetua"/>
              </a:rPr>
              <a:t>considers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all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edges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that</a:t>
            </a:r>
            <a:r>
              <a:rPr sz="2200" spc="4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connect the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two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sets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and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picks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minimum </a:t>
            </a:r>
            <a:r>
              <a:rPr sz="2200" dirty="0">
                <a:latin typeface="Perpetua"/>
                <a:cs typeface="Perpetua"/>
              </a:rPr>
              <a:t>weight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edge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from these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edges.</a:t>
            </a:r>
            <a:r>
              <a:rPr sz="2200" spc="-11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After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picking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edge,</a:t>
            </a:r>
            <a:r>
              <a:rPr sz="2200" spc="-9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it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moves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other </a:t>
            </a:r>
            <a:r>
              <a:rPr sz="2200" dirty="0">
                <a:latin typeface="Perpetua"/>
                <a:cs typeface="Perpetua"/>
              </a:rPr>
              <a:t>endpoint</a:t>
            </a:r>
            <a:r>
              <a:rPr sz="2200" spc="-3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of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edge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to</a:t>
            </a:r>
            <a:r>
              <a:rPr sz="2200" spc="-20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the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set</a:t>
            </a:r>
            <a:r>
              <a:rPr sz="2200" spc="-25" dirty="0">
                <a:latin typeface="Perpetua"/>
                <a:cs typeface="Perpetua"/>
              </a:rPr>
              <a:t> </a:t>
            </a:r>
            <a:r>
              <a:rPr sz="2200" dirty="0">
                <a:latin typeface="Perpetua"/>
                <a:cs typeface="Perpetua"/>
              </a:rPr>
              <a:t>containing</a:t>
            </a:r>
            <a:r>
              <a:rPr sz="2200" spc="-1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MST.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Knapsack</a:t>
            </a:r>
            <a:r>
              <a:rPr spc="-250" dirty="0"/>
              <a:t> </a:t>
            </a:r>
            <a:r>
              <a:rPr spc="-70" dirty="0"/>
              <a:t>Problem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05000"/>
            <a:ext cx="9027160" cy="5321935"/>
            <a:chOff x="515112" y="1905000"/>
            <a:chExt cx="9027160" cy="532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5212" y="1905000"/>
              <a:ext cx="6926580" cy="198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5212" y="3886200"/>
              <a:ext cx="6926580" cy="292912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664"/>
              </a:lnSpc>
            </a:pPr>
            <a:r>
              <a:rPr spc="-25" dirty="0"/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65" dirty="0"/>
              <a:t>Prims</a:t>
            </a:r>
            <a:r>
              <a:rPr spc="-165" dirty="0"/>
              <a:t> </a:t>
            </a:r>
            <a:r>
              <a:rPr spc="-9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1905000"/>
            <a:ext cx="9027160" cy="5321935"/>
            <a:chOff x="515112" y="1905000"/>
            <a:chExt cx="9027160" cy="53219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200" y="1905000"/>
              <a:ext cx="6787896" cy="19812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0200" y="3886200"/>
              <a:ext cx="6787896" cy="314401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14289" y="6785564"/>
            <a:ext cx="235585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80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16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5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5112" y="3886200"/>
            <a:ext cx="9027160" cy="3340735"/>
            <a:chOff x="515112" y="3886200"/>
            <a:chExt cx="9027160" cy="3340735"/>
          </a:xfrm>
        </p:grpSpPr>
        <p:sp>
          <p:nvSpPr>
            <p:cNvPr id="4" name="object 4"/>
            <p:cNvSpPr/>
            <p:nvPr/>
          </p:nvSpPr>
          <p:spPr>
            <a:xfrm>
              <a:off x="515112" y="3886200"/>
              <a:ext cx="9027160" cy="3340735"/>
            </a:xfrm>
            <a:custGeom>
              <a:avLst/>
              <a:gdLst/>
              <a:ahLst/>
              <a:cxnLst/>
              <a:rect l="l" t="t" r="r" b="b"/>
              <a:pathLst>
                <a:path w="9027160" h="3340734">
                  <a:moveTo>
                    <a:pt x="8708136" y="3340607"/>
                  </a:moveTo>
                  <a:lnTo>
                    <a:pt x="320040" y="3340607"/>
                  </a:lnTo>
                  <a:lnTo>
                    <a:pt x="284987" y="3337560"/>
                  </a:lnTo>
                  <a:lnTo>
                    <a:pt x="269748" y="3334512"/>
                  </a:lnTo>
                  <a:lnTo>
                    <a:pt x="252983" y="3331464"/>
                  </a:lnTo>
                  <a:lnTo>
                    <a:pt x="190500" y="3308604"/>
                  </a:lnTo>
                  <a:lnTo>
                    <a:pt x="135635" y="3275076"/>
                  </a:lnTo>
                  <a:lnTo>
                    <a:pt x="99060" y="3243072"/>
                  </a:lnTo>
                  <a:lnTo>
                    <a:pt x="67055" y="3206496"/>
                  </a:lnTo>
                  <a:lnTo>
                    <a:pt x="33527" y="3151632"/>
                  </a:lnTo>
                  <a:lnTo>
                    <a:pt x="15239" y="3104388"/>
                  </a:lnTo>
                  <a:lnTo>
                    <a:pt x="1524" y="3038855"/>
                  </a:lnTo>
                  <a:lnTo>
                    <a:pt x="1524" y="3022092"/>
                  </a:lnTo>
                  <a:lnTo>
                    <a:pt x="0" y="3005328"/>
                  </a:lnTo>
                  <a:lnTo>
                    <a:pt x="0" y="0"/>
                  </a:lnTo>
                  <a:lnTo>
                    <a:pt x="13715" y="0"/>
                  </a:lnTo>
                  <a:lnTo>
                    <a:pt x="13715" y="3022092"/>
                  </a:lnTo>
                  <a:lnTo>
                    <a:pt x="15239" y="3037332"/>
                  </a:lnTo>
                  <a:lnTo>
                    <a:pt x="16763" y="3054096"/>
                  </a:lnTo>
                  <a:lnTo>
                    <a:pt x="19811" y="3069336"/>
                  </a:lnTo>
                  <a:lnTo>
                    <a:pt x="22859" y="3086100"/>
                  </a:lnTo>
                  <a:lnTo>
                    <a:pt x="32003" y="3116580"/>
                  </a:lnTo>
                  <a:lnTo>
                    <a:pt x="38100" y="3130296"/>
                  </a:lnTo>
                  <a:lnTo>
                    <a:pt x="44195" y="3145536"/>
                  </a:lnTo>
                  <a:lnTo>
                    <a:pt x="59435" y="3172968"/>
                  </a:lnTo>
                  <a:lnTo>
                    <a:pt x="68579" y="3185160"/>
                  </a:lnTo>
                  <a:lnTo>
                    <a:pt x="77724" y="3198876"/>
                  </a:lnTo>
                  <a:lnTo>
                    <a:pt x="86867" y="3211068"/>
                  </a:lnTo>
                  <a:lnTo>
                    <a:pt x="97535" y="3221736"/>
                  </a:lnTo>
                  <a:lnTo>
                    <a:pt x="108204" y="3233928"/>
                  </a:lnTo>
                  <a:lnTo>
                    <a:pt x="155448" y="3273552"/>
                  </a:lnTo>
                  <a:lnTo>
                    <a:pt x="196596" y="3296412"/>
                  </a:lnTo>
                  <a:lnTo>
                    <a:pt x="240792" y="3314700"/>
                  </a:lnTo>
                  <a:lnTo>
                    <a:pt x="256031" y="3317748"/>
                  </a:lnTo>
                  <a:lnTo>
                    <a:pt x="271271" y="3322320"/>
                  </a:lnTo>
                  <a:lnTo>
                    <a:pt x="286512" y="3325368"/>
                  </a:lnTo>
                  <a:lnTo>
                    <a:pt x="320040" y="3328416"/>
                  </a:lnTo>
                  <a:lnTo>
                    <a:pt x="8779255" y="3328416"/>
                  </a:lnTo>
                  <a:lnTo>
                    <a:pt x="8773668" y="3329939"/>
                  </a:lnTo>
                  <a:lnTo>
                    <a:pt x="8758428" y="3334512"/>
                  </a:lnTo>
                  <a:lnTo>
                    <a:pt x="8741664" y="3337560"/>
                  </a:lnTo>
                  <a:lnTo>
                    <a:pt x="8708136" y="3340607"/>
                  </a:lnTo>
                  <a:close/>
                </a:path>
                <a:path w="9027160" h="3340734">
                  <a:moveTo>
                    <a:pt x="8779255" y="3328416"/>
                  </a:moveTo>
                  <a:lnTo>
                    <a:pt x="8706612" y="3328416"/>
                  </a:lnTo>
                  <a:lnTo>
                    <a:pt x="8738616" y="3325368"/>
                  </a:lnTo>
                  <a:lnTo>
                    <a:pt x="8755380" y="3322320"/>
                  </a:lnTo>
                  <a:lnTo>
                    <a:pt x="8770620" y="3317748"/>
                  </a:lnTo>
                  <a:lnTo>
                    <a:pt x="8785860" y="3314700"/>
                  </a:lnTo>
                  <a:lnTo>
                    <a:pt x="8816340" y="3302507"/>
                  </a:lnTo>
                  <a:lnTo>
                    <a:pt x="8843772" y="3290316"/>
                  </a:lnTo>
                  <a:lnTo>
                    <a:pt x="8857488" y="3281172"/>
                  </a:lnTo>
                  <a:lnTo>
                    <a:pt x="8871204" y="3273552"/>
                  </a:lnTo>
                  <a:lnTo>
                    <a:pt x="8907780" y="3244596"/>
                  </a:lnTo>
                  <a:lnTo>
                    <a:pt x="8939784" y="3211068"/>
                  </a:lnTo>
                  <a:lnTo>
                    <a:pt x="8967216" y="3172968"/>
                  </a:lnTo>
                  <a:lnTo>
                    <a:pt x="8988552" y="3131820"/>
                  </a:lnTo>
                  <a:lnTo>
                    <a:pt x="9003792" y="3086100"/>
                  </a:lnTo>
                  <a:lnTo>
                    <a:pt x="9011412" y="3038855"/>
                  </a:lnTo>
                  <a:lnTo>
                    <a:pt x="9014460" y="3005328"/>
                  </a:lnTo>
                  <a:lnTo>
                    <a:pt x="9014460" y="0"/>
                  </a:lnTo>
                  <a:lnTo>
                    <a:pt x="9026652" y="0"/>
                  </a:lnTo>
                  <a:lnTo>
                    <a:pt x="9026652" y="3022092"/>
                  </a:lnTo>
                  <a:lnTo>
                    <a:pt x="9025128" y="3038855"/>
                  </a:lnTo>
                  <a:lnTo>
                    <a:pt x="9022080" y="3055620"/>
                  </a:lnTo>
                  <a:lnTo>
                    <a:pt x="9020556" y="3072384"/>
                  </a:lnTo>
                  <a:lnTo>
                    <a:pt x="9015984" y="3089148"/>
                  </a:lnTo>
                  <a:lnTo>
                    <a:pt x="9011412" y="3104388"/>
                  </a:lnTo>
                  <a:lnTo>
                    <a:pt x="9006840" y="3121152"/>
                  </a:lnTo>
                  <a:lnTo>
                    <a:pt x="9000744" y="3136392"/>
                  </a:lnTo>
                  <a:lnTo>
                    <a:pt x="8993124" y="3150107"/>
                  </a:lnTo>
                  <a:lnTo>
                    <a:pt x="8985504" y="3165348"/>
                  </a:lnTo>
                  <a:lnTo>
                    <a:pt x="8959596" y="3206496"/>
                  </a:lnTo>
                  <a:lnTo>
                    <a:pt x="8916924" y="3253739"/>
                  </a:lnTo>
                  <a:lnTo>
                    <a:pt x="8878824" y="3284220"/>
                  </a:lnTo>
                  <a:lnTo>
                    <a:pt x="8865108" y="3291839"/>
                  </a:lnTo>
                  <a:lnTo>
                    <a:pt x="8851392" y="3300984"/>
                  </a:lnTo>
                  <a:lnTo>
                    <a:pt x="8836152" y="3308604"/>
                  </a:lnTo>
                  <a:lnTo>
                    <a:pt x="8805672" y="3320796"/>
                  </a:lnTo>
                  <a:lnTo>
                    <a:pt x="8790432" y="3325368"/>
                  </a:lnTo>
                  <a:lnTo>
                    <a:pt x="8779255" y="33284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3504" y="66675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457200"/>
                  </a:moveTo>
                  <a:lnTo>
                    <a:pt x="182897" y="452565"/>
                  </a:lnTo>
                  <a:lnTo>
                    <a:pt x="140160" y="439269"/>
                  </a:lnTo>
                  <a:lnTo>
                    <a:pt x="101351" y="418221"/>
                  </a:lnTo>
                  <a:lnTo>
                    <a:pt x="67437" y="390334"/>
                  </a:lnTo>
                  <a:lnTo>
                    <a:pt x="39379" y="356517"/>
                  </a:lnTo>
                  <a:lnTo>
                    <a:pt x="18145" y="317682"/>
                  </a:lnTo>
                  <a:lnTo>
                    <a:pt x="4697" y="274739"/>
                  </a:lnTo>
                  <a:lnTo>
                    <a:pt x="0" y="228600"/>
                  </a:lnTo>
                  <a:lnTo>
                    <a:pt x="4697" y="182897"/>
                  </a:lnTo>
                  <a:lnTo>
                    <a:pt x="18145" y="140160"/>
                  </a:lnTo>
                  <a:lnTo>
                    <a:pt x="39379" y="101351"/>
                  </a:lnTo>
                  <a:lnTo>
                    <a:pt x="67437" y="67437"/>
                  </a:lnTo>
                  <a:lnTo>
                    <a:pt x="101351" y="39379"/>
                  </a:lnTo>
                  <a:lnTo>
                    <a:pt x="140160" y="18145"/>
                  </a:lnTo>
                  <a:lnTo>
                    <a:pt x="182897" y="4697"/>
                  </a:lnTo>
                  <a:lnTo>
                    <a:pt x="228600" y="0"/>
                  </a:lnTo>
                  <a:lnTo>
                    <a:pt x="274739" y="4697"/>
                  </a:lnTo>
                  <a:lnTo>
                    <a:pt x="317682" y="18145"/>
                  </a:lnTo>
                  <a:lnTo>
                    <a:pt x="356517" y="39379"/>
                  </a:lnTo>
                  <a:lnTo>
                    <a:pt x="390334" y="67437"/>
                  </a:lnTo>
                  <a:lnTo>
                    <a:pt x="418221" y="101351"/>
                  </a:lnTo>
                  <a:lnTo>
                    <a:pt x="439269" y="140160"/>
                  </a:lnTo>
                  <a:lnTo>
                    <a:pt x="452565" y="182897"/>
                  </a:lnTo>
                  <a:lnTo>
                    <a:pt x="457200" y="228600"/>
                  </a:lnTo>
                  <a:lnTo>
                    <a:pt x="452565" y="274739"/>
                  </a:lnTo>
                  <a:lnTo>
                    <a:pt x="439269" y="317682"/>
                  </a:lnTo>
                  <a:lnTo>
                    <a:pt x="418221" y="356517"/>
                  </a:lnTo>
                  <a:lnTo>
                    <a:pt x="390334" y="390334"/>
                  </a:lnTo>
                  <a:lnTo>
                    <a:pt x="356517" y="418221"/>
                  </a:lnTo>
                  <a:lnTo>
                    <a:pt x="317682" y="439269"/>
                  </a:lnTo>
                  <a:lnTo>
                    <a:pt x="274739" y="452565"/>
                  </a:lnTo>
                  <a:lnTo>
                    <a:pt x="228600" y="457200"/>
                  </a:lnTo>
                  <a:close/>
                </a:path>
              </a:pathLst>
            </a:custGeom>
            <a:solidFill>
              <a:srgbClr val="D348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50314" y="1890752"/>
            <a:ext cx="7588250" cy="389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9055" indent="-273685">
              <a:lnSpc>
                <a:spcPct val="100000"/>
              </a:lnSpc>
              <a:spcBef>
                <a:spcPts val="100"/>
              </a:spcBef>
              <a:buClr>
                <a:srgbClr val="D34816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u="sng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https://</a:t>
            </a:r>
            <a:r>
              <a:rPr sz="2600" u="sng" spc="-2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www.enjoyalgorithms.com/blog/steps-</a:t>
            </a: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  <a:hlinkClick r:id="rId2"/>
              </a:rPr>
              <a:t>of-problem-</a:t>
            </a:r>
            <a:r>
              <a:rPr sz="2600" u="none" spc="-10" dirty="0">
                <a:solidFill>
                  <a:srgbClr val="CC9900"/>
                </a:solidFill>
                <a:latin typeface="Perpetua"/>
                <a:cs typeface="Perpetua"/>
              </a:rPr>
              <a:t> 	</a:t>
            </a:r>
            <a:r>
              <a:rPr sz="2600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Perpetua"/>
                <a:cs typeface="Perpetua"/>
              </a:rPr>
              <a:t>solving-for-cracking-the-coding-interview</a:t>
            </a:r>
            <a:endParaRPr sz="2600">
              <a:latin typeface="Perpetua"/>
              <a:cs typeface="Perpetua"/>
            </a:endParaRPr>
          </a:p>
          <a:p>
            <a:pPr marL="285750" marR="73025" indent="-273685">
              <a:lnSpc>
                <a:spcPct val="100000"/>
              </a:lnSpc>
              <a:spcBef>
                <a:spcPts val="4325"/>
              </a:spcBef>
              <a:buClr>
                <a:srgbClr val="D34816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https://asq.org/quality-resources/problem- 	solving#:~:text=Problem%20solving%20is%20the%20act, 	The%20problem%2Dsolving%20process</a:t>
            </a:r>
            <a:endParaRPr sz="2600">
              <a:latin typeface="Perpetua"/>
              <a:cs typeface="Perpetua"/>
            </a:endParaRPr>
          </a:p>
          <a:p>
            <a:pPr marL="285750" marR="5080" indent="-273685">
              <a:lnSpc>
                <a:spcPct val="100000"/>
              </a:lnSpc>
              <a:spcBef>
                <a:spcPts val="4320"/>
              </a:spcBef>
              <a:buClr>
                <a:srgbClr val="D34816"/>
              </a:buClr>
              <a:buSzPct val="84615"/>
              <a:buFont typeface="Wingdings"/>
              <a:buChar char="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http://www.btechsmartclass.com/data_structures/asympto 	tic-notations.html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336" y="6785564"/>
            <a:ext cx="22860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4"/>
              </a:lnSpc>
            </a:pPr>
            <a:r>
              <a:rPr sz="1400" spc="-25" dirty="0">
                <a:solidFill>
                  <a:srgbClr val="FFFFFF"/>
                </a:solidFill>
                <a:latin typeface="Franklin Gothic Medium"/>
                <a:cs typeface="Franklin Gothic Medium"/>
              </a:rPr>
              <a:t>81</a:t>
            </a:r>
            <a:endParaRPr sz="14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99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5363</Words>
  <Application>Microsoft Office PowerPoint</Application>
  <PresentationFormat>Custom</PresentationFormat>
  <Paragraphs>434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2" baseType="lpstr">
      <vt:lpstr>Arial</vt:lpstr>
      <vt:lpstr>Calibri</vt:lpstr>
      <vt:lpstr>Franklin Gothic Medium</vt:lpstr>
      <vt:lpstr>Gadugi</vt:lpstr>
      <vt:lpstr>Georgia</vt:lpstr>
      <vt:lpstr>Perpetua</vt:lpstr>
      <vt:lpstr>Symbol</vt:lpstr>
      <vt:lpstr>Times New Roman</vt:lpstr>
      <vt:lpstr>Webdings</vt:lpstr>
      <vt:lpstr>Wingdings</vt:lpstr>
      <vt:lpstr>Office Theme</vt:lpstr>
      <vt:lpstr>Unit I Introduction to Algorithm and Data Structures (05 Hours)</vt:lpstr>
      <vt:lpstr>Syllabus</vt:lpstr>
      <vt:lpstr>PowerPoint Presentation</vt:lpstr>
      <vt:lpstr>What is Problem Solving and Why is it Important?</vt:lpstr>
      <vt:lpstr>What is Problem Solving and Why is it Important?</vt:lpstr>
      <vt:lpstr>Why should we learn Data Structures?</vt:lpstr>
      <vt:lpstr>Problem Solving</vt:lpstr>
      <vt:lpstr>Basic Terms</vt:lpstr>
      <vt:lpstr>PowerPoint Presentation</vt:lpstr>
      <vt:lpstr>Data</vt:lpstr>
      <vt:lpstr>Example</vt:lpstr>
      <vt:lpstr>Information</vt:lpstr>
      <vt:lpstr>Data and information</vt:lpstr>
      <vt:lpstr>Knowledge</vt:lpstr>
      <vt:lpstr>Data, Information and Knowledge</vt:lpstr>
      <vt:lpstr>Data Types</vt:lpstr>
      <vt:lpstr>Data Type and their Size</vt:lpstr>
      <vt:lpstr>Data Structure</vt:lpstr>
      <vt:lpstr>Abstract Data Types (ADT)</vt:lpstr>
      <vt:lpstr>Algorithm</vt:lpstr>
      <vt:lpstr>PowerPoint Presentation</vt:lpstr>
      <vt:lpstr>Data Structure Classification/ Types of Data Structure</vt:lpstr>
      <vt:lpstr>Primitive and Non-primitive Data Structures</vt:lpstr>
      <vt:lpstr>Primitive VS Non Primitive Data Structure</vt:lpstr>
      <vt:lpstr>Linear and Non-linear Structures</vt:lpstr>
      <vt:lpstr>Linear VS Non Linear</vt:lpstr>
      <vt:lpstr>Static and Dynamic Data Structures</vt:lpstr>
      <vt:lpstr>Static VS Dynamic Data Structures</vt:lpstr>
      <vt:lpstr>Persistent and Ephemeral Data Structures</vt:lpstr>
      <vt:lpstr>PowerPoint Presentation</vt:lpstr>
      <vt:lpstr>Problem Solving</vt:lpstr>
      <vt:lpstr>Classification of Problems</vt:lpstr>
      <vt:lpstr>Steps of Problem solving in DSA</vt:lpstr>
      <vt:lpstr>Introduction to Algorithm</vt:lpstr>
      <vt:lpstr>Algorithm</vt:lpstr>
      <vt:lpstr>From Algorithm to process</vt:lpstr>
      <vt:lpstr>Characteristics of Algorithm</vt:lpstr>
      <vt:lpstr>Algorithm and Program</vt:lpstr>
      <vt:lpstr>Pseudo code</vt:lpstr>
      <vt:lpstr>Pseudo code for addition of two numbers</vt:lpstr>
      <vt:lpstr>Flowchart</vt:lpstr>
      <vt:lpstr>PowerPoint Presentation</vt:lpstr>
      <vt:lpstr>PowerPoint Presentation</vt:lpstr>
      <vt:lpstr>Algorithm for addition of two number</vt:lpstr>
      <vt:lpstr>Flowchart for addition of two number</vt:lpstr>
      <vt:lpstr>Complexity of algorithm:</vt:lpstr>
      <vt:lpstr>Time Complexity</vt:lpstr>
      <vt:lpstr>PowerPoint Presentation</vt:lpstr>
      <vt:lpstr>Space Complexity</vt:lpstr>
      <vt:lpstr>Asymptotic Notation</vt:lpstr>
      <vt:lpstr>Asymptotic Notation</vt:lpstr>
      <vt:lpstr>Big Oh Notation</vt:lpstr>
      <vt:lpstr>Big Oh Notation</vt:lpstr>
      <vt:lpstr>Example</vt:lpstr>
      <vt:lpstr>Omega Notation (Ω-Notation):</vt:lpstr>
      <vt:lpstr>Mathematical Representation of Omega Notation (Ω-Notation):</vt:lpstr>
      <vt:lpstr>Example</vt:lpstr>
      <vt:lpstr>Theta Notation (Θ-Notation):</vt:lpstr>
      <vt:lpstr>Mathematical Representation of Theta notation:</vt:lpstr>
      <vt:lpstr>Example</vt:lpstr>
      <vt:lpstr>Step Count Method</vt:lpstr>
      <vt:lpstr>Time Complexity</vt:lpstr>
      <vt:lpstr>Time and Space Complexity for addition of two numbers</vt:lpstr>
      <vt:lpstr>PowerPoint Presentation</vt:lpstr>
      <vt:lpstr>PowerPoint Presentation</vt:lpstr>
      <vt:lpstr>PowerPoint Presentation</vt:lpstr>
      <vt:lpstr>Algorithm design Strategies</vt:lpstr>
      <vt:lpstr>Algorithm design Strategies</vt:lpstr>
      <vt:lpstr>Algorithm design Strategies</vt:lpstr>
      <vt:lpstr>Divide and Conquer</vt:lpstr>
      <vt:lpstr>PowerPoint Presentation</vt:lpstr>
      <vt:lpstr>Merge Sort</vt:lpstr>
      <vt:lpstr>Tower of Hanoi</vt:lpstr>
      <vt:lpstr>Advantages of Divide and Conquer</vt:lpstr>
      <vt:lpstr>Disadvantages of Divide and Conquer</vt:lpstr>
      <vt:lpstr>Greedy Algorithm</vt:lpstr>
      <vt:lpstr>Characteristics of Greedy algorithm</vt:lpstr>
      <vt:lpstr>Greedy Algorithm Example:</vt:lpstr>
      <vt:lpstr>Knapsack Problem</vt:lpstr>
      <vt:lpstr>Prims Algorithm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Unit I Introduction to Algorithm and Data Structures</dc:title>
  <dc:creator>Student</dc:creator>
  <cp:lastModifiedBy>mayuri gawade</cp:lastModifiedBy>
  <cp:revision>3</cp:revision>
  <dcterms:created xsi:type="dcterms:W3CDTF">2025-07-07T03:29:25Z</dcterms:created>
  <dcterms:modified xsi:type="dcterms:W3CDTF">2025-07-07T03:44:01Z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2023-08-31T00:00:00Z</vt:filetime>
  </property>
  <property fmtid="{D5CDD505-2E9C-101B-9397-08002B2CF9AE}" pid="3" name="LastSaved">
    <vt:filetime>2025-07-07T00:00:00Z</vt:filetime>
  </property>
  <property fmtid="{D5CDD505-2E9C-101B-9397-08002B2CF9AE}" pid="4" name="Producer">
    <vt:lpwstr>Microsoft: Print To PDF</vt:lpwstr>
  </property>
</Properties>
</file>
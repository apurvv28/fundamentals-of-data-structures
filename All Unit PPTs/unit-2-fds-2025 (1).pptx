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</p:sldIdLst>
  <p:sldSz cx="13004800" cy="9753600"/>
  <p:notesSz cx="13004800" cy="9753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1435" y="8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tableStyles" Target="tableStyles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635625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7366000" y="0"/>
            <a:ext cx="5635625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B4F5F9-5C2F-4A30-B746-D1E54D326F9C}" type="datetimeFigureOut">
              <a:rPr lang="en-IN" smtClean="0"/>
              <a:t>15-09-2025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06888" y="1219200"/>
            <a:ext cx="4391025" cy="32924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300163" y="4694238"/>
            <a:ext cx="10404475" cy="38401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264650"/>
            <a:ext cx="5635625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7366000" y="9264650"/>
            <a:ext cx="5635625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A37D9C-5C33-4D42-8767-9DC953ED3B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99826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A37D9C-5C33-4D42-8767-9DC953ED3BE0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3494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A37D9C-5C33-4D42-8767-9DC953ED3BE0}" type="slidenum">
              <a:rPr lang="en-IN" smtClean="0"/>
              <a:t>64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75347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75360" y="3023616"/>
            <a:ext cx="1105408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700" b="1" i="0">
                <a:solidFill>
                  <a:srgbClr val="FF0000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950720" y="5462016"/>
            <a:ext cx="910336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 u="sng">
                <a:solidFill>
                  <a:srgbClr val="3399FF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700" b="0" i="1">
                <a:solidFill>
                  <a:srgbClr val="585858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700" b="1" i="0">
                <a:solidFill>
                  <a:srgbClr val="FF0000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000" b="0" i="0" u="sng">
                <a:solidFill>
                  <a:srgbClr val="3399FF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700" b="0" i="1">
                <a:solidFill>
                  <a:srgbClr val="585858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700" b="1" i="0">
                <a:solidFill>
                  <a:srgbClr val="FF0000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50240" y="2243328"/>
            <a:ext cx="5657088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697472" y="2243328"/>
            <a:ext cx="5657088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700" b="0" i="1">
                <a:solidFill>
                  <a:srgbClr val="585858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700" b="1" i="0">
                <a:solidFill>
                  <a:srgbClr val="FF0000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700" b="0" i="1">
                <a:solidFill>
                  <a:srgbClr val="585858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700" b="0" i="1">
                <a:solidFill>
                  <a:srgbClr val="585858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2028805" y="9243568"/>
            <a:ext cx="120523" cy="120561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09409" y="9243568"/>
            <a:ext cx="120573" cy="12056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587" y="-468229"/>
            <a:ext cx="12836118" cy="3250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700" b="1" i="0">
                <a:solidFill>
                  <a:srgbClr val="FF0000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83716" y="4158234"/>
            <a:ext cx="10905490" cy="20529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 u="sng">
                <a:solidFill>
                  <a:srgbClr val="3399FF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421632" y="9070848"/>
            <a:ext cx="416153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50240" y="9070848"/>
            <a:ext cx="299110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152630" y="9153197"/>
            <a:ext cx="335915" cy="2908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0" i="1">
                <a:solidFill>
                  <a:srgbClr val="585858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41.jp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jpg"/><Relationship Id="rId3" Type="http://schemas.openxmlformats.org/officeDocument/2006/relationships/image" Target="../media/image46.png"/><Relationship Id="rId7" Type="http://schemas.openxmlformats.org/officeDocument/2006/relationships/image" Target="../media/image50.jp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9.jp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66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12" Type="http://schemas.openxmlformats.org/officeDocument/2006/relationships/image" Target="../media/image65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9.png"/><Relationship Id="rId11" Type="http://schemas.openxmlformats.org/officeDocument/2006/relationships/image" Target="../media/image64.png"/><Relationship Id="rId5" Type="http://schemas.openxmlformats.org/officeDocument/2006/relationships/image" Target="../media/image58.png"/><Relationship Id="rId15" Type="http://schemas.openxmlformats.org/officeDocument/2006/relationships/image" Target="../media/image68.png"/><Relationship Id="rId10" Type="http://schemas.openxmlformats.org/officeDocument/2006/relationships/image" Target="../media/image63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Relationship Id="rId14" Type="http://schemas.openxmlformats.org/officeDocument/2006/relationships/image" Target="../media/image67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1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2.jpg"/><Relationship Id="rId4" Type="http://schemas.openxmlformats.org/officeDocument/2006/relationships/image" Target="../media/image71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7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1.jpg"/><Relationship Id="rId4" Type="http://schemas.openxmlformats.org/officeDocument/2006/relationships/image" Target="../media/image80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4.jpg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7" Type="http://schemas.openxmlformats.org/officeDocument/2006/relationships/image" Target="../media/image90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9.png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0.png"/><Relationship Id="rId5" Type="http://schemas.openxmlformats.org/officeDocument/2006/relationships/image" Target="../media/image99.png"/><Relationship Id="rId4" Type="http://schemas.openxmlformats.org/officeDocument/2006/relationships/image" Target="../media/image98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2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3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3.png"/><Relationship Id="rId4" Type="http://schemas.openxmlformats.org/officeDocument/2006/relationships/image" Target="../media/image106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9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jp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jp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4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7.png"/><Relationship Id="rId4" Type="http://schemas.openxmlformats.org/officeDocument/2006/relationships/image" Target="../media/image116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8.jpg"/><Relationship Id="rId5" Type="http://schemas.openxmlformats.org/officeDocument/2006/relationships/image" Target="../media/image117.png"/><Relationship Id="rId4" Type="http://schemas.openxmlformats.org/officeDocument/2006/relationships/image" Target="../media/image116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9.png"/><Relationship Id="rId5" Type="http://schemas.openxmlformats.org/officeDocument/2006/relationships/image" Target="../media/image117.png"/><Relationship Id="rId4" Type="http://schemas.openxmlformats.org/officeDocument/2006/relationships/image" Target="../media/image116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0.jpg"/><Relationship Id="rId5" Type="http://schemas.openxmlformats.org/officeDocument/2006/relationships/image" Target="../media/image117.png"/><Relationship Id="rId4" Type="http://schemas.openxmlformats.org/officeDocument/2006/relationships/image" Target="../media/image116.png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png"/><Relationship Id="rId3" Type="http://schemas.openxmlformats.org/officeDocument/2006/relationships/image" Target="../media/image122.jpg"/><Relationship Id="rId7" Type="http://schemas.openxmlformats.org/officeDocument/2006/relationships/image" Target="../media/image126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5.png"/><Relationship Id="rId5" Type="http://schemas.openxmlformats.org/officeDocument/2006/relationships/image" Target="../media/image124.png"/><Relationship Id="rId4" Type="http://schemas.openxmlformats.org/officeDocument/2006/relationships/image" Target="../media/image123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1.jpg"/><Relationship Id="rId4" Type="http://schemas.openxmlformats.org/officeDocument/2006/relationships/image" Target="../media/image130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png"/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1.png"/><Relationship Id="rId5" Type="http://schemas.openxmlformats.org/officeDocument/2006/relationships/image" Target="../media/image140.png"/><Relationship Id="rId4" Type="http://schemas.openxmlformats.org/officeDocument/2006/relationships/image" Target="../media/image139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png"/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1.png"/><Relationship Id="rId5" Type="http://schemas.openxmlformats.org/officeDocument/2006/relationships/image" Target="../media/image140.png"/><Relationship Id="rId4" Type="http://schemas.openxmlformats.org/officeDocument/2006/relationships/image" Target="../media/image139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45.jpg"/><Relationship Id="rId4" Type="http://schemas.openxmlformats.org/officeDocument/2006/relationships/image" Target="../media/image144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46.jpg"/><Relationship Id="rId4" Type="http://schemas.openxmlformats.org/officeDocument/2006/relationships/image" Target="../media/image144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png"/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0.png"/><Relationship Id="rId4" Type="http://schemas.openxmlformats.org/officeDocument/2006/relationships/image" Target="../media/image149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png"/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5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w3schools.in/data-structures/polynomials-using-linked-list-and-arrays" TargetMode="External"/><Relationship Id="rId3" Type="http://schemas.openxmlformats.org/officeDocument/2006/relationships/hyperlink" Target="https://www.tutorialspoint.com/adt-array-representation-in-data-structure" TargetMode="External"/><Relationship Id="rId7" Type="http://schemas.openxmlformats.org/officeDocument/2006/relationships/hyperlink" Target="https://www.geeksforgeeks.org/calculation-of-address-of-element-of-1-d-2-d-and-3-d-using-row-major-and-column-major-order/" TargetMode="External"/><Relationship Id="rId12" Type="http://schemas.openxmlformats.org/officeDocument/2006/relationships/hyperlink" Target="https://www.youtube.com/watch?v=zXioPdQXf9A" TargetMode="External"/><Relationship Id="rId2" Type="http://schemas.openxmlformats.org/officeDocument/2006/relationships/hyperlink" Target="https://dotnettutorials.net/lesson/array-abstract-data-type-in-c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faceprep.in/data-structures/introduction-to-arrays/" TargetMode="External"/><Relationship Id="rId11" Type="http://schemas.openxmlformats.org/officeDocument/2006/relationships/hyperlink" Target="https://byjus.com/maths/transpose-of-a-matrix/" TargetMode="External"/><Relationship Id="rId5" Type="http://schemas.openxmlformats.org/officeDocument/2006/relationships/hyperlink" Target="https://quescol.com/interview-preparation/merge-two-arrays-python" TargetMode="External"/><Relationship Id="rId10" Type="http://schemas.openxmlformats.org/officeDocument/2006/relationships/hyperlink" Target="https://www.geeksforgeeks.org/sparse-matrix-representation/" TargetMode="External"/><Relationship Id="rId4" Type="http://schemas.openxmlformats.org/officeDocument/2006/relationships/hyperlink" Target="https://www.codingninjas.com/studio/library/c-program-to-merge-two-sorted-array-in-ascending-order" TargetMode="External"/><Relationship Id="rId9" Type="http://schemas.openxmlformats.org/officeDocument/2006/relationships/hyperlink" Target="https://www.bartleby.com/subject/engineering/computer-science/concepts/representation-of-polynomial" TargetMode="Externa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4351" y="2860039"/>
            <a:ext cx="11281410" cy="2159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62025" marR="5080" indent="-949960">
              <a:lnSpc>
                <a:spcPct val="100000"/>
              </a:lnSpc>
              <a:spcBef>
                <a:spcPts val="95"/>
              </a:spcBef>
            </a:pPr>
            <a:r>
              <a:rPr sz="7000" dirty="0">
                <a:solidFill>
                  <a:srgbClr val="5C5C5C"/>
                </a:solidFill>
                <a:latin typeface="Times New Roman"/>
                <a:cs typeface="Times New Roman"/>
              </a:rPr>
              <a:t>“Linear</a:t>
            </a:r>
            <a:r>
              <a:rPr sz="7000" spc="40" dirty="0">
                <a:solidFill>
                  <a:srgbClr val="5C5C5C"/>
                </a:solidFill>
                <a:latin typeface="Times New Roman"/>
                <a:cs typeface="Times New Roman"/>
              </a:rPr>
              <a:t> </a:t>
            </a:r>
            <a:r>
              <a:rPr sz="7000" dirty="0">
                <a:solidFill>
                  <a:srgbClr val="5C5C5C"/>
                </a:solidFill>
                <a:latin typeface="Times New Roman"/>
                <a:cs typeface="Times New Roman"/>
              </a:rPr>
              <a:t>Data Structure</a:t>
            </a:r>
            <a:r>
              <a:rPr sz="7000" spc="45" dirty="0">
                <a:solidFill>
                  <a:srgbClr val="5C5C5C"/>
                </a:solidFill>
                <a:latin typeface="Times New Roman"/>
                <a:cs typeface="Times New Roman"/>
              </a:rPr>
              <a:t> </a:t>
            </a:r>
            <a:r>
              <a:rPr sz="7000" spc="-10" dirty="0">
                <a:solidFill>
                  <a:srgbClr val="5C5C5C"/>
                </a:solidFill>
                <a:latin typeface="Times New Roman"/>
                <a:cs typeface="Times New Roman"/>
              </a:rPr>
              <a:t>using </a:t>
            </a:r>
            <a:r>
              <a:rPr sz="7000" dirty="0">
                <a:solidFill>
                  <a:srgbClr val="5C5C5C"/>
                </a:solidFill>
                <a:latin typeface="Times New Roman"/>
                <a:cs typeface="Times New Roman"/>
              </a:rPr>
              <a:t>Squential</a:t>
            </a:r>
            <a:r>
              <a:rPr sz="7000" spc="125" dirty="0">
                <a:solidFill>
                  <a:srgbClr val="5C5C5C"/>
                </a:solidFill>
                <a:latin typeface="Times New Roman"/>
                <a:cs typeface="Times New Roman"/>
              </a:rPr>
              <a:t> </a:t>
            </a:r>
            <a:r>
              <a:rPr sz="7000" spc="-10" dirty="0">
                <a:solidFill>
                  <a:srgbClr val="5C5C5C"/>
                </a:solidFill>
                <a:latin typeface="Times New Roman"/>
                <a:cs typeface="Times New Roman"/>
              </a:rPr>
              <a:t>Organization”</a:t>
            </a:r>
            <a:endParaRPr sz="7000" dirty="0">
              <a:latin typeface="Times New Roman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0"/>
            <a:ext cx="13004800" cy="9753600"/>
            <a:chOff x="0" y="0"/>
            <a:chExt cx="13004800" cy="9753600"/>
          </a:xfrm>
        </p:grpSpPr>
        <p:sp>
          <p:nvSpPr>
            <p:cNvPr id="9" name="object 9"/>
            <p:cNvSpPr/>
            <p:nvPr/>
          </p:nvSpPr>
          <p:spPr>
            <a:xfrm>
              <a:off x="7556" y="2651632"/>
              <a:ext cx="12997180" cy="5417185"/>
            </a:xfrm>
            <a:custGeom>
              <a:avLst/>
              <a:gdLst/>
              <a:ahLst/>
              <a:cxnLst/>
              <a:rect l="l" t="t" r="r" b="b"/>
              <a:pathLst>
                <a:path w="12997180" h="5417184">
                  <a:moveTo>
                    <a:pt x="12996736" y="5340858"/>
                  </a:moveTo>
                  <a:lnTo>
                    <a:pt x="0" y="5340858"/>
                  </a:lnTo>
                  <a:lnTo>
                    <a:pt x="0" y="5417058"/>
                  </a:lnTo>
                  <a:lnTo>
                    <a:pt x="12996736" y="5417058"/>
                  </a:lnTo>
                  <a:lnTo>
                    <a:pt x="12996736" y="5340858"/>
                  </a:lnTo>
                  <a:close/>
                </a:path>
                <a:path w="12997180" h="5417184">
                  <a:moveTo>
                    <a:pt x="12996736" y="0"/>
                  </a:moveTo>
                  <a:lnTo>
                    <a:pt x="0" y="0"/>
                  </a:lnTo>
                  <a:lnTo>
                    <a:pt x="0" y="76200"/>
                  </a:lnTo>
                  <a:lnTo>
                    <a:pt x="12996736" y="76200"/>
                  </a:lnTo>
                  <a:lnTo>
                    <a:pt x="1299673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0"/>
              <a:ext cx="13004800" cy="9753600"/>
            </a:xfrm>
            <a:custGeom>
              <a:avLst/>
              <a:gdLst/>
              <a:ahLst/>
              <a:cxnLst/>
              <a:rect l="l" t="t" r="r" b="b"/>
              <a:pathLst>
                <a:path w="13004800" h="9753600">
                  <a:moveTo>
                    <a:pt x="0" y="9726462"/>
                  </a:moveTo>
                  <a:lnTo>
                    <a:pt x="13004800" y="9726462"/>
                  </a:lnTo>
                </a:path>
                <a:path w="13004800" h="9753600">
                  <a:moveTo>
                    <a:pt x="7566" y="9726467"/>
                  </a:moveTo>
                  <a:lnTo>
                    <a:pt x="7567" y="0"/>
                  </a:lnTo>
                </a:path>
                <a:path w="13004800" h="9753600">
                  <a:moveTo>
                    <a:pt x="13004800" y="9753604"/>
                  </a:moveTo>
                  <a:lnTo>
                    <a:pt x="13004800" y="27177"/>
                  </a:lnTo>
                </a:path>
                <a:path w="13004800" h="9753600">
                  <a:moveTo>
                    <a:pt x="0" y="27177"/>
                  </a:moveTo>
                  <a:lnTo>
                    <a:pt x="13004800" y="27177"/>
                  </a:lnTo>
                </a:path>
              </a:pathLst>
            </a:custGeom>
            <a:ln w="762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2116181" y="9215425"/>
            <a:ext cx="1454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i="1" spc="-80" dirty="0">
                <a:solidFill>
                  <a:srgbClr val="585858"/>
                </a:solidFill>
                <a:latin typeface="Verdana"/>
                <a:cs typeface="Verdana"/>
              </a:rPr>
              <a:t>1</a:t>
            </a:r>
            <a:endParaRPr sz="170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63923" y="0"/>
            <a:ext cx="5076444" cy="156667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466082" y="43688"/>
            <a:ext cx="407670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10" dirty="0"/>
              <a:t>SYLLABUS</a:t>
            </a:r>
            <a:endParaRPr sz="6000"/>
          </a:p>
        </p:txBody>
      </p:sp>
      <p:sp>
        <p:nvSpPr>
          <p:cNvPr id="5" name="object 5"/>
          <p:cNvSpPr txBox="1"/>
          <p:nvPr/>
        </p:nvSpPr>
        <p:spPr>
          <a:xfrm>
            <a:off x="12152630" y="9153197"/>
            <a:ext cx="297815" cy="29083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z="1700" i="1" spc="-85" dirty="0">
                <a:solidFill>
                  <a:srgbClr val="585858"/>
                </a:solidFill>
                <a:latin typeface="Verdana"/>
                <a:cs typeface="Verdana"/>
              </a:rPr>
              <a:t>2</a:t>
            </a:fld>
            <a:endParaRPr sz="17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017" y="769976"/>
            <a:ext cx="12842240" cy="7697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7620" algn="just">
              <a:lnSpc>
                <a:spcPct val="150000"/>
              </a:lnSpc>
              <a:spcBef>
                <a:spcPts val="100"/>
              </a:spcBef>
            </a:pPr>
            <a:r>
              <a:rPr sz="3200" b="1" dirty="0">
                <a:latin typeface="Times New Roman"/>
                <a:cs typeface="Times New Roman"/>
              </a:rPr>
              <a:t>Concept</a:t>
            </a:r>
            <a:r>
              <a:rPr sz="3200" b="1" spc="235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229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Sequential</a:t>
            </a:r>
            <a:r>
              <a:rPr sz="3200" spc="250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Organization,</a:t>
            </a:r>
            <a:r>
              <a:rPr sz="3200" spc="254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Overview</a:t>
            </a:r>
            <a:r>
              <a:rPr sz="3200" spc="245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225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Array,</a:t>
            </a:r>
            <a:r>
              <a:rPr sz="3200" spc="235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Array</a:t>
            </a:r>
            <a:r>
              <a:rPr sz="3200" spc="240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as</a:t>
            </a:r>
            <a:r>
              <a:rPr sz="3200" spc="225" dirty="0">
                <a:latin typeface="Times New Roman"/>
                <a:cs typeface="Times New Roman"/>
              </a:rPr>
              <a:t>  </a:t>
            </a:r>
            <a:r>
              <a:rPr sz="3200" spc="-25" dirty="0">
                <a:latin typeface="Times New Roman"/>
                <a:cs typeface="Times New Roman"/>
              </a:rPr>
              <a:t>an </a:t>
            </a:r>
            <a:r>
              <a:rPr sz="3200" dirty="0">
                <a:latin typeface="Times New Roman"/>
                <a:cs typeface="Times New Roman"/>
              </a:rPr>
              <a:t>Abstract</a:t>
            </a:r>
            <a:r>
              <a:rPr sz="3200" spc="5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Data</a:t>
            </a:r>
            <a:r>
              <a:rPr sz="3200" spc="5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Type,</a:t>
            </a:r>
            <a:r>
              <a:rPr sz="3200" spc="5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Operations</a:t>
            </a:r>
            <a:r>
              <a:rPr sz="3200" spc="5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on</a:t>
            </a:r>
            <a:r>
              <a:rPr sz="3200" spc="5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Array,</a:t>
            </a:r>
            <a:r>
              <a:rPr sz="3200" spc="5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Merging</a:t>
            </a:r>
            <a:r>
              <a:rPr sz="3200" spc="5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5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two</a:t>
            </a:r>
            <a:r>
              <a:rPr sz="3200" spc="5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arrays,</a:t>
            </a:r>
            <a:r>
              <a:rPr sz="3200" spc="58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Storage </a:t>
            </a:r>
            <a:r>
              <a:rPr sz="3200" dirty="0">
                <a:latin typeface="Times New Roman"/>
                <a:cs typeface="Times New Roman"/>
              </a:rPr>
              <a:t>Representation</a:t>
            </a:r>
            <a:r>
              <a:rPr sz="3200" spc="210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204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their</a:t>
            </a:r>
            <a:r>
              <a:rPr sz="3200" spc="204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Address</a:t>
            </a:r>
            <a:r>
              <a:rPr sz="3200" spc="204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Calculation:</a:t>
            </a:r>
            <a:r>
              <a:rPr sz="3200" spc="200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Row</a:t>
            </a:r>
            <a:r>
              <a:rPr sz="3200" spc="200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major</a:t>
            </a:r>
            <a:r>
              <a:rPr sz="3200" spc="204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200" dirty="0">
                <a:latin typeface="Times New Roman"/>
                <a:cs typeface="Times New Roman"/>
              </a:rPr>
              <a:t>  </a:t>
            </a:r>
            <a:r>
              <a:rPr sz="3200" spc="-10" dirty="0">
                <a:latin typeface="Times New Roman"/>
                <a:cs typeface="Times New Roman"/>
              </a:rPr>
              <a:t>Column </a:t>
            </a:r>
            <a:r>
              <a:rPr sz="3200" dirty="0">
                <a:latin typeface="Times New Roman"/>
                <a:cs typeface="Times New Roman"/>
              </a:rPr>
              <a:t>Major,</a:t>
            </a:r>
            <a:r>
              <a:rPr sz="3200" spc="170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Multidimensional</a:t>
            </a:r>
            <a:r>
              <a:rPr sz="3200" spc="180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Arrays:</a:t>
            </a:r>
            <a:r>
              <a:rPr sz="3200" spc="155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Two-dimensional</a:t>
            </a:r>
            <a:r>
              <a:rPr sz="3200" spc="175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arrays,</a:t>
            </a:r>
            <a:r>
              <a:rPr sz="3200" spc="165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n-</a:t>
            </a:r>
            <a:r>
              <a:rPr sz="3200" spc="-10" dirty="0">
                <a:latin typeface="Times New Roman"/>
                <a:cs typeface="Times New Roman"/>
              </a:rPr>
              <a:t>dimensional </a:t>
            </a:r>
            <a:r>
              <a:rPr sz="3200" dirty="0">
                <a:latin typeface="Times New Roman"/>
                <a:cs typeface="Times New Roman"/>
              </a:rPr>
              <a:t>arrays.</a:t>
            </a:r>
            <a:r>
              <a:rPr sz="3200" spc="1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Concept</a:t>
            </a:r>
            <a:r>
              <a:rPr sz="3200" spc="1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1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Ordered</a:t>
            </a:r>
            <a:r>
              <a:rPr sz="3200" spc="15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List,</a:t>
            </a:r>
            <a:endParaRPr sz="3200">
              <a:latin typeface="Times New Roman"/>
              <a:cs typeface="Times New Roman"/>
            </a:endParaRPr>
          </a:p>
          <a:p>
            <a:pPr marL="12700" marR="6985" algn="just">
              <a:lnSpc>
                <a:spcPct val="150000"/>
              </a:lnSpc>
              <a:spcBef>
                <a:spcPts val="1405"/>
              </a:spcBef>
            </a:pPr>
            <a:r>
              <a:rPr sz="3200" b="1" dirty="0">
                <a:latin typeface="Times New Roman"/>
                <a:cs typeface="Times New Roman"/>
              </a:rPr>
              <a:t>Single</a:t>
            </a:r>
            <a:r>
              <a:rPr sz="3200" b="1" spc="30" dirty="0">
                <a:latin typeface="Times New Roman"/>
                <a:cs typeface="Times New Roman"/>
              </a:rPr>
              <a:t>  </a:t>
            </a:r>
            <a:r>
              <a:rPr sz="3200" b="1" dirty="0">
                <a:latin typeface="Times New Roman"/>
                <a:cs typeface="Times New Roman"/>
              </a:rPr>
              <a:t>Variable</a:t>
            </a:r>
            <a:r>
              <a:rPr sz="3200" b="1" spc="30" dirty="0">
                <a:latin typeface="Times New Roman"/>
                <a:cs typeface="Times New Roman"/>
              </a:rPr>
              <a:t>  </a:t>
            </a:r>
            <a:r>
              <a:rPr sz="3200" b="1" dirty="0">
                <a:latin typeface="Times New Roman"/>
                <a:cs typeface="Times New Roman"/>
              </a:rPr>
              <a:t>Polynomial</a:t>
            </a:r>
            <a:r>
              <a:rPr sz="3200" dirty="0">
                <a:latin typeface="Times New Roman"/>
                <a:cs typeface="Times New Roman"/>
              </a:rPr>
              <a:t>:</a:t>
            </a:r>
            <a:r>
              <a:rPr sz="3200" spc="20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Representation</a:t>
            </a:r>
            <a:r>
              <a:rPr sz="3200" spc="40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using</a:t>
            </a:r>
            <a:r>
              <a:rPr sz="3200" spc="30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arrays,</a:t>
            </a:r>
            <a:r>
              <a:rPr sz="3200" spc="25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Polynomial</a:t>
            </a:r>
            <a:r>
              <a:rPr sz="3200" spc="30" dirty="0">
                <a:latin typeface="Times New Roman"/>
                <a:cs typeface="Times New Roman"/>
              </a:rPr>
              <a:t>  </a:t>
            </a:r>
            <a:r>
              <a:rPr sz="3200" spc="-25" dirty="0">
                <a:latin typeface="Times New Roman"/>
                <a:cs typeface="Times New Roman"/>
              </a:rPr>
              <a:t>as </a:t>
            </a:r>
            <a:r>
              <a:rPr sz="3200" dirty="0">
                <a:latin typeface="Times New Roman"/>
                <a:cs typeface="Times New Roman"/>
              </a:rPr>
              <a:t>array</a:t>
            </a:r>
            <a:r>
              <a:rPr sz="3200" spc="19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1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structure,</a:t>
            </a:r>
            <a:r>
              <a:rPr sz="3200" spc="2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Polynomial</a:t>
            </a:r>
            <a:r>
              <a:rPr sz="3200" spc="20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addition,</a:t>
            </a:r>
            <a:r>
              <a:rPr sz="3200" spc="2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Polynomial</a:t>
            </a:r>
            <a:r>
              <a:rPr sz="3200" spc="19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multiplication.</a:t>
            </a:r>
            <a:endParaRPr sz="32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50000"/>
              </a:lnSpc>
              <a:spcBef>
                <a:spcPts val="1395"/>
              </a:spcBef>
            </a:pPr>
            <a:r>
              <a:rPr sz="3200" b="1" dirty="0">
                <a:latin typeface="Times New Roman"/>
                <a:cs typeface="Times New Roman"/>
              </a:rPr>
              <a:t>Sparse</a:t>
            </a:r>
            <a:r>
              <a:rPr sz="3200" b="1" spc="85" dirty="0">
                <a:latin typeface="Times New Roman"/>
                <a:cs typeface="Times New Roman"/>
              </a:rPr>
              <a:t>  </a:t>
            </a:r>
            <a:r>
              <a:rPr sz="3200" b="1" dirty="0">
                <a:latin typeface="Times New Roman"/>
                <a:cs typeface="Times New Roman"/>
              </a:rPr>
              <a:t>Matrix:</a:t>
            </a:r>
            <a:r>
              <a:rPr sz="3200" b="1" spc="70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Sparse</a:t>
            </a:r>
            <a:r>
              <a:rPr sz="3200" spc="80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matrix</a:t>
            </a:r>
            <a:r>
              <a:rPr sz="3200" spc="85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representation</a:t>
            </a:r>
            <a:r>
              <a:rPr sz="3200" spc="100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using</a:t>
            </a:r>
            <a:r>
              <a:rPr sz="3200" spc="80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array,</a:t>
            </a:r>
            <a:r>
              <a:rPr sz="3200" spc="80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Sparse</a:t>
            </a:r>
            <a:r>
              <a:rPr sz="3200" spc="80" dirty="0">
                <a:latin typeface="Times New Roman"/>
                <a:cs typeface="Times New Roman"/>
              </a:rPr>
              <a:t>  </a:t>
            </a:r>
            <a:r>
              <a:rPr sz="3200" spc="-10" dirty="0">
                <a:latin typeface="Times New Roman"/>
                <a:cs typeface="Times New Roman"/>
              </a:rPr>
              <a:t>matrix </a:t>
            </a:r>
            <a:r>
              <a:rPr sz="3200" dirty="0">
                <a:latin typeface="Times New Roman"/>
                <a:cs typeface="Times New Roman"/>
              </a:rPr>
              <a:t>addition,</a:t>
            </a:r>
            <a:r>
              <a:rPr sz="3200" spc="3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Transpose</a:t>
            </a:r>
            <a:r>
              <a:rPr sz="3200" spc="3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3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sparse</a:t>
            </a:r>
            <a:r>
              <a:rPr sz="3200" spc="3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matrix-</a:t>
            </a:r>
            <a:r>
              <a:rPr sz="3200" spc="3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Simple</a:t>
            </a:r>
            <a:r>
              <a:rPr sz="3200" spc="3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3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Fast</a:t>
            </a:r>
            <a:r>
              <a:rPr sz="3200" spc="3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Transpose,</a:t>
            </a:r>
            <a:r>
              <a:rPr sz="3200" spc="3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Time</a:t>
            </a:r>
            <a:r>
              <a:rPr sz="3200" spc="345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and </a:t>
            </a:r>
            <a:r>
              <a:rPr sz="3200" dirty="0">
                <a:latin typeface="Times New Roman"/>
                <a:cs typeface="Times New Roman"/>
              </a:rPr>
              <a:t>Space</a:t>
            </a:r>
            <a:r>
              <a:rPr sz="3200" spc="11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tradeoff.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1" y="0"/>
            <a:ext cx="12774168" cy="156667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5797" y="43688"/>
            <a:ext cx="1177226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dirty="0"/>
              <a:t>SEQUENTIAL</a:t>
            </a:r>
            <a:r>
              <a:rPr sz="6000" spc="-10" dirty="0"/>
              <a:t> </a:t>
            </a:r>
            <a:r>
              <a:rPr sz="6000" spc="5" dirty="0"/>
              <a:t>ORGANIZ</a:t>
            </a:r>
            <a:r>
              <a:rPr sz="6000" spc="-535" dirty="0"/>
              <a:t>A</a:t>
            </a:r>
            <a:r>
              <a:rPr sz="6000" spc="5" dirty="0"/>
              <a:t>TION</a:t>
            </a:r>
            <a:endParaRPr sz="6000"/>
          </a:p>
        </p:txBody>
      </p:sp>
      <p:sp>
        <p:nvSpPr>
          <p:cNvPr id="4" name="object 4"/>
          <p:cNvSpPr txBox="1"/>
          <p:nvPr/>
        </p:nvSpPr>
        <p:spPr>
          <a:xfrm>
            <a:off x="523748" y="1199742"/>
            <a:ext cx="12188825" cy="3865245"/>
          </a:xfrm>
          <a:prstGeom prst="rect">
            <a:avLst/>
          </a:prstGeom>
        </p:spPr>
        <p:txBody>
          <a:bodyPr vert="horz" wrap="square" lIns="0" tIns="143510" rIns="0" bIns="0" rtlCol="0">
            <a:spAutoFit/>
          </a:bodyPr>
          <a:lstStyle/>
          <a:p>
            <a:pPr marL="499745" indent="-487045">
              <a:lnSpc>
                <a:spcPct val="100000"/>
              </a:lnSpc>
              <a:spcBef>
                <a:spcPts val="1130"/>
              </a:spcBef>
              <a:buFont typeface="Arial MT"/>
              <a:buChar char="•"/>
              <a:tabLst>
                <a:tab pos="499745" algn="l"/>
              </a:tabLst>
            </a:pPr>
            <a:r>
              <a:rPr sz="4000" b="1" dirty="0">
                <a:solidFill>
                  <a:srgbClr val="00AF50"/>
                </a:solidFill>
                <a:latin typeface="Times New Roman"/>
                <a:cs typeface="Times New Roman"/>
              </a:rPr>
              <a:t>Definition</a:t>
            </a:r>
            <a:r>
              <a:rPr sz="4000" b="1" spc="-16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4000" b="1" spc="-50" dirty="0">
                <a:solidFill>
                  <a:srgbClr val="00AF50"/>
                </a:solidFill>
                <a:latin typeface="Times New Roman"/>
                <a:cs typeface="Times New Roman"/>
              </a:rPr>
              <a:t>:</a:t>
            </a:r>
            <a:endParaRPr sz="4000">
              <a:latin typeface="Times New Roman"/>
              <a:cs typeface="Times New Roman"/>
            </a:endParaRPr>
          </a:p>
          <a:p>
            <a:pPr marL="12700" marR="5080" indent="1428115" algn="just">
              <a:lnSpc>
                <a:spcPct val="100000"/>
              </a:lnSpc>
              <a:spcBef>
                <a:spcPts val="880"/>
              </a:spcBef>
            </a:pPr>
            <a:r>
              <a:rPr sz="3400" spc="-55" dirty="0">
                <a:solidFill>
                  <a:srgbClr val="7E7E7E"/>
                </a:solidFill>
                <a:latin typeface="Verdana"/>
                <a:cs typeface="Verdana"/>
              </a:rPr>
              <a:t>“</a:t>
            </a:r>
            <a:r>
              <a:rPr sz="3200" spc="-55" dirty="0">
                <a:latin typeface="Verdana"/>
                <a:cs typeface="Verdana"/>
              </a:rPr>
              <a:t>In</a:t>
            </a:r>
            <a:r>
              <a:rPr sz="3200" spc="10" dirty="0">
                <a:latin typeface="Verdana"/>
                <a:cs typeface="Verdana"/>
              </a:rPr>
              <a:t> </a:t>
            </a:r>
            <a:r>
              <a:rPr sz="3200" dirty="0">
                <a:latin typeface="Verdana"/>
                <a:cs typeface="Verdana"/>
              </a:rPr>
              <a:t>computer</a:t>
            </a:r>
            <a:r>
              <a:rPr sz="3200" spc="30" dirty="0">
                <a:latin typeface="Verdana"/>
                <a:cs typeface="Verdana"/>
              </a:rPr>
              <a:t> </a:t>
            </a:r>
            <a:r>
              <a:rPr sz="3200" dirty="0">
                <a:latin typeface="Verdana"/>
                <a:cs typeface="Verdana"/>
              </a:rPr>
              <a:t>science,</a:t>
            </a:r>
            <a:r>
              <a:rPr sz="3200" spc="10" dirty="0">
                <a:latin typeface="Verdana"/>
                <a:cs typeface="Verdana"/>
              </a:rPr>
              <a:t> </a:t>
            </a:r>
            <a:r>
              <a:rPr sz="3200" b="1" spc="-20" dirty="0">
                <a:latin typeface="Tahoma"/>
                <a:cs typeface="Tahoma"/>
              </a:rPr>
              <a:t>sequential</a:t>
            </a:r>
            <a:r>
              <a:rPr sz="3200" b="1" spc="195" dirty="0">
                <a:latin typeface="Tahoma"/>
                <a:cs typeface="Tahoma"/>
              </a:rPr>
              <a:t> </a:t>
            </a:r>
            <a:r>
              <a:rPr sz="3200" spc="55" dirty="0">
                <a:latin typeface="Verdana"/>
                <a:cs typeface="Verdana"/>
              </a:rPr>
              <a:t>access</a:t>
            </a:r>
            <a:r>
              <a:rPr sz="3200" dirty="0">
                <a:latin typeface="Verdana"/>
                <a:cs typeface="Verdana"/>
              </a:rPr>
              <a:t> means</a:t>
            </a:r>
            <a:r>
              <a:rPr sz="3200" spc="5" dirty="0">
                <a:latin typeface="Verdana"/>
                <a:cs typeface="Verdana"/>
              </a:rPr>
              <a:t> </a:t>
            </a:r>
            <a:r>
              <a:rPr sz="3200" spc="-20" dirty="0">
                <a:latin typeface="Verdana"/>
                <a:cs typeface="Verdana"/>
              </a:rPr>
              <a:t>that </a:t>
            </a:r>
            <a:r>
              <a:rPr sz="3200" spc="250" dirty="0">
                <a:latin typeface="Verdana"/>
                <a:cs typeface="Verdana"/>
              </a:rPr>
              <a:t>a</a:t>
            </a:r>
            <a:r>
              <a:rPr sz="3200" spc="60" dirty="0">
                <a:latin typeface="Verdana"/>
                <a:cs typeface="Verdana"/>
              </a:rPr>
              <a:t> </a:t>
            </a:r>
            <a:r>
              <a:rPr sz="3200" dirty="0">
                <a:latin typeface="Verdana"/>
                <a:cs typeface="Verdana"/>
              </a:rPr>
              <a:t>group</a:t>
            </a:r>
            <a:r>
              <a:rPr sz="3200" spc="60" dirty="0">
                <a:latin typeface="Verdana"/>
                <a:cs typeface="Verdana"/>
              </a:rPr>
              <a:t> </a:t>
            </a:r>
            <a:r>
              <a:rPr sz="3200" dirty="0">
                <a:latin typeface="Verdana"/>
                <a:cs typeface="Verdana"/>
              </a:rPr>
              <a:t>of</a:t>
            </a:r>
            <a:r>
              <a:rPr sz="3200" spc="60" dirty="0">
                <a:latin typeface="Verdana"/>
                <a:cs typeface="Verdana"/>
              </a:rPr>
              <a:t> </a:t>
            </a:r>
            <a:r>
              <a:rPr sz="3200" spc="-10" dirty="0">
                <a:latin typeface="Verdana"/>
                <a:cs typeface="Verdana"/>
              </a:rPr>
              <a:t>elements</a:t>
            </a:r>
            <a:r>
              <a:rPr sz="3200" spc="60" dirty="0">
                <a:latin typeface="Verdana"/>
                <a:cs typeface="Verdana"/>
              </a:rPr>
              <a:t> </a:t>
            </a:r>
            <a:r>
              <a:rPr sz="3200" dirty="0">
                <a:latin typeface="Verdana"/>
                <a:cs typeface="Verdana"/>
              </a:rPr>
              <a:t>(such</a:t>
            </a:r>
            <a:r>
              <a:rPr sz="3200" spc="55" dirty="0">
                <a:latin typeface="Verdana"/>
                <a:cs typeface="Verdana"/>
              </a:rPr>
              <a:t> </a:t>
            </a:r>
            <a:r>
              <a:rPr sz="3200" dirty="0">
                <a:latin typeface="Verdana"/>
                <a:cs typeface="Verdana"/>
              </a:rPr>
              <a:t>as</a:t>
            </a:r>
            <a:r>
              <a:rPr sz="3200" spc="70" dirty="0">
                <a:latin typeface="Verdana"/>
                <a:cs typeface="Verdana"/>
              </a:rPr>
              <a:t> </a:t>
            </a:r>
            <a:r>
              <a:rPr sz="3200" b="1" dirty="0">
                <a:latin typeface="Tahoma"/>
                <a:cs typeface="Tahoma"/>
              </a:rPr>
              <a:t>data</a:t>
            </a:r>
            <a:r>
              <a:rPr sz="3200" b="1" spc="240" dirty="0">
                <a:latin typeface="Tahoma"/>
                <a:cs typeface="Tahoma"/>
              </a:rPr>
              <a:t> </a:t>
            </a:r>
            <a:r>
              <a:rPr sz="3200" dirty="0">
                <a:latin typeface="Verdana"/>
                <a:cs typeface="Verdana"/>
              </a:rPr>
              <a:t>in</a:t>
            </a:r>
            <a:r>
              <a:rPr sz="3200" spc="65" dirty="0">
                <a:latin typeface="Verdana"/>
                <a:cs typeface="Verdana"/>
              </a:rPr>
              <a:t> </a:t>
            </a:r>
            <a:r>
              <a:rPr sz="3200" spc="250" dirty="0">
                <a:latin typeface="Verdana"/>
                <a:cs typeface="Verdana"/>
              </a:rPr>
              <a:t>a</a:t>
            </a:r>
            <a:r>
              <a:rPr sz="3200" spc="60" dirty="0">
                <a:latin typeface="Verdana"/>
                <a:cs typeface="Verdana"/>
              </a:rPr>
              <a:t> </a:t>
            </a:r>
            <a:r>
              <a:rPr sz="3200" spc="-10" dirty="0">
                <a:latin typeface="Verdana"/>
                <a:cs typeface="Verdana"/>
              </a:rPr>
              <a:t>memory</a:t>
            </a:r>
            <a:r>
              <a:rPr sz="3200" spc="50" dirty="0">
                <a:latin typeface="Verdana"/>
                <a:cs typeface="Verdana"/>
              </a:rPr>
              <a:t> </a:t>
            </a:r>
            <a:r>
              <a:rPr sz="3200" dirty="0">
                <a:latin typeface="Verdana"/>
                <a:cs typeface="Verdana"/>
              </a:rPr>
              <a:t>array</a:t>
            </a:r>
            <a:r>
              <a:rPr sz="3200" spc="65" dirty="0">
                <a:latin typeface="Verdana"/>
                <a:cs typeface="Verdana"/>
              </a:rPr>
              <a:t> </a:t>
            </a:r>
            <a:r>
              <a:rPr sz="3200" dirty="0">
                <a:latin typeface="Verdana"/>
                <a:cs typeface="Verdana"/>
              </a:rPr>
              <a:t>or</a:t>
            </a:r>
            <a:r>
              <a:rPr sz="3200" spc="60" dirty="0">
                <a:latin typeface="Verdana"/>
                <a:cs typeface="Verdana"/>
              </a:rPr>
              <a:t> </a:t>
            </a:r>
            <a:r>
              <a:rPr sz="3200" spc="200" dirty="0">
                <a:latin typeface="Verdana"/>
                <a:cs typeface="Verdana"/>
              </a:rPr>
              <a:t>a </a:t>
            </a:r>
            <a:r>
              <a:rPr sz="3200" spc="-125" dirty="0">
                <a:latin typeface="Verdana"/>
                <a:cs typeface="Verdana"/>
              </a:rPr>
              <a:t>disk</a:t>
            </a:r>
            <a:r>
              <a:rPr sz="3200" spc="5" dirty="0">
                <a:latin typeface="Verdana"/>
                <a:cs typeface="Verdana"/>
              </a:rPr>
              <a:t> </a:t>
            </a:r>
            <a:r>
              <a:rPr sz="3200" spc="-25" dirty="0">
                <a:latin typeface="Verdana"/>
                <a:cs typeface="Verdana"/>
              </a:rPr>
              <a:t>file</a:t>
            </a:r>
            <a:r>
              <a:rPr sz="3200" spc="25" dirty="0">
                <a:latin typeface="Verdana"/>
                <a:cs typeface="Verdana"/>
              </a:rPr>
              <a:t> </a:t>
            </a:r>
            <a:r>
              <a:rPr sz="3200" dirty="0">
                <a:latin typeface="Verdana"/>
                <a:cs typeface="Verdana"/>
              </a:rPr>
              <a:t>or</a:t>
            </a:r>
            <a:r>
              <a:rPr sz="3200" spc="30" dirty="0">
                <a:latin typeface="Verdana"/>
                <a:cs typeface="Verdana"/>
              </a:rPr>
              <a:t> </a:t>
            </a:r>
            <a:r>
              <a:rPr sz="3200" dirty="0">
                <a:latin typeface="Verdana"/>
                <a:cs typeface="Verdana"/>
              </a:rPr>
              <a:t>on</a:t>
            </a:r>
            <a:r>
              <a:rPr sz="3200" spc="30" dirty="0">
                <a:latin typeface="Verdana"/>
                <a:cs typeface="Verdana"/>
              </a:rPr>
              <a:t> </a:t>
            </a:r>
            <a:r>
              <a:rPr sz="3200" dirty="0">
                <a:latin typeface="Verdana"/>
                <a:cs typeface="Verdana"/>
              </a:rPr>
              <a:t>magnetic</a:t>
            </a:r>
            <a:r>
              <a:rPr sz="3200" spc="40" dirty="0">
                <a:latin typeface="Verdana"/>
                <a:cs typeface="Verdana"/>
              </a:rPr>
              <a:t> </a:t>
            </a:r>
            <a:r>
              <a:rPr sz="3200" spc="100" dirty="0">
                <a:latin typeface="Verdana"/>
                <a:cs typeface="Verdana"/>
              </a:rPr>
              <a:t>tape</a:t>
            </a:r>
            <a:r>
              <a:rPr sz="3200" spc="40" dirty="0">
                <a:latin typeface="Verdana"/>
                <a:cs typeface="Verdana"/>
              </a:rPr>
              <a:t> </a:t>
            </a:r>
            <a:r>
              <a:rPr sz="3200" b="1" dirty="0">
                <a:latin typeface="Tahoma"/>
                <a:cs typeface="Tahoma"/>
              </a:rPr>
              <a:t>data</a:t>
            </a:r>
            <a:r>
              <a:rPr sz="3200" b="1" spc="204" dirty="0">
                <a:latin typeface="Tahoma"/>
                <a:cs typeface="Tahoma"/>
              </a:rPr>
              <a:t> </a:t>
            </a:r>
            <a:r>
              <a:rPr sz="3200" spc="-35" dirty="0">
                <a:latin typeface="Verdana"/>
                <a:cs typeface="Verdana"/>
              </a:rPr>
              <a:t>storage)</a:t>
            </a:r>
            <a:r>
              <a:rPr sz="3200" spc="30" dirty="0">
                <a:latin typeface="Verdana"/>
                <a:cs typeface="Verdana"/>
              </a:rPr>
              <a:t> </a:t>
            </a:r>
            <a:r>
              <a:rPr sz="3200" spc="-335" dirty="0">
                <a:latin typeface="Verdana"/>
                <a:cs typeface="Verdana"/>
              </a:rPr>
              <a:t>is</a:t>
            </a:r>
            <a:r>
              <a:rPr sz="3200" spc="55" dirty="0">
                <a:latin typeface="Verdana"/>
                <a:cs typeface="Verdana"/>
              </a:rPr>
              <a:t> </a:t>
            </a:r>
            <a:r>
              <a:rPr sz="3200" spc="85" dirty="0">
                <a:latin typeface="Verdana"/>
                <a:cs typeface="Verdana"/>
              </a:rPr>
              <a:t>accessed</a:t>
            </a:r>
            <a:r>
              <a:rPr sz="3200" spc="35" dirty="0">
                <a:latin typeface="Verdana"/>
                <a:cs typeface="Verdana"/>
              </a:rPr>
              <a:t> </a:t>
            </a:r>
            <a:r>
              <a:rPr sz="3200" dirty="0">
                <a:latin typeface="Verdana"/>
                <a:cs typeface="Verdana"/>
              </a:rPr>
              <a:t>in</a:t>
            </a:r>
            <a:r>
              <a:rPr sz="3200" spc="40" dirty="0">
                <a:latin typeface="Verdana"/>
                <a:cs typeface="Verdana"/>
              </a:rPr>
              <a:t> </a:t>
            </a:r>
            <a:r>
              <a:rPr sz="3200" spc="200" dirty="0">
                <a:latin typeface="Verdana"/>
                <a:cs typeface="Verdana"/>
              </a:rPr>
              <a:t>a </a:t>
            </a:r>
            <a:r>
              <a:rPr sz="3200" dirty="0">
                <a:latin typeface="Verdana"/>
                <a:cs typeface="Verdana"/>
              </a:rPr>
              <a:t>predetermined,</a:t>
            </a:r>
            <a:r>
              <a:rPr sz="3200" spc="370" dirty="0">
                <a:latin typeface="Verdana"/>
                <a:cs typeface="Verdana"/>
              </a:rPr>
              <a:t>  </a:t>
            </a:r>
            <a:r>
              <a:rPr sz="3200" dirty="0">
                <a:latin typeface="Verdana"/>
                <a:cs typeface="Verdana"/>
              </a:rPr>
              <a:t>ordered</a:t>
            </a:r>
            <a:r>
              <a:rPr sz="3200" spc="365" dirty="0">
                <a:latin typeface="Verdana"/>
                <a:cs typeface="Verdana"/>
              </a:rPr>
              <a:t>  </a:t>
            </a:r>
            <a:r>
              <a:rPr sz="3200" dirty="0">
                <a:latin typeface="Verdana"/>
                <a:cs typeface="Verdana"/>
              </a:rPr>
              <a:t>sequence.</a:t>
            </a:r>
            <a:r>
              <a:rPr sz="3200" b="1" dirty="0">
                <a:latin typeface="Tahoma"/>
                <a:cs typeface="Tahoma"/>
              </a:rPr>
              <a:t>Sequential</a:t>
            </a:r>
            <a:r>
              <a:rPr sz="3200" b="1" spc="555" dirty="0">
                <a:latin typeface="Tahoma"/>
                <a:cs typeface="Tahoma"/>
              </a:rPr>
              <a:t>  </a:t>
            </a:r>
            <a:r>
              <a:rPr sz="3200" spc="55" dirty="0">
                <a:latin typeface="Verdana"/>
                <a:cs typeface="Verdana"/>
              </a:rPr>
              <a:t>access</a:t>
            </a:r>
            <a:r>
              <a:rPr sz="3200" spc="365" dirty="0">
                <a:latin typeface="Verdana"/>
                <a:cs typeface="Verdana"/>
              </a:rPr>
              <a:t>  </a:t>
            </a:r>
            <a:r>
              <a:rPr sz="3200" spc="-365" dirty="0">
                <a:latin typeface="Verdana"/>
                <a:cs typeface="Verdana"/>
              </a:rPr>
              <a:t>is </a:t>
            </a:r>
            <a:r>
              <a:rPr sz="3200" spc="-120" dirty="0">
                <a:latin typeface="Verdana"/>
                <a:cs typeface="Verdana"/>
              </a:rPr>
              <a:t>sometimes</a:t>
            </a:r>
            <a:r>
              <a:rPr sz="3200" spc="-165" dirty="0">
                <a:latin typeface="Verdana"/>
                <a:cs typeface="Verdana"/>
              </a:rPr>
              <a:t> </a:t>
            </a:r>
            <a:r>
              <a:rPr sz="3200" dirty="0">
                <a:latin typeface="Verdana"/>
                <a:cs typeface="Verdana"/>
              </a:rPr>
              <a:t>the</a:t>
            </a:r>
            <a:r>
              <a:rPr sz="3200" spc="-155" dirty="0">
                <a:latin typeface="Verdana"/>
                <a:cs typeface="Verdana"/>
              </a:rPr>
              <a:t> </a:t>
            </a:r>
            <a:r>
              <a:rPr sz="3200" spc="-100" dirty="0">
                <a:latin typeface="Verdana"/>
                <a:cs typeface="Verdana"/>
              </a:rPr>
              <a:t>only</a:t>
            </a:r>
            <a:r>
              <a:rPr sz="3200" spc="-165" dirty="0">
                <a:latin typeface="Verdana"/>
                <a:cs typeface="Verdana"/>
              </a:rPr>
              <a:t> </a:t>
            </a:r>
            <a:r>
              <a:rPr sz="3200" dirty="0">
                <a:latin typeface="Verdana"/>
                <a:cs typeface="Verdana"/>
              </a:rPr>
              <a:t>way</a:t>
            </a:r>
            <a:r>
              <a:rPr sz="3200" spc="-160" dirty="0">
                <a:latin typeface="Verdana"/>
                <a:cs typeface="Verdana"/>
              </a:rPr>
              <a:t> </a:t>
            </a:r>
            <a:r>
              <a:rPr sz="3200" dirty="0">
                <a:latin typeface="Verdana"/>
                <a:cs typeface="Verdana"/>
              </a:rPr>
              <a:t>of</a:t>
            </a:r>
            <a:r>
              <a:rPr sz="3200" spc="-160" dirty="0">
                <a:latin typeface="Verdana"/>
                <a:cs typeface="Verdana"/>
              </a:rPr>
              <a:t> </a:t>
            </a:r>
            <a:r>
              <a:rPr sz="3200" dirty="0">
                <a:latin typeface="Verdana"/>
                <a:cs typeface="Verdana"/>
              </a:rPr>
              <a:t>accessing</a:t>
            </a:r>
            <a:r>
              <a:rPr sz="3200" spc="-150" dirty="0">
                <a:latin typeface="Verdana"/>
                <a:cs typeface="Verdana"/>
              </a:rPr>
              <a:t> </a:t>
            </a:r>
            <a:r>
              <a:rPr sz="3200" dirty="0">
                <a:latin typeface="Verdana"/>
                <a:cs typeface="Verdana"/>
              </a:rPr>
              <a:t>the</a:t>
            </a:r>
            <a:r>
              <a:rPr sz="3200" spc="-160" dirty="0">
                <a:latin typeface="Verdana"/>
                <a:cs typeface="Verdana"/>
              </a:rPr>
              <a:t> </a:t>
            </a:r>
            <a:r>
              <a:rPr sz="3200" b="1" spc="-10" dirty="0">
                <a:latin typeface="Tahoma"/>
                <a:cs typeface="Tahoma"/>
              </a:rPr>
              <a:t>data</a:t>
            </a:r>
            <a:r>
              <a:rPr sz="3200" spc="-10" dirty="0">
                <a:latin typeface="Verdana"/>
                <a:cs typeface="Verdana"/>
              </a:rPr>
              <a:t>,</a:t>
            </a:r>
            <a:r>
              <a:rPr sz="3200" spc="-145" dirty="0">
                <a:latin typeface="Verdana"/>
                <a:cs typeface="Verdana"/>
              </a:rPr>
              <a:t> </a:t>
            </a:r>
            <a:r>
              <a:rPr sz="3200" spc="-140" dirty="0">
                <a:latin typeface="Verdana"/>
                <a:cs typeface="Verdana"/>
              </a:rPr>
              <a:t>for </a:t>
            </a:r>
            <a:r>
              <a:rPr sz="3200" dirty="0">
                <a:latin typeface="Verdana"/>
                <a:cs typeface="Verdana"/>
              </a:rPr>
              <a:t>example</a:t>
            </a:r>
            <a:r>
              <a:rPr sz="3200" spc="-155" dirty="0">
                <a:latin typeface="Verdana"/>
                <a:cs typeface="Verdana"/>
              </a:rPr>
              <a:t> </a:t>
            </a:r>
            <a:r>
              <a:rPr sz="3200" spc="-25" dirty="0">
                <a:latin typeface="Verdana"/>
                <a:cs typeface="Verdana"/>
              </a:rPr>
              <a:t>if </a:t>
            </a:r>
            <a:r>
              <a:rPr sz="3200" spc="-225" dirty="0">
                <a:latin typeface="Verdana"/>
                <a:cs typeface="Verdana"/>
              </a:rPr>
              <a:t>it</a:t>
            </a:r>
            <a:r>
              <a:rPr sz="3200" spc="-215" dirty="0">
                <a:latin typeface="Verdana"/>
                <a:cs typeface="Verdana"/>
              </a:rPr>
              <a:t> </a:t>
            </a:r>
            <a:r>
              <a:rPr sz="3200" spc="-335" dirty="0">
                <a:latin typeface="Verdana"/>
                <a:cs typeface="Verdana"/>
              </a:rPr>
              <a:t>is</a:t>
            </a:r>
            <a:r>
              <a:rPr sz="3200" spc="-220" dirty="0">
                <a:latin typeface="Verdana"/>
                <a:cs typeface="Verdana"/>
              </a:rPr>
              <a:t> </a:t>
            </a:r>
            <a:r>
              <a:rPr sz="3200" dirty="0">
                <a:latin typeface="Verdana"/>
                <a:cs typeface="Verdana"/>
              </a:rPr>
              <a:t>on</a:t>
            </a:r>
            <a:r>
              <a:rPr sz="3200" spc="-220" dirty="0">
                <a:latin typeface="Verdana"/>
                <a:cs typeface="Verdana"/>
              </a:rPr>
              <a:t> </a:t>
            </a:r>
            <a:r>
              <a:rPr sz="3200" spc="250" dirty="0">
                <a:latin typeface="Verdana"/>
                <a:cs typeface="Verdana"/>
              </a:rPr>
              <a:t>a</a:t>
            </a:r>
            <a:r>
              <a:rPr sz="3200" spc="-204" dirty="0">
                <a:latin typeface="Verdana"/>
                <a:cs typeface="Verdana"/>
              </a:rPr>
              <a:t> </a:t>
            </a:r>
            <a:r>
              <a:rPr sz="3200" spc="-10" dirty="0">
                <a:latin typeface="Verdana"/>
                <a:cs typeface="Verdana"/>
              </a:rPr>
              <a:t>tape</a:t>
            </a:r>
            <a:r>
              <a:rPr sz="3400" spc="-10" dirty="0">
                <a:solidFill>
                  <a:srgbClr val="7E7E7E"/>
                </a:solidFill>
                <a:latin typeface="Verdana"/>
                <a:cs typeface="Verdana"/>
              </a:rPr>
              <a:t>.”</a:t>
            </a:r>
            <a:endParaRPr sz="3400">
              <a:latin typeface="Verdana"/>
              <a:cs typeface="Verdan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4000" y="4858511"/>
            <a:ext cx="12522200" cy="46482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2152630" y="9153197"/>
            <a:ext cx="297815" cy="29083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z="1700" i="1" spc="-85" dirty="0">
                <a:solidFill>
                  <a:srgbClr val="585858"/>
                </a:solidFill>
                <a:latin typeface="Verdana"/>
                <a:cs typeface="Verdana"/>
              </a:rPr>
              <a:t>3</a:t>
            </a:fld>
            <a:endParaRPr sz="170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" y="0"/>
            <a:ext cx="13004800" cy="2255520"/>
            <a:chOff x="1" y="0"/>
            <a:chExt cx="13004800" cy="22555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" y="0"/>
              <a:ext cx="13004290" cy="121462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62399" y="711708"/>
              <a:ext cx="5079492" cy="1543812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20141" y="-377529"/>
            <a:ext cx="12365355" cy="21075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06545" marR="5080" indent="-4094479">
              <a:lnSpc>
                <a:spcPct val="126499"/>
              </a:lnSpc>
              <a:spcBef>
                <a:spcPts val="100"/>
              </a:spcBef>
            </a:pPr>
            <a:r>
              <a:rPr sz="5400" dirty="0"/>
              <a:t>Linear</a:t>
            </a:r>
            <a:r>
              <a:rPr sz="5400" spc="-45" dirty="0"/>
              <a:t> </a:t>
            </a:r>
            <a:r>
              <a:rPr sz="5400" dirty="0"/>
              <a:t>Data</a:t>
            </a:r>
            <a:r>
              <a:rPr sz="5400" spc="-35" dirty="0"/>
              <a:t> </a:t>
            </a:r>
            <a:r>
              <a:rPr sz="5400" dirty="0"/>
              <a:t>Structure</a:t>
            </a:r>
            <a:r>
              <a:rPr sz="5400" spc="-40" dirty="0"/>
              <a:t> </a:t>
            </a:r>
            <a:r>
              <a:rPr sz="5400" dirty="0"/>
              <a:t>Using</a:t>
            </a:r>
            <a:r>
              <a:rPr sz="5400" spc="-35" dirty="0"/>
              <a:t> </a:t>
            </a:r>
            <a:r>
              <a:rPr sz="5400" spc="-10" dirty="0"/>
              <a:t>Sequential Organization</a:t>
            </a:r>
            <a:endParaRPr sz="5400"/>
          </a:p>
        </p:txBody>
      </p:sp>
      <p:sp>
        <p:nvSpPr>
          <p:cNvPr id="7" name="object 7"/>
          <p:cNvSpPr txBox="1"/>
          <p:nvPr/>
        </p:nvSpPr>
        <p:spPr>
          <a:xfrm>
            <a:off x="12152630" y="9153197"/>
            <a:ext cx="297815" cy="29083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z="1700" i="1" spc="-85" dirty="0">
                <a:solidFill>
                  <a:srgbClr val="585858"/>
                </a:solidFill>
                <a:latin typeface="Verdana"/>
                <a:cs typeface="Verdana"/>
              </a:rPr>
              <a:t>4</a:t>
            </a:fld>
            <a:endParaRPr sz="17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23748" y="1623031"/>
            <a:ext cx="12186285" cy="7610475"/>
          </a:xfrm>
          <a:prstGeom prst="rect">
            <a:avLst/>
          </a:prstGeom>
        </p:spPr>
        <p:txBody>
          <a:bodyPr vert="horz" wrap="square" lIns="0" tIns="330200" rIns="0" bIns="0" rtlCol="0">
            <a:spAutoFit/>
          </a:bodyPr>
          <a:lstStyle/>
          <a:p>
            <a:pPr marL="499745" indent="-487045" algn="just">
              <a:lnSpc>
                <a:spcPct val="100000"/>
              </a:lnSpc>
              <a:spcBef>
                <a:spcPts val="2600"/>
              </a:spcBef>
              <a:buFont typeface="Arial MT"/>
              <a:buChar char="•"/>
              <a:tabLst>
                <a:tab pos="499745" algn="l"/>
              </a:tabLst>
            </a:pPr>
            <a:r>
              <a:rPr sz="4000" b="1" dirty="0">
                <a:solidFill>
                  <a:srgbClr val="00AF50"/>
                </a:solidFill>
                <a:latin typeface="Times New Roman"/>
                <a:cs typeface="Times New Roman"/>
              </a:rPr>
              <a:t>Definition</a:t>
            </a:r>
            <a:r>
              <a:rPr sz="4000" b="1" spc="-16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4000" b="1" spc="-50" dirty="0">
                <a:solidFill>
                  <a:srgbClr val="00AF50"/>
                </a:solidFill>
                <a:latin typeface="Times New Roman"/>
                <a:cs typeface="Times New Roman"/>
              </a:rPr>
              <a:t>:</a:t>
            </a:r>
            <a:endParaRPr sz="4000">
              <a:latin typeface="Times New Roman"/>
              <a:cs typeface="Times New Roman"/>
            </a:endParaRPr>
          </a:p>
          <a:p>
            <a:pPr marL="12700" marR="5080" indent="1299845" algn="just">
              <a:lnSpc>
                <a:spcPct val="150000"/>
              </a:lnSpc>
              <a:spcBef>
                <a:spcPts val="95"/>
              </a:spcBef>
            </a:pPr>
            <a:r>
              <a:rPr sz="4000" dirty="0">
                <a:latin typeface="Times New Roman"/>
                <a:cs typeface="Times New Roman"/>
              </a:rPr>
              <a:t>“The</a:t>
            </a:r>
            <a:r>
              <a:rPr sz="4000" spc="50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data</a:t>
            </a:r>
            <a:r>
              <a:rPr sz="4000" spc="509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structure</a:t>
            </a:r>
            <a:r>
              <a:rPr sz="4000" spc="52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where</a:t>
            </a:r>
            <a:r>
              <a:rPr sz="4000" spc="52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data</a:t>
            </a:r>
            <a:r>
              <a:rPr sz="4000" spc="509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items</a:t>
            </a:r>
            <a:r>
              <a:rPr sz="4000" spc="509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are</a:t>
            </a:r>
            <a:r>
              <a:rPr sz="4000" spc="525" dirty="0">
                <a:latin typeface="Times New Roman"/>
                <a:cs typeface="Times New Roman"/>
              </a:rPr>
              <a:t> </a:t>
            </a:r>
            <a:r>
              <a:rPr sz="4000" spc="-10" dirty="0">
                <a:latin typeface="Times New Roman"/>
                <a:cs typeface="Times New Roman"/>
              </a:rPr>
              <a:t>organized </a:t>
            </a:r>
            <a:r>
              <a:rPr sz="4000" dirty="0">
                <a:latin typeface="Times New Roman"/>
                <a:cs typeface="Times New Roman"/>
              </a:rPr>
              <a:t>sequentially</a:t>
            </a:r>
            <a:r>
              <a:rPr sz="4000" spc="220" dirty="0">
                <a:latin typeface="Times New Roman"/>
                <a:cs typeface="Times New Roman"/>
              </a:rPr>
              <a:t>  </a:t>
            </a:r>
            <a:r>
              <a:rPr sz="4000" dirty="0">
                <a:latin typeface="Times New Roman"/>
                <a:cs typeface="Times New Roman"/>
              </a:rPr>
              <a:t>or</a:t>
            </a:r>
            <a:r>
              <a:rPr sz="4000" spc="215" dirty="0">
                <a:latin typeface="Times New Roman"/>
                <a:cs typeface="Times New Roman"/>
              </a:rPr>
              <a:t>  </a:t>
            </a:r>
            <a:r>
              <a:rPr sz="4000" dirty="0">
                <a:latin typeface="Times New Roman"/>
                <a:cs typeface="Times New Roman"/>
              </a:rPr>
              <a:t>linearly</a:t>
            </a:r>
            <a:r>
              <a:rPr sz="4000" spc="229" dirty="0">
                <a:latin typeface="Times New Roman"/>
                <a:cs typeface="Times New Roman"/>
              </a:rPr>
              <a:t>  </a:t>
            </a:r>
            <a:r>
              <a:rPr sz="4000" dirty="0">
                <a:latin typeface="Times New Roman"/>
                <a:cs typeface="Times New Roman"/>
              </a:rPr>
              <a:t>one</a:t>
            </a:r>
            <a:r>
              <a:rPr sz="4000" spc="210" dirty="0">
                <a:latin typeface="Times New Roman"/>
                <a:cs typeface="Times New Roman"/>
              </a:rPr>
              <a:t>  </a:t>
            </a:r>
            <a:r>
              <a:rPr sz="4000" dirty="0">
                <a:latin typeface="Times New Roman"/>
                <a:cs typeface="Times New Roman"/>
              </a:rPr>
              <a:t>after</a:t>
            </a:r>
            <a:r>
              <a:rPr sz="4000" spc="229" dirty="0">
                <a:latin typeface="Times New Roman"/>
                <a:cs typeface="Times New Roman"/>
              </a:rPr>
              <a:t>  </a:t>
            </a:r>
            <a:r>
              <a:rPr sz="4000" dirty="0">
                <a:latin typeface="Times New Roman"/>
                <a:cs typeface="Times New Roman"/>
              </a:rPr>
              <a:t>another</a:t>
            </a:r>
            <a:r>
              <a:rPr sz="4000" spc="210" dirty="0">
                <a:latin typeface="Times New Roman"/>
                <a:cs typeface="Times New Roman"/>
              </a:rPr>
              <a:t>  </a:t>
            </a:r>
            <a:r>
              <a:rPr sz="4000" dirty="0">
                <a:latin typeface="Times New Roman"/>
                <a:cs typeface="Times New Roman"/>
              </a:rPr>
              <a:t>is</a:t>
            </a:r>
            <a:r>
              <a:rPr sz="4000" spc="225" dirty="0">
                <a:latin typeface="Times New Roman"/>
                <a:cs typeface="Times New Roman"/>
              </a:rPr>
              <a:t>  </a:t>
            </a:r>
            <a:r>
              <a:rPr sz="4000" dirty="0">
                <a:latin typeface="Times New Roman"/>
                <a:cs typeface="Times New Roman"/>
              </a:rPr>
              <a:t>called</a:t>
            </a:r>
            <a:r>
              <a:rPr sz="4000" spc="220" dirty="0">
                <a:latin typeface="Times New Roman"/>
                <a:cs typeface="Times New Roman"/>
              </a:rPr>
              <a:t>  </a:t>
            </a:r>
            <a:r>
              <a:rPr sz="4000" spc="-25" dirty="0">
                <a:latin typeface="Times New Roman"/>
                <a:cs typeface="Times New Roman"/>
              </a:rPr>
              <a:t>as </a:t>
            </a:r>
            <a:r>
              <a:rPr sz="4000" b="1" dirty="0">
                <a:latin typeface="Times New Roman"/>
                <a:cs typeface="Times New Roman"/>
              </a:rPr>
              <a:t>Linear</a:t>
            </a:r>
            <a:r>
              <a:rPr sz="4000" b="1" spc="-160" dirty="0">
                <a:latin typeface="Times New Roman"/>
                <a:cs typeface="Times New Roman"/>
              </a:rPr>
              <a:t> </a:t>
            </a:r>
            <a:r>
              <a:rPr sz="4000" b="1" dirty="0">
                <a:latin typeface="Times New Roman"/>
                <a:cs typeface="Times New Roman"/>
              </a:rPr>
              <a:t>Data</a:t>
            </a:r>
            <a:r>
              <a:rPr sz="4000" b="1" spc="-90" dirty="0">
                <a:latin typeface="Times New Roman"/>
                <a:cs typeface="Times New Roman"/>
              </a:rPr>
              <a:t> </a:t>
            </a:r>
            <a:r>
              <a:rPr sz="4000" b="1" spc="-10" dirty="0">
                <a:latin typeface="Times New Roman"/>
                <a:cs typeface="Times New Roman"/>
              </a:rPr>
              <a:t>Structure</a:t>
            </a:r>
            <a:r>
              <a:rPr sz="4000" spc="-10" dirty="0">
                <a:latin typeface="Times New Roman"/>
                <a:cs typeface="Times New Roman"/>
              </a:rPr>
              <a:t>”</a:t>
            </a:r>
            <a:endParaRPr sz="4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20"/>
              </a:spcBef>
            </a:pPr>
            <a:endParaRPr sz="40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50000"/>
              </a:lnSpc>
              <a:spcBef>
                <a:spcPts val="5"/>
              </a:spcBef>
            </a:pPr>
            <a:r>
              <a:rPr sz="4000" dirty="0">
                <a:latin typeface="Times New Roman"/>
                <a:cs typeface="Times New Roman"/>
              </a:rPr>
              <a:t>A</a:t>
            </a:r>
            <a:r>
              <a:rPr sz="4000" spc="415" dirty="0">
                <a:latin typeface="Times New Roman"/>
                <a:cs typeface="Times New Roman"/>
              </a:rPr>
              <a:t>  </a:t>
            </a:r>
            <a:r>
              <a:rPr sz="4000" b="1" dirty="0">
                <a:latin typeface="Times New Roman"/>
                <a:cs typeface="Times New Roman"/>
              </a:rPr>
              <a:t>linear</a:t>
            </a:r>
            <a:r>
              <a:rPr sz="4000" b="1" spc="490" dirty="0">
                <a:latin typeface="Times New Roman"/>
                <a:cs typeface="Times New Roman"/>
              </a:rPr>
              <a:t>  </a:t>
            </a:r>
            <a:r>
              <a:rPr sz="4000" b="1" dirty="0">
                <a:latin typeface="Times New Roman"/>
                <a:cs typeface="Times New Roman"/>
              </a:rPr>
              <a:t>data</a:t>
            </a:r>
            <a:r>
              <a:rPr sz="4000" b="1" spc="530" dirty="0">
                <a:latin typeface="Times New Roman"/>
                <a:cs typeface="Times New Roman"/>
              </a:rPr>
              <a:t>  </a:t>
            </a:r>
            <a:r>
              <a:rPr sz="4000" b="1" dirty="0">
                <a:latin typeface="Times New Roman"/>
                <a:cs typeface="Times New Roman"/>
              </a:rPr>
              <a:t>structure</a:t>
            </a:r>
            <a:r>
              <a:rPr sz="4000" dirty="0">
                <a:latin typeface="Times New Roman"/>
                <a:cs typeface="Times New Roman"/>
              </a:rPr>
              <a:t>traverses</a:t>
            </a:r>
            <a:r>
              <a:rPr sz="4000" spc="535" dirty="0">
                <a:latin typeface="Times New Roman"/>
                <a:cs typeface="Times New Roman"/>
              </a:rPr>
              <a:t>  </a:t>
            </a:r>
            <a:r>
              <a:rPr sz="4000" dirty="0">
                <a:latin typeface="Times New Roman"/>
                <a:cs typeface="Times New Roman"/>
              </a:rPr>
              <a:t>the</a:t>
            </a:r>
            <a:r>
              <a:rPr sz="4000" spc="520" dirty="0">
                <a:latin typeface="Times New Roman"/>
                <a:cs typeface="Times New Roman"/>
              </a:rPr>
              <a:t>  </a:t>
            </a:r>
            <a:r>
              <a:rPr sz="4000" b="1" dirty="0">
                <a:latin typeface="Times New Roman"/>
                <a:cs typeface="Times New Roman"/>
              </a:rPr>
              <a:t>data</a:t>
            </a:r>
            <a:r>
              <a:rPr sz="4000" b="1" spc="540" dirty="0">
                <a:latin typeface="Times New Roman"/>
                <a:cs typeface="Times New Roman"/>
              </a:rPr>
              <a:t>  </a:t>
            </a:r>
            <a:r>
              <a:rPr sz="4000" spc="-10" dirty="0">
                <a:latin typeface="Times New Roman"/>
                <a:cs typeface="Times New Roman"/>
              </a:rPr>
              <a:t>elements </a:t>
            </a:r>
            <a:r>
              <a:rPr sz="4000" dirty="0">
                <a:latin typeface="Times New Roman"/>
                <a:cs typeface="Times New Roman"/>
              </a:rPr>
              <a:t>sequentially,</a:t>
            </a:r>
            <a:r>
              <a:rPr sz="4000" spc="38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in</a:t>
            </a:r>
            <a:r>
              <a:rPr sz="4000" spc="37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which</a:t>
            </a:r>
            <a:r>
              <a:rPr sz="4000" spc="37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only</a:t>
            </a:r>
            <a:r>
              <a:rPr sz="4000" spc="35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one</a:t>
            </a:r>
            <a:r>
              <a:rPr sz="4000" spc="375" dirty="0">
                <a:latin typeface="Times New Roman"/>
                <a:cs typeface="Times New Roman"/>
              </a:rPr>
              <a:t> </a:t>
            </a:r>
            <a:r>
              <a:rPr sz="4000" b="1" dirty="0">
                <a:latin typeface="Times New Roman"/>
                <a:cs typeface="Times New Roman"/>
              </a:rPr>
              <a:t>data</a:t>
            </a:r>
            <a:r>
              <a:rPr sz="4000" b="1" spc="36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element</a:t>
            </a:r>
            <a:r>
              <a:rPr sz="4000" spc="38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can</a:t>
            </a:r>
            <a:r>
              <a:rPr sz="4000" spc="380" dirty="0">
                <a:latin typeface="Times New Roman"/>
                <a:cs typeface="Times New Roman"/>
              </a:rPr>
              <a:t> </a:t>
            </a:r>
            <a:r>
              <a:rPr sz="4000" spc="-10" dirty="0">
                <a:latin typeface="Times New Roman"/>
                <a:cs typeface="Times New Roman"/>
              </a:rPr>
              <a:t>directly </a:t>
            </a:r>
            <a:r>
              <a:rPr sz="4000" dirty="0">
                <a:latin typeface="Times New Roman"/>
                <a:cs typeface="Times New Roman"/>
              </a:rPr>
              <a:t>be</a:t>
            </a:r>
            <a:r>
              <a:rPr sz="4000" spc="-114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reached.</a:t>
            </a:r>
            <a:r>
              <a:rPr sz="4000" spc="-9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Ex:</a:t>
            </a:r>
            <a:r>
              <a:rPr sz="4000" spc="-25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Arrays,</a:t>
            </a:r>
            <a:r>
              <a:rPr sz="4000" spc="-5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Linked</a:t>
            </a:r>
            <a:r>
              <a:rPr sz="4000" spc="-90" dirty="0">
                <a:latin typeface="Times New Roman"/>
                <a:cs typeface="Times New Roman"/>
              </a:rPr>
              <a:t> </a:t>
            </a:r>
            <a:r>
              <a:rPr sz="4000" spc="-10" dirty="0">
                <a:latin typeface="Times New Roman"/>
                <a:cs typeface="Times New Roman"/>
              </a:rPr>
              <a:t>Lists.</a:t>
            </a:r>
            <a:endParaRPr sz="40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2307" y="0"/>
            <a:ext cx="9599676" cy="164287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04085" y="119837"/>
            <a:ext cx="859853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dirty="0"/>
              <a:t>Sequential</a:t>
            </a:r>
            <a:r>
              <a:rPr sz="6000" spc="-25" dirty="0"/>
              <a:t> </a:t>
            </a:r>
            <a:r>
              <a:rPr sz="6000" spc="-10" dirty="0"/>
              <a:t>Organization</a:t>
            </a:r>
            <a:endParaRPr sz="6000"/>
          </a:p>
        </p:txBody>
      </p:sp>
      <p:sp>
        <p:nvSpPr>
          <p:cNvPr id="5" name="object 5"/>
          <p:cNvSpPr txBox="1"/>
          <p:nvPr/>
        </p:nvSpPr>
        <p:spPr>
          <a:xfrm>
            <a:off x="12152630" y="9153197"/>
            <a:ext cx="297815" cy="29083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z="1700" i="1" spc="-85" dirty="0">
                <a:solidFill>
                  <a:srgbClr val="585858"/>
                </a:solidFill>
                <a:latin typeface="Verdana"/>
                <a:cs typeface="Verdana"/>
              </a:rPr>
              <a:t>5</a:t>
            </a:fld>
            <a:endParaRPr sz="17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9356" y="1297330"/>
            <a:ext cx="12569190" cy="6549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  <a:spcBef>
                <a:spcPts val="100"/>
              </a:spcBef>
            </a:pPr>
            <a:r>
              <a:rPr sz="4000" dirty="0">
                <a:latin typeface="Times New Roman"/>
                <a:cs typeface="Times New Roman"/>
              </a:rPr>
              <a:t>In</a:t>
            </a:r>
            <a:r>
              <a:rPr sz="4000" spc="31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a</a:t>
            </a:r>
            <a:r>
              <a:rPr sz="4000" spc="31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sequential</a:t>
            </a:r>
            <a:r>
              <a:rPr sz="4000" spc="31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organization,</a:t>
            </a:r>
            <a:r>
              <a:rPr sz="4000" spc="32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the</a:t>
            </a:r>
            <a:r>
              <a:rPr sz="4000" spc="31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elements</a:t>
            </a:r>
            <a:r>
              <a:rPr sz="4000" spc="32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or</a:t>
            </a:r>
            <a:r>
              <a:rPr sz="4000" spc="31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components</a:t>
            </a:r>
            <a:r>
              <a:rPr sz="4000" spc="325" dirty="0">
                <a:latin typeface="Times New Roman"/>
                <a:cs typeface="Times New Roman"/>
              </a:rPr>
              <a:t> </a:t>
            </a:r>
            <a:r>
              <a:rPr sz="4000" spc="-25" dirty="0">
                <a:latin typeface="Times New Roman"/>
                <a:cs typeface="Times New Roman"/>
              </a:rPr>
              <a:t>of </a:t>
            </a:r>
            <a:r>
              <a:rPr sz="4000" dirty="0">
                <a:latin typeface="Times New Roman"/>
                <a:cs typeface="Times New Roman"/>
              </a:rPr>
              <a:t>the</a:t>
            </a:r>
            <a:r>
              <a:rPr sz="4000" spc="6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system</a:t>
            </a:r>
            <a:r>
              <a:rPr sz="4000" spc="6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are</a:t>
            </a:r>
            <a:r>
              <a:rPr sz="4000" spc="8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arranged</a:t>
            </a:r>
            <a:r>
              <a:rPr sz="4000" spc="7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in</a:t>
            </a:r>
            <a:r>
              <a:rPr sz="4000" spc="6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a</a:t>
            </a:r>
            <a:r>
              <a:rPr sz="4000" spc="5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specific</a:t>
            </a:r>
            <a:r>
              <a:rPr sz="4000" spc="7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order,</a:t>
            </a:r>
            <a:r>
              <a:rPr sz="4000" spc="6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and</a:t>
            </a:r>
            <a:r>
              <a:rPr sz="4000" spc="7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each</a:t>
            </a:r>
            <a:r>
              <a:rPr sz="4000" spc="60" dirty="0">
                <a:latin typeface="Times New Roman"/>
                <a:cs typeface="Times New Roman"/>
              </a:rPr>
              <a:t> </a:t>
            </a:r>
            <a:r>
              <a:rPr sz="4000" spc="-10" dirty="0">
                <a:latin typeface="Times New Roman"/>
                <a:cs typeface="Times New Roman"/>
              </a:rPr>
              <a:t>element </a:t>
            </a:r>
            <a:r>
              <a:rPr sz="4000" dirty="0">
                <a:latin typeface="Times New Roman"/>
                <a:cs typeface="Times New Roman"/>
              </a:rPr>
              <a:t>depends</a:t>
            </a:r>
            <a:r>
              <a:rPr sz="4000" spc="-8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on</a:t>
            </a:r>
            <a:r>
              <a:rPr sz="4000" spc="-8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the</a:t>
            </a:r>
            <a:r>
              <a:rPr sz="4000" spc="-9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previous</a:t>
            </a:r>
            <a:r>
              <a:rPr sz="4000" spc="-70" dirty="0">
                <a:latin typeface="Times New Roman"/>
                <a:cs typeface="Times New Roman"/>
              </a:rPr>
              <a:t> </a:t>
            </a:r>
            <a:r>
              <a:rPr sz="4000" spc="-20" dirty="0">
                <a:latin typeface="Times New Roman"/>
                <a:cs typeface="Times New Roman"/>
              </a:rPr>
              <a:t>one.</a:t>
            </a:r>
            <a:endParaRPr sz="4000">
              <a:latin typeface="Times New Roman"/>
              <a:cs typeface="Times New Roman"/>
            </a:endParaRPr>
          </a:p>
          <a:p>
            <a:pPr marL="12700" marR="6350" algn="just">
              <a:lnSpc>
                <a:spcPct val="150000"/>
              </a:lnSpc>
              <a:spcBef>
                <a:spcPts val="960"/>
              </a:spcBef>
            </a:pPr>
            <a:r>
              <a:rPr sz="4000" dirty="0">
                <a:latin typeface="Times New Roman"/>
                <a:cs typeface="Times New Roman"/>
              </a:rPr>
              <a:t>Sequential</a:t>
            </a:r>
            <a:r>
              <a:rPr sz="4000" spc="53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organization</a:t>
            </a:r>
            <a:r>
              <a:rPr sz="4000" spc="53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has</a:t>
            </a:r>
            <a:r>
              <a:rPr sz="4000" spc="53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the</a:t>
            </a:r>
            <a:r>
              <a:rPr sz="4000" spc="52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advantage</a:t>
            </a:r>
            <a:r>
              <a:rPr sz="4000" spc="52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of</a:t>
            </a:r>
            <a:r>
              <a:rPr sz="4000" spc="53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fast</a:t>
            </a:r>
            <a:r>
              <a:rPr sz="4000" spc="52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access</a:t>
            </a:r>
            <a:r>
              <a:rPr sz="4000" spc="525" dirty="0">
                <a:latin typeface="Times New Roman"/>
                <a:cs typeface="Times New Roman"/>
              </a:rPr>
              <a:t> </a:t>
            </a:r>
            <a:r>
              <a:rPr sz="4000" spc="-25" dirty="0">
                <a:latin typeface="Times New Roman"/>
                <a:cs typeface="Times New Roman"/>
              </a:rPr>
              <a:t>to </a:t>
            </a:r>
            <a:r>
              <a:rPr sz="4000" dirty="0">
                <a:latin typeface="Times New Roman"/>
                <a:cs typeface="Times New Roman"/>
              </a:rPr>
              <a:t>elements,</a:t>
            </a:r>
            <a:r>
              <a:rPr sz="4000" spc="99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but</a:t>
            </a:r>
            <a:r>
              <a:rPr sz="4000" spc="98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has  the</a:t>
            </a:r>
            <a:r>
              <a:rPr sz="4000" spc="994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disadvantage  of</a:t>
            </a:r>
            <a:r>
              <a:rPr sz="4000" spc="994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slow</a:t>
            </a:r>
            <a:r>
              <a:rPr sz="4000" spc="98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insertion  </a:t>
            </a:r>
            <a:r>
              <a:rPr sz="4000" spc="-25" dirty="0">
                <a:latin typeface="Times New Roman"/>
                <a:cs typeface="Times New Roman"/>
              </a:rPr>
              <a:t>and </a:t>
            </a:r>
            <a:r>
              <a:rPr sz="4000" dirty="0">
                <a:latin typeface="Times New Roman"/>
                <a:cs typeface="Times New Roman"/>
              </a:rPr>
              <a:t>deletion</a:t>
            </a:r>
            <a:r>
              <a:rPr sz="4000" spc="29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of</a:t>
            </a:r>
            <a:r>
              <a:rPr sz="4000" spc="29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elements,</a:t>
            </a:r>
            <a:r>
              <a:rPr sz="4000" spc="30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especially</a:t>
            </a:r>
            <a:r>
              <a:rPr sz="4000" spc="31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when</a:t>
            </a:r>
            <a:r>
              <a:rPr sz="4000" spc="30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the</a:t>
            </a:r>
            <a:r>
              <a:rPr sz="4000" spc="28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data</a:t>
            </a:r>
            <a:r>
              <a:rPr sz="4000" spc="30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is</a:t>
            </a:r>
            <a:r>
              <a:rPr sz="4000" spc="29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stored</a:t>
            </a:r>
            <a:r>
              <a:rPr sz="4000" spc="30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in</a:t>
            </a:r>
            <a:r>
              <a:rPr sz="4000" spc="295" dirty="0">
                <a:latin typeface="Times New Roman"/>
                <a:cs typeface="Times New Roman"/>
              </a:rPr>
              <a:t> </a:t>
            </a:r>
            <a:r>
              <a:rPr sz="4000" spc="-50" dirty="0">
                <a:latin typeface="Times New Roman"/>
                <a:cs typeface="Times New Roman"/>
              </a:rPr>
              <a:t>a </a:t>
            </a:r>
            <a:r>
              <a:rPr sz="4000" dirty="0">
                <a:latin typeface="Times New Roman"/>
                <a:cs typeface="Times New Roman"/>
              </a:rPr>
              <a:t>contiguous</a:t>
            </a:r>
            <a:r>
              <a:rPr sz="4000" spc="-9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block</a:t>
            </a:r>
            <a:r>
              <a:rPr sz="4000" spc="-9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of</a:t>
            </a:r>
            <a:r>
              <a:rPr sz="4000" spc="-90" dirty="0">
                <a:latin typeface="Times New Roman"/>
                <a:cs typeface="Times New Roman"/>
              </a:rPr>
              <a:t> </a:t>
            </a:r>
            <a:r>
              <a:rPr sz="4000" spc="-10" dirty="0">
                <a:latin typeface="Times New Roman"/>
                <a:cs typeface="Times New Roman"/>
              </a:rPr>
              <a:t>memory.</a:t>
            </a:r>
            <a:endParaRPr sz="40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" y="27432"/>
            <a:ext cx="13004290" cy="154381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8137" y="196342"/>
            <a:ext cx="1242695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260080" algn="l"/>
              </a:tabLst>
            </a:pPr>
            <a:r>
              <a:rPr sz="5400" dirty="0"/>
              <a:t>Advantages</a:t>
            </a:r>
            <a:r>
              <a:rPr sz="5400" spc="-150" dirty="0"/>
              <a:t> </a:t>
            </a:r>
            <a:r>
              <a:rPr sz="5400" dirty="0"/>
              <a:t>of</a:t>
            </a:r>
            <a:r>
              <a:rPr sz="5400" spc="-155" dirty="0"/>
              <a:t> </a:t>
            </a:r>
            <a:r>
              <a:rPr sz="5400" spc="-10" dirty="0"/>
              <a:t>Sequential</a:t>
            </a:r>
            <a:r>
              <a:rPr sz="5400" dirty="0"/>
              <a:t>	</a:t>
            </a:r>
            <a:r>
              <a:rPr sz="5400" spc="-10" dirty="0"/>
              <a:t>Organization</a:t>
            </a:r>
            <a:endParaRPr sz="5400"/>
          </a:p>
        </p:txBody>
      </p:sp>
      <p:sp>
        <p:nvSpPr>
          <p:cNvPr id="5" name="object 5"/>
          <p:cNvSpPr txBox="1"/>
          <p:nvPr/>
        </p:nvSpPr>
        <p:spPr>
          <a:xfrm>
            <a:off x="12152630" y="9153197"/>
            <a:ext cx="297815" cy="29083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z="1700" i="1" spc="-85" dirty="0">
                <a:solidFill>
                  <a:srgbClr val="585858"/>
                </a:solidFill>
                <a:latin typeface="Verdana"/>
                <a:cs typeface="Verdana"/>
              </a:rPr>
              <a:t>6</a:t>
            </a:fld>
            <a:endParaRPr sz="17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9356" y="1602739"/>
            <a:ext cx="12011660" cy="58172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99745" indent="-48704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499745" algn="l"/>
              </a:tabLst>
            </a:pPr>
            <a:r>
              <a:rPr sz="4000" dirty="0">
                <a:latin typeface="Times New Roman"/>
                <a:cs typeface="Times New Roman"/>
              </a:rPr>
              <a:t>Easy</a:t>
            </a:r>
            <a:r>
              <a:rPr sz="4000" spc="-5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to</a:t>
            </a:r>
            <a:r>
              <a:rPr sz="4000" spc="-50" dirty="0">
                <a:latin typeface="Times New Roman"/>
                <a:cs typeface="Times New Roman"/>
              </a:rPr>
              <a:t> </a:t>
            </a:r>
            <a:r>
              <a:rPr sz="4000" spc="-10" dirty="0">
                <a:latin typeface="Times New Roman"/>
                <a:cs typeface="Times New Roman"/>
              </a:rPr>
              <a:t>understand</a:t>
            </a:r>
            <a:endParaRPr sz="4000">
              <a:latin typeface="Times New Roman"/>
              <a:cs typeface="Times New Roman"/>
            </a:endParaRPr>
          </a:p>
          <a:p>
            <a:pPr marL="499745" indent="-487045">
              <a:lnSpc>
                <a:spcPct val="100000"/>
              </a:lnSpc>
              <a:spcBef>
                <a:spcPts val="3360"/>
              </a:spcBef>
              <a:buFont typeface="Arial MT"/>
              <a:buChar char="•"/>
              <a:tabLst>
                <a:tab pos="499745" algn="l"/>
              </a:tabLst>
            </a:pPr>
            <a:r>
              <a:rPr sz="4000" dirty="0">
                <a:latin typeface="Times New Roman"/>
                <a:cs typeface="Times New Roman"/>
              </a:rPr>
              <a:t>Simple</a:t>
            </a:r>
            <a:r>
              <a:rPr sz="4000" spc="-6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to</a:t>
            </a:r>
            <a:r>
              <a:rPr sz="4000" spc="-65" dirty="0">
                <a:latin typeface="Times New Roman"/>
                <a:cs typeface="Times New Roman"/>
              </a:rPr>
              <a:t> </a:t>
            </a:r>
            <a:r>
              <a:rPr sz="4000" spc="-10" dirty="0">
                <a:latin typeface="Times New Roman"/>
                <a:cs typeface="Times New Roman"/>
              </a:rPr>
              <a:t>implement</a:t>
            </a:r>
            <a:endParaRPr sz="4000">
              <a:latin typeface="Times New Roman"/>
              <a:cs typeface="Times New Roman"/>
            </a:endParaRPr>
          </a:p>
          <a:p>
            <a:pPr marL="499745" indent="-487045">
              <a:lnSpc>
                <a:spcPct val="100000"/>
              </a:lnSpc>
              <a:spcBef>
                <a:spcPts val="3360"/>
              </a:spcBef>
              <a:buFont typeface="Arial MT"/>
              <a:buChar char="•"/>
              <a:tabLst>
                <a:tab pos="499745" algn="l"/>
              </a:tabLst>
            </a:pPr>
            <a:r>
              <a:rPr sz="4000" dirty="0">
                <a:latin typeface="Times New Roman"/>
                <a:cs typeface="Times New Roman"/>
              </a:rPr>
              <a:t>Allow</a:t>
            </a:r>
            <a:r>
              <a:rPr sz="4000" spc="-6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for</a:t>
            </a:r>
            <a:r>
              <a:rPr sz="4000" spc="-6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fast</a:t>
            </a:r>
            <a:r>
              <a:rPr sz="4000" spc="-6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traversal</a:t>
            </a:r>
            <a:r>
              <a:rPr sz="4000" spc="-5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and</a:t>
            </a:r>
            <a:r>
              <a:rPr sz="4000" spc="-85" dirty="0">
                <a:latin typeface="Times New Roman"/>
                <a:cs typeface="Times New Roman"/>
              </a:rPr>
              <a:t> </a:t>
            </a:r>
            <a:r>
              <a:rPr sz="4000" spc="-10" dirty="0">
                <a:latin typeface="Times New Roman"/>
                <a:cs typeface="Times New Roman"/>
              </a:rPr>
              <a:t>access</a:t>
            </a:r>
            <a:endParaRPr sz="4000">
              <a:latin typeface="Times New Roman"/>
              <a:cs typeface="Times New Roman"/>
            </a:endParaRPr>
          </a:p>
          <a:p>
            <a:pPr marL="499745" indent="-487045">
              <a:lnSpc>
                <a:spcPct val="100000"/>
              </a:lnSpc>
              <a:spcBef>
                <a:spcPts val="3360"/>
              </a:spcBef>
              <a:buFont typeface="Arial MT"/>
              <a:buChar char="•"/>
              <a:tabLst>
                <a:tab pos="499745" algn="l"/>
              </a:tabLst>
            </a:pPr>
            <a:r>
              <a:rPr sz="4000" dirty="0">
                <a:latin typeface="Times New Roman"/>
                <a:cs typeface="Times New Roman"/>
              </a:rPr>
              <a:t>Random</a:t>
            </a:r>
            <a:r>
              <a:rPr sz="4000" spc="-8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access</a:t>
            </a:r>
            <a:r>
              <a:rPr sz="4000" spc="-8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is</a:t>
            </a:r>
            <a:r>
              <a:rPr sz="4000" spc="-80" dirty="0">
                <a:latin typeface="Times New Roman"/>
                <a:cs typeface="Times New Roman"/>
              </a:rPr>
              <a:t> </a:t>
            </a:r>
            <a:r>
              <a:rPr sz="4000" spc="-10" dirty="0">
                <a:latin typeface="Times New Roman"/>
                <a:cs typeface="Times New Roman"/>
              </a:rPr>
              <a:t>possible</a:t>
            </a:r>
            <a:endParaRPr sz="4000">
              <a:latin typeface="Times New Roman"/>
              <a:cs typeface="Times New Roman"/>
            </a:endParaRPr>
          </a:p>
          <a:p>
            <a:pPr marL="499745" indent="-487045">
              <a:lnSpc>
                <a:spcPct val="100000"/>
              </a:lnSpc>
              <a:spcBef>
                <a:spcPts val="3365"/>
              </a:spcBef>
              <a:buFont typeface="Arial MT"/>
              <a:buChar char="•"/>
              <a:tabLst>
                <a:tab pos="499745" algn="l"/>
              </a:tabLst>
            </a:pPr>
            <a:r>
              <a:rPr sz="4000" dirty="0">
                <a:latin typeface="Times New Roman"/>
                <a:cs typeface="Times New Roman"/>
              </a:rPr>
              <a:t>Suitable</a:t>
            </a:r>
            <a:r>
              <a:rPr sz="4000" spc="-8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for</a:t>
            </a:r>
            <a:r>
              <a:rPr sz="4000" spc="-6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static</a:t>
            </a:r>
            <a:r>
              <a:rPr sz="4000" spc="-8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data</a:t>
            </a:r>
            <a:r>
              <a:rPr sz="4000" spc="-70" dirty="0">
                <a:latin typeface="Times New Roman"/>
                <a:cs typeface="Times New Roman"/>
              </a:rPr>
              <a:t> </a:t>
            </a:r>
            <a:r>
              <a:rPr sz="4000" spc="-10" dirty="0">
                <a:latin typeface="Times New Roman"/>
                <a:cs typeface="Times New Roman"/>
              </a:rPr>
              <a:t>structure</a:t>
            </a:r>
            <a:endParaRPr sz="4000">
              <a:latin typeface="Times New Roman"/>
              <a:cs typeface="Times New Roman"/>
            </a:endParaRPr>
          </a:p>
          <a:p>
            <a:pPr marL="499745" indent="-487045">
              <a:lnSpc>
                <a:spcPct val="100000"/>
              </a:lnSpc>
              <a:spcBef>
                <a:spcPts val="3360"/>
              </a:spcBef>
              <a:buFont typeface="Arial MT"/>
              <a:buChar char="•"/>
              <a:tabLst>
                <a:tab pos="499745" algn="l"/>
              </a:tabLst>
            </a:pPr>
            <a:r>
              <a:rPr sz="4000" dirty="0">
                <a:latin typeface="Times New Roman"/>
                <a:cs typeface="Times New Roman"/>
              </a:rPr>
              <a:t>Can</a:t>
            </a:r>
            <a:r>
              <a:rPr sz="4000" spc="-114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be</a:t>
            </a:r>
            <a:r>
              <a:rPr sz="4000" spc="-8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used</a:t>
            </a:r>
            <a:r>
              <a:rPr sz="4000" spc="-7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for</a:t>
            </a:r>
            <a:r>
              <a:rPr sz="4000" spc="-6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other</a:t>
            </a:r>
            <a:r>
              <a:rPr sz="4000" spc="-7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data</a:t>
            </a:r>
            <a:r>
              <a:rPr sz="4000" spc="-7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structure</a:t>
            </a:r>
            <a:r>
              <a:rPr sz="4000" spc="-60" dirty="0">
                <a:latin typeface="Times New Roman"/>
                <a:cs typeface="Times New Roman"/>
              </a:rPr>
              <a:t> </a:t>
            </a:r>
            <a:r>
              <a:rPr sz="4000" spc="-10" dirty="0">
                <a:latin typeface="Times New Roman"/>
                <a:cs typeface="Times New Roman"/>
              </a:rPr>
              <a:t>like</a:t>
            </a:r>
            <a:r>
              <a:rPr sz="4000" spc="-240" dirty="0">
                <a:latin typeface="Times New Roman"/>
                <a:cs typeface="Times New Roman"/>
              </a:rPr>
              <a:t> </a:t>
            </a:r>
            <a:r>
              <a:rPr sz="4000" spc="-25" dirty="0">
                <a:latin typeface="Times New Roman"/>
                <a:cs typeface="Times New Roman"/>
              </a:rPr>
              <a:t>Array,</a:t>
            </a:r>
            <a:r>
              <a:rPr sz="4000" spc="-6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Stack</a:t>
            </a:r>
            <a:r>
              <a:rPr sz="4000" spc="-60" dirty="0">
                <a:latin typeface="Times New Roman"/>
                <a:cs typeface="Times New Roman"/>
              </a:rPr>
              <a:t> </a:t>
            </a:r>
            <a:r>
              <a:rPr sz="4000" spc="-25" dirty="0">
                <a:latin typeface="Times New Roman"/>
                <a:cs typeface="Times New Roman"/>
              </a:rPr>
              <a:t>etc</a:t>
            </a:r>
            <a:endParaRPr sz="40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" y="91439"/>
            <a:ext cx="13004290" cy="143103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29285" y="246634"/>
            <a:ext cx="12346305" cy="788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0" dirty="0"/>
              <a:t>Disadvantages</a:t>
            </a:r>
            <a:r>
              <a:rPr sz="5000" spc="-65" dirty="0"/>
              <a:t> </a:t>
            </a:r>
            <a:r>
              <a:rPr sz="5000" dirty="0"/>
              <a:t>of</a:t>
            </a:r>
            <a:r>
              <a:rPr sz="5000" spc="-5" dirty="0"/>
              <a:t> </a:t>
            </a:r>
            <a:r>
              <a:rPr sz="5000" dirty="0"/>
              <a:t>Sequential</a:t>
            </a:r>
            <a:r>
              <a:rPr sz="5000" spc="-60" dirty="0"/>
              <a:t> </a:t>
            </a:r>
            <a:r>
              <a:rPr sz="5000" spc="-10" dirty="0"/>
              <a:t>Organization</a:t>
            </a:r>
            <a:endParaRPr sz="5000"/>
          </a:p>
        </p:txBody>
      </p:sp>
      <p:sp>
        <p:nvSpPr>
          <p:cNvPr id="5" name="object 5"/>
          <p:cNvSpPr txBox="1"/>
          <p:nvPr/>
        </p:nvSpPr>
        <p:spPr>
          <a:xfrm>
            <a:off x="12152630" y="9153197"/>
            <a:ext cx="297815" cy="29083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z="1700" i="1" spc="-85" dirty="0">
                <a:solidFill>
                  <a:srgbClr val="585858"/>
                </a:solidFill>
                <a:latin typeface="Verdana"/>
                <a:cs typeface="Verdana"/>
              </a:rPr>
              <a:t>7</a:t>
            </a:fld>
            <a:endParaRPr sz="17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9356" y="1602739"/>
            <a:ext cx="8589010" cy="58172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99745" indent="-48704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499745" algn="l"/>
              </a:tabLst>
            </a:pPr>
            <a:r>
              <a:rPr sz="4000" dirty="0">
                <a:latin typeface="Times New Roman"/>
                <a:cs typeface="Times New Roman"/>
              </a:rPr>
              <a:t>Fixed</a:t>
            </a:r>
            <a:r>
              <a:rPr sz="4000" spc="-6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size</a:t>
            </a:r>
            <a:r>
              <a:rPr sz="4000" spc="-75" dirty="0">
                <a:latin typeface="Times New Roman"/>
                <a:cs typeface="Times New Roman"/>
              </a:rPr>
              <a:t> </a:t>
            </a:r>
            <a:r>
              <a:rPr sz="4000" spc="-10" dirty="0">
                <a:latin typeface="Times New Roman"/>
                <a:cs typeface="Times New Roman"/>
              </a:rPr>
              <a:t>structure</a:t>
            </a:r>
            <a:endParaRPr sz="4000">
              <a:latin typeface="Times New Roman"/>
              <a:cs typeface="Times New Roman"/>
            </a:endParaRPr>
          </a:p>
          <a:p>
            <a:pPr marL="499745" indent="-487045">
              <a:lnSpc>
                <a:spcPct val="100000"/>
              </a:lnSpc>
              <a:spcBef>
                <a:spcPts val="3360"/>
              </a:spcBef>
              <a:buFont typeface="Arial MT"/>
              <a:buChar char="•"/>
              <a:tabLst>
                <a:tab pos="499745" algn="l"/>
              </a:tabLst>
            </a:pPr>
            <a:r>
              <a:rPr sz="4000" dirty="0">
                <a:latin typeface="Times New Roman"/>
                <a:cs typeface="Times New Roman"/>
              </a:rPr>
              <a:t>Not</a:t>
            </a:r>
            <a:r>
              <a:rPr sz="4000" spc="-8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suitable</a:t>
            </a:r>
            <a:r>
              <a:rPr sz="4000" spc="-8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for</a:t>
            </a:r>
            <a:r>
              <a:rPr sz="4000" spc="-6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dynamic</a:t>
            </a:r>
            <a:r>
              <a:rPr sz="4000" spc="-8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data</a:t>
            </a:r>
            <a:r>
              <a:rPr sz="4000" spc="-80" dirty="0">
                <a:latin typeface="Times New Roman"/>
                <a:cs typeface="Times New Roman"/>
              </a:rPr>
              <a:t> </a:t>
            </a:r>
            <a:r>
              <a:rPr sz="4000" spc="-10" dirty="0">
                <a:latin typeface="Times New Roman"/>
                <a:cs typeface="Times New Roman"/>
              </a:rPr>
              <a:t>structure.</a:t>
            </a:r>
            <a:endParaRPr sz="4000">
              <a:latin typeface="Times New Roman"/>
              <a:cs typeface="Times New Roman"/>
            </a:endParaRPr>
          </a:p>
          <a:p>
            <a:pPr marL="499745" indent="-487045">
              <a:lnSpc>
                <a:spcPct val="100000"/>
              </a:lnSpc>
              <a:spcBef>
                <a:spcPts val="3360"/>
              </a:spcBef>
              <a:buFont typeface="Arial MT"/>
              <a:buChar char="•"/>
              <a:tabLst>
                <a:tab pos="499745" algn="l"/>
              </a:tabLst>
            </a:pPr>
            <a:r>
              <a:rPr sz="4000" dirty="0">
                <a:latin typeface="Times New Roman"/>
                <a:cs typeface="Times New Roman"/>
              </a:rPr>
              <a:t>Insertion</a:t>
            </a:r>
            <a:r>
              <a:rPr sz="4000" spc="-6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and</a:t>
            </a:r>
            <a:r>
              <a:rPr sz="4000" spc="-9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deletion</a:t>
            </a:r>
            <a:r>
              <a:rPr sz="4000" spc="-7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is</a:t>
            </a:r>
            <a:r>
              <a:rPr sz="4000" spc="-85" dirty="0">
                <a:latin typeface="Times New Roman"/>
                <a:cs typeface="Times New Roman"/>
              </a:rPr>
              <a:t> </a:t>
            </a:r>
            <a:r>
              <a:rPr sz="4000" spc="-10" dirty="0">
                <a:latin typeface="Times New Roman"/>
                <a:cs typeface="Times New Roman"/>
              </a:rPr>
              <a:t>difficult</a:t>
            </a:r>
            <a:endParaRPr sz="4000">
              <a:latin typeface="Times New Roman"/>
              <a:cs typeface="Times New Roman"/>
            </a:endParaRPr>
          </a:p>
          <a:p>
            <a:pPr marL="499745" indent="-487045">
              <a:lnSpc>
                <a:spcPct val="100000"/>
              </a:lnSpc>
              <a:spcBef>
                <a:spcPts val="3360"/>
              </a:spcBef>
              <a:buFont typeface="Arial MT"/>
              <a:buChar char="•"/>
              <a:tabLst>
                <a:tab pos="499745" algn="l"/>
              </a:tabLst>
            </a:pPr>
            <a:r>
              <a:rPr sz="4000" dirty="0">
                <a:latin typeface="Times New Roman"/>
                <a:cs typeface="Times New Roman"/>
              </a:rPr>
              <a:t>Only</a:t>
            </a:r>
            <a:r>
              <a:rPr sz="4000" spc="-6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linear</a:t>
            </a:r>
            <a:r>
              <a:rPr sz="4000" spc="-7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sequential</a:t>
            </a:r>
            <a:r>
              <a:rPr sz="4000" spc="-7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list</a:t>
            </a:r>
            <a:r>
              <a:rPr sz="4000" spc="-7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is</a:t>
            </a:r>
            <a:r>
              <a:rPr sz="4000" spc="-70" dirty="0">
                <a:latin typeface="Times New Roman"/>
                <a:cs typeface="Times New Roman"/>
              </a:rPr>
              <a:t> </a:t>
            </a:r>
            <a:r>
              <a:rPr sz="4000" spc="-10" dirty="0">
                <a:latin typeface="Times New Roman"/>
                <a:cs typeface="Times New Roman"/>
              </a:rPr>
              <a:t>possible</a:t>
            </a:r>
            <a:endParaRPr sz="4000">
              <a:latin typeface="Times New Roman"/>
              <a:cs typeface="Times New Roman"/>
            </a:endParaRPr>
          </a:p>
          <a:p>
            <a:pPr marL="499745" indent="-487045">
              <a:lnSpc>
                <a:spcPct val="100000"/>
              </a:lnSpc>
              <a:spcBef>
                <a:spcPts val="3365"/>
              </a:spcBef>
              <a:buFont typeface="Arial MT"/>
              <a:buChar char="•"/>
              <a:tabLst>
                <a:tab pos="499745" algn="l"/>
              </a:tabLst>
            </a:pPr>
            <a:r>
              <a:rPr sz="4000" dirty="0">
                <a:latin typeface="Times New Roman"/>
                <a:cs typeface="Times New Roman"/>
              </a:rPr>
              <a:t>Fixed</a:t>
            </a:r>
            <a:r>
              <a:rPr sz="4000" spc="-6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length</a:t>
            </a:r>
            <a:r>
              <a:rPr sz="4000" spc="-8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data</a:t>
            </a:r>
            <a:r>
              <a:rPr sz="4000" spc="-6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in</a:t>
            </a:r>
            <a:r>
              <a:rPr sz="4000" spc="-7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each</a:t>
            </a:r>
            <a:r>
              <a:rPr sz="4000" spc="-80" dirty="0">
                <a:latin typeface="Times New Roman"/>
                <a:cs typeface="Times New Roman"/>
              </a:rPr>
              <a:t> </a:t>
            </a:r>
            <a:r>
              <a:rPr sz="4000" spc="-10" dirty="0">
                <a:latin typeface="Times New Roman"/>
                <a:cs typeface="Times New Roman"/>
              </a:rPr>
              <a:t>element.</a:t>
            </a:r>
            <a:endParaRPr sz="4000">
              <a:latin typeface="Times New Roman"/>
              <a:cs typeface="Times New Roman"/>
            </a:endParaRPr>
          </a:p>
          <a:p>
            <a:pPr marL="499745" indent="-487045">
              <a:lnSpc>
                <a:spcPct val="100000"/>
              </a:lnSpc>
              <a:spcBef>
                <a:spcPts val="3360"/>
              </a:spcBef>
              <a:buFont typeface="Arial MT"/>
              <a:buChar char="•"/>
              <a:tabLst>
                <a:tab pos="499745" algn="l"/>
              </a:tabLst>
            </a:pPr>
            <a:r>
              <a:rPr sz="4000" dirty="0">
                <a:latin typeface="Times New Roman"/>
                <a:cs typeface="Times New Roman"/>
              </a:rPr>
              <a:t>Not</a:t>
            </a:r>
            <a:r>
              <a:rPr sz="4000" spc="-9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suitable</a:t>
            </a:r>
            <a:r>
              <a:rPr sz="4000" spc="-9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for</a:t>
            </a:r>
            <a:r>
              <a:rPr sz="4000" spc="-8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large</a:t>
            </a:r>
            <a:r>
              <a:rPr sz="4000" spc="-85" dirty="0">
                <a:latin typeface="Times New Roman"/>
                <a:cs typeface="Times New Roman"/>
              </a:rPr>
              <a:t> </a:t>
            </a:r>
            <a:r>
              <a:rPr sz="4000" spc="-20" dirty="0">
                <a:latin typeface="Times New Roman"/>
                <a:cs typeface="Times New Roman"/>
              </a:rPr>
              <a:t>list</a:t>
            </a:r>
            <a:endParaRPr sz="40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95800" y="0"/>
            <a:ext cx="4011167" cy="195834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161026" y="-58470"/>
            <a:ext cx="2680970" cy="1245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0" spc="-10" dirty="0"/>
              <a:t>Array</a:t>
            </a:r>
            <a:endParaRPr sz="8000"/>
          </a:p>
        </p:txBody>
      </p:sp>
      <p:sp>
        <p:nvSpPr>
          <p:cNvPr id="5" name="object 5"/>
          <p:cNvSpPr txBox="1"/>
          <p:nvPr/>
        </p:nvSpPr>
        <p:spPr>
          <a:xfrm>
            <a:off x="12152630" y="9153197"/>
            <a:ext cx="297815" cy="29083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z="1700" i="1" spc="-85" dirty="0">
                <a:solidFill>
                  <a:srgbClr val="585858"/>
                </a:solidFill>
                <a:latin typeface="Verdana"/>
                <a:cs typeface="Verdana"/>
              </a:rPr>
              <a:t>8</a:t>
            </a:fld>
            <a:endParaRPr sz="17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7548" y="1352550"/>
            <a:ext cx="12197080" cy="795083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99109" indent="-486409" algn="just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499109" algn="l"/>
              </a:tabLst>
            </a:pPr>
            <a:r>
              <a:rPr sz="3700" b="1" dirty="0">
                <a:solidFill>
                  <a:srgbClr val="00AF50"/>
                </a:solidFill>
                <a:latin typeface="Times New Roman"/>
                <a:cs typeface="Times New Roman"/>
              </a:rPr>
              <a:t>Definition</a:t>
            </a:r>
            <a:r>
              <a:rPr sz="3700" b="1" spc="-14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3700" b="1" spc="-50" dirty="0">
                <a:solidFill>
                  <a:srgbClr val="00AF50"/>
                </a:solidFill>
                <a:latin typeface="Times New Roman"/>
                <a:cs typeface="Times New Roman"/>
              </a:rPr>
              <a:t>:</a:t>
            </a:r>
            <a:endParaRPr sz="3700">
              <a:latin typeface="Times New Roman"/>
              <a:cs typeface="Times New Roman"/>
            </a:endParaRPr>
          </a:p>
          <a:p>
            <a:pPr marL="489584" marR="8890" indent="-464820" algn="just">
              <a:lnSpc>
                <a:spcPct val="99700"/>
              </a:lnSpc>
              <a:spcBef>
                <a:spcPts val="25"/>
              </a:spcBef>
              <a:buSzPct val="94594"/>
              <a:buFont typeface="Wingdings"/>
              <a:buChar char=""/>
              <a:tabLst>
                <a:tab pos="489584" algn="l"/>
                <a:tab pos="490855" algn="l"/>
              </a:tabLst>
            </a:pPr>
            <a:r>
              <a:rPr sz="3700" dirty="0">
                <a:solidFill>
                  <a:srgbClr val="E0E1DC"/>
                </a:solidFill>
                <a:latin typeface="Times New Roman"/>
                <a:cs typeface="Times New Roman"/>
              </a:rPr>
              <a:t>	</a:t>
            </a:r>
            <a:r>
              <a:rPr sz="3700" dirty="0">
                <a:latin typeface="Times New Roman"/>
                <a:cs typeface="Times New Roman"/>
              </a:rPr>
              <a:t>“</a:t>
            </a:r>
            <a:r>
              <a:rPr sz="3700" dirty="0">
                <a:latin typeface="Constantia"/>
                <a:cs typeface="Constantia"/>
              </a:rPr>
              <a:t>An</a:t>
            </a:r>
            <a:r>
              <a:rPr sz="3700" spc="-110" dirty="0">
                <a:latin typeface="Constantia"/>
                <a:cs typeface="Constantia"/>
              </a:rPr>
              <a:t> </a:t>
            </a:r>
            <a:r>
              <a:rPr sz="3700" spc="-35" dirty="0">
                <a:latin typeface="Constantia"/>
                <a:cs typeface="Constantia"/>
              </a:rPr>
              <a:t>array</a:t>
            </a:r>
            <a:r>
              <a:rPr sz="3700" spc="-170" dirty="0">
                <a:latin typeface="Constantia"/>
                <a:cs typeface="Constantia"/>
              </a:rPr>
              <a:t> </a:t>
            </a:r>
            <a:r>
              <a:rPr sz="3700" dirty="0">
                <a:latin typeface="Constantia"/>
                <a:cs typeface="Constantia"/>
              </a:rPr>
              <a:t>is</a:t>
            </a:r>
            <a:r>
              <a:rPr sz="3700" spc="-120" dirty="0">
                <a:latin typeface="Constantia"/>
                <a:cs typeface="Constantia"/>
              </a:rPr>
              <a:t> </a:t>
            </a:r>
            <a:r>
              <a:rPr sz="3700" dirty="0">
                <a:latin typeface="Constantia"/>
                <a:cs typeface="Constantia"/>
              </a:rPr>
              <a:t>a</a:t>
            </a:r>
            <a:r>
              <a:rPr sz="3700" spc="-150" dirty="0">
                <a:latin typeface="Constantia"/>
                <a:cs typeface="Constantia"/>
              </a:rPr>
              <a:t> </a:t>
            </a:r>
            <a:r>
              <a:rPr sz="3700" dirty="0">
                <a:latin typeface="Constantia"/>
                <a:cs typeface="Constantia"/>
              </a:rPr>
              <a:t>finite</a:t>
            </a:r>
            <a:r>
              <a:rPr sz="3700" spc="-135" dirty="0">
                <a:latin typeface="Constantia"/>
                <a:cs typeface="Constantia"/>
              </a:rPr>
              <a:t> </a:t>
            </a:r>
            <a:r>
              <a:rPr sz="3700" spc="-10" dirty="0">
                <a:latin typeface="Constantia"/>
                <a:cs typeface="Constantia"/>
              </a:rPr>
              <a:t>ordered</a:t>
            </a:r>
            <a:r>
              <a:rPr sz="3700" spc="-70" dirty="0">
                <a:latin typeface="Constantia"/>
                <a:cs typeface="Constantia"/>
              </a:rPr>
              <a:t> </a:t>
            </a:r>
            <a:r>
              <a:rPr sz="3700" b="1" spc="-10" dirty="0">
                <a:latin typeface="Constantia"/>
                <a:cs typeface="Constantia"/>
              </a:rPr>
              <a:t>collection</a:t>
            </a:r>
            <a:r>
              <a:rPr sz="3700" b="1" spc="-75" dirty="0">
                <a:latin typeface="Constantia"/>
                <a:cs typeface="Constantia"/>
              </a:rPr>
              <a:t> </a:t>
            </a:r>
            <a:r>
              <a:rPr sz="3700" b="1" dirty="0">
                <a:latin typeface="Constantia"/>
                <a:cs typeface="Constantia"/>
              </a:rPr>
              <a:t>of</a:t>
            </a:r>
            <a:r>
              <a:rPr sz="3700" b="1" spc="70" dirty="0">
                <a:latin typeface="Constantia"/>
                <a:cs typeface="Constantia"/>
              </a:rPr>
              <a:t> </a:t>
            </a:r>
            <a:r>
              <a:rPr sz="3700" b="1" spc="-10" dirty="0">
                <a:latin typeface="Constantia"/>
                <a:cs typeface="Constantia"/>
              </a:rPr>
              <a:t>homogeneous </a:t>
            </a:r>
            <a:r>
              <a:rPr sz="3700" b="1" dirty="0">
                <a:latin typeface="Constantia"/>
                <a:cs typeface="Constantia"/>
              </a:rPr>
              <a:t>data</a:t>
            </a:r>
            <a:r>
              <a:rPr sz="3700" b="1" spc="730" dirty="0">
                <a:latin typeface="Constantia"/>
                <a:cs typeface="Constantia"/>
              </a:rPr>
              <a:t> </a:t>
            </a:r>
            <a:r>
              <a:rPr sz="3700" b="1" dirty="0">
                <a:latin typeface="Constantia"/>
                <a:cs typeface="Constantia"/>
              </a:rPr>
              <a:t>elements</a:t>
            </a:r>
            <a:r>
              <a:rPr sz="3700" b="1" spc="-95" dirty="0">
                <a:latin typeface="Constantia"/>
                <a:cs typeface="Constantia"/>
              </a:rPr>
              <a:t> </a:t>
            </a:r>
            <a:r>
              <a:rPr sz="3700" dirty="0">
                <a:latin typeface="Constantia"/>
                <a:cs typeface="Constantia"/>
              </a:rPr>
              <a:t>which</a:t>
            </a:r>
            <a:r>
              <a:rPr sz="3700" spc="-145" dirty="0">
                <a:latin typeface="Constantia"/>
                <a:cs typeface="Constantia"/>
              </a:rPr>
              <a:t> </a:t>
            </a:r>
            <a:r>
              <a:rPr sz="3700" spc="-25" dirty="0">
                <a:latin typeface="Constantia"/>
                <a:cs typeface="Constantia"/>
              </a:rPr>
              <a:t>provides</a:t>
            </a:r>
            <a:r>
              <a:rPr sz="3700" spc="-145" dirty="0">
                <a:latin typeface="Constantia"/>
                <a:cs typeface="Constantia"/>
              </a:rPr>
              <a:t> </a:t>
            </a:r>
            <a:r>
              <a:rPr sz="3700" b="1" spc="-10" dirty="0">
                <a:latin typeface="Constantia"/>
                <a:cs typeface="Constantia"/>
              </a:rPr>
              <a:t>direct</a:t>
            </a:r>
            <a:r>
              <a:rPr sz="3700" b="1" spc="-114" dirty="0">
                <a:latin typeface="Constantia"/>
                <a:cs typeface="Constantia"/>
              </a:rPr>
              <a:t> </a:t>
            </a:r>
            <a:r>
              <a:rPr sz="3700" b="1" spc="-45" dirty="0">
                <a:latin typeface="Constantia"/>
                <a:cs typeface="Constantia"/>
              </a:rPr>
              <a:t>access</a:t>
            </a:r>
            <a:r>
              <a:rPr sz="3700" b="1" spc="-125" dirty="0">
                <a:latin typeface="Constantia"/>
                <a:cs typeface="Constantia"/>
              </a:rPr>
              <a:t> </a:t>
            </a:r>
            <a:r>
              <a:rPr sz="3700" dirty="0">
                <a:latin typeface="Constantia"/>
                <a:cs typeface="Constantia"/>
              </a:rPr>
              <a:t>(or</a:t>
            </a:r>
            <a:r>
              <a:rPr sz="3700" spc="-200" dirty="0">
                <a:latin typeface="Constantia"/>
                <a:cs typeface="Constantia"/>
              </a:rPr>
              <a:t> </a:t>
            </a:r>
            <a:r>
              <a:rPr sz="3700" spc="-10" dirty="0">
                <a:latin typeface="Constantia"/>
                <a:cs typeface="Constantia"/>
              </a:rPr>
              <a:t>random </a:t>
            </a:r>
            <a:r>
              <a:rPr sz="3700" spc="-65" dirty="0">
                <a:latin typeface="Constantia"/>
                <a:cs typeface="Constantia"/>
              </a:rPr>
              <a:t>access)</a:t>
            </a:r>
            <a:r>
              <a:rPr sz="3700" spc="-380" dirty="0">
                <a:latin typeface="Constantia"/>
                <a:cs typeface="Constantia"/>
              </a:rPr>
              <a:t> </a:t>
            </a:r>
            <a:r>
              <a:rPr sz="3700" dirty="0">
                <a:latin typeface="Constantia"/>
                <a:cs typeface="Constantia"/>
              </a:rPr>
              <a:t>to</a:t>
            </a:r>
            <a:r>
              <a:rPr sz="3700" spc="620" dirty="0">
                <a:latin typeface="Constantia"/>
                <a:cs typeface="Constantia"/>
              </a:rPr>
              <a:t> </a:t>
            </a:r>
            <a:r>
              <a:rPr sz="3700" spc="-35" dirty="0">
                <a:latin typeface="Constantia"/>
                <a:cs typeface="Constantia"/>
              </a:rPr>
              <a:t>any</a:t>
            </a:r>
            <a:r>
              <a:rPr sz="3700" spc="-215" dirty="0">
                <a:latin typeface="Constantia"/>
                <a:cs typeface="Constantia"/>
              </a:rPr>
              <a:t> </a:t>
            </a:r>
            <a:r>
              <a:rPr sz="3700" dirty="0">
                <a:latin typeface="Constantia"/>
                <a:cs typeface="Constantia"/>
              </a:rPr>
              <a:t>of</a:t>
            </a:r>
            <a:r>
              <a:rPr sz="3700" spc="70" dirty="0">
                <a:latin typeface="Constantia"/>
                <a:cs typeface="Constantia"/>
              </a:rPr>
              <a:t> </a:t>
            </a:r>
            <a:r>
              <a:rPr sz="3700" spc="-20" dirty="0">
                <a:latin typeface="Constantia"/>
                <a:cs typeface="Constantia"/>
              </a:rPr>
              <a:t>its</a:t>
            </a:r>
            <a:r>
              <a:rPr sz="3700" spc="-350" dirty="0">
                <a:latin typeface="Constantia"/>
                <a:cs typeface="Constantia"/>
              </a:rPr>
              <a:t> </a:t>
            </a:r>
            <a:r>
              <a:rPr sz="3700" spc="-10" dirty="0">
                <a:latin typeface="Constantia"/>
                <a:cs typeface="Constantia"/>
              </a:rPr>
              <a:t>elements.</a:t>
            </a:r>
            <a:endParaRPr sz="3700">
              <a:latin typeface="Constantia"/>
              <a:cs typeface="Constantia"/>
            </a:endParaRPr>
          </a:p>
          <a:p>
            <a:pPr marL="489584" marR="5080" indent="-464820" algn="just">
              <a:lnSpc>
                <a:spcPct val="100000"/>
              </a:lnSpc>
              <a:spcBef>
                <a:spcPts val="509"/>
              </a:spcBef>
              <a:buClr>
                <a:srgbClr val="E0E1DC"/>
              </a:buClr>
              <a:buSzPct val="93243"/>
              <a:buFont typeface="Wingdings"/>
              <a:buChar char=""/>
              <a:tabLst>
                <a:tab pos="489584" algn="l"/>
              </a:tabLst>
            </a:pPr>
            <a:r>
              <a:rPr sz="3700" dirty="0">
                <a:latin typeface="Constantia"/>
                <a:cs typeface="Constantia"/>
              </a:rPr>
              <a:t>An</a:t>
            </a:r>
            <a:r>
              <a:rPr sz="3700" spc="295" dirty="0">
                <a:latin typeface="Constantia"/>
                <a:cs typeface="Constantia"/>
              </a:rPr>
              <a:t> </a:t>
            </a:r>
            <a:r>
              <a:rPr sz="3700" dirty="0">
                <a:latin typeface="Constantia"/>
                <a:cs typeface="Constantia"/>
              </a:rPr>
              <a:t>array</a:t>
            </a:r>
            <a:r>
              <a:rPr sz="3700" spc="229" dirty="0">
                <a:latin typeface="Constantia"/>
                <a:cs typeface="Constantia"/>
              </a:rPr>
              <a:t> </a:t>
            </a:r>
            <a:r>
              <a:rPr sz="3700" dirty="0">
                <a:latin typeface="Constantia"/>
                <a:cs typeface="Constantia"/>
              </a:rPr>
              <a:t>as</a:t>
            </a:r>
            <a:r>
              <a:rPr sz="3700" spc="280" dirty="0">
                <a:latin typeface="Constantia"/>
                <a:cs typeface="Constantia"/>
              </a:rPr>
              <a:t> </a:t>
            </a:r>
            <a:r>
              <a:rPr sz="3700" dirty="0">
                <a:latin typeface="Constantia"/>
                <a:cs typeface="Constantia"/>
              </a:rPr>
              <a:t>a</a:t>
            </a:r>
            <a:r>
              <a:rPr sz="3700" spc="250" dirty="0">
                <a:latin typeface="Constantia"/>
                <a:cs typeface="Constantia"/>
              </a:rPr>
              <a:t> </a:t>
            </a:r>
            <a:r>
              <a:rPr sz="3700" b="1" dirty="0">
                <a:latin typeface="Constantia"/>
                <a:cs typeface="Constantia"/>
              </a:rPr>
              <a:t>data</a:t>
            </a:r>
            <a:r>
              <a:rPr sz="3700" b="1" spc="295" dirty="0">
                <a:latin typeface="Constantia"/>
                <a:cs typeface="Constantia"/>
              </a:rPr>
              <a:t> </a:t>
            </a:r>
            <a:r>
              <a:rPr sz="3700" b="1" dirty="0">
                <a:latin typeface="Constantia"/>
                <a:cs typeface="Constantia"/>
              </a:rPr>
              <a:t>structure</a:t>
            </a:r>
            <a:r>
              <a:rPr sz="3700" b="1" spc="305" dirty="0">
                <a:latin typeface="Constantia"/>
                <a:cs typeface="Constantia"/>
              </a:rPr>
              <a:t> </a:t>
            </a:r>
            <a:r>
              <a:rPr sz="3700" dirty="0">
                <a:latin typeface="Constantia"/>
                <a:cs typeface="Constantia"/>
              </a:rPr>
              <a:t>is</a:t>
            </a:r>
            <a:r>
              <a:rPr sz="3700" spc="270" dirty="0">
                <a:latin typeface="Constantia"/>
                <a:cs typeface="Constantia"/>
              </a:rPr>
              <a:t> </a:t>
            </a:r>
            <a:r>
              <a:rPr sz="3700" dirty="0">
                <a:latin typeface="Constantia"/>
                <a:cs typeface="Constantia"/>
              </a:rPr>
              <a:t>defined</a:t>
            </a:r>
            <a:r>
              <a:rPr sz="3700" spc="345" dirty="0">
                <a:latin typeface="Constantia"/>
                <a:cs typeface="Constantia"/>
              </a:rPr>
              <a:t> </a:t>
            </a:r>
            <a:r>
              <a:rPr sz="3700" dirty="0">
                <a:latin typeface="Constantia"/>
                <a:cs typeface="Constantia"/>
              </a:rPr>
              <a:t>as</a:t>
            </a:r>
            <a:r>
              <a:rPr sz="3700" spc="260" dirty="0">
                <a:latin typeface="Constantia"/>
                <a:cs typeface="Constantia"/>
              </a:rPr>
              <a:t> </a:t>
            </a:r>
            <a:r>
              <a:rPr sz="3700" dirty="0">
                <a:latin typeface="Constantia"/>
                <a:cs typeface="Constantia"/>
              </a:rPr>
              <a:t>a</a:t>
            </a:r>
            <a:r>
              <a:rPr sz="3700" spc="245" dirty="0">
                <a:latin typeface="Constantia"/>
                <a:cs typeface="Constantia"/>
              </a:rPr>
              <a:t> </a:t>
            </a:r>
            <a:r>
              <a:rPr sz="3700" dirty="0">
                <a:latin typeface="Constantia"/>
                <a:cs typeface="Constantia"/>
              </a:rPr>
              <a:t>set</a:t>
            </a:r>
            <a:r>
              <a:rPr sz="3700" spc="265" dirty="0">
                <a:latin typeface="Constantia"/>
                <a:cs typeface="Constantia"/>
              </a:rPr>
              <a:t> </a:t>
            </a:r>
            <a:r>
              <a:rPr sz="3700" dirty="0">
                <a:latin typeface="Constantia"/>
                <a:cs typeface="Constantia"/>
              </a:rPr>
              <a:t>of</a:t>
            </a:r>
            <a:r>
              <a:rPr sz="3700" spc="434" dirty="0">
                <a:latin typeface="Constantia"/>
                <a:cs typeface="Constantia"/>
              </a:rPr>
              <a:t> </a:t>
            </a:r>
            <a:r>
              <a:rPr sz="3700" spc="-10" dirty="0">
                <a:latin typeface="Constantia"/>
                <a:cs typeface="Constantia"/>
              </a:rPr>
              <a:t>pairs </a:t>
            </a:r>
            <a:r>
              <a:rPr sz="3700" dirty="0">
                <a:latin typeface="Constantia"/>
                <a:cs typeface="Constantia"/>
              </a:rPr>
              <a:t>(index,value)</a:t>
            </a:r>
            <a:r>
              <a:rPr sz="3700" spc="365" dirty="0">
                <a:latin typeface="Constantia"/>
                <a:cs typeface="Constantia"/>
              </a:rPr>
              <a:t>  </a:t>
            </a:r>
            <a:r>
              <a:rPr sz="3700" dirty="0">
                <a:latin typeface="Constantia"/>
                <a:cs typeface="Constantia"/>
              </a:rPr>
              <a:t>such</a:t>
            </a:r>
            <a:r>
              <a:rPr sz="3700" spc="340" dirty="0">
                <a:latin typeface="Constantia"/>
                <a:cs typeface="Constantia"/>
              </a:rPr>
              <a:t>  </a:t>
            </a:r>
            <a:r>
              <a:rPr sz="3700" dirty="0">
                <a:latin typeface="Constantia"/>
                <a:cs typeface="Constantia"/>
              </a:rPr>
              <a:t>that</a:t>
            </a:r>
            <a:r>
              <a:rPr sz="3700" spc="315" dirty="0">
                <a:latin typeface="Constantia"/>
                <a:cs typeface="Constantia"/>
              </a:rPr>
              <a:t>  </a:t>
            </a:r>
            <a:r>
              <a:rPr sz="3700" dirty="0">
                <a:latin typeface="Constantia"/>
                <a:cs typeface="Constantia"/>
              </a:rPr>
              <a:t>with</a:t>
            </a:r>
            <a:r>
              <a:rPr sz="3700" spc="335" dirty="0">
                <a:latin typeface="Constantia"/>
                <a:cs typeface="Constantia"/>
              </a:rPr>
              <a:t>  </a:t>
            </a:r>
            <a:r>
              <a:rPr sz="3700" dirty="0">
                <a:latin typeface="Constantia"/>
                <a:cs typeface="Constantia"/>
              </a:rPr>
              <a:t>each</a:t>
            </a:r>
            <a:r>
              <a:rPr sz="3700" spc="340" dirty="0">
                <a:latin typeface="Constantia"/>
                <a:cs typeface="Constantia"/>
              </a:rPr>
              <a:t>  </a:t>
            </a:r>
            <a:r>
              <a:rPr sz="3700" dirty="0">
                <a:latin typeface="Constantia"/>
                <a:cs typeface="Constantia"/>
              </a:rPr>
              <a:t>index</a:t>
            </a:r>
            <a:r>
              <a:rPr sz="3700" spc="335" dirty="0">
                <a:latin typeface="Constantia"/>
                <a:cs typeface="Constantia"/>
              </a:rPr>
              <a:t>  </a:t>
            </a:r>
            <a:r>
              <a:rPr sz="3700" dirty="0">
                <a:latin typeface="Constantia"/>
                <a:cs typeface="Constantia"/>
              </a:rPr>
              <a:t>a</a:t>
            </a:r>
            <a:r>
              <a:rPr sz="3700" spc="315" dirty="0">
                <a:latin typeface="Constantia"/>
                <a:cs typeface="Constantia"/>
              </a:rPr>
              <a:t>  </a:t>
            </a:r>
            <a:r>
              <a:rPr sz="3700" dirty="0">
                <a:latin typeface="Constantia"/>
                <a:cs typeface="Constantia"/>
              </a:rPr>
              <a:t>value</a:t>
            </a:r>
            <a:r>
              <a:rPr sz="3700" spc="320" dirty="0">
                <a:latin typeface="Constantia"/>
                <a:cs typeface="Constantia"/>
              </a:rPr>
              <a:t>  </a:t>
            </a:r>
            <a:r>
              <a:rPr sz="3700" spc="-25" dirty="0">
                <a:latin typeface="Constantia"/>
                <a:cs typeface="Constantia"/>
              </a:rPr>
              <a:t>is </a:t>
            </a:r>
            <a:r>
              <a:rPr sz="3700" spc="-10" dirty="0">
                <a:latin typeface="Constantia"/>
                <a:cs typeface="Constantia"/>
              </a:rPr>
              <a:t>associated.</a:t>
            </a:r>
            <a:endParaRPr sz="3700">
              <a:latin typeface="Constantia"/>
              <a:cs typeface="Constantia"/>
            </a:endParaRPr>
          </a:p>
          <a:p>
            <a:pPr marL="937260" marR="9525" lvl="1" indent="-485775" algn="just">
              <a:lnSpc>
                <a:spcPct val="100000"/>
              </a:lnSpc>
              <a:spcBef>
                <a:spcPts val="495"/>
              </a:spcBef>
              <a:buFont typeface="Arial MT"/>
              <a:buChar char="•"/>
              <a:tabLst>
                <a:tab pos="939165" algn="l"/>
              </a:tabLst>
            </a:pPr>
            <a:r>
              <a:rPr sz="3700" b="1" dirty="0">
                <a:latin typeface="Constantia"/>
                <a:cs typeface="Constantia"/>
              </a:rPr>
              <a:t>index</a:t>
            </a:r>
            <a:r>
              <a:rPr sz="3700" b="1" spc="690" dirty="0">
                <a:latin typeface="Constantia"/>
                <a:cs typeface="Constantia"/>
              </a:rPr>
              <a:t> </a:t>
            </a:r>
            <a:r>
              <a:rPr sz="3700" i="1" dirty="0">
                <a:latin typeface="Constantia"/>
                <a:cs typeface="Constantia"/>
              </a:rPr>
              <a:t>—</a:t>
            </a:r>
            <a:r>
              <a:rPr sz="3700" i="1" spc="790" dirty="0">
                <a:latin typeface="Constantia"/>
                <a:cs typeface="Constantia"/>
              </a:rPr>
              <a:t> </a:t>
            </a:r>
            <a:r>
              <a:rPr sz="3700" dirty="0">
                <a:latin typeface="Constantia"/>
                <a:cs typeface="Constantia"/>
              </a:rPr>
              <a:t>indicates</a:t>
            </a:r>
            <a:r>
              <a:rPr sz="3700" spc="660" dirty="0">
                <a:latin typeface="Constantia"/>
                <a:cs typeface="Constantia"/>
              </a:rPr>
              <a:t> </a:t>
            </a:r>
            <a:r>
              <a:rPr sz="3700" dirty="0">
                <a:latin typeface="Constantia"/>
                <a:cs typeface="Constantia"/>
              </a:rPr>
              <a:t>the</a:t>
            </a:r>
            <a:r>
              <a:rPr sz="3700" spc="640" dirty="0">
                <a:latin typeface="Constantia"/>
                <a:cs typeface="Constantia"/>
              </a:rPr>
              <a:t> </a:t>
            </a:r>
            <a:r>
              <a:rPr sz="3700" dirty="0">
                <a:latin typeface="Constantia"/>
                <a:cs typeface="Constantia"/>
              </a:rPr>
              <a:t>location</a:t>
            </a:r>
            <a:r>
              <a:rPr sz="3700" spc="675" dirty="0">
                <a:latin typeface="Constantia"/>
                <a:cs typeface="Constantia"/>
              </a:rPr>
              <a:t> </a:t>
            </a:r>
            <a:r>
              <a:rPr sz="3700" dirty="0">
                <a:latin typeface="Constantia"/>
                <a:cs typeface="Constantia"/>
              </a:rPr>
              <a:t>of</a:t>
            </a:r>
            <a:r>
              <a:rPr sz="3700" spc="819" dirty="0">
                <a:latin typeface="Constantia"/>
                <a:cs typeface="Constantia"/>
              </a:rPr>
              <a:t> </a:t>
            </a:r>
            <a:r>
              <a:rPr sz="3700" dirty="0">
                <a:latin typeface="Constantia"/>
                <a:cs typeface="Constantia"/>
              </a:rPr>
              <a:t>an</a:t>
            </a:r>
            <a:r>
              <a:rPr sz="3700" spc="685" dirty="0">
                <a:latin typeface="Constantia"/>
                <a:cs typeface="Constantia"/>
              </a:rPr>
              <a:t> </a:t>
            </a:r>
            <a:r>
              <a:rPr sz="3700" dirty="0">
                <a:latin typeface="Constantia"/>
                <a:cs typeface="Constantia"/>
              </a:rPr>
              <a:t>element</a:t>
            </a:r>
            <a:r>
              <a:rPr sz="3700" spc="640" dirty="0">
                <a:latin typeface="Constantia"/>
                <a:cs typeface="Constantia"/>
              </a:rPr>
              <a:t> </a:t>
            </a:r>
            <a:r>
              <a:rPr sz="3700" dirty="0">
                <a:latin typeface="Constantia"/>
                <a:cs typeface="Constantia"/>
              </a:rPr>
              <a:t>in</a:t>
            </a:r>
            <a:r>
              <a:rPr sz="3700" spc="685" dirty="0">
                <a:latin typeface="Constantia"/>
                <a:cs typeface="Constantia"/>
              </a:rPr>
              <a:t> </a:t>
            </a:r>
            <a:r>
              <a:rPr sz="3700" spc="-25" dirty="0">
                <a:latin typeface="Constantia"/>
                <a:cs typeface="Constantia"/>
              </a:rPr>
              <a:t>an 	</a:t>
            </a:r>
            <a:r>
              <a:rPr sz="3700" spc="-10" dirty="0">
                <a:latin typeface="Constantia"/>
                <a:cs typeface="Constantia"/>
              </a:rPr>
              <a:t>array.</a:t>
            </a:r>
            <a:endParaRPr sz="3700">
              <a:latin typeface="Constantia"/>
              <a:cs typeface="Constantia"/>
            </a:endParaRPr>
          </a:p>
          <a:p>
            <a:pPr marL="937894" lvl="1" indent="-486409" algn="just">
              <a:lnSpc>
                <a:spcPct val="100000"/>
              </a:lnSpc>
              <a:spcBef>
                <a:spcPts val="500"/>
              </a:spcBef>
              <a:buFont typeface="Arial MT"/>
              <a:buChar char="•"/>
              <a:tabLst>
                <a:tab pos="937894" algn="l"/>
              </a:tabLst>
            </a:pPr>
            <a:r>
              <a:rPr sz="3700" b="1" dirty="0">
                <a:latin typeface="Constantia"/>
                <a:cs typeface="Constantia"/>
              </a:rPr>
              <a:t>value</a:t>
            </a:r>
            <a:r>
              <a:rPr sz="3700" b="1" spc="-70" dirty="0">
                <a:latin typeface="Constantia"/>
                <a:cs typeface="Constantia"/>
              </a:rPr>
              <a:t> </a:t>
            </a:r>
            <a:r>
              <a:rPr sz="3700" dirty="0">
                <a:latin typeface="Constantia"/>
                <a:cs typeface="Constantia"/>
              </a:rPr>
              <a:t>-</a:t>
            </a:r>
            <a:r>
              <a:rPr sz="3700" spc="-20" dirty="0">
                <a:latin typeface="Constantia"/>
                <a:cs typeface="Constantia"/>
              </a:rPr>
              <a:t> </a:t>
            </a:r>
            <a:r>
              <a:rPr sz="3700" spc="-30" dirty="0">
                <a:latin typeface="Constantia"/>
                <a:cs typeface="Constantia"/>
              </a:rPr>
              <a:t>indicates</a:t>
            </a:r>
            <a:r>
              <a:rPr sz="3700" spc="-195" dirty="0">
                <a:latin typeface="Constantia"/>
                <a:cs typeface="Constantia"/>
              </a:rPr>
              <a:t> </a:t>
            </a:r>
            <a:r>
              <a:rPr sz="3700" spc="-30" dirty="0">
                <a:latin typeface="Constantia"/>
                <a:cs typeface="Constantia"/>
              </a:rPr>
              <a:t>the</a:t>
            </a:r>
            <a:r>
              <a:rPr sz="3700" spc="-295" dirty="0">
                <a:latin typeface="Constantia"/>
                <a:cs typeface="Constantia"/>
              </a:rPr>
              <a:t> </a:t>
            </a:r>
            <a:r>
              <a:rPr sz="3700" spc="-25" dirty="0">
                <a:latin typeface="Constantia"/>
                <a:cs typeface="Constantia"/>
              </a:rPr>
              <a:t>actual</a:t>
            </a:r>
            <a:r>
              <a:rPr sz="3700" spc="-229" dirty="0">
                <a:latin typeface="Constantia"/>
                <a:cs typeface="Constantia"/>
              </a:rPr>
              <a:t> </a:t>
            </a:r>
            <a:r>
              <a:rPr sz="3700" spc="-45" dirty="0">
                <a:latin typeface="Constantia"/>
                <a:cs typeface="Constantia"/>
              </a:rPr>
              <a:t>value</a:t>
            </a:r>
            <a:r>
              <a:rPr sz="3700" spc="-275" dirty="0">
                <a:latin typeface="Constantia"/>
                <a:cs typeface="Constantia"/>
              </a:rPr>
              <a:t> </a:t>
            </a:r>
            <a:r>
              <a:rPr sz="3700" dirty="0">
                <a:latin typeface="Constantia"/>
                <a:cs typeface="Constantia"/>
              </a:rPr>
              <a:t>of</a:t>
            </a:r>
            <a:r>
              <a:rPr sz="3700" spc="80" dirty="0">
                <a:latin typeface="Constantia"/>
                <a:cs typeface="Constantia"/>
              </a:rPr>
              <a:t> </a:t>
            </a:r>
            <a:r>
              <a:rPr sz="3700" spc="-10" dirty="0">
                <a:latin typeface="Constantia"/>
                <a:cs typeface="Constantia"/>
              </a:rPr>
              <a:t>that</a:t>
            </a:r>
            <a:r>
              <a:rPr sz="3700" spc="-330" dirty="0">
                <a:latin typeface="Constantia"/>
                <a:cs typeface="Constantia"/>
              </a:rPr>
              <a:t> </a:t>
            </a:r>
            <a:r>
              <a:rPr sz="3700" dirty="0">
                <a:latin typeface="Constantia"/>
                <a:cs typeface="Constantia"/>
              </a:rPr>
              <a:t>data</a:t>
            </a:r>
            <a:r>
              <a:rPr sz="3700" spc="-330" dirty="0">
                <a:latin typeface="Constantia"/>
                <a:cs typeface="Constantia"/>
              </a:rPr>
              <a:t> </a:t>
            </a:r>
            <a:r>
              <a:rPr sz="3700" spc="-10" dirty="0">
                <a:latin typeface="Constantia"/>
                <a:cs typeface="Constantia"/>
              </a:rPr>
              <a:t>element.</a:t>
            </a:r>
            <a:endParaRPr sz="3700">
              <a:latin typeface="Constantia"/>
              <a:cs typeface="Constantia"/>
            </a:endParaRPr>
          </a:p>
          <a:p>
            <a:pPr marL="457200" indent="-444500" algn="just">
              <a:lnSpc>
                <a:spcPct val="100000"/>
              </a:lnSpc>
              <a:spcBef>
                <a:spcPts val="509"/>
              </a:spcBef>
              <a:buClr>
                <a:srgbClr val="E0E1DC"/>
              </a:buClr>
              <a:buSzPct val="93243"/>
              <a:buFont typeface="Wingdings"/>
              <a:buChar char=""/>
              <a:tabLst>
                <a:tab pos="457200" algn="l"/>
              </a:tabLst>
            </a:pPr>
            <a:r>
              <a:rPr sz="3700" spc="-25" dirty="0">
                <a:latin typeface="Constantia"/>
                <a:cs typeface="Constantia"/>
              </a:rPr>
              <a:t>Declaration</a:t>
            </a:r>
            <a:r>
              <a:rPr sz="3700" spc="-160" dirty="0">
                <a:latin typeface="Constantia"/>
                <a:cs typeface="Constantia"/>
              </a:rPr>
              <a:t> </a:t>
            </a:r>
            <a:r>
              <a:rPr sz="3700" dirty="0">
                <a:latin typeface="Constantia"/>
                <a:cs typeface="Constantia"/>
              </a:rPr>
              <a:t>of</a:t>
            </a:r>
            <a:r>
              <a:rPr sz="3700" spc="-15" dirty="0">
                <a:latin typeface="Constantia"/>
                <a:cs typeface="Constantia"/>
              </a:rPr>
              <a:t> </a:t>
            </a:r>
            <a:r>
              <a:rPr sz="3700" dirty="0">
                <a:latin typeface="Constantia"/>
                <a:cs typeface="Constantia"/>
              </a:rPr>
              <a:t>an</a:t>
            </a:r>
            <a:r>
              <a:rPr sz="3700" spc="-175" dirty="0">
                <a:latin typeface="Constantia"/>
                <a:cs typeface="Constantia"/>
              </a:rPr>
              <a:t> </a:t>
            </a:r>
            <a:r>
              <a:rPr sz="3700" spc="-50" dirty="0">
                <a:latin typeface="Constantia"/>
                <a:cs typeface="Constantia"/>
              </a:rPr>
              <a:t>array</a:t>
            </a:r>
            <a:r>
              <a:rPr sz="3700" spc="-140" dirty="0">
                <a:latin typeface="Constantia"/>
                <a:cs typeface="Constantia"/>
              </a:rPr>
              <a:t> </a:t>
            </a:r>
            <a:r>
              <a:rPr sz="3700" spc="-10" dirty="0">
                <a:latin typeface="Constantia"/>
                <a:cs typeface="Constantia"/>
              </a:rPr>
              <a:t>in</a:t>
            </a:r>
            <a:r>
              <a:rPr sz="3700" spc="-370" dirty="0">
                <a:latin typeface="Constantia"/>
                <a:cs typeface="Constantia"/>
              </a:rPr>
              <a:t> </a:t>
            </a:r>
            <a:r>
              <a:rPr sz="3700" spc="-10" dirty="0">
                <a:latin typeface="Constantia"/>
                <a:cs typeface="Constantia"/>
              </a:rPr>
              <a:t>‘C++’:</a:t>
            </a:r>
            <a:endParaRPr sz="3700">
              <a:latin typeface="Constantia"/>
              <a:cs typeface="Constantia"/>
            </a:endParaRPr>
          </a:p>
          <a:p>
            <a:pPr marL="2689225" lvl="1" indent="-486409" algn="just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2689225" algn="l"/>
              </a:tabLst>
            </a:pPr>
            <a:r>
              <a:rPr sz="3700" b="1" dirty="0">
                <a:latin typeface="Constantia"/>
                <a:cs typeface="Constantia"/>
              </a:rPr>
              <a:t>int</a:t>
            </a:r>
            <a:r>
              <a:rPr sz="3700" b="1" spc="475" dirty="0">
                <a:latin typeface="Constantia"/>
                <a:cs typeface="Constantia"/>
              </a:rPr>
              <a:t> </a:t>
            </a:r>
            <a:r>
              <a:rPr sz="3700" b="1" spc="-10" dirty="0">
                <a:latin typeface="Constantia"/>
                <a:cs typeface="Constantia"/>
              </a:rPr>
              <a:t>Array_A[20];</a:t>
            </a:r>
            <a:endParaRPr sz="3700">
              <a:latin typeface="Constantia"/>
              <a:cs typeface="Constantia"/>
            </a:endParaRPr>
          </a:p>
          <a:p>
            <a:pPr marL="12700">
              <a:lnSpc>
                <a:spcPct val="100000"/>
              </a:lnSpc>
              <a:spcBef>
                <a:spcPts val="2085"/>
              </a:spcBef>
            </a:pPr>
            <a:r>
              <a:rPr sz="3700" spc="-50" dirty="0">
                <a:latin typeface="Times New Roman"/>
                <a:cs typeface="Times New Roman"/>
              </a:rPr>
              <a:t>”</a:t>
            </a:r>
            <a:endParaRPr sz="37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96967" y="0"/>
            <a:ext cx="3610355" cy="165049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296661" y="-168452"/>
            <a:ext cx="241427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spc="-10" dirty="0"/>
              <a:t>Array</a:t>
            </a:r>
            <a:endParaRPr sz="7200"/>
          </a:p>
        </p:txBody>
      </p:sp>
      <p:sp>
        <p:nvSpPr>
          <p:cNvPr id="4" name="object 4"/>
          <p:cNvSpPr txBox="1"/>
          <p:nvPr/>
        </p:nvSpPr>
        <p:spPr>
          <a:xfrm>
            <a:off x="409448" y="889995"/>
            <a:ext cx="12186920" cy="1797685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499745" indent="-487045">
              <a:lnSpc>
                <a:spcPct val="100000"/>
              </a:lnSpc>
              <a:spcBef>
                <a:spcPts val="595"/>
              </a:spcBef>
              <a:buFont typeface="Arial MT"/>
              <a:buChar char="•"/>
              <a:tabLst>
                <a:tab pos="499745" algn="l"/>
              </a:tabLst>
            </a:pPr>
            <a:r>
              <a:rPr sz="4000" b="1" dirty="0">
                <a:solidFill>
                  <a:srgbClr val="00AF50"/>
                </a:solidFill>
                <a:latin typeface="Times New Roman"/>
                <a:cs typeface="Times New Roman"/>
              </a:rPr>
              <a:t>Array</a:t>
            </a:r>
            <a:r>
              <a:rPr sz="4000" b="1" spc="-10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40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Representation</a:t>
            </a:r>
            <a:endParaRPr sz="4000">
              <a:latin typeface="Times New Roman"/>
              <a:cs typeface="Times New Roman"/>
            </a:endParaRPr>
          </a:p>
          <a:p>
            <a:pPr marL="500380" marR="5080" indent="-487680">
              <a:lnSpc>
                <a:spcPts val="3890"/>
              </a:lnSpc>
              <a:spcBef>
                <a:spcPts val="935"/>
              </a:spcBef>
              <a:buFont typeface="Arial MT"/>
              <a:buChar char="•"/>
              <a:tabLst>
                <a:tab pos="500380" algn="l"/>
              </a:tabLst>
            </a:pPr>
            <a:r>
              <a:rPr sz="3600" dirty="0">
                <a:latin typeface="Times New Roman"/>
                <a:cs typeface="Times New Roman"/>
              </a:rPr>
              <a:t>Arrays</a:t>
            </a:r>
            <a:r>
              <a:rPr sz="3600" spc="16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can</a:t>
            </a:r>
            <a:r>
              <a:rPr sz="3600" spc="16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be</a:t>
            </a:r>
            <a:r>
              <a:rPr sz="3600" spc="17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declared</a:t>
            </a:r>
            <a:r>
              <a:rPr sz="3600" spc="17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in</a:t>
            </a:r>
            <a:r>
              <a:rPr sz="3600" spc="16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various</a:t>
            </a:r>
            <a:r>
              <a:rPr sz="3600" spc="17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ways</a:t>
            </a:r>
            <a:r>
              <a:rPr sz="3600" spc="17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in</a:t>
            </a:r>
            <a:r>
              <a:rPr sz="3600" spc="16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different</a:t>
            </a:r>
            <a:r>
              <a:rPr sz="3600" spc="160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languages. </a:t>
            </a:r>
            <a:r>
              <a:rPr sz="3600" dirty="0">
                <a:latin typeface="Times New Roman"/>
                <a:cs typeface="Times New Roman"/>
              </a:rPr>
              <a:t>For</a:t>
            </a:r>
            <a:r>
              <a:rPr sz="3600" spc="-5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illustration,</a:t>
            </a:r>
            <a:r>
              <a:rPr sz="3600" spc="-3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let's</a:t>
            </a:r>
            <a:r>
              <a:rPr sz="3600" spc="-4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take</a:t>
            </a:r>
            <a:r>
              <a:rPr sz="3600" spc="-5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C</a:t>
            </a:r>
            <a:r>
              <a:rPr sz="3600" spc="-6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array</a:t>
            </a:r>
            <a:r>
              <a:rPr sz="3600" spc="-60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declaration.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9448" y="7071486"/>
            <a:ext cx="12186285" cy="203390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500380" marR="5080" indent="-487680">
              <a:lnSpc>
                <a:spcPts val="3460"/>
              </a:lnSpc>
              <a:spcBef>
                <a:spcPts val="535"/>
              </a:spcBef>
              <a:buFont typeface="Arial MT"/>
              <a:buChar char="•"/>
              <a:tabLst>
                <a:tab pos="500380" algn="l"/>
                <a:tab pos="1797050" algn="l"/>
                <a:tab pos="2550160" algn="l"/>
                <a:tab pos="3122930" algn="l"/>
                <a:tab pos="4691380" algn="l"/>
                <a:tab pos="5194300" algn="l"/>
                <a:tab pos="6579870" algn="l"/>
                <a:tab pos="7607300" algn="l"/>
                <a:tab pos="8110220" algn="l"/>
                <a:tab pos="9690735" algn="l"/>
                <a:tab pos="11609705" algn="l"/>
              </a:tabLst>
            </a:pPr>
            <a:r>
              <a:rPr sz="3200" spc="-10" dirty="0">
                <a:latin typeface="Times New Roman"/>
                <a:cs typeface="Times New Roman"/>
              </a:rPr>
              <a:t>Arrays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25" dirty="0">
                <a:latin typeface="Times New Roman"/>
                <a:cs typeface="Times New Roman"/>
              </a:rPr>
              <a:t>can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25" dirty="0">
                <a:latin typeface="Times New Roman"/>
                <a:cs typeface="Times New Roman"/>
              </a:rPr>
              <a:t>be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10" dirty="0">
                <a:latin typeface="Times New Roman"/>
                <a:cs typeface="Times New Roman"/>
              </a:rPr>
              <a:t>declared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25" dirty="0">
                <a:latin typeface="Times New Roman"/>
                <a:cs typeface="Times New Roman"/>
              </a:rPr>
              <a:t>in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10" dirty="0">
                <a:latin typeface="Times New Roman"/>
                <a:cs typeface="Times New Roman"/>
              </a:rPr>
              <a:t>various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20" dirty="0">
                <a:latin typeface="Times New Roman"/>
                <a:cs typeface="Times New Roman"/>
              </a:rPr>
              <a:t>ways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25" dirty="0">
                <a:latin typeface="Times New Roman"/>
                <a:cs typeface="Times New Roman"/>
              </a:rPr>
              <a:t>in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10" dirty="0">
                <a:latin typeface="Times New Roman"/>
                <a:cs typeface="Times New Roman"/>
              </a:rPr>
              <a:t>different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10" dirty="0">
                <a:latin typeface="Times New Roman"/>
                <a:cs typeface="Times New Roman"/>
              </a:rPr>
              <a:t>languages.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25" dirty="0">
                <a:latin typeface="Times New Roman"/>
                <a:cs typeface="Times New Roman"/>
              </a:rPr>
              <a:t>For </a:t>
            </a:r>
            <a:r>
              <a:rPr sz="3200" dirty="0">
                <a:latin typeface="Times New Roman"/>
                <a:cs typeface="Times New Roman"/>
              </a:rPr>
              <a:t>illustration,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let's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take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array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declaration.</a:t>
            </a:r>
            <a:endParaRPr sz="3200">
              <a:latin typeface="Times New Roman"/>
              <a:cs typeface="Times New Roman"/>
            </a:endParaRPr>
          </a:p>
          <a:p>
            <a:pPr marL="500380" marR="5715" indent="-487680">
              <a:lnSpc>
                <a:spcPts val="4130"/>
              </a:lnSpc>
              <a:spcBef>
                <a:spcPts val="225"/>
              </a:spcBef>
              <a:buFont typeface="Arial MT"/>
              <a:buChar char="•"/>
              <a:tabLst>
                <a:tab pos="500380" algn="l"/>
              </a:tabLst>
            </a:pPr>
            <a:r>
              <a:rPr sz="3200" dirty="0">
                <a:latin typeface="Times New Roman"/>
                <a:cs typeface="Times New Roman"/>
              </a:rPr>
              <a:t>As</a:t>
            </a:r>
            <a:r>
              <a:rPr sz="3200" spc="2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per</a:t>
            </a:r>
            <a:r>
              <a:rPr sz="3200" spc="2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2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above</a:t>
            </a:r>
            <a:r>
              <a:rPr sz="3200" spc="2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illustration,</a:t>
            </a:r>
            <a:r>
              <a:rPr sz="3200" spc="2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following</a:t>
            </a:r>
            <a:r>
              <a:rPr sz="3200" spc="2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are</a:t>
            </a:r>
            <a:r>
              <a:rPr sz="3200" spc="2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2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important</a:t>
            </a:r>
            <a:r>
              <a:rPr sz="3200" spc="25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points</a:t>
            </a:r>
            <a:r>
              <a:rPr sz="3200" spc="2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254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be </a:t>
            </a:r>
            <a:r>
              <a:rPr sz="3200" spc="-10" dirty="0">
                <a:latin typeface="Times New Roman"/>
                <a:cs typeface="Times New Roman"/>
              </a:rPr>
              <a:t>considered</a:t>
            </a:r>
            <a:r>
              <a:rPr sz="4000" spc="-10" dirty="0">
                <a:latin typeface="Times New Roman"/>
                <a:cs typeface="Times New Roman"/>
              </a:rPr>
              <a:t>.</a:t>
            </a:r>
            <a:endParaRPr sz="40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3" y="2743200"/>
            <a:ext cx="13003278" cy="441960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2152630" y="9153197"/>
            <a:ext cx="297815" cy="29083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z="1700" i="1" spc="-85" dirty="0">
                <a:solidFill>
                  <a:srgbClr val="585858"/>
                </a:solidFill>
                <a:latin typeface="Verdana"/>
                <a:cs typeface="Verdana"/>
              </a:rPr>
              <a:t>9</a:t>
            </a:fld>
            <a:endParaRPr sz="170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95800" y="0"/>
            <a:ext cx="4011167" cy="195834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161026" y="-58470"/>
            <a:ext cx="2680970" cy="1245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0" spc="-10" dirty="0"/>
              <a:t>Array</a:t>
            </a:r>
            <a:endParaRPr sz="8000"/>
          </a:p>
        </p:txBody>
      </p:sp>
      <p:sp>
        <p:nvSpPr>
          <p:cNvPr id="5" name="object 5"/>
          <p:cNvSpPr txBox="1"/>
          <p:nvPr/>
        </p:nvSpPr>
        <p:spPr>
          <a:xfrm>
            <a:off x="12152630" y="9153197"/>
            <a:ext cx="297815" cy="29083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z="1700" i="1" spc="-85" dirty="0">
                <a:solidFill>
                  <a:srgbClr val="585858"/>
                </a:solidFill>
                <a:latin typeface="Verdana"/>
                <a:cs typeface="Verdana"/>
              </a:rPr>
              <a:t>10</a:t>
            </a:fld>
            <a:endParaRPr sz="17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7548" y="1295640"/>
            <a:ext cx="12187555" cy="7864475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499745" indent="-487045">
              <a:lnSpc>
                <a:spcPct val="100000"/>
              </a:lnSpc>
              <a:spcBef>
                <a:spcPts val="545"/>
              </a:spcBef>
              <a:buFont typeface="Arial MT"/>
              <a:buChar char="•"/>
              <a:tabLst>
                <a:tab pos="499745" algn="l"/>
              </a:tabLst>
            </a:pPr>
            <a:r>
              <a:rPr sz="3700" b="1" dirty="0">
                <a:solidFill>
                  <a:srgbClr val="00AF50"/>
                </a:solidFill>
                <a:latin typeface="Times New Roman"/>
                <a:cs typeface="Times New Roman"/>
              </a:rPr>
              <a:t>Array</a:t>
            </a:r>
            <a:r>
              <a:rPr sz="3700" b="1" spc="-10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37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Representation</a:t>
            </a:r>
            <a:endParaRPr sz="3700">
              <a:latin typeface="Times New Roman"/>
              <a:cs typeface="Times New Roman"/>
            </a:endParaRPr>
          </a:p>
          <a:p>
            <a:pPr marL="499745" indent="-487045">
              <a:lnSpc>
                <a:spcPct val="100000"/>
              </a:lnSpc>
              <a:spcBef>
                <a:spcPts val="445"/>
              </a:spcBef>
              <a:buFont typeface="Arial MT"/>
              <a:buChar char="•"/>
              <a:tabLst>
                <a:tab pos="499745" algn="l"/>
              </a:tabLst>
            </a:pPr>
            <a:r>
              <a:rPr sz="3700" dirty="0">
                <a:latin typeface="Times New Roman"/>
                <a:cs typeface="Times New Roman"/>
              </a:rPr>
              <a:t>Index</a:t>
            </a:r>
            <a:r>
              <a:rPr sz="3700" spc="-30" dirty="0">
                <a:latin typeface="Times New Roman"/>
                <a:cs typeface="Times New Roman"/>
              </a:rPr>
              <a:t> </a:t>
            </a:r>
            <a:r>
              <a:rPr sz="3700" dirty="0">
                <a:latin typeface="Times New Roman"/>
                <a:cs typeface="Times New Roman"/>
              </a:rPr>
              <a:t>starts</a:t>
            </a:r>
            <a:r>
              <a:rPr sz="3700" spc="-45" dirty="0">
                <a:latin typeface="Times New Roman"/>
                <a:cs typeface="Times New Roman"/>
              </a:rPr>
              <a:t> </a:t>
            </a:r>
            <a:r>
              <a:rPr sz="3700" dirty="0">
                <a:latin typeface="Times New Roman"/>
                <a:cs typeface="Times New Roman"/>
              </a:rPr>
              <a:t>with</a:t>
            </a:r>
            <a:r>
              <a:rPr sz="3700" spc="-30" dirty="0">
                <a:latin typeface="Times New Roman"/>
                <a:cs typeface="Times New Roman"/>
              </a:rPr>
              <a:t> </a:t>
            </a:r>
            <a:r>
              <a:rPr sz="3700" spc="-35" dirty="0">
                <a:latin typeface="Times New Roman"/>
                <a:cs typeface="Times New Roman"/>
              </a:rPr>
              <a:t>0.</a:t>
            </a:r>
            <a:endParaRPr sz="3700">
              <a:latin typeface="Times New Roman"/>
              <a:cs typeface="Times New Roman"/>
            </a:endParaRPr>
          </a:p>
          <a:p>
            <a:pPr marL="499745" indent="-487045">
              <a:lnSpc>
                <a:spcPct val="100000"/>
              </a:lnSpc>
              <a:spcBef>
                <a:spcPts val="445"/>
              </a:spcBef>
              <a:buFont typeface="Arial MT"/>
              <a:buChar char="•"/>
              <a:tabLst>
                <a:tab pos="499745" algn="l"/>
              </a:tabLst>
            </a:pPr>
            <a:r>
              <a:rPr sz="3700" dirty="0">
                <a:latin typeface="Times New Roman"/>
                <a:cs typeface="Times New Roman"/>
              </a:rPr>
              <a:t>Array</a:t>
            </a:r>
            <a:r>
              <a:rPr sz="3700" spc="-15" dirty="0">
                <a:latin typeface="Times New Roman"/>
                <a:cs typeface="Times New Roman"/>
              </a:rPr>
              <a:t> </a:t>
            </a:r>
            <a:r>
              <a:rPr sz="3700" dirty="0">
                <a:latin typeface="Times New Roman"/>
                <a:cs typeface="Times New Roman"/>
              </a:rPr>
              <a:t>length</a:t>
            </a:r>
            <a:r>
              <a:rPr sz="3700" spc="-40" dirty="0">
                <a:latin typeface="Times New Roman"/>
                <a:cs typeface="Times New Roman"/>
              </a:rPr>
              <a:t> </a:t>
            </a:r>
            <a:r>
              <a:rPr sz="3700" dirty="0">
                <a:latin typeface="Times New Roman"/>
                <a:cs typeface="Times New Roman"/>
              </a:rPr>
              <a:t>is</a:t>
            </a:r>
            <a:r>
              <a:rPr sz="3700" spc="-45" dirty="0">
                <a:latin typeface="Times New Roman"/>
                <a:cs typeface="Times New Roman"/>
              </a:rPr>
              <a:t> </a:t>
            </a:r>
            <a:r>
              <a:rPr sz="3700" dirty="0">
                <a:latin typeface="Times New Roman"/>
                <a:cs typeface="Times New Roman"/>
              </a:rPr>
              <a:t>10</a:t>
            </a:r>
            <a:r>
              <a:rPr sz="3700" spc="-35" dirty="0">
                <a:latin typeface="Times New Roman"/>
                <a:cs typeface="Times New Roman"/>
              </a:rPr>
              <a:t> </a:t>
            </a:r>
            <a:r>
              <a:rPr sz="3700" dirty="0">
                <a:latin typeface="Times New Roman"/>
                <a:cs typeface="Times New Roman"/>
              </a:rPr>
              <a:t>which</a:t>
            </a:r>
            <a:r>
              <a:rPr sz="3700" spc="-20" dirty="0">
                <a:latin typeface="Times New Roman"/>
                <a:cs typeface="Times New Roman"/>
              </a:rPr>
              <a:t> </a:t>
            </a:r>
            <a:r>
              <a:rPr sz="3700" dirty="0">
                <a:latin typeface="Times New Roman"/>
                <a:cs typeface="Times New Roman"/>
              </a:rPr>
              <a:t>means</a:t>
            </a:r>
            <a:r>
              <a:rPr sz="3700" spc="-45" dirty="0">
                <a:latin typeface="Times New Roman"/>
                <a:cs typeface="Times New Roman"/>
              </a:rPr>
              <a:t> </a:t>
            </a:r>
            <a:r>
              <a:rPr sz="3700" dirty="0">
                <a:latin typeface="Times New Roman"/>
                <a:cs typeface="Times New Roman"/>
              </a:rPr>
              <a:t>it</a:t>
            </a:r>
            <a:r>
              <a:rPr sz="3700" spc="-45" dirty="0">
                <a:latin typeface="Times New Roman"/>
                <a:cs typeface="Times New Roman"/>
              </a:rPr>
              <a:t> </a:t>
            </a:r>
            <a:r>
              <a:rPr sz="3700" dirty="0">
                <a:latin typeface="Times New Roman"/>
                <a:cs typeface="Times New Roman"/>
              </a:rPr>
              <a:t>can</a:t>
            </a:r>
            <a:r>
              <a:rPr sz="3700" spc="-45" dirty="0">
                <a:latin typeface="Times New Roman"/>
                <a:cs typeface="Times New Roman"/>
              </a:rPr>
              <a:t> </a:t>
            </a:r>
            <a:r>
              <a:rPr sz="3700" dirty="0">
                <a:latin typeface="Times New Roman"/>
                <a:cs typeface="Times New Roman"/>
              </a:rPr>
              <a:t>store</a:t>
            </a:r>
            <a:r>
              <a:rPr sz="3700" spc="-35" dirty="0">
                <a:latin typeface="Times New Roman"/>
                <a:cs typeface="Times New Roman"/>
              </a:rPr>
              <a:t> </a:t>
            </a:r>
            <a:r>
              <a:rPr sz="3700" dirty="0">
                <a:latin typeface="Times New Roman"/>
                <a:cs typeface="Times New Roman"/>
              </a:rPr>
              <a:t>10</a:t>
            </a:r>
            <a:r>
              <a:rPr sz="3700" spc="-20" dirty="0">
                <a:latin typeface="Times New Roman"/>
                <a:cs typeface="Times New Roman"/>
              </a:rPr>
              <a:t> </a:t>
            </a:r>
            <a:r>
              <a:rPr sz="3700" spc="-10" dirty="0">
                <a:latin typeface="Times New Roman"/>
                <a:cs typeface="Times New Roman"/>
              </a:rPr>
              <a:t>elements.</a:t>
            </a:r>
            <a:endParaRPr sz="3700">
              <a:latin typeface="Times New Roman"/>
              <a:cs typeface="Times New Roman"/>
            </a:endParaRPr>
          </a:p>
          <a:p>
            <a:pPr marL="500380" marR="6350" indent="-487680">
              <a:lnSpc>
                <a:spcPts val="4000"/>
              </a:lnSpc>
              <a:spcBef>
                <a:spcPts val="940"/>
              </a:spcBef>
              <a:buFont typeface="Arial MT"/>
              <a:buChar char="•"/>
              <a:tabLst>
                <a:tab pos="500380" algn="l"/>
              </a:tabLst>
            </a:pPr>
            <a:r>
              <a:rPr sz="3700" dirty="0">
                <a:latin typeface="Times New Roman"/>
                <a:cs typeface="Times New Roman"/>
              </a:rPr>
              <a:t>Each</a:t>
            </a:r>
            <a:r>
              <a:rPr sz="3700" spc="185" dirty="0">
                <a:latin typeface="Times New Roman"/>
                <a:cs typeface="Times New Roman"/>
              </a:rPr>
              <a:t> </a:t>
            </a:r>
            <a:r>
              <a:rPr sz="3700" dirty="0">
                <a:latin typeface="Times New Roman"/>
                <a:cs typeface="Times New Roman"/>
              </a:rPr>
              <a:t>element</a:t>
            </a:r>
            <a:r>
              <a:rPr sz="3700" spc="170" dirty="0">
                <a:latin typeface="Times New Roman"/>
                <a:cs typeface="Times New Roman"/>
              </a:rPr>
              <a:t> </a:t>
            </a:r>
            <a:r>
              <a:rPr sz="3700" dirty="0">
                <a:latin typeface="Times New Roman"/>
                <a:cs typeface="Times New Roman"/>
              </a:rPr>
              <a:t>can</a:t>
            </a:r>
            <a:r>
              <a:rPr sz="3700" spc="180" dirty="0">
                <a:latin typeface="Times New Roman"/>
                <a:cs typeface="Times New Roman"/>
              </a:rPr>
              <a:t> </a:t>
            </a:r>
            <a:r>
              <a:rPr sz="3700" dirty="0">
                <a:latin typeface="Times New Roman"/>
                <a:cs typeface="Times New Roman"/>
              </a:rPr>
              <a:t>be</a:t>
            </a:r>
            <a:r>
              <a:rPr sz="3700" spc="180" dirty="0">
                <a:latin typeface="Times New Roman"/>
                <a:cs typeface="Times New Roman"/>
              </a:rPr>
              <a:t> </a:t>
            </a:r>
            <a:r>
              <a:rPr sz="3700" dirty="0">
                <a:latin typeface="Times New Roman"/>
                <a:cs typeface="Times New Roman"/>
              </a:rPr>
              <a:t>accessed</a:t>
            </a:r>
            <a:r>
              <a:rPr sz="3700" spc="175" dirty="0">
                <a:latin typeface="Times New Roman"/>
                <a:cs typeface="Times New Roman"/>
              </a:rPr>
              <a:t> </a:t>
            </a:r>
            <a:r>
              <a:rPr sz="3700" dirty="0">
                <a:latin typeface="Times New Roman"/>
                <a:cs typeface="Times New Roman"/>
              </a:rPr>
              <a:t>via</a:t>
            </a:r>
            <a:r>
              <a:rPr sz="3700" spc="180" dirty="0">
                <a:latin typeface="Times New Roman"/>
                <a:cs typeface="Times New Roman"/>
              </a:rPr>
              <a:t> </a:t>
            </a:r>
            <a:r>
              <a:rPr sz="3700" dirty="0">
                <a:latin typeface="Times New Roman"/>
                <a:cs typeface="Times New Roman"/>
              </a:rPr>
              <a:t>its</a:t>
            </a:r>
            <a:r>
              <a:rPr sz="3700" spc="155" dirty="0">
                <a:latin typeface="Times New Roman"/>
                <a:cs typeface="Times New Roman"/>
              </a:rPr>
              <a:t> </a:t>
            </a:r>
            <a:r>
              <a:rPr sz="3700" dirty="0">
                <a:latin typeface="Times New Roman"/>
                <a:cs typeface="Times New Roman"/>
              </a:rPr>
              <a:t>index.</a:t>
            </a:r>
            <a:r>
              <a:rPr sz="3700" spc="165" dirty="0">
                <a:latin typeface="Times New Roman"/>
                <a:cs typeface="Times New Roman"/>
              </a:rPr>
              <a:t> </a:t>
            </a:r>
            <a:r>
              <a:rPr sz="3700" dirty="0">
                <a:latin typeface="Times New Roman"/>
                <a:cs typeface="Times New Roman"/>
              </a:rPr>
              <a:t>For</a:t>
            </a:r>
            <a:r>
              <a:rPr sz="3700" spc="180" dirty="0">
                <a:latin typeface="Times New Roman"/>
                <a:cs typeface="Times New Roman"/>
              </a:rPr>
              <a:t> </a:t>
            </a:r>
            <a:r>
              <a:rPr sz="3700" dirty="0">
                <a:latin typeface="Times New Roman"/>
                <a:cs typeface="Times New Roman"/>
              </a:rPr>
              <a:t>example,</a:t>
            </a:r>
            <a:r>
              <a:rPr sz="3700" spc="190" dirty="0">
                <a:latin typeface="Times New Roman"/>
                <a:cs typeface="Times New Roman"/>
              </a:rPr>
              <a:t> </a:t>
            </a:r>
            <a:r>
              <a:rPr sz="3700" spc="-25" dirty="0">
                <a:latin typeface="Times New Roman"/>
                <a:cs typeface="Times New Roman"/>
              </a:rPr>
              <a:t>we </a:t>
            </a:r>
            <a:r>
              <a:rPr sz="3700" dirty="0">
                <a:latin typeface="Times New Roman"/>
                <a:cs typeface="Times New Roman"/>
              </a:rPr>
              <a:t>can</a:t>
            </a:r>
            <a:r>
              <a:rPr sz="3700" spc="-20" dirty="0">
                <a:latin typeface="Times New Roman"/>
                <a:cs typeface="Times New Roman"/>
              </a:rPr>
              <a:t> </a:t>
            </a:r>
            <a:r>
              <a:rPr sz="3700" dirty="0">
                <a:latin typeface="Times New Roman"/>
                <a:cs typeface="Times New Roman"/>
              </a:rPr>
              <a:t>fetch</a:t>
            </a:r>
            <a:r>
              <a:rPr sz="3700" spc="-15" dirty="0">
                <a:latin typeface="Times New Roman"/>
                <a:cs typeface="Times New Roman"/>
              </a:rPr>
              <a:t> </a:t>
            </a:r>
            <a:r>
              <a:rPr sz="3700" dirty="0">
                <a:latin typeface="Times New Roman"/>
                <a:cs typeface="Times New Roman"/>
              </a:rPr>
              <a:t>an</a:t>
            </a:r>
            <a:r>
              <a:rPr sz="3700" spc="-10" dirty="0">
                <a:latin typeface="Times New Roman"/>
                <a:cs typeface="Times New Roman"/>
              </a:rPr>
              <a:t> </a:t>
            </a:r>
            <a:r>
              <a:rPr sz="3700" dirty="0">
                <a:latin typeface="Times New Roman"/>
                <a:cs typeface="Times New Roman"/>
              </a:rPr>
              <a:t>element</a:t>
            </a:r>
            <a:r>
              <a:rPr sz="3700" spc="-25" dirty="0">
                <a:latin typeface="Times New Roman"/>
                <a:cs typeface="Times New Roman"/>
              </a:rPr>
              <a:t> </a:t>
            </a:r>
            <a:r>
              <a:rPr sz="3700" dirty="0">
                <a:latin typeface="Times New Roman"/>
                <a:cs typeface="Times New Roman"/>
              </a:rPr>
              <a:t>at</a:t>
            </a:r>
            <a:r>
              <a:rPr sz="3700" spc="-15" dirty="0">
                <a:latin typeface="Times New Roman"/>
                <a:cs typeface="Times New Roman"/>
              </a:rPr>
              <a:t> </a:t>
            </a:r>
            <a:r>
              <a:rPr sz="3700" dirty="0">
                <a:latin typeface="Times New Roman"/>
                <a:cs typeface="Times New Roman"/>
              </a:rPr>
              <a:t>index</a:t>
            </a:r>
            <a:r>
              <a:rPr sz="3700" spc="-15" dirty="0">
                <a:latin typeface="Times New Roman"/>
                <a:cs typeface="Times New Roman"/>
              </a:rPr>
              <a:t> </a:t>
            </a:r>
            <a:r>
              <a:rPr sz="3700" dirty="0">
                <a:latin typeface="Times New Roman"/>
                <a:cs typeface="Times New Roman"/>
              </a:rPr>
              <a:t>6</a:t>
            </a:r>
            <a:r>
              <a:rPr sz="3700" spc="-5" dirty="0">
                <a:latin typeface="Times New Roman"/>
                <a:cs typeface="Times New Roman"/>
              </a:rPr>
              <a:t> </a:t>
            </a:r>
            <a:r>
              <a:rPr sz="3700" dirty="0">
                <a:latin typeface="Times New Roman"/>
                <a:cs typeface="Times New Roman"/>
              </a:rPr>
              <a:t>as</a:t>
            </a:r>
            <a:r>
              <a:rPr sz="3700" spc="-5" dirty="0">
                <a:latin typeface="Times New Roman"/>
                <a:cs typeface="Times New Roman"/>
              </a:rPr>
              <a:t> </a:t>
            </a:r>
            <a:r>
              <a:rPr sz="3700" spc="-25" dirty="0">
                <a:latin typeface="Times New Roman"/>
                <a:cs typeface="Times New Roman"/>
              </a:rPr>
              <a:t>9.</a:t>
            </a:r>
            <a:endParaRPr sz="3700">
              <a:latin typeface="Times New Roman"/>
              <a:cs typeface="Times New Roman"/>
            </a:endParaRPr>
          </a:p>
          <a:p>
            <a:pPr marL="499745" indent="-487045">
              <a:lnSpc>
                <a:spcPct val="100000"/>
              </a:lnSpc>
              <a:spcBef>
                <a:spcPts val="385"/>
              </a:spcBef>
              <a:buFont typeface="Arial MT"/>
              <a:buChar char="•"/>
              <a:tabLst>
                <a:tab pos="499745" algn="l"/>
              </a:tabLst>
            </a:pPr>
            <a:r>
              <a:rPr sz="3700" dirty="0">
                <a:latin typeface="Times New Roman"/>
                <a:cs typeface="Times New Roman"/>
              </a:rPr>
              <a:t>Basic</a:t>
            </a:r>
            <a:r>
              <a:rPr sz="3700" spc="-15" dirty="0">
                <a:latin typeface="Times New Roman"/>
                <a:cs typeface="Times New Roman"/>
              </a:rPr>
              <a:t> </a:t>
            </a:r>
            <a:r>
              <a:rPr sz="3700" spc="-10" dirty="0">
                <a:latin typeface="Times New Roman"/>
                <a:cs typeface="Times New Roman"/>
              </a:rPr>
              <a:t>Operations</a:t>
            </a:r>
            <a:endParaRPr sz="3700">
              <a:latin typeface="Times New Roman"/>
              <a:cs typeface="Times New Roman"/>
            </a:endParaRPr>
          </a:p>
          <a:p>
            <a:pPr marL="499745" indent="-487045">
              <a:lnSpc>
                <a:spcPct val="100000"/>
              </a:lnSpc>
              <a:spcBef>
                <a:spcPts val="445"/>
              </a:spcBef>
              <a:buFont typeface="Arial MT"/>
              <a:buChar char="•"/>
              <a:tabLst>
                <a:tab pos="499745" algn="l"/>
              </a:tabLst>
            </a:pPr>
            <a:r>
              <a:rPr sz="3700" dirty="0">
                <a:latin typeface="Times New Roman"/>
                <a:cs typeface="Times New Roman"/>
              </a:rPr>
              <a:t>Following</a:t>
            </a:r>
            <a:r>
              <a:rPr sz="3700" spc="-60" dirty="0">
                <a:latin typeface="Times New Roman"/>
                <a:cs typeface="Times New Roman"/>
              </a:rPr>
              <a:t> </a:t>
            </a:r>
            <a:r>
              <a:rPr sz="3700" dirty="0">
                <a:latin typeface="Times New Roman"/>
                <a:cs typeface="Times New Roman"/>
              </a:rPr>
              <a:t>are</a:t>
            </a:r>
            <a:r>
              <a:rPr sz="3700" spc="-80" dirty="0">
                <a:latin typeface="Times New Roman"/>
                <a:cs typeface="Times New Roman"/>
              </a:rPr>
              <a:t> </a:t>
            </a:r>
            <a:r>
              <a:rPr sz="3700" dirty="0">
                <a:latin typeface="Times New Roman"/>
                <a:cs typeface="Times New Roman"/>
              </a:rPr>
              <a:t>the</a:t>
            </a:r>
            <a:r>
              <a:rPr sz="3700" spc="-75" dirty="0">
                <a:latin typeface="Times New Roman"/>
                <a:cs typeface="Times New Roman"/>
              </a:rPr>
              <a:t> </a:t>
            </a:r>
            <a:r>
              <a:rPr sz="3700" b="1" dirty="0">
                <a:latin typeface="Times New Roman"/>
                <a:cs typeface="Times New Roman"/>
              </a:rPr>
              <a:t>basic</a:t>
            </a:r>
            <a:r>
              <a:rPr sz="3700" b="1" spc="-70" dirty="0">
                <a:latin typeface="Times New Roman"/>
                <a:cs typeface="Times New Roman"/>
              </a:rPr>
              <a:t> </a:t>
            </a:r>
            <a:r>
              <a:rPr sz="3700" b="1" dirty="0">
                <a:latin typeface="Times New Roman"/>
                <a:cs typeface="Times New Roman"/>
              </a:rPr>
              <a:t>operations</a:t>
            </a:r>
            <a:r>
              <a:rPr sz="3700" b="1" spc="-65" dirty="0">
                <a:latin typeface="Times New Roman"/>
                <a:cs typeface="Times New Roman"/>
              </a:rPr>
              <a:t> </a:t>
            </a:r>
            <a:r>
              <a:rPr sz="3700" dirty="0">
                <a:latin typeface="Times New Roman"/>
                <a:cs typeface="Times New Roman"/>
              </a:rPr>
              <a:t>supported</a:t>
            </a:r>
            <a:r>
              <a:rPr sz="3700" spc="-70" dirty="0">
                <a:latin typeface="Times New Roman"/>
                <a:cs typeface="Times New Roman"/>
              </a:rPr>
              <a:t> </a:t>
            </a:r>
            <a:r>
              <a:rPr sz="3700" dirty="0">
                <a:latin typeface="Times New Roman"/>
                <a:cs typeface="Times New Roman"/>
              </a:rPr>
              <a:t>by</a:t>
            </a:r>
            <a:r>
              <a:rPr sz="3700" spc="-65" dirty="0">
                <a:latin typeface="Times New Roman"/>
                <a:cs typeface="Times New Roman"/>
              </a:rPr>
              <a:t> </a:t>
            </a:r>
            <a:r>
              <a:rPr sz="3700" dirty="0">
                <a:latin typeface="Times New Roman"/>
                <a:cs typeface="Times New Roman"/>
              </a:rPr>
              <a:t>an</a:t>
            </a:r>
            <a:r>
              <a:rPr sz="3700" spc="-85" dirty="0">
                <a:latin typeface="Times New Roman"/>
                <a:cs typeface="Times New Roman"/>
              </a:rPr>
              <a:t> </a:t>
            </a:r>
            <a:r>
              <a:rPr sz="3700" spc="-10" dirty="0">
                <a:latin typeface="Times New Roman"/>
                <a:cs typeface="Times New Roman"/>
              </a:rPr>
              <a:t>array.</a:t>
            </a:r>
            <a:endParaRPr sz="3700">
              <a:latin typeface="Times New Roman"/>
              <a:cs typeface="Times New Roman"/>
            </a:endParaRPr>
          </a:p>
          <a:p>
            <a:pPr marL="499745" indent="-487045">
              <a:lnSpc>
                <a:spcPct val="100000"/>
              </a:lnSpc>
              <a:spcBef>
                <a:spcPts val="445"/>
              </a:spcBef>
              <a:buFont typeface="Arial MT"/>
              <a:buChar char="•"/>
              <a:tabLst>
                <a:tab pos="499745" algn="l"/>
              </a:tabLst>
            </a:pPr>
            <a:r>
              <a:rPr sz="3700" b="1" spc="-20" dirty="0">
                <a:latin typeface="Times New Roman"/>
                <a:cs typeface="Times New Roman"/>
              </a:rPr>
              <a:t>Traverse</a:t>
            </a:r>
            <a:r>
              <a:rPr sz="3700" b="1" spc="-60" dirty="0">
                <a:latin typeface="Times New Roman"/>
                <a:cs typeface="Times New Roman"/>
              </a:rPr>
              <a:t> </a:t>
            </a:r>
            <a:r>
              <a:rPr sz="3700" dirty="0">
                <a:latin typeface="Times New Roman"/>
                <a:cs typeface="Times New Roman"/>
              </a:rPr>
              <a:t>−</a:t>
            </a:r>
            <a:r>
              <a:rPr sz="3700" spc="-35" dirty="0">
                <a:latin typeface="Times New Roman"/>
                <a:cs typeface="Times New Roman"/>
              </a:rPr>
              <a:t> </a:t>
            </a:r>
            <a:r>
              <a:rPr sz="3700" dirty="0">
                <a:latin typeface="Times New Roman"/>
                <a:cs typeface="Times New Roman"/>
              </a:rPr>
              <a:t>print</a:t>
            </a:r>
            <a:r>
              <a:rPr sz="3700" spc="-35" dirty="0">
                <a:latin typeface="Times New Roman"/>
                <a:cs typeface="Times New Roman"/>
              </a:rPr>
              <a:t> </a:t>
            </a:r>
            <a:r>
              <a:rPr sz="3700" dirty="0">
                <a:latin typeface="Times New Roman"/>
                <a:cs typeface="Times New Roman"/>
              </a:rPr>
              <a:t>all</a:t>
            </a:r>
            <a:r>
              <a:rPr sz="3700" spc="-50" dirty="0">
                <a:latin typeface="Times New Roman"/>
                <a:cs typeface="Times New Roman"/>
              </a:rPr>
              <a:t> </a:t>
            </a:r>
            <a:r>
              <a:rPr sz="3700" dirty="0">
                <a:latin typeface="Times New Roman"/>
                <a:cs typeface="Times New Roman"/>
              </a:rPr>
              <a:t>the</a:t>
            </a:r>
            <a:r>
              <a:rPr sz="3700" spc="-50" dirty="0">
                <a:latin typeface="Times New Roman"/>
                <a:cs typeface="Times New Roman"/>
              </a:rPr>
              <a:t> </a:t>
            </a:r>
            <a:r>
              <a:rPr sz="3700" dirty="0">
                <a:latin typeface="Times New Roman"/>
                <a:cs typeface="Times New Roman"/>
              </a:rPr>
              <a:t>array</a:t>
            </a:r>
            <a:r>
              <a:rPr sz="3700" spc="-35" dirty="0">
                <a:latin typeface="Times New Roman"/>
                <a:cs typeface="Times New Roman"/>
              </a:rPr>
              <a:t> </a:t>
            </a:r>
            <a:r>
              <a:rPr sz="3700" dirty="0">
                <a:latin typeface="Times New Roman"/>
                <a:cs typeface="Times New Roman"/>
              </a:rPr>
              <a:t>elements</a:t>
            </a:r>
            <a:r>
              <a:rPr sz="3700" spc="-40" dirty="0">
                <a:latin typeface="Times New Roman"/>
                <a:cs typeface="Times New Roman"/>
              </a:rPr>
              <a:t> </a:t>
            </a:r>
            <a:r>
              <a:rPr sz="3700" dirty="0">
                <a:latin typeface="Times New Roman"/>
                <a:cs typeface="Times New Roman"/>
              </a:rPr>
              <a:t>one</a:t>
            </a:r>
            <a:r>
              <a:rPr sz="3700" spc="-70" dirty="0">
                <a:latin typeface="Times New Roman"/>
                <a:cs typeface="Times New Roman"/>
              </a:rPr>
              <a:t> </a:t>
            </a:r>
            <a:r>
              <a:rPr sz="3700" dirty="0">
                <a:latin typeface="Times New Roman"/>
                <a:cs typeface="Times New Roman"/>
              </a:rPr>
              <a:t>by</a:t>
            </a:r>
            <a:r>
              <a:rPr sz="3700" spc="-30" dirty="0">
                <a:latin typeface="Times New Roman"/>
                <a:cs typeface="Times New Roman"/>
              </a:rPr>
              <a:t> </a:t>
            </a:r>
            <a:r>
              <a:rPr sz="3700" spc="-20" dirty="0">
                <a:latin typeface="Times New Roman"/>
                <a:cs typeface="Times New Roman"/>
              </a:rPr>
              <a:t>one.</a:t>
            </a:r>
            <a:endParaRPr sz="3700">
              <a:latin typeface="Times New Roman"/>
              <a:cs typeface="Times New Roman"/>
            </a:endParaRPr>
          </a:p>
          <a:p>
            <a:pPr marL="499745" indent="-487045">
              <a:lnSpc>
                <a:spcPct val="100000"/>
              </a:lnSpc>
              <a:spcBef>
                <a:spcPts val="445"/>
              </a:spcBef>
              <a:buFont typeface="Arial MT"/>
              <a:buChar char="•"/>
              <a:tabLst>
                <a:tab pos="499745" algn="l"/>
              </a:tabLst>
            </a:pPr>
            <a:r>
              <a:rPr sz="3700" b="1" dirty="0">
                <a:latin typeface="Times New Roman"/>
                <a:cs typeface="Times New Roman"/>
              </a:rPr>
              <a:t>Insertion</a:t>
            </a:r>
            <a:r>
              <a:rPr sz="3700" b="1" spc="-45" dirty="0">
                <a:latin typeface="Times New Roman"/>
                <a:cs typeface="Times New Roman"/>
              </a:rPr>
              <a:t> </a:t>
            </a:r>
            <a:r>
              <a:rPr sz="3700" dirty="0">
                <a:latin typeface="Times New Roman"/>
                <a:cs typeface="Times New Roman"/>
              </a:rPr>
              <a:t>−</a:t>
            </a:r>
            <a:r>
              <a:rPr sz="3700" spc="-229" dirty="0">
                <a:latin typeface="Times New Roman"/>
                <a:cs typeface="Times New Roman"/>
              </a:rPr>
              <a:t> </a:t>
            </a:r>
            <a:r>
              <a:rPr sz="3700" dirty="0">
                <a:latin typeface="Times New Roman"/>
                <a:cs typeface="Times New Roman"/>
              </a:rPr>
              <a:t>Adds</a:t>
            </a:r>
            <a:r>
              <a:rPr sz="3700" spc="-35" dirty="0">
                <a:latin typeface="Times New Roman"/>
                <a:cs typeface="Times New Roman"/>
              </a:rPr>
              <a:t> </a:t>
            </a:r>
            <a:r>
              <a:rPr sz="3700" dirty="0">
                <a:latin typeface="Times New Roman"/>
                <a:cs typeface="Times New Roman"/>
              </a:rPr>
              <a:t>an</a:t>
            </a:r>
            <a:r>
              <a:rPr sz="3700" spc="-40" dirty="0">
                <a:latin typeface="Times New Roman"/>
                <a:cs typeface="Times New Roman"/>
              </a:rPr>
              <a:t> </a:t>
            </a:r>
            <a:r>
              <a:rPr sz="3700" dirty="0">
                <a:latin typeface="Times New Roman"/>
                <a:cs typeface="Times New Roman"/>
              </a:rPr>
              <a:t>element</a:t>
            </a:r>
            <a:r>
              <a:rPr sz="3700" spc="-65" dirty="0">
                <a:latin typeface="Times New Roman"/>
                <a:cs typeface="Times New Roman"/>
              </a:rPr>
              <a:t> </a:t>
            </a:r>
            <a:r>
              <a:rPr sz="3700" dirty="0">
                <a:latin typeface="Times New Roman"/>
                <a:cs typeface="Times New Roman"/>
              </a:rPr>
              <a:t>at</a:t>
            </a:r>
            <a:r>
              <a:rPr sz="3700" spc="-45" dirty="0">
                <a:latin typeface="Times New Roman"/>
                <a:cs typeface="Times New Roman"/>
              </a:rPr>
              <a:t> </a:t>
            </a:r>
            <a:r>
              <a:rPr sz="3700" dirty="0">
                <a:latin typeface="Times New Roman"/>
                <a:cs typeface="Times New Roman"/>
              </a:rPr>
              <a:t>the</a:t>
            </a:r>
            <a:r>
              <a:rPr sz="3700" spc="-45" dirty="0">
                <a:latin typeface="Times New Roman"/>
                <a:cs typeface="Times New Roman"/>
              </a:rPr>
              <a:t> </a:t>
            </a:r>
            <a:r>
              <a:rPr sz="3700" dirty="0">
                <a:latin typeface="Times New Roman"/>
                <a:cs typeface="Times New Roman"/>
              </a:rPr>
              <a:t>given</a:t>
            </a:r>
            <a:r>
              <a:rPr sz="3700" spc="-35" dirty="0">
                <a:latin typeface="Times New Roman"/>
                <a:cs typeface="Times New Roman"/>
              </a:rPr>
              <a:t> </a:t>
            </a:r>
            <a:r>
              <a:rPr sz="3700" spc="-10" dirty="0">
                <a:latin typeface="Times New Roman"/>
                <a:cs typeface="Times New Roman"/>
              </a:rPr>
              <a:t>index.</a:t>
            </a:r>
            <a:endParaRPr sz="3700">
              <a:latin typeface="Times New Roman"/>
              <a:cs typeface="Times New Roman"/>
            </a:endParaRPr>
          </a:p>
          <a:p>
            <a:pPr marL="499745" indent="-487045">
              <a:lnSpc>
                <a:spcPct val="100000"/>
              </a:lnSpc>
              <a:spcBef>
                <a:spcPts val="445"/>
              </a:spcBef>
              <a:buFont typeface="Arial MT"/>
              <a:buChar char="•"/>
              <a:tabLst>
                <a:tab pos="499745" algn="l"/>
              </a:tabLst>
            </a:pPr>
            <a:r>
              <a:rPr sz="3700" b="1" dirty="0">
                <a:latin typeface="Times New Roman"/>
                <a:cs typeface="Times New Roman"/>
              </a:rPr>
              <a:t>Deletion</a:t>
            </a:r>
            <a:r>
              <a:rPr sz="3700" b="1" spc="-25" dirty="0">
                <a:latin typeface="Times New Roman"/>
                <a:cs typeface="Times New Roman"/>
              </a:rPr>
              <a:t> </a:t>
            </a:r>
            <a:r>
              <a:rPr sz="3700" dirty="0">
                <a:latin typeface="Times New Roman"/>
                <a:cs typeface="Times New Roman"/>
              </a:rPr>
              <a:t>−</a:t>
            </a:r>
            <a:r>
              <a:rPr sz="3700" spc="-25" dirty="0">
                <a:latin typeface="Times New Roman"/>
                <a:cs typeface="Times New Roman"/>
              </a:rPr>
              <a:t> </a:t>
            </a:r>
            <a:r>
              <a:rPr sz="3700" dirty="0">
                <a:latin typeface="Times New Roman"/>
                <a:cs typeface="Times New Roman"/>
              </a:rPr>
              <a:t>Deletes</a:t>
            </a:r>
            <a:r>
              <a:rPr sz="3700" spc="-45" dirty="0">
                <a:latin typeface="Times New Roman"/>
                <a:cs typeface="Times New Roman"/>
              </a:rPr>
              <a:t> </a:t>
            </a:r>
            <a:r>
              <a:rPr sz="3700" dirty="0">
                <a:latin typeface="Times New Roman"/>
                <a:cs typeface="Times New Roman"/>
              </a:rPr>
              <a:t>an</a:t>
            </a:r>
            <a:r>
              <a:rPr sz="3700" spc="-35" dirty="0">
                <a:latin typeface="Times New Roman"/>
                <a:cs typeface="Times New Roman"/>
              </a:rPr>
              <a:t> </a:t>
            </a:r>
            <a:r>
              <a:rPr sz="3700" dirty="0">
                <a:latin typeface="Times New Roman"/>
                <a:cs typeface="Times New Roman"/>
              </a:rPr>
              <a:t>element</a:t>
            </a:r>
            <a:r>
              <a:rPr sz="3700" spc="-50" dirty="0">
                <a:latin typeface="Times New Roman"/>
                <a:cs typeface="Times New Roman"/>
              </a:rPr>
              <a:t> </a:t>
            </a:r>
            <a:r>
              <a:rPr sz="3700" dirty="0">
                <a:latin typeface="Times New Roman"/>
                <a:cs typeface="Times New Roman"/>
              </a:rPr>
              <a:t>at</a:t>
            </a:r>
            <a:r>
              <a:rPr sz="3700" spc="-35" dirty="0">
                <a:latin typeface="Times New Roman"/>
                <a:cs typeface="Times New Roman"/>
              </a:rPr>
              <a:t> </a:t>
            </a:r>
            <a:r>
              <a:rPr sz="3700" dirty="0">
                <a:latin typeface="Times New Roman"/>
                <a:cs typeface="Times New Roman"/>
              </a:rPr>
              <a:t>the</a:t>
            </a:r>
            <a:r>
              <a:rPr sz="3700" spc="-30" dirty="0">
                <a:latin typeface="Times New Roman"/>
                <a:cs typeface="Times New Roman"/>
              </a:rPr>
              <a:t> </a:t>
            </a:r>
            <a:r>
              <a:rPr sz="3700" dirty="0">
                <a:latin typeface="Times New Roman"/>
                <a:cs typeface="Times New Roman"/>
              </a:rPr>
              <a:t>given</a:t>
            </a:r>
            <a:r>
              <a:rPr sz="3700" spc="-30" dirty="0">
                <a:latin typeface="Times New Roman"/>
                <a:cs typeface="Times New Roman"/>
              </a:rPr>
              <a:t> </a:t>
            </a:r>
            <a:r>
              <a:rPr sz="3700" spc="-10" dirty="0">
                <a:latin typeface="Times New Roman"/>
                <a:cs typeface="Times New Roman"/>
              </a:rPr>
              <a:t>index.</a:t>
            </a:r>
            <a:endParaRPr sz="3700">
              <a:latin typeface="Times New Roman"/>
              <a:cs typeface="Times New Roman"/>
            </a:endParaRPr>
          </a:p>
          <a:p>
            <a:pPr marL="500380" marR="5080" indent="-487680">
              <a:lnSpc>
                <a:spcPts val="4000"/>
              </a:lnSpc>
              <a:spcBef>
                <a:spcPts val="944"/>
              </a:spcBef>
              <a:buFont typeface="Arial MT"/>
              <a:buChar char="•"/>
              <a:tabLst>
                <a:tab pos="500380" algn="l"/>
              </a:tabLst>
            </a:pPr>
            <a:r>
              <a:rPr sz="3700" b="1" dirty="0">
                <a:latin typeface="Times New Roman"/>
                <a:cs typeface="Times New Roman"/>
              </a:rPr>
              <a:t>Search</a:t>
            </a:r>
            <a:r>
              <a:rPr sz="3700" b="1" spc="10" dirty="0">
                <a:latin typeface="Times New Roman"/>
                <a:cs typeface="Times New Roman"/>
              </a:rPr>
              <a:t> </a:t>
            </a:r>
            <a:r>
              <a:rPr sz="3700" dirty="0">
                <a:latin typeface="Times New Roman"/>
                <a:cs typeface="Times New Roman"/>
              </a:rPr>
              <a:t>−</a:t>
            </a:r>
            <a:r>
              <a:rPr sz="3700" spc="5" dirty="0">
                <a:latin typeface="Times New Roman"/>
                <a:cs typeface="Times New Roman"/>
              </a:rPr>
              <a:t> </a:t>
            </a:r>
            <a:r>
              <a:rPr sz="3700" dirty="0">
                <a:latin typeface="Times New Roman"/>
                <a:cs typeface="Times New Roman"/>
              </a:rPr>
              <a:t>Searches an element using</a:t>
            </a:r>
            <a:r>
              <a:rPr sz="3700" spc="5" dirty="0">
                <a:latin typeface="Times New Roman"/>
                <a:cs typeface="Times New Roman"/>
              </a:rPr>
              <a:t> </a:t>
            </a:r>
            <a:r>
              <a:rPr sz="3700" dirty="0">
                <a:latin typeface="Times New Roman"/>
                <a:cs typeface="Times New Roman"/>
              </a:rPr>
              <a:t>the</a:t>
            </a:r>
            <a:r>
              <a:rPr sz="3700" spc="-5" dirty="0">
                <a:latin typeface="Times New Roman"/>
                <a:cs typeface="Times New Roman"/>
              </a:rPr>
              <a:t> </a:t>
            </a:r>
            <a:r>
              <a:rPr sz="3700" dirty="0">
                <a:latin typeface="Times New Roman"/>
                <a:cs typeface="Times New Roman"/>
              </a:rPr>
              <a:t>given</a:t>
            </a:r>
            <a:r>
              <a:rPr sz="3700" spc="-10" dirty="0">
                <a:latin typeface="Times New Roman"/>
                <a:cs typeface="Times New Roman"/>
              </a:rPr>
              <a:t> </a:t>
            </a:r>
            <a:r>
              <a:rPr sz="3700" dirty="0">
                <a:latin typeface="Times New Roman"/>
                <a:cs typeface="Times New Roman"/>
              </a:rPr>
              <a:t>index</a:t>
            </a:r>
            <a:r>
              <a:rPr sz="3700" spc="5" dirty="0">
                <a:latin typeface="Times New Roman"/>
                <a:cs typeface="Times New Roman"/>
              </a:rPr>
              <a:t> </a:t>
            </a:r>
            <a:r>
              <a:rPr sz="3700" dirty="0">
                <a:latin typeface="Times New Roman"/>
                <a:cs typeface="Times New Roman"/>
              </a:rPr>
              <a:t>or by </a:t>
            </a:r>
            <a:r>
              <a:rPr sz="3700" spc="-25" dirty="0">
                <a:latin typeface="Times New Roman"/>
                <a:cs typeface="Times New Roman"/>
              </a:rPr>
              <a:t>the </a:t>
            </a:r>
            <a:r>
              <a:rPr sz="3700" spc="-10" dirty="0">
                <a:latin typeface="Times New Roman"/>
                <a:cs typeface="Times New Roman"/>
              </a:rPr>
              <a:t>value.</a:t>
            </a:r>
            <a:endParaRPr sz="3700">
              <a:latin typeface="Times New Roman"/>
              <a:cs typeface="Times New Roman"/>
            </a:endParaRPr>
          </a:p>
          <a:p>
            <a:pPr marL="499745" indent="-487045">
              <a:lnSpc>
                <a:spcPct val="100000"/>
              </a:lnSpc>
              <a:spcBef>
                <a:spcPts val="380"/>
              </a:spcBef>
              <a:buFont typeface="Arial MT"/>
              <a:buChar char="•"/>
              <a:tabLst>
                <a:tab pos="499745" algn="l"/>
              </a:tabLst>
            </a:pPr>
            <a:r>
              <a:rPr sz="3700" b="1" dirty="0">
                <a:latin typeface="Times New Roman"/>
                <a:cs typeface="Times New Roman"/>
              </a:rPr>
              <a:t>Update</a:t>
            </a:r>
            <a:r>
              <a:rPr sz="3700" b="1" spc="-15" dirty="0">
                <a:latin typeface="Times New Roman"/>
                <a:cs typeface="Times New Roman"/>
              </a:rPr>
              <a:t> </a:t>
            </a:r>
            <a:r>
              <a:rPr sz="3700" dirty="0">
                <a:latin typeface="Times New Roman"/>
                <a:cs typeface="Times New Roman"/>
              </a:rPr>
              <a:t>−</a:t>
            </a:r>
            <a:r>
              <a:rPr sz="3700" spc="-40" dirty="0">
                <a:latin typeface="Times New Roman"/>
                <a:cs typeface="Times New Roman"/>
              </a:rPr>
              <a:t> </a:t>
            </a:r>
            <a:r>
              <a:rPr sz="3700" dirty="0">
                <a:latin typeface="Times New Roman"/>
                <a:cs typeface="Times New Roman"/>
              </a:rPr>
              <a:t>Updates</a:t>
            </a:r>
            <a:r>
              <a:rPr sz="3700" spc="-50" dirty="0">
                <a:latin typeface="Times New Roman"/>
                <a:cs typeface="Times New Roman"/>
              </a:rPr>
              <a:t> </a:t>
            </a:r>
            <a:r>
              <a:rPr sz="3700" dirty="0">
                <a:latin typeface="Times New Roman"/>
                <a:cs typeface="Times New Roman"/>
              </a:rPr>
              <a:t>an</a:t>
            </a:r>
            <a:r>
              <a:rPr sz="3700" spc="-45" dirty="0">
                <a:latin typeface="Times New Roman"/>
                <a:cs typeface="Times New Roman"/>
              </a:rPr>
              <a:t> </a:t>
            </a:r>
            <a:r>
              <a:rPr sz="3700" dirty="0">
                <a:latin typeface="Times New Roman"/>
                <a:cs typeface="Times New Roman"/>
              </a:rPr>
              <a:t>element</a:t>
            </a:r>
            <a:r>
              <a:rPr sz="3700" spc="-65" dirty="0">
                <a:latin typeface="Times New Roman"/>
                <a:cs typeface="Times New Roman"/>
              </a:rPr>
              <a:t> </a:t>
            </a:r>
            <a:r>
              <a:rPr sz="3700" dirty="0">
                <a:latin typeface="Times New Roman"/>
                <a:cs typeface="Times New Roman"/>
              </a:rPr>
              <a:t>at</a:t>
            </a:r>
            <a:r>
              <a:rPr sz="3700" spc="-50" dirty="0">
                <a:latin typeface="Times New Roman"/>
                <a:cs typeface="Times New Roman"/>
              </a:rPr>
              <a:t> </a:t>
            </a:r>
            <a:r>
              <a:rPr sz="3700" dirty="0">
                <a:latin typeface="Times New Roman"/>
                <a:cs typeface="Times New Roman"/>
              </a:rPr>
              <a:t>the</a:t>
            </a:r>
            <a:r>
              <a:rPr sz="3700" spc="-45" dirty="0">
                <a:latin typeface="Times New Roman"/>
                <a:cs typeface="Times New Roman"/>
              </a:rPr>
              <a:t> </a:t>
            </a:r>
            <a:r>
              <a:rPr sz="3700" dirty="0">
                <a:latin typeface="Times New Roman"/>
                <a:cs typeface="Times New Roman"/>
              </a:rPr>
              <a:t>given</a:t>
            </a:r>
            <a:r>
              <a:rPr sz="3700" spc="-45" dirty="0">
                <a:latin typeface="Times New Roman"/>
                <a:cs typeface="Times New Roman"/>
              </a:rPr>
              <a:t> </a:t>
            </a:r>
            <a:r>
              <a:rPr sz="3700" spc="-10" dirty="0">
                <a:latin typeface="Times New Roman"/>
                <a:cs typeface="Times New Roman"/>
              </a:rPr>
              <a:t>index.</a:t>
            </a:r>
            <a:endParaRPr sz="37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7587" y="2260713"/>
            <a:ext cx="6921500" cy="67329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0100"/>
              </a:lnSpc>
              <a:spcBef>
                <a:spcPts val="95"/>
              </a:spcBef>
            </a:pPr>
            <a:r>
              <a:rPr sz="4000" spc="-80" dirty="0">
                <a:latin typeface="Verdana"/>
                <a:cs typeface="Verdana"/>
              </a:rPr>
              <a:t>Representation</a:t>
            </a:r>
            <a:r>
              <a:rPr sz="4000" spc="-235" dirty="0">
                <a:latin typeface="Verdana"/>
                <a:cs typeface="Verdana"/>
              </a:rPr>
              <a:t> </a:t>
            </a:r>
            <a:r>
              <a:rPr sz="4000" spc="145" dirty="0">
                <a:latin typeface="Verdana"/>
                <a:cs typeface="Verdana"/>
              </a:rPr>
              <a:t>and</a:t>
            </a:r>
            <a:r>
              <a:rPr sz="4000" spc="-275" dirty="0">
                <a:latin typeface="Verdana"/>
                <a:cs typeface="Verdana"/>
              </a:rPr>
              <a:t> </a:t>
            </a:r>
            <a:r>
              <a:rPr sz="4000" spc="-165" dirty="0">
                <a:latin typeface="Verdana"/>
                <a:cs typeface="Verdana"/>
              </a:rPr>
              <a:t>analysis </a:t>
            </a:r>
            <a:r>
              <a:rPr sz="4000" spc="-155" dirty="0">
                <a:latin typeface="Verdana"/>
                <a:cs typeface="Verdana"/>
              </a:rPr>
              <a:t>Type</a:t>
            </a:r>
            <a:r>
              <a:rPr sz="4000" spc="-260" dirty="0">
                <a:latin typeface="Verdana"/>
                <a:cs typeface="Verdana"/>
              </a:rPr>
              <a:t> </a:t>
            </a:r>
            <a:r>
              <a:rPr sz="4000" spc="-75" dirty="0">
                <a:latin typeface="Verdana"/>
                <a:cs typeface="Verdana"/>
              </a:rPr>
              <a:t>variable_name[size]</a:t>
            </a:r>
            <a:endParaRPr sz="4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910"/>
              </a:spcBef>
            </a:pPr>
            <a:endParaRPr sz="4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4000" b="1" spc="-75" dirty="0">
                <a:solidFill>
                  <a:srgbClr val="FF0000"/>
                </a:solidFill>
                <a:latin typeface="Tahoma"/>
                <a:cs typeface="Tahoma"/>
              </a:rPr>
              <a:t>Operations</a:t>
            </a:r>
            <a:r>
              <a:rPr sz="4000" b="1" spc="-13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4000" b="1" spc="-320" dirty="0">
                <a:solidFill>
                  <a:srgbClr val="FF0000"/>
                </a:solidFill>
                <a:latin typeface="Tahoma"/>
                <a:cs typeface="Tahoma"/>
              </a:rPr>
              <a:t>with</a:t>
            </a:r>
            <a:r>
              <a:rPr sz="4000" b="1" spc="-4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4000" b="1" spc="-10" dirty="0">
                <a:solidFill>
                  <a:srgbClr val="FF0000"/>
                </a:solidFill>
                <a:latin typeface="Tahoma"/>
                <a:cs typeface="Tahoma"/>
              </a:rPr>
              <a:t>arrays:</a:t>
            </a:r>
            <a:endParaRPr sz="4000">
              <a:latin typeface="Tahoma"/>
              <a:cs typeface="Tahoma"/>
            </a:endParaRPr>
          </a:p>
          <a:p>
            <a:pPr marL="12700" marR="5259705">
              <a:lnSpc>
                <a:spcPts val="5280"/>
              </a:lnSpc>
              <a:spcBef>
                <a:spcPts val="245"/>
              </a:spcBef>
            </a:pPr>
            <a:r>
              <a:rPr sz="4000" spc="125" dirty="0">
                <a:latin typeface="Verdana"/>
                <a:cs typeface="Verdana"/>
              </a:rPr>
              <a:t>Copy </a:t>
            </a:r>
            <a:r>
              <a:rPr sz="4000" spc="-10" dirty="0">
                <a:latin typeface="Verdana"/>
                <a:cs typeface="Verdana"/>
              </a:rPr>
              <a:t>Delete</a:t>
            </a:r>
            <a:endParaRPr sz="4000">
              <a:latin typeface="Verdana"/>
              <a:cs typeface="Verdana"/>
            </a:endParaRPr>
          </a:p>
          <a:p>
            <a:pPr marL="12700" marR="5182870">
              <a:lnSpc>
                <a:spcPts val="5280"/>
              </a:lnSpc>
              <a:spcBef>
                <a:spcPts val="5"/>
              </a:spcBef>
            </a:pPr>
            <a:r>
              <a:rPr sz="4000" spc="-345" dirty="0">
                <a:latin typeface="Verdana"/>
                <a:cs typeface="Verdana"/>
              </a:rPr>
              <a:t>Insert </a:t>
            </a:r>
            <a:r>
              <a:rPr sz="4000" spc="-70" dirty="0">
                <a:latin typeface="Verdana"/>
                <a:cs typeface="Verdana"/>
              </a:rPr>
              <a:t>Search </a:t>
            </a:r>
            <a:r>
              <a:rPr sz="4000" spc="-360" dirty="0">
                <a:latin typeface="Verdana"/>
                <a:cs typeface="Verdana"/>
              </a:rPr>
              <a:t>Sort</a:t>
            </a:r>
            <a:endParaRPr sz="4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z="4000" dirty="0">
                <a:latin typeface="Verdana"/>
                <a:cs typeface="Verdana"/>
              </a:rPr>
              <a:t>Merging</a:t>
            </a:r>
            <a:r>
              <a:rPr sz="4000" spc="-305" dirty="0">
                <a:latin typeface="Verdana"/>
                <a:cs typeface="Verdana"/>
              </a:rPr>
              <a:t> </a:t>
            </a:r>
            <a:r>
              <a:rPr sz="4000" dirty="0">
                <a:latin typeface="Verdana"/>
                <a:cs typeface="Verdana"/>
              </a:rPr>
              <a:t>of</a:t>
            </a:r>
            <a:r>
              <a:rPr sz="4000" spc="-300" dirty="0">
                <a:latin typeface="Verdana"/>
                <a:cs typeface="Verdana"/>
              </a:rPr>
              <a:t> </a:t>
            </a:r>
            <a:r>
              <a:rPr sz="4000" spc="-200" dirty="0">
                <a:latin typeface="Verdana"/>
                <a:cs typeface="Verdana"/>
              </a:rPr>
              <a:t>sorting</a:t>
            </a:r>
            <a:r>
              <a:rPr sz="4000" spc="-300" dirty="0">
                <a:latin typeface="Verdana"/>
                <a:cs typeface="Verdana"/>
              </a:rPr>
              <a:t> </a:t>
            </a:r>
            <a:r>
              <a:rPr sz="4000" spc="-60" dirty="0">
                <a:latin typeface="Verdana"/>
                <a:cs typeface="Verdana"/>
              </a:rPr>
              <a:t>arrays.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09497" y="348437"/>
            <a:ext cx="10587990" cy="1245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0" dirty="0">
                <a:latin typeface="Arial"/>
                <a:cs typeface="Arial"/>
              </a:rPr>
              <a:t>Introduction</a:t>
            </a:r>
            <a:r>
              <a:rPr sz="8000" spc="160" dirty="0">
                <a:latin typeface="Arial"/>
                <a:cs typeface="Arial"/>
              </a:rPr>
              <a:t> </a:t>
            </a:r>
            <a:r>
              <a:rPr sz="8000" dirty="0">
                <a:latin typeface="Arial"/>
                <a:cs typeface="Arial"/>
              </a:rPr>
              <a:t>to</a:t>
            </a:r>
            <a:r>
              <a:rPr sz="8000" spc="145" dirty="0">
                <a:latin typeface="Arial"/>
                <a:cs typeface="Arial"/>
              </a:rPr>
              <a:t> </a:t>
            </a:r>
            <a:r>
              <a:rPr sz="8000" spc="-10" dirty="0">
                <a:latin typeface="Arial"/>
                <a:cs typeface="Arial"/>
              </a:rPr>
              <a:t>arrays</a:t>
            </a:r>
            <a:endParaRPr sz="80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51687" y="0"/>
            <a:ext cx="11917680" cy="2004060"/>
            <a:chOff x="551687" y="0"/>
            <a:chExt cx="11917680" cy="20040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1687" y="0"/>
              <a:ext cx="8374379" cy="200405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72756" y="0"/>
              <a:ext cx="2314955" cy="200405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81287" y="0"/>
              <a:ext cx="3688079" cy="200405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15644" y="-11734"/>
            <a:ext cx="10600055" cy="1245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0" spc="-10" dirty="0"/>
              <a:t>Characteristics</a:t>
            </a:r>
            <a:r>
              <a:rPr sz="8000" spc="-245" dirty="0"/>
              <a:t> </a:t>
            </a:r>
            <a:r>
              <a:rPr sz="8000" dirty="0"/>
              <a:t>of</a:t>
            </a:r>
            <a:r>
              <a:rPr sz="8000" spc="-200" dirty="0"/>
              <a:t> </a:t>
            </a:r>
            <a:r>
              <a:rPr sz="8000" spc="-20" dirty="0"/>
              <a:t>array</a:t>
            </a:r>
            <a:endParaRPr sz="8000"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12" name="object 12"/>
          <p:cNvSpPr txBox="1"/>
          <p:nvPr/>
        </p:nvSpPr>
        <p:spPr>
          <a:xfrm>
            <a:off x="12534900" y="9277849"/>
            <a:ext cx="261620" cy="241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720"/>
              </a:lnSpc>
            </a:pPr>
            <a:fld id="{81D60167-4931-47E6-BA6A-407CBD079E47}" type="slidenum">
              <a:rPr sz="1700" i="1" spc="-25" dirty="0">
                <a:solidFill>
                  <a:srgbClr val="DFDFD2"/>
                </a:solidFill>
                <a:latin typeface="Constantia"/>
                <a:cs typeface="Constantia"/>
              </a:rPr>
              <a:t>12</a:t>
            </a:fld>
            <a:endParaRPr sz="1700">
              <a:latin typeface="Constantia"/>
              <a:cs typeface="Constant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6230" y="1448180"/>
            <a:ext cx="12729210" cy="525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04495" marR="5080" indent="-394970">
              <a:lnSpc>
                <a:spcPct val="100000"/>
              </a:lnSpc>
              <a:spcBef>
                <a:spcPts val="95"/>
              </a:spcBef>
              <a:buClr>
                <a:srgbClr val="E0E1DC"/>
              </a:buClr>
              <a:buSzPct val="92500"/>
              <a:buFont typeface="Wingdings"/>
              <a:buChar char=""/>
              <a:tabLst>
                <a:tab pos="404495" algn="l"/>
                <a:tab pos="441325" algn="l"/>
              </a:tabLst>
            </a:pPr>
            <a:r>
              <a:rPr sz="4000" dirty="0">
                <a:latin typeface="Times New Roman"/>
                <a:cs typeface="Times New Roman"/>
              </a:rPr>
              <a:t>	An</a:t>
            </a:r>
            <a:r>
              <a:rPr sz="4000" spc="7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array</a:t>
            </a:r>
            <a:r>
              <a:rPr sz="4000" spc="5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is</a:t>
            </a:r>
            <a:r>
              <a:rPr sz="4000" spc="7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a</a:t>
            </a:r>
            <a:r>
              <a:rPr sz="4000" spc="9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finite</a:t>
            </a:r>
            <a:r>
              <a:rPr sz="4000" spc="9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ordered</a:t>
            </a:r>
            <a:r>
              <a:rPr sz="4000" spc="7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collection</a:t>
            </a:r>
            <a:r>
              <a:rPr sz="4000" spc="8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of</a:t>
            </a:r>
            <a:r>
              <a:rPr sz="4000" spc="7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homogeneous</a:t>
            </a:r>
            <a:r>
              <a:rPr sz="4000" spc="80" dirty="0">
                <a:latin typeface="Times New Roman"/>
                <a:cs typeface="Times New Roman"/>
              </a:rPr>
              <a:t> </a:t>
            </a:r>
            <a:r>
              <a:rPr sz="4000" spc="-20" dirty="0">
                <a:latin typeface="Times New Roman"/>
                <a:cs typeface="Times New Roman"/>
              </a:rPr>
              <a:t>data </a:t>
            </a:r>
            <a:r>
              <a:rPr sz="4000" spc="-10" dirty="0">
                <a:latin typeface="Times New Roman"/>
                <a:cs typeface="Times New Roman"/>
              </a:rPr>
              <a:t>elements.</a:t>
            </a:r>
            <a:endParaRPr sz="4000">
              <a:latin typeface="Times New Roman"/>
              <a:cs typeface="Times New Roman"/>
            </a:endParaRPr>
          </a:p>
          <a:p>
            <a:pPr marL="404495" marR="6350" indent="-394970">
              <a:lnSpc>
                <a:spcPct val="100000"/>
              </a:lnSpc>
              <a:spcBef>
                <a:spcPts val="695"/>
              </a:spcBef>
              <a:buClr>
                <a:srgbClr val="E0E1DC"/>
              </a:buClr>
              <a:buSzPct val="92500"/>
              <a:buFont typeface="Wingdings"/>
              <a:buChar char=""/>
              <a:tabLst>
                <a:tab pos="404495" algn="l"/>
                <a:tab pos="441325" algn="l"/>
                <a:tab pos="1096010" algn="l"/>
                <a:tab pos="2417445" algn="l"/>
                <a:tab pos="4769485" algn="l"/>
                <a:tab pos="6805930" algn="l"/>
                <a:tab pos="7458075" algn="l"/>
                <a:tab pos="8311515" algn="l"/>
                <a:tab pos="9159240" algn="l"/>
                <a:tab pos="10622280" algn="l"/>
                <a:tab pos="11216640" algn="l"/>
                <a:tab pos="11673840" algn="l"/>
              </a:tabLst>
            </a:pPr>
            <a:r>
              <a:rPr sz="4000" spc="-25" dirty="0">
                <a:latin typeface="Times New Roman"/>
                <a:cs typeface="Times New Roman"/>
              </a:rPr>
              <a:t>	In</a:t>
            </a:r>
            <a:r>
              <a:rPr sz="4000" dirty="0">
                <a:latin typeface="Times New Roman"/>
                <a:cs typeface="Times New Roman"/>
              </a:rPr>
              <a:t>	</a:t>
            </a:r>
            <a:r>
              <a:rPr sz="4000" spc="-10" dirty="0">
                <a:latin typeface="Times New Roman"/>
                <a:cs typeface="Times New Roman"/>
              </a:rPr>
              <a:t>array,</a:t>
            </a:r>
            <a:r>
              <a:rPr sz="4000" dirty="0">
                <a:latin typeface="Times New Roman"/>
                <a:cs typeface="Times New Roman"/>
              </a:rPr>
              <a:t>	</a:t>
            </a:r>
            <a:r>
              <a:rPr sz="4000" spc="-10" dirty="0">
                <a:latin typeface="Times New Roman"/>
                <a:cs typeface="Times New Roman"/>
              </a:rPr>
              <a:t>successive</a:t>
            </a:r>
            <a:r>
              <a:rPr sz="4000" dirty="0">
                <a:latin typeface="Times New Roman"/>
                <a:cs typeface="Times New Roman"/>
              </a:rPr>
              <a:t>	</a:t>
            </a:r>
            <a:r>
              <a:rPr sz="4000" spc="-10" dirty="0">
                <a:latin typeface="Times New Roman"/>
                <a:cs typeface="Times New Roman"/>
              </a:rPr>
              <a:t>elements</a:t>
            </a:r>
            <a:r>
              <a:rPr sz="4000" dirty="0">
                <a:latin typeface="Times New Roman"/>
                <a:cs typeface="Times New Roman"/>
              </a:rPr>
              <a:t>	</a:t>
            </a:r>
            <a:r>
              <a:rPr sz="4000" spc="-25" dirty="0">
                <a:latin typeface="Times New Roman"/>
                <a:cs typeface="Times New Roman"/>
              </a:rPr>
              <a:t>of</a:t>
            </a:r>
            <a:r>
              <a:rPr sz="4000" dirty="0">
                <a:latin typeface="Times New Roman"/>
                <a:cs typeface="Times New Roman"/>
              </a:rPr>
              <a:t>	</a:t>
            </a:r>
            <a:r>
              <a:rPr sz="4000" spc="-20" dirty="0">
                <a:latin typeface="Times New Roman"/>
                <a:cs typeface="Times New Roman"/>
              </a:rPr>
              <a:t>list</a:t>
            </a:r>
            <a:r>
              <a:rPr sz="4000" dirty="0">
                <a:latin typeface="Times New Roman"/>
                <a:cs typeface="Times New Roman"/>
              </a:rPr>
              <a:t>	</a:t>
            </a:r>
            <a:r>
              <a:rPr sz="4000" spc="-25" dirty="0">
                <a:latin typeface="Times New Roman"/>
                <a:cs typeface="Times New Roman"/>
              </a:rPr>
              <a:t>are</a:t>
            </a:r>
            <a:r>
              <a:rPr sz="4000" dirty="0">
                <a:latin typeface="Times New Roman"/>
                <a:cs typeface="Times New Roman"/>
              </a:rPr>
              <a:t>	</a:t>
            </a:r>
            <a:r>
              <a:rPr sz="4000" spc="-10" dirty="0">
                <a:latin typeface="Times New Roman"/>
                <a:cs typeface="Times New Roman"/>
              </a:rPr>
              <a:t>stored</a:t>
            </a:r>
            <a:r>
              <a:rPr sz="4000" dirty="0">
                <a:latin typeface="Times New Roman"/>
                <a:cs typeface="Times New Roman"/>
              </a:rPr>
              <a:t>	</a:t>
            </a:r>
            <a:r>
              <a:rPr sz="4000" spc="-25" dirty="0">
                <a:latin typeface="Times New Roman"/>
                <a:cs typeface="Times New Roman"/>
              </a:rPr>
              <a:t>at</a:t>
            </a:r>
            <a:r>
              <a:rPr sz="4000" dirty="0">
                <a:latin typeface="Times New Roman"/>
                <a:cs typeface="Times New Roman"/>
              </a:rPr>
              <a:t>	</a:t>
            </a:r>
            <a:r>
              <a:rPr sz="4000" spc="-50" dirty="0">
                <a:latin typeface="Times New Roman"/>
                <a:cs typeface="Times New Roman"/>
              </a:rPr>
              <a:t>a</a:t>
            </a:r>
            <a:r>
              <a:rPr sz="4000" dirty="0">
                <a:latin typeface="Times New Roman"/>
                <a:cs typeface="Times New Roman"/>
              </a:rPr>
              <a:t>	</a:t>
            </a:r>
            <a:r>
              <a:rPr sz="4000" spc="-20" dirty="0">
                <a:latin typeface="Times New Roman"/>
                <a:cs typeface="Times New Roman"/>
              </a:rPr>
              <a:t>fixed </a:t>
            </a:r>
            <a:r>
              <a:rPr sz="4000" spc="-25" dirty="0">
                <a:latin typeface="Times New Roman"/>
                <a:cs typeface="Times New Roman"/>
              </a:rPr>
              <a:t>distance</a:t>
            </a:r>
            <a:r>
              <a:rPr sz="4000" spc="-190" dirty="0">
                <a:latin typeface="Times New Roman"/>
                <a:cs typeface="Times New Roman"/>
              </a:rPr>
              <a:t> </a:t>
            </a:r>
            <a:r>
              <a:rPr sz="4000" spc="-10" dirty="0">
                <a:latin typeface="Times New Roman"/>
                <a:cs typeface="Times New Roman"/>
              </a:rPr>
              <a:t>apart.</a:t>
            </a:r>
            <a:endParaRPr sz="4000">
              <a:latin typeface="Times New Roman"/>
              <a:cs typeface="Times New Roman"/>
            </a:endParaRPr>
          </a:p>
          <a:p>
            <a:pPr marL="441959" indent="-431800">
              <a:lnSpc>
                <a:spcPct val="100000"/>
              </a:lnSpc>
              <a:spcBef>
                <a:spcPts val="710"/>
              </a:spcBef>
              <a:buClr>
                <a:srgbClr val="E0E1DC"/>
              </a:buClr>
              <a:buSzPct val="92500"/>
              <a:buFont typeface="Wingdings"/>
              <a:buChar char=""/>
              <a:tabLst>
                <a:tab pos="441959" algn="l"/>
              </a:tabLst>
            </a:pPr>
            <a:r>
              <a:rPr sz="4000" spc="-25" dirty="0">
                <a:latin typeface="Times New Roman"/>
                <a:cs typeface="Times New Roman"/>
              </a:rPr>
              <a:t>Array</a:t>
            </a:r>
            <a:r>
              <a:rPr sz="4000" spc="-17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is</a:t>
            </a:r>
            <a:r>
              <a:rPr sz="4000" spc="-18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defined</a:t>
            </a:r>
            <a:r>
              <a:rPr sz="4000" spc="-8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as</a:t>
            </a:r>
            <a:r>
              <a:rPr sz="4000" spc="-18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set</a:t>
            </a:r>
            <a:r>
              <a:rPr sz="4000" spc="-18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of</a:t>
            </a:r>
            <a:r>
              <a:rPr sz="4000" spc="-30" dirty="0">
                <a:latin typeface="Times New Roman"/>
                <a:cs typeface="Times New Roman"/>
              </a:rPr>
              <a:t> </a:t>
            </a:r>
            <a:r>
              <a:rPr sz="4000" spc="-35" dirty="0">
                <a:latin typeface="Times New Roman"/>
                <a:cs typeface="Times New Roman"/>
              </a:rPr>
              <a:t>pairs-</a:t>
            </a:r>
            <a:r>
              <a:rPr sz="4000" dirty="0">
                <a:latin typeface="Times New Roman"/>
                <a:cs typeface="Times New Roman"/>
              </a:rPr>
              <a:t>(</a:t>
            </a:r>
            <a:r>
              <a:rPr sz="4000" spc="-25" dirty="0">
                <a:latin typeface="Times New Roman"/>
                <a:cs typeface="Times New Roman"/>
              </a:rPr>
              <a:t> </a:t>
            </a:r>
            <a:r>
              <a:rPr sz="4000" spc="-10" dirty="0">
                <a:latin typeface="Times New Roman"/>
                <a:cs typeface="Times New Roman"/>
              </a:rPr>
              <a:t>index</a:t>
            </a:r>
            <a:r>
              <a:rPr sz="4000" spc="-17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and</a:t>
            </a:r>
            <a:r>
              <a:rPr sz="4000" spc="-140" dirty="0">
                <a:latin typeface="Times New Roman"/>
                <a:cs typeface="Times New Roman"/>
              </a:rPr>
              <a:t> </a:t>
            </a:r>
            <a:r>
              <a:rPr sz="4000" spc="-10" dirty="0">
                <a:latin typeface="Times New Roman"/>
                <a:cs typeface="Times New Roman"/>
              </a:rPr>
              <a:t>value).</a:t>
            </a:r>
            <a:endParaRPr sz="4000">
              <a:latin typeface="Times New Roman"/>
              <a:cs typeface="Times New Roman"/>
            </a:endParaRPr>
          </a:p>
          <a:p>
            <a:pPr marL="441959" indent="-431800">
              <a:lnSpc>
                <a:spcPct val="100000"/>
              </a:lnSpc>
              <a:spcBef>
                <a:spcPts val="700"/>
              </a:spcBef>
              <a:buClr>
                <a:srgbClr val="E0E1DC"/>
              </a:buClr>
              <a:buSzPct val="92500"/>
              <a:buFont typeface="Wingdings"/>
              <a:buChar char=""/>
              <a:tabLst>
                <a:tab pos="441959" algn="l"/>
              </a:tabLst>
            </a:pPr>
            <a:r>
              <a:rPr sz="4000" spc="-35" dirty="0">
                <a:latin typeface="Times New Roman"/>
                <a:cs typeface="Times New Roman"/>
              </a:rPr>
              <a:t>Array</a:t>
            </a:r>
            <a:r>
              <a:rPr sz="4000" spc="-22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allows</a:t>
            </a:r>
            <a:r>
              <a:rPr sz="4000" spc="-250" dirty="0">
                <a:latin typeface="Times New Roman"/>
                <a:cs typeface="Times New Roman"/>
              </a:rPr>
              <a:t> </a:t>
            </a:r>
            <a:r>
              <a:rPr sz="4000" spc="-10" dirty="0">
                <a:latin typeface="Times New Roman"/>
                <a:cs typeface="Times New Roman"/>
              </a:rPr>
              <a:t>random</a:t>
            </a:r>
            <a:r>
              <a:rPr sz="4000" spc="-240" dirty="0">
                <a:latin typeface="Times New Roman"/>
                <a:cs typeface="Times New Roman"/>
              </a:rPr>
              <a:t> </a:t>
            </a:r>
            <a:r>
              <a:rPr sz="4000" spc="-10" dirty="0">
                <a:latin typeface="Times New Roman"/>
                <a:cs typeface="Times New Roman"/>
              </a:rPr>
              <a:t>access</a:t>
            </a:r>
            <a:r>
              <a:rPr sz="4000" spc="-175" dirty="0">
                <a:latin typeface="Times New Roman"/>
                <a:cs typeface="Times New Roman"/>
              </a:rPr>
              <a:t> </a:t>
            </a:r>
            <a:r>
              <a:rPr sz="4000" spc="-10" dirty="0">
                <a:latin typeface="Times New Roman"/>
                <a:cs typeface="Times New Roman"/>
              </a:rPr>
              <a:t>to</a:t>
            </a:r>
            <a:r>
              <a:rPr sz="4000" spc="-240" dirty="0">
                <a:latin typeface="Times New Roman"/>
                <a:cs typeface="Times New Roman"/>
              </a:rPr>
              <a:t> </a:t>
            </a:r>
            <a:r>
              <a:rPr sz="4000" spc="-10" dirty="0">
                <a:latin typeface="Times New Roman"/>
                <a:cs typeface="Times New Roman"/>
              </a:rPr>
              <a:t>any</a:t>
            </a:r>
            <a:r>
              <a:rPr sz="4000" spc="-240" dirty="0">
                <a:latin typeface="Times New Roman"/>
                <a:cs typeface="Times New Roman"/>
              </a:rPr>
              <a:t> </a:t>
            </a:r>
            <a:r>
              <a:rPr sz="4000" spc="-10" dirty="0">
                <a:latin typeface="Times New Roman"/>
                <a:cs typeface="Times New Roman"/>
              </a:rPr>
              <a:t>element</a:t>
            </a:r>
            <a:endParaRPr sz="4000">
              <a:latin typeface="Times New Roman"/>
              <a:cs typeface="Times New Roman"/>
            </a:endParaRPr>
          </a:p>
          <a:p>
            <a:pPr marL="404495" marR="5715" indent="-394970">
              <a:lnSpc>
                <a:spcPct val="100000"/>
              </a:lnSpc>
              <a:spcBef>
                <a:spcPts val="695"/>
              </a:spcBef>
              <a:buClr>
                <a:srgbClr val="E0E1DC"/>
              </a:buClr>
              <a:buSzPct val="92500"/>
              <a:buFont typeface="Wingdings"/>
              <a:buChar char=""/>
              <a:tabLst>
                <a:tab pos="404495" algn="l"/>
                <a:tab pos="441325" algn="l"/>
                <a:tab pos="4385310" algn="l"/>
                <a:tab pos="5872480" algn="l"/>
                <a:tab pos="8012430" algn="l"/>
                <a:tab pos="8651240" algn="l"/>
                <a:tab pos="12321540" algn="l"/>
              </a:tabLst>
            </a:pPr>
            <a:r>
              <a:rPr sz="4000" spc="-25" dirty="0">
                <a:latin typeface="Times New Roman"/>
                <a:cs typeface="Times New Roman"/>
              </a:rPr>
              <a:t>	In</a:t>
            </a:r>
            <a:r>
              <a:rPr sz="4000" spc="-405" dirty="0">
                <a:latin typeface="Times New Roman"/>
                <a:cs typeface="Times New Roman"/>
              </a:rPr>
              <a:t> </a:t>
            </a:r>
            <a:r>
              <a:rPr sz="4000" spc="-125" dirty="0">
                <a:latin typeface="Times New Roman"/>
                <a:cs typeface="Times New Roman"/>
              </a:rPr>
              <a:t>array,</a:t>
            </a:r>
            <a:r>
              <a:rPr sz="4000" spc="-100" dirty="0">
                <a:latin typeface="Times New Roman"/>
                <a:cs typeface="Times New Roman"/>
              </a:rPr>
              <a:t> </a:t>
            </a:r>
            <a:r>
              <a:rPr sz="4000" spc="-10" dirty="0">
                <a:latin typeface="Times New Roman"/>
                <a:cs typeface="Times New Roman"/>
              </a:rPr>
              <a:t>insertion</a:t>
            </a:r>
            <a:r>
              <a:rPr sz="4000" dirty="0">
                <a:latin typeface="Times New Roman"/>
                <a:cs typeface="Times New Roman"/>
              </a:rPr>
              <a:t>	</a:t>
            </a:r>
            <a:r>
              <a:rPr sz="4000" spc="-25" dirty="0">
                <a:latin typeface="Times New Roman"/>
                <a:cs typeface="Times New Roman"/>
              </a:rPr>
              <a:t>and</a:t>
            </a:r>
            <a:r>
              <a:rPr sz="4000" dirty="0">
                <a:latin typeface="Times New Roman"/>
                <a:cs typeface="Times New Roman"/>
              </a:rPr>
              <a:t>	</a:t>
            </a:r>
            <a:r>
              <a:rPr sz="4000" spc="-10" dirty="0">
                <a:latin typeface="Times New Roman"/>
                <a:cs typeface="Times New Roman"/>
              </a:rPr>
              <a:t>deletion</a:t>
            </a:r>
            <a:r>
              <a:rPr sz="4000" dirty="0">
                <a:latin typeface="Times New Roman"/>
                <a:cs typeface="Times New Roman"/>
              </a:rPr>
              <a:t>	</a:t>
            </a:r>
            <a:r>
              <a:rPr sz="4000" spc="-25" dirty="0">
                <a:latin typeface="Times New Roman"/>
                <a:cs typeface="Times New Roman"/>
              </a:rPr>
              <a:t>of</a:t>
            </a:r>
            <a:r>
              <a:rPr sz="4000" dirty="0">
                <a:latin typeface="Times New Roman"/>
                <a:cs typeface="Times New Roman"/>
              </a:rPr>
              <a:t>	</a:t>
            </a:r>
            <a:r>
              <a:rPr sz="4000" spc="-10" dirty="0">
                <a:latin typeface="Times New Roman"/>
                <a:cs typeface="Times New Roman"/>
              </a:rPr>
              <a:t>element</a:t>
            </a:r>
            <a:r>
              <a:rPr sz="4000" dirty="0">
                <a:latin typeface="Times New Roman"/>
                <a:cs typeface="Times New Roman"/>
              </a:rPr>
              <a:t>	</a:t>
            </a:r>
            <a:r>
              <a:rPr sz="4000" spc="-25" dirty="0">
                <a:latin typeface="Times New Roman"/>
                <a:cs typeface="Times New Roman"/>
              </a:rPr>
              <a:t>in </a:t>
            </a:r>
            <a:r>
              <a:rPr sz="4000" dirty="0">
                <a:latin typeface="Times New Roman"/>
                <a:cs typeface="Times New Roman"/>
              </a:rPr>
              <a:t>between</a:t>
            </a:r>
            <a:r>
              <a:rPr sz="4000" spc="-25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positions</a:t>
            </a:r>
            <a:r>
              <a:rPr sz="4000" spc="-229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requires</a:t>
            </a:r>
            <a:r>
              <a:rPr sz="4000" spc="-200" dirty="0">
                <a:latin typeface="Times New Roman"/>
                <a:cs typeface="Times New Roman"/>
              </a:rPr>
              <a:t> </a:t>
            </a:r>
            <a:r>
              <a:rPr sz="4000" spc="-25" dirty="0">
                <a:latin typeface="Times New Roman"/>
                <a:cs typeface="Times New Roman"/>
              </a:rPr>
              <a:t>data</a:t>
            </a:r>
            <a:r>
              <a:rPr sz="4000" spc="-235" dirty="0">
                <a:latin typeface="Times New Roman"/>
                <a:cs typeface="Times New Roman"/>
              </a:rPr>
              <a:t> </a:t>
            </a:r>
            <a:r>
              <a:rPr sz="4000" spc="-10" dirty="0">
                <a:latin typeface="Times New Roman"/>
                <a:cs typeface="Times New Roman"/>
              </a:rPr>
              <a:t>movement.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86503" y="6770573"/>
            <a:ext cx="8554720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0485" marR="5080" indent="-58419">
              <a:lnSpc>
                <a:spcPct val="100000"/>
              </a:lnSpc>
              <a:spcBef>
                <a:spcPts val="95"/>
              </a:spcBef>
              <a:tabLst>
                <a:tab pos="1304925" algn="l"/>
                <a:tab pos="1501140" algn="l"/>
                <a:tab pos="2914015" algn="l"/>
                <a:tab pos="4043679" algn="l"/>
                <a:tab pos="4826635" algn="l"/>
                <a:tab pos="5702300" algn="l"/>
                <a:tab pos="6139180" algn="l"/>
                <a:tab pos="7128509" algn="l"/>
                <a:tab pos="7414895" algn="l"/>
                <a:tab pos="8063230" algn="l"/>
              </a:tabLst>
            </a:pPr>
            <a:r>
              <a:rPr sz="4000" spc="-10" dirty="0">
                <a:latin typeface="Times New Roman"/>
                <a:cs typeface="Times New Roman"/>
              </a:rPr>
              <a:t>static</a:t>
            </a:r>
            <a:r>
              <a:rPr sz="4000" dirty="0">
                <a:latin typeface="Times New Roman"/>
                <a:cs typeface="Times New Roman"/>
              </a:rPr>
              <a:t>		</a:t>
            </a:r>
            <a:r>
              <a:rPr sz="4000" spc="-10" dirty="0">
                <a:latin typeface="Times New Roman"/>
                <a:cs typeface="Times New Roman"/>
              </a:rPr>
              <a:t>allocation,</a:t>
            </a:r>
            <a:r>
              <a:rPr sz="4000" dirty="0">
                <a:latin typeface="Times New Roman"/>
                <a:cs typeface="Times New Roman"/>
              </a:rPr>
              <a:t>	</a:t>
            </a:r>
            <a:r>
              <a:rPr sz="4000" spc="-10" dirty="0">
                <a:latin typeface="Times New Roman"/>
                <a:cs typeface="Times New Roman"/>
              </a:rPr>
              <a:t>which</a:t>
            </a:r>
            <a:r>
              <a:rPr sz="4000" dirty="0">
                <a:latin typeface="Times New Roman"/>
                <a:cs typeface="Times New Roman"/>
              </a:rPr>
              <a:t>	</a:t>
            </a:r>
            <a:r>
              <a:rPr sz="4000" spc="-10" dirty="0">
                <a:latin typeface="Times New Roman"/>
                <a:cs typeface="Times New Roman"/>
              </a:rPr>
              <a:t>means</a:t>
            </a:r>
            <a:r>
              <a:rPr sz="4000" dirty="0">
                <a:latin typeface="Times New Roman"/>
                <a:cs typeface="Times New Roman"/>
              </a:rPr>
              <a:t>		</a:t>
            </a:r>
            <a:r>
              <a:rPr sz="4000" spc="-20" dirty="0">
                <a:latin typeface="Times New Roman"/>
                <a:cs typeface="Times New Roman"/>
              </a:rPr>
              <a:t>space once</a:t>
            </a:r>
            <a:r>
              <a:rPr sz="4000" dirty="0">
                <a:latin typeface="Times New Roman"/>
                <a:cs typeface="Times New Roman"/>
              </a:rPr>
              <a:t>	</a:t>
            </a:r>
            <a:r>
              <a:rPr sz="4000" spc="-10" dirty="0">
                <a:latin typeface="Times New Roman"/>
                <a:cs typeface="Times New Roman"/>
              </a:rPr>
              <a:t>during</a:t>
            </a:r>
            <a:r>
              <a:rPr sz="4000" dirty="0">
                <a:latin typeface="Times New Roman"/>
                <a:cs typeface="Times New Roman"/>
              </a:rPr>
              <a:t>	</a:t>
            </a:r>
            <a:r>
              <a:rPr sz="4000" spc="-10" dirty="0">
                <a:latin typeface="Times New Roman"/>
                <a:cs typeface="Times New Roman"/>
              </a:rPr>
              <a:t>compile</a:t>
            </a:r>
            <a:r>
              <a:rPr sz="4000" dirty="0">
                <a:latin typeface="Times New Roman"/>
                <a:cs typeface="Times New Roman"/>
              </a:rPr>
              <a:t>	</a:t>
            </a:r>
            <a:r>
              <a:rPr sz="4000" spc="-10" dirty="0">
                <a:latin typeface="Times New Roman"/>
                <a:cs typeface="Times New Roman"/>
              </a:rPr>
              <a:t>time,</a:t>
            </a:r>
            <a:r>
              <a:rPr sz="4000" dirty="0">
                <a:latin typeface="Times New Roman"/>
                <a:cs typeface="Times New Roman"/>
              </a:rPr>
              <a:t>	</a:t>
            </a:r>
            <a:r>
              <a:rPr sz="4000" spc="-25" dirty="0">
                <a:latin typeface="Times New Roman"/>
                <a:cs typeface="Times New Roman"/>
              </a:rPr>
              <a:t>can</a:t>
            </a:r>
            <a:r>
              <a:rPr sz="4000" dirty="0">
                <a:latin typeface="Times New Roman"/>
                <a:cs typeface="Times New Roman"/>
              </a:rPr>
              <a:t>	</a:t>
            </a:r>
            <a:r>
              <a:rPr sz="4000" spc="-25" dirty="0">
                <a:latin typeface="Times New Roman"/>
                <a:cs typeface="Times New Roman"/>
              </a:rPr>
              <a:t>not</a:t>
            </a:r>
            <a:r>
              <a:rPr sz="4000" dirty="0">
                <a:latin typeface="Times New Roman"/>
                <a:cs typeface="Times New Roman"/>
              </a:rPr>
              <a:t>	</a:t>
            </a:r>
            <a:r>
              <a:rPr sz="4000" spc="-25" dirty="0">
                <a:latin typeface="Times New Roman"/>
                <a:cs typeface="Times New Roman"/>
              </a:rPr>
              <a:t>be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6230" y="6770573"/>
            <a:ext cx="4037965" cy="1854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04495" marR="5080" indent="-394970">
              <a:lnSpc>
                <a:spcPct val="100000"/>
              </a:lnSpc>
              <a:spcBef>
                <a:spcPts val="95"/>
              </a:spcBef>
              <a:buClr>
                <a:srgbClr val="E0E1DC"/>
              </a:buClr>
              <a:buSzPct val="92500"/>
              <a:buFont typeface="Wingdings"/>
              <a:buChar char=""/>
              <a:tabLst>
                <a:tab pos="404495" algn="l"/>
                <a:tab pos="441325" algn="l"/>
                <a:tab pos="2030730" algn="l"/>
                <a:tab pos="2684145" algn="l"/>
              </a:tabLst>
            </a:pPr>
            <a:r>
              <a:rPr sz="4000" spc="-10" dirty="0">
                <a:latin typeface="Times New Roman"/>
                <a:cs typeface="Times New Roman"/>
              </a:rPr>
              <a:t>	Array</a:t>
            </a:r>
            <a:r>
              <a:rPr sz="4000" dirty="0">
                <a:latin typeface="Times New Roman"/>
                <a:cs typeface="Times New Roman"/>
              </a:rPr>
              <a:t>	</a:t>
            </a:r>
            <a:r>
              <a:rPr sz="4000" spc="-10" dirty="0">
                <a:latin typeface="Times New Roman"/>
                <a:cs typeface="Times New Roman"/>
              </a:rPr>
              <a:t>provides allocation</a:t>
            </a:r>
            <a:r>
              <a:rPr sz="4000" dirty="0">
                <a:latin typeface="Times New Roman"/>
                <a:cs typeface="Times New Roman"/>
              </a:rPr>
              <a:t>	</a:t>
            </a:r>
            <a:r>
              <a:rPr sz="4000" spc="-20" dirty="0">
                <a:latin typeface="Times New Roman"/>
                <a:cs typeface="Times New Roman"/>
              </a:rPr>
              <a:t>done </a:t>
            </a:r>
            <a:r>
              <a:rPr sz="4000" spc="-10" dirty="0">
                <a:latin typeface="Times New Roman"/>
                <a:cs typeface="Times New Roman"/>
              </a:rPr>
              <a:t>changed</a:t>
            </a:r>
            <a:r>
              <a:rPr sz="4000" spc="-16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run</a:t>
            </a:r>
            <a:r>
              <a:rPr sz="4000" spc="-180" dirty="0">
                <a:latin typeface="Times New Roman"/>
                <a:cs typeface="Times New Roman"/>
              </a:rPr>
              <a:t> </a:t>
            </a:r>
            <a:r>
              <a:rPr sz="4000" spc="-10" dirty="0">
                <a:latin typeface="Times New Roman"/>
                <a:cs typeface="Times New Roman"/>
              </a:rPr>
              <a:t>time.</a:t>
            </a:r>
            <a:endParaRPr sz="40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862560" cy="1487805"/>
            <a:chOff x="0" y="0"/>
            <a:chExt cx="12862560" cy="14878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4776216" cy="148742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49040" y="0"/>
              <a:ext cx="1938527" cy="148742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60391" y="0"/>
              <a:ext cx="3165348" cy="148742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798564" y="0"/>
              <a:ext cx="2653283" cy="148742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631935" y="0"/>
              <a:ext cx="4230624" cy="1487424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46659" y="-35864"/>
            <a:ext cx="1201928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25" dirty="0"/>
              <a:t>Advantage</a:t>
            </a:r>
            <a:r>
              <a:rPr sz="6000" spc="-235" dirty="0"/>
              <a:t> </a:t>
            </a:r>
            <a:r>
              <a:rPr sz="6000" dirty="0"/>
              <a:t>of</a:t>
            </a:r>
            <a:r>
              <a:rPr sz="6000" spc="-185" dirty="0"/>
              <a:t> </a:t>
            </a:r>
            <a:r>
              <a:rPr sz="6000" spc="-10" dirty="0"/>
              <a:t>Array</a:t>
            </a:r>
            <a:r>
              <a:rPr sz="6000" spc="-280" dirty="0"/>
              <a:t> </a:t>
            </a:r>
            <a:r>
              <a:rPr sz="6000" dirty="0"/>
              <a:t>Data</a:t>
            </a:r>
            <a:r>
              <a:rPr sz="6000" spc="-120" dirty="0"/>
              <a:t> </a:t>
            </a:r>
            <a:r>
              <a:rPr sz="6000" spc="-10" dirty="0"/>
              <a:t>Structure</a:t>
            </a:r>
            <a:endParaRPr sz="6000"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12" name="object 12"/>
          <p:cNvSpPr txBox="1"/>
          <p:nvPr/>
        </p:nvSpPr>
        <p:spPr>
          <a:xfrm>
            <a:off x="12534900" y="9277849"/>
            <a:ext cx="261620" cy="241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720"/>
              </a:lnSpc>
            </a:pPr>
            <a:fld id="{81D60167-4931-47E6-BA6A-407CBD079E47}" type="slidenum">
              <a:rPr sz="1700" i="1" spc="-25" dirty="0">
                <a:solidFill>
                  <a:srgbClr val="DFDFD2"/>
                </a:solidFill>
                <a:latin typeface="Constantia"/>
                <a:cs typeface="Constantia"/>
              </a:rPr>
              <a:t>13</a:t>
            </a:fld>
            <a:endParaRPr sz="1700">
              <a:latin typeface="Constantia"/>
              <a:cs typeface="Constant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1846" y="1061465"/>
            <a:ext cx="12765405" cy="82054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27685" indent="-514984">
              <a:lnSpc>
                <a:spcPct val="100000"/>
              </a:lnSpc>
              <a:spcBef>
                <a:spcPts val="95"/>
              </a:spcBef>
              <a:buSzPct val="94642"/>
              <a:buAutoNum type="arabicPeriod"/>
              <a:tabLst>
                <a:tab pos="527685" algn="l"/>
              </a:tabLst>
            </a:pP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114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</a:t>
            </a:r>
            <a:r>
              <a:rPr sz="2800" spc="-114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array,</a:t>
            </a:r>
            <a:r>
              <a:rPr sz="2800" spc="-114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accessing</a:t>
            </a:r>
            <a:r>
              <a:rPr sz="2800" spc="-1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element</a:t>
            </a:r>
            <a:r>
              <a:rPr sz="2800" spc="-1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13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very</a:t>
            </a:r>
            <a:r>
              <a:rPr sz="2800" spc="-1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easy</a:t>
            </a:r>
            <a:r>
              <a:rPr sz="2800" spc="-1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by</a:t>
            </a:r>
            <a:r>
              <a:rPr sz="2800" spc="-1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using</a:t>
            </a:r>
            <a:r>
              <a:rPr sz="2800" spc="-1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13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index</a:t>
            </a:r>
            <a:r>
              <a:rPr sz="2800" spc="-13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number.</a:t>
            </a:r>
            <a:endParaRPr sz="2800">
              <a:latin typeface="Times New Roman"/>
              <a:cs typeface="Times New Roman"/>
            </a:endParaRPr>
          </a:p>
          <a:p>
            <a:pPr marL="527685" indent="-514984">
              <a:lnSpc>
                <a:spcPct val="100000"/>
              </a:lnSpc>
              <a:spcBef>
                <a:spcPts val="2485"/>
              </a:spcBef>
              <a:buSzPct val="94642"/>
              <a:buAutoNum type="arabicPeriod"/>
              <a:tabLst>
                <a:tab pos="527685" algn="l"/>
              </a:tabLst>
            </a:pP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12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search</a:t>
            </a:r>
            <a:r>
              <a:rPr sz="2800" spc="-114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process</a:t>
            </a:r>
            <a:r>
              <a:rPr sz="2800" spc="-1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can</a:t>
            </a:r>
            <a:r>
              <a:rPr sz="2800" spc="-1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</a:t>
            </a:r>
            <a:r>
              <a:rPr sz="2800" spc="-114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applied</a:t>
            </a:r>
            <a:r>
              <a:rPr sz="2800" spc="-1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</a:t>
            </a:r>
            <a:r>
              <a:rPr sz="2800" spc="-11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array</a:t>
            </a:r>
            <a:r>
              <a:rPr sz="2800" spc="-114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easily.</a:t>
            </a:r>
            <a:endParaRPr sz="2800">
              <a:latin typeface="Times New Roman"/>
              <a:cs typeface="Times New Roman"/>
            </a:endParaRPr>
          </a:p>
          <a:p>
            <a:pPr marL="527685" indent="-514984">
              <a:lnSpc>
                <a:spcPct val="100000"/>
              </a:lnSpc>
              <a:spcBef>
                <a:spcPts val="2475"/>
              </a:spcBef>
              <a:buSzPct val="94642"/>
              <a:buAutoNum type="arabicPeriod"/>
              <a:tabLst>
                <a:tab pos="527685" algn="l"/>
              </a:tabLst>
            </a:pPr>
            <a:r>
              <a:rPr sz="2800" dirty="0">
                <a:latin typeface="Times New Roman"/>
                <a:cs typeface="Times New Roman"/>
              </a:rPr>
              <a:t>2D</a:t>
            </a:r>
            <a:r>
              <a:rPr sz="2800" spc="-1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Array</a:t>
            </a:r>
            <a:r>
              <a:rPr sz="2800" spc="-114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1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used</a:t>
            </a:r>
            <a:r>
              <a:rPr sz="2800" spc="-1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12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represent</a:t>
            </a:r>
            <a:r>
              <a:rPr sz="2800" spc="-15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matrices.</a:t>
            </a:r>
            <a:endParaRPr sz="2800">
              <a:latin typeface="Times New Roman"/>
              <a:cs typeface="Times New Roman"/>
            </a:endParaRPr>
          </a:p>
          <a:p>
            <a:pPr marL="527685" marR="6350" indent="-515620">
              <a:lnSpc>
                <a:spcPct val="150100"/>
              </a:lnSpc>
              <a:spcBef>
                <a:spcPts val="800"/>
              </a:spcBef>
              <a:buSzPct val="94642"/>
              <a:buAutoNum type="arabicPeriod"/>
              <a:tabLst>
                <a:tab pos="527685" algn="l"/>
              </a:tabLst>
            </a:pP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any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reason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user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wishes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store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multiple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values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similar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type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then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Array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can </a:t>
            </a:r>
            <a:r>
              <a:rPr sz="2800" dirty="0">
                <a:latin typeface="Times New Roman"/>
                <a:cs typeface="Times New Roman"/>
              </a:rPr>
              <a:t>be</a:t>
            </a:r>
            <a:r>
              <a:rPr sz="2800" spc="-1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used</a:t>
            </a:r>
            <a:r>
              <a:rPr sz="2800" spc="-1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12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utilized</a:t>
            </a:r>
            <a:r>
              <a:rPr sz="2800" spc="-1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efficiently.</a:t>
            </a:r>
            <a:endParaRPr sz="2800">
              <a:latin typeface="Times New Roman"/>
              <a:cs typeface="Times New Roman"/>
            </a:endParaRPr>
          </a:p>
          <a:p>
            <a:pPr marL="527685" indent="-514984">
              <a:lnSpc>
                <a:spcPct val="100000"/>
              </a:lnSpc>
              <a:spcBef>
                <a:spcPts val="2480"/>
              </a:spcBef>
              <a:buSzPct val="94642"/>
              <a:buAutoNum type="arabicPeriod"/>
              <a:tabLst>
                <a:tab pos="527685" algn="l"/>
              </a:tabLst>
            </a:pPr>
            <a:r>
              <a:rPr sz="2800" spc="-20" dirty="0">
                <a:latin typeface="Times New Roman"/>
                <a:cs typeface="Times New Roman"/>
              </a:rPr>
              <a:t>Arrays</a:t>
            </a:r>
            <a:r>
              <a:rPr sz="2800" spc="-1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have</a:t>
            </a:r>
            <a:r>
              <a:rPr sz="2800" spc="-1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low</a:t>
            </a:r>
            <a:r>
              <a:rPr sz="2800" spc="-15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overhead.</a:t>
            </a:r>
            <a:endParaRPr sz="2800">
              <a:latin typeface="Times New Roman"/>
              <a:cs typeface="Times New Roman"/>
            </a:endParaRPr>
          </a:p>
          <a:p>
            <a:pPr marL="527685" marR="9525" indent="-515620">
              <a:lnSpc>
                <a:spcPct val="150000"/>
              </a:lnSpc>
              <a:spcBef>
                <a:spcPts val="795"/>
              </a:spcBef>
              <a:buSzPct val="94642"/>
              <a:buAutoNum type="arabicPeriod"/>
              <a:tabLst>
                <a:tab pos="527685" algn="l"/>
                <a:tab pos="922655" algn="l"/>
                <a:tab pos="2280285" algn="l"/>
                <a:tab pos="2594610" algn="l"/>
                <a:tab pos="3138170" algn="l"/>
                <a:tab pos="3589654" algn="l"/>
                <a:tab pos="4769485" algn="l"/>
                <a:tab pos="6221730" algn="l"/>
                <a:tab pos="6788784" algn="l"/>
                <a:tab pos="8780780" algn="l"/>
                <a:tab pos="9873615" algn="l"/>
                <a:tab pos="10672445" algn="l"/>
                <a:tab pos="11122025" algn="l"/>
                <a:tab pos="12245340" algn="l"/>
              </a:tabLst>
            </a:pPr>
            <a:r>
              <a:rPr sz="2800" spc="-50" dirty="0">
                <a:latin typeface="Times New Roman"/>
                <a:cs typeface="Times New Roman"/>
              </a:rPr>
              <a:t>C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provides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0" dirty="0">
                <a:latin typeface="Times New Roman"/>
                <a:cs typeface="Times New Roman"/>
              </a:rPr>
              <a:t>a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5" dirty="0">
                <a:latin typeface="Times New Roman"/>
                <a:cs typeface="Times New Roman"/>
              </a:rPr>
              <a:t>set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5" dirty="0">
                <a:latin typeface="Times New Roman"/>
                <a:cs typeface="Times New Roman"/>
              </a:rPr>
              <a:t>of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45" dirty="0">
                <a:latin typeface="Times New Roman"/>
                <a:cs typeface="Times New Roman"/>
              </a:rPr>
              <a:t>built-</a:t>
            </a:r>
            <a:r>
              <a:rPr sz="2800" spc="-25" dirty="0">
                <a:latin typeface="Times New Roman"/>
                <a:cs typeface="Times New Roman"/>
              </a:rPr>
              <a:t>in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functions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5" dirty="0">
                <a:latin typeface="Times New Roman"/>
                <a:cs typeface="Times New Roman"/>
              </a:rPr>
              <a:t>for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manipulating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arrays,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0" dirty="0">
                <a:latin typeface="Times New Roman"/>
                <a:cs typeface="Times New Roman"/>
              </a:rPr>
              <a:t>such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5" dirty="0">
                <a:latin typeface="Times New Roman"/>
                <a:cs typeface="Times New Roman"/>
              </a:rPr>
              <a:t>as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sorting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45" dirty="0">
                <a:latin typeface="Times New Roman"/>
                <a:cs typeface="Times New Roman"/>
              </a:rPr>
              <a:t>and </a:t>
            </a:r>
            <a:r>
              <a:rPr sz="2800" spc="-10" dirty="0">
                <a:latin typeface="Times New Roman"/>
                <a:cs typeface="Times New Roman"/>
              </a:rPr>
              <a:t>searching.</a:t>
            </a:r>
            <a:endParaRPr sz="2800">
              <a:latin typeface="Times New Roman"/>
              <a:cs typeface="Times New Roman"/>
            </a:endParaRPr>
          </a:p>
          <a:p>
            <a:pPr marL="527685" marR="5080" indent="-515620">
              <a:lnSpc>
                <a:spcPct val="150100"/>
              </a:lnSpc>
              <a:spcBef>
                <a:spcPts val="805"/>
              </a:spcBef>
              <a:buSzPct val="94642"/>
              <a:buAutoNum type="arabicPeriod"/>
              <a:tabLst>
                <a:tab pos="527685" algn="l"/>
              </a:tabLst>
            </a:pPr>
            <a:r>
              <a:rPr sz="2800" dirty="0">
                <a:latin typeface="Times New Roman"/>
                <a:cs typeface="Times New Roman"/>
              </a:rPr>
              <a:t>C</a:t>
            </a:r>
            <a:r>
              <a:rPr sz="2800" spc="-12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supports</a:t>
            </a:r>
            <a:r>
              <a:rPr sz="2800" spc="-1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arrays</a:t>
            </a:r>
            <a:r>
              <a:rPr sz="2800" spc="-1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114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multiple</a:t>
            </a:r>
            <a:r>
              <a:rPr sz="2800" spc="-125" dirty="0">
                <a:latin typeface="Times New Roman"/>
                <a:cs typeface="Times New Roman"/>
              </a:rPr>
              <a:t> </a:t>
            </a:r>
            <a:r>
              <a:rPr sz="2800" spc="-30" dirty="0">
                <a:latin typeface="Times New Roman"/>
                <a:cs typeface="Times New Roman"/>
              </a:rPr>
              <a:t>dimensions,</a:t>
            </a:r>
            <a:r>
              <a:rPr sz="2800" spc="-13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which</a:t>
            </a:r>
            <a:r>
              <a:rPr sz="2800" spc="-1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can</a:t>
            </a:r>
            <a:r>
              <a:rPr sz="2800" spc="-1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</a:t>
            </a:r>
            <a:r>
              <a:rPr sz="2800" spc="-12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useful</a:t>
            </a:r>
            <a:r>
              <a:rPr sz="2800" spc="-114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114" dirty="0">
                <a:latin typeface="Times New Roman"/>
                <a:cs typeface="Times New Roman"/>
              </a:rPr>
              <a:t> </a:t>
            </a:r>
            <a:r>
              <a:rPr sz="2800" spc="-30" dirty="0">
                <a:latin typeface="Times New Roman"/>
                <a:cs typeface="Times New Roman"/>
              </a:rPr>
              <a:t>representing</a:t>
            </a:r>
            <a:r>
              <a:rPr sz="2800" spc="-11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complex </a:t>
            </a:r>
            <a:r>
              <a:rPr sz="2800" dirty="0">
                <a:latin typeface="Times New Roman"/>
                <a:cs typeface="Times New Roman"/>
              </a:rPr>
              <a:t>data</a:t>
            </a:r>
            <a:r>
              <a:rPr sz="2800" spc="-145" dirty="0">
                <a:latin typeface="Times New Roman"/>
                <a:cs typeface="Times New Roman"/>
              </a:rPr>
              <a:t> </a:t>
            </a:r>
            <a:r>
              <a:rPr sz="2800" spc="-30" dirty="0">
                <a:latin typeface="Times New Roman"/>
                <a:cs typeface="Times New Roman"/>
              </a:rPr>
              <a:t>structures</a:t>
            </a:r>
            <a:r>
              <a:rPr sz="2800" spc="-1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like</a:t>
            </a:r>
            <a:r>
              <a:rPr sz="2800" spc="-13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matrices.</a:t>
            </a:r>
            <a:endParaRPr sz="2800">
              <a:latin typeface="Times New Roman"/>
              <a:cs typeface="Times New Roman"/>
            </a:endParaRPr>
          </a:p>
          <a:p>
            <a:pPr marL="527685" marR="5080" indent="-515620">
              <a:lnSpc>
                <a:spcPct val="150000"/>
              </a:lnSpc>
              <a:spcBef>
                <a:spcPts val="800"/>
              </a:spcBef>
              <a:buSzPct val="94642"/>
              <a:buAutoNum type="arabicPeriod"/>
              <a:tabLst>
                <a:tab pos="527685" algn="l"/>
              </a:tabLst>
            </a:pPr>
            <a:r>
              <a:rPr sz="2800" spc="-10" dirty="0">
                <a:latin typeface="Times New Roman"/>
                <a:cs typeface="Times New Roman"/>
              </a:rPr>
              <a:t>Arrays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can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easily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converted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pointers,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which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allows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passing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arrays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functions </a:t>
            </a:r>
            <a:r>
              <a:rPr sz="2800" dirty="0">
                <a:latin typeface="Times New Roman"/>
                <a:cs typeface="Times New Roman"/>
              </a:rPr>
              <a:t>as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spc="-30" dirty="0">
                <a:latin typeface="Times New Roman"/>
                <a:cs typeface="Times New Roman"/>
              </a:rPr>
              <a:t>arguments</a:t>
            </a:r>
            <a:r>
              <a:rPr sz="2800" spc="-1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or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spc="-30" dirty="0">
                <a:latin typeface="Times New Roman"/>
                <a:cs typeface="Times New Roman"/>
              </a:rPr>
              <a:t>returning</a:t>
            </a:r>
            <a:r>
              <a:rPr sz="2800" spc="-12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arrays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from</a:t>
            </a:r>
            <a:r>
              <a:rPr sz="2800" spc="-114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functions.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862560" cy="1487805"/>
            <a:chOff x="0" y="0"/>
            <a:chExt cx="12862560" cy="1487805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4776216" cy="148742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49040" y="0"/>
              <a:ext cx="1938527" cy="148742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60391" y="0"/>
              <a:ext cx="3165348" cy="148742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798564" y="0"/>
              <a:ext cx="2653283" cy="148742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631935" y="0"/>
              <a:ext cx="4230624" cy="1487424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46659" y="-35864"/>
            <a:ext cx="1201928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25" dirty="0"/>
              <a:t>Advantage</a:t>
            </a:r>
            <a:r>
              <a:rPr sz="6000" spc="-235" dirty="0"/>
              <a:t> </a:t>
            </a:r>
            <a:r>
              <a:rPr sz="6000" dirty="0"/>
              <a:t>of</a:t>
            </a:r>
            <a:r>
              <a:rPr sz="6000" spc="-185" dirty="0"/>
              <a:t> </a:t>
            </a:r>
            <a:r>
              <a:rPr sz="6000" spc="-10" dirty="0"/>
              <a:t>Array</a:t>
            </a:r>
            <a:r>
              <a:rPr sz="6000" spc="-280" dirty="0"/>
              <a:t> </a:t>
            </a:r>
            <a:r>
              <a:rPr sz="6000" dirty="0"/>
              <a:t>Data</a:t>
            </a:r>
            <a:r>
              <a:rPr sz="6000" spc="-120" dirty="0"/>
              <a:t> </a:t>
            </a:r>
            <a:r>
              <a:rPr sz="6000" spc="-10" dirty="0"/>
              <a:t>Structure</a:t>
            </a:r>
            <a:endParaRPr sz="6000"/>
          </a:p>
        </p:txBody>
      </p:sp>
      <p:sp>
        <p:nvSpPr>
          <p:cNvPr id="9" name="object 9"/>
          <p:cNvSpPr txBox="1"/>
          <p:nvPr/>
        </p:nvSpPr>
        <p:spPr>
          <a:xfrm>
            <a:off x="91846" y="822432"/>
            <a:ext cx="12766040" cy="79406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27685" marR="5080" indent="-515620">
              <a:lnSpc>
                <a:spcPct val="150000"/>
              </a:lnSpc>
              <a:spcBef>
                <a:spcPts val="95"/>
              </a:spcBef>
              <a:buSzPct val="94444"/>
              <a:buAutoNum type="arabicPeriod"/>
              <a:tabLst>
                <a:tab pos="527685" algn="l"/>
                <a:tab pos="1753235" algn="l"/>
                <a:tab pos="2625090" algn="l"/>
                <a:tab pos="3098800" algn="l"/>
                <a:tab pos="4307840" algn="l"/>
                <a:tab pos="5581650" algn="l"/>
                <a:tab pos="6909434" algn="l"/>
                <a:tab pos="11151235" algn="l"/>
              </a:tabLst>
            </a:pPr>
            <a:r>
              <a:rPr sz="3600" spc="-10" dirty="0">
                <a:latin typeface="Times New Roman"/>
                <a:cs typeface="Times New Roman"/>
              </a:rPr>
              <a:t>Array</a:t>
            </a:r>
            <a:r>
              <a:rPr sz="3600" dirty="0">
                <a:latin typeface="Times New Roman"/>
                <a:cs typeface="Times New Roman"/>
              </a:rPr>
              <a:t>	</a:t>
            </a:r>
            <a:r>
              <a:rPr sz="3600" spc="-20" dirty="0">
                <a:latin typeface="Times New Roman"/>
                <a:cs typeface="Times New Roman"/>
              </a:rPr>
              <a:t>size</a:t>
            </a:r>
            <a:r>
              <a:rPr sz="3600" dirty="0">
                <a:latin typeface="Times New Roman"/>
                <a:cs typeface="Times New Roman"/>
              </a:rPr>
              <a:t>	</a:t>
            </a:r>
            <a:r>
              <a:rPr sz="3600" spc="-25" dirty="0">
                <a:latin typeface="Times New Roman"/>
                <a:cs typeface="Times New Roman"/>
              </a:rPr>
              <a:t>is</a:t>
            </a:r>
            <a:r>
              <a:rPr sz="3600" dirty="0">
                <a:latin typeface="Times New Roman"/>
                <a:cs typeface="Times New Roman"/>
              </a:rPr>
              <a:t>	</a:t>
            </a:r>
            <a:r>
              <a:rPr sz="3600" spc="-10" dirty="0">
                <a:latin typeface="Times New Roman"/>
                <a:cs typeface="Times New Roman"/>
              </a:rPr>
              <a:t>fixed.</a:t>
            </a:r>
            <a:r>
              <a:rPr sz="3600" dirty="0">
                <a:latin typeface="Times New Roman"/>
                <a:cs typeface="Times New Roman"/>
              </a:rPr>
              <a:t>	</a:t>
            </a:r>
            <a:r>
              <a:rPr sz="3600" spc="-10" dirty="0">
                <a:latin typeface="Times New Roman"/>
                <a:cs typeface="Times New Roman"/>
              </a:rPr>
              <a:t>which</a:t>
            </a:r>
            <a:r>
              <a:rPr sz="3600" dirty="0">
                <a:latin typeface="Times New Roman"/>
                <a:cs typeface="Times New Roman"/>
              </a:rPr>
              <a:t>	</a:t>
            </a:r>
            <a:r>
              <a:rPr sz="3600" spc="-10" dirty="0">
                <a:latin typeface="Times New Roman"/>
                <a:cs typeface="Times New Roman"/>
              </a:rPr>
              <a:t>means</a:t>
            </a:r>
            <a:r>
              <a:rPr sz="3600" dirty="0">
                <a:latin typeface="Times New Roman"/>
                <a:cs typeface="Times New Roman"/>
              </a:rPr>
              <a:t>	you</a:t>
            </a:r>
            <a:r>
              <a:rPr sz="3600" spc="31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cannot</a:t>
            </a:r>
            <a:r>
              <a:rPr sz="3600" spc="320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add/delete</a:t>
            </a:r>
            <a:r>
              <a:rPr sz="3600" dirty="0">
                <a:latin typeface="Times New Roman"/>
                <a:cs typeface="Times New Roman"/>
              </a:rPr>
              <a:t>	</a:t>
            </a:r>
            <a:r>
              <a:rPr sz="3600" spc="-35" dirty="0">
                <a:latin typeface="Times New Roman"/>
                <a:cs typeface="Times New Roman"/>
              </a:rPr>
              <a:t>elements </a:t>
            </a:r>
            <a:r>
              <a:rPr sz="3600" spc="-10" dirty="0">
                <a:latin typeface="Times New Roman"/>
                <a:cs typeface="Times New Roman"/>
              </a:rPr>
              <a:t>after</a:t>
            </a:r>
            <a:r>
              <a:rPr sz="3600" spc="-185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creation.</a:t>
            </a:r>
            <a:endParaRPr sz="3600">
              <a:latin typeface="Times New Roman"/>
              <a:cs typeface="Times New Roman"/>
            </a:endParaRPr>
          </a:p>
          <a:p>
            <a:pPr marL="527685" marR="9525" indent="-515620">
              <a:lnSpc>
                <a:spcPct val="150000"/>
              </a:lnSpc>
              <a:spcBef>
                <a:spcPts val="805"/>
              </a:spcBef>
              <a:buSzPct val="94444"/>
              <a:buAutoNum type="arabicPeriod"/>
              <a:tabLst>
                <a:tab pos="527685" algn="l"/>
              </a:tabLst>
            </a:pPr>
            <a:r>
              <a:rPr sz="3600" dirty="0">
                <a:latin typeface="Times New Roman"/>
                <a:cs typeface="Times New Roman"/>
              </a:rPr>
              <a:t>Array</a:t>
            </a:r>
            <a:r>
              <a:rPr sz="3600" spc="-6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is</a:t>
            </a:r>
            <a:r>
              <a:rPr sz="3600" spc="-65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homogenous.</a:t>
            </a:r>
            <a:r>
              <a:rPr sz="3600" spc="-7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cannot</a:t>
            </a:r>
            <a:r>
              <a:rPr sz="3600" spc="-7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store</a:t>
            </a:r>
            <a:r>
              <a:rPr sz="3600" spc="-7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values</a:t>
            </a:r>
            <a:r>
              <a:rPr sz="3600" spc="-6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of</a:t>
            </a:r>
            <a:r>
              <a:rPr sz="3600" spc="-65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different</a:t>
            </a:r>
            <a:r>
              <a:rPr sz="3600" spc="-7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data</a:t>
            </a:r>
            <a:r>
              <a:rPr sz="3600" spc="-6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types</a:t>
            </a:r>
            <a:r>
              <a:rPr sz="3600" spc="-45" dirty="0">
                <a:latin typeface="Times New Roman"/>
                <a:cs typeface="Times New Roman"/>
              </a:rPr>
              <a:t> </a:t>
            </a:r>
            <a:r>
              <a:rPr sz="3600" spc="-25" dirty="0">
                <a:latin typeface="Times New Roman"/>
                <a:cs typeface="Times New Roman"/>
              </a:rPr>
              <a:t>in </a:t>
            </a:r>
            <a:r>
              <a:rPr sz="3600" dirty="0">
                <a:latin typeface="Times New Roman"/>
                <a:cs typeface="Times New Roman"/>
              </a:rPr>
              <a:t>a</a:t>
            </a:r>
            <a:r>
              <a:rPr sz="3600" spc="-114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single</a:t>
            </a:r>
            <a:r>
              <a:rPr sz="3600" spc="-135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array.</a:t>
            </a:r>
            <a:endParaRPr sz="3600">
              <a:latin typeface="Times New Roman"/>
              <a:cs typeface="Times New Roman"/>
            </a:endParaRPr>
          </a:p>
          <a:p>
            <a:pPr marL="527685" indent="-514984">
              <a:lnSpc>
                <a:spcPct val="100000"/>
              </a:lnSpc>
              <a:spcBef>
                <a:spcPts val="2955"/>
              </a:spcBef>
              <a:buSzPct val="94444"/>
              <a:buAutoNum type="arabicPeriod"/>
              <a:tabLst>
                <a:tab pos="527685" algn="l"/>
              </a:tabLst>
            </a:pPr>
            <a:r>
              <a:rPr sz="3600" dirty="0">
                <a:latin typeface="Times New Roman"/>
                <a:cs typeface="Times New Roman"/>
              </a:rPr>
              <a:t>Array</a:t>
            </a:r>
            <a:r>
              <a:rPr sz="3600" spc="-16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is</a:t>
            </a:r>
            <a:r>
              <a:rPr sz="3600" spc="-140" dirty="0">
                <a:latin typeface="Times New Roman"/>
                <a:cs typeface="Times New Roman"/>
              </a:rPr>
              <a:t> </a:t>
            </a:r>
            <a:r>
              <a:rPr sz="3600" spc="-20" dirty="0">
                <a:latin typeface="Times New Roman"/>
                <a:cs typeface="Times New Roman"/>
              </a:rPr>
              <a:t>Contiguous</a:t>
            </a:r>
            <a:r>
              <a:rPr sz="3600" spc="-155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blocks</a:t>
            </a:r>
            <a:r>
              <a:rPr sz="3600" spc="-15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of</a:t>
            </a:r>
            <a:r>
              <a:rPr sz="3600" spc="-140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memory.</a:t>
            </a:r>
            <a:endParaRPr sz="3600">
              <a:latin typeface="Times New Roman"/>
              <a:cs typeface="Times New Roman"/>
            </a:endParaRPr>
          </a:p>
          <a:p>
            <a:pPr marL="527685" marR="5715" indent="-515620">
              <a:lnSpc>
                <a:spcPct val="150000"/>
              </a:lnSpc>
              <a:spcBef>
                <a:spcPts val="805"/>
              </a:spcBef>
              <a:buSzPct val="94444"/>
              <a:buAutoNum type="arabicPeriod"/>
              <a:tabLst>
                <a:tab pos="527685" algn="l"/>
                <a:tab pos="2178050" algn="l"/>
                <a:tab pos="4700905" algn="l"/>
                <a:tab pos="5249545" algn="l"/>
                <a:tab pos="6522084" algn="l"/>
                <a:tab pos="6997700" algn="l"/>
                <a:tab pos="7846695" algn="l"/>
                <a:tab pos="8796020" algn="l"/>
                <a:tab pos="9849485" algn="l"/>
                <a:tab pos="11373485" algn="l"/>
              </a:tabLst>
            </a:pPr>
            <a:r>
              <a:rPr sz="3600" spc="-10" dirty="0">
                <a:latin typeface="Times New Roman"/>
                <a:cs typeface="Times New Roman"/>
              </a:rPr>
              <a:t>Another</a:t>
            </a:r>
            <a:r>
              <a:rPr sz="3600" dirty="0">
                <a:latin typeface="Times New Roman"/>
                <a:cs typeface="Times New Roman"/>
              </a:rPr>
              <a:t>	</a:t>
            </a:r>
            <a:r>
              <a:rPr sz="3600" spc="-10" dirty="0">
                <a:latin typeface="Times New Roman"/>
                <a:cs typeface="Times New Roman"/>
              </a:rPr>
              <a:t>disadvantage</a:t>
            </a:r>
            <a:r>
              <a:rPr sz="3600" dirty="0">
                <a:latin typeface="Times New Roman"/>
                <a:cs typeface="Times New Roman"/>
              </a:rPr>
              <a:t>	</a:t>
            </a:r>
            <a:r>
              <a:rPr sz="3600" spc="-25" dirty="0">
                <a:latin typeface="Times New Roman"/>
                <a:cs typeface="Times New Roman"/>
              </a:rPr>
              <a:t>of</a:t>
            </a:r>
            <a:r>
              <a:rPr sz="3600" dirty="0">
                <a:latin typeface="Times New Roman"/>
                <a:cs typeface="Times New Roman"/>
              </a:rPr>
              <a:t>	</a:t>
            </a:r>
            <a:r>
              <a:rPr sz="3600" spc="-10" dirty="0">
                <a:latin typeface="Times New Roman"/>
                <a:cs typeface="Times New Roman"/>
              </a:rPr>
              <a:t>arrays</a:t>
            </a:r>
            <a:r>
              <a:rPr sz="3600" dirty="0">
                <a:latin typeface="Times New Roman"/>
                <a:cs typeface="Times New Roman"/>
              </a:rPr>
              <a:t>	</a:t>
            </a:r>
            <a:r>
              <a:rPr sz="3600" spc="-25" dirty="0">
                <a:latin typeface="Times New Roman"/>
                <a:cs typeface="Times New Roman"/>
              </a:rPr>
              <a:t>is</a:t>
            </a:r>
            <a:r>
              <a:rPr sz="3600" dirty="0">
                <a:latin typeface="Times New Roman"/>
                <a:cs typeface="Times New Roman"/>
              </a:rPr>
              <a:t>	</a:t>
            </a:r>
            <a:r>
              <a:rPr sz="3600" spc="-20" dirty="0">
                <a:latin typeface="Times New Roman"/>
                <a:cs typeface="Times New Roman"/>
              </a:rPr>
              <a:t>that</a:t>
            </a:r>
            <a:r>
              <a:rPr sz="3600" dirty="0">
                <a:latin typeface="Times New Roman"/>
                <a:cs typeface="Times New Roman"/>
              </a:rPr>
              <a:t>	</a:t>
            </a:r>
            <a:r>
              <a:rPr sz="3600" spc="-20" dirty="0">
                <a:latin typeface="Times New Roman"/>
                <a:cs typeface="Times New Roman"/>
              </a:rPr>
              <a:t>they</a:t>
            </a:r>
            <a:r>
              <a:rPr sz="3600" dirty="0">
                <a:latin typeface="Times New Roman"/>
                <a:cs typeface="Times New Roman"/>
              </a:rPr>
              <a:t>	</a:t>
            </a:r>
            <a:r>
              <a:rPr sz="3600" spc="-10" dirty="0">
                <a:latin typeface="Times New Roman"/>
                <a:cs typeface="Times New Roman"/>
              </a:rPr>
              <a:t>don't</a:t>
            </a:r>
            <a:r>
              <a:rPr sz="3600" dirty="0">
                <a:latin typeface="Times New Roman"/>
                <a:cs typeface="Times New Roman"/>
              </a:rPr>
              <a:t>	</a:t>
            </a:r>
            <a:r>
              <a:rPr sz="3600" spc="-10" dirty="0">
                <a:latin typeface="Times New Roman"/>
                <a:cs typeface="Times New Roman"/>
              </a:rPr>
              <a:t>support</a:t>
            </a:r>
            <a:r>
              <a:rPr sz="3600" dirty="0">
                <a:latin typeface="Times New Roman"/>
                <a:cs typeface="Times New Roman"/>
              </a:rPr>
              <a:t>	</a:t>
            </a:r>
            <a:r>
              <a:rPr sz="3600" spc="-40" dirty="0">
                <a:latin typeface="Times New Roman"/>
                <a:cs typeface="Times New Roman"/>
              </a:rPr>
              <a:t>random </a:t>
            </a:r>
            <a:r>
              <a:rPr sz="3600" spc="-10" dirty="0">
                <a:latin typeface="Times New Roman"/>
                <a:cs typeface="Times New Roman"/>
              </a:rPr>
              <a:t>access.</a:t>
            </a:r>
            <a:endParaRPr sz="3600">
              <a:latin typeface="Times New Roman"/>
              <a:cs typeface="Times New Roman"/>
            </a:endParaRPr>
          </a:p>
          <a:p>
            <a:pPr marL="527685" indent="-514984">
              <a:lnSpc>
                <a:spcPct val="100000"/>
              </a:lnSpc>
              <a:spcBef>
                <a:spcPts val="2965"/>
              </a:spcBef>
              <a:buSzPct val="94444"/>
              <a:buAutoNum type="arabicPeriod"/>
              <a:tabLst>
                <a:tab pos="527685" algn="l"/>
              </a:tabLst>
            </a:pPr>
            <a:r>
              <a:rPr sz="3600" spc="-20" dirty="0">
                <a:latin typeface="Times New Roman"/>
                <a:cs typeface="Times New Roman"/>
              </a:rPr>
              <a:t>Insertion</a:t>
            </a:r>
            <a:r>
              <a:rPr sz="3600" spc="-16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and</a:t>
            </a:r>
            <a:r>
              <a:rPr sz="3600" spc="-135" dirty="0">
                <a:latin typeface="Times New Roman"/>
                <a:cs typeface="Times New Roman"/>
              </a:rPr>
              <a:t> </a:t>
            </a:r>
            <a:r>
              <a:rPr sz="3600" spc="-20" dirty="0">
                <a:latin typeface="Times New Roman"/>
                <a:cs typeface="Times New Roman"/>
              </a:rPr>
              <a:t>deletion</a:t>
            </a:r>
            <a:r>
              <a:rPr sz="3600" spc="-14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are</a:t>
            </a:r>
            <a:r>
              <a:rPr sz="3600" spc="-14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not</a:t>
            </a:r>
            <a:r>
              <a:rPr sz="3600" spc="-14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easy</a:t>
            </a:r>
            <a:r>
              <a:rPr sz="3600" spc="-14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in</a:t>
            </a:r>
            <a:r>
              <a:rPr sz="3600" spc="-135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Array.</a:t>
            </a:r>
            <a:endParaRPr sz="3600">
              <a:latin typeface="Times New Roman"/>
              <a:cs typeface="Times New Roman"/>
            </a:endParaRPr>
          </a:p>
          <a:p>
            <a:pPr marL="527685" indent="-514984">
              <a:lnSpc>
                <a:spcPct val="100000"/>
              </a:lnSpc>
              <a:spcBef>
                <a:spcPts val="2955"/>
              </a:spcBef>
              <a:buSzPct val="94444"/>
              <a:buAutoNum type="arabicPeriod"/>
              <a:tabLst>
                <a:tab pos="527685" algn="l"/>
              </a:tabLst>
            </a:pPr>
            <a:r>
              <a:rPr sz="3600" spc="-20" dirty="0">
                <a:latin typeface="Times New Roman"/>
                <a:cs typeface="Times New Roman"/>
              </a:rPr>
              <a:t>Wastage</a:t>
            </a:r>
            <a:r>
              <a:rPr sz="3600" spc="-15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of</a:t>
            </a:r>
            <a:r>
              <a:rPr sz="3600" spc="-150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memory</a:t>
            </a:r>
            <a:r>
              <a:rPr sz="3600" spc="-170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space</a:t>
            </a:r>
            <a:r>
              <a:rPr sz="3600" spc="-15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if</a:t>
            </a:r>
            <a:r>
              <a:rPr sz="3600" spc="-15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all</a:t>
            </a:r>
            <a:r>
              <a:rPr sz="3600" spc="-145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array</a:t>
            </a:r>
            <a:r>
              <a:rPr sz="3600" spc="-155" dirty="0">
                <a:latin typeface="Times New Roman"/>
                <a:cs typeface="Times New Roman"/>
              </a:rPr>
              <a:t> </a:t>
            </a:r>
            <a:r>
              <a:rPr sz="3600" spc="-20" dirty="0">
                <a:latin typeface="Times New Roman"/>
                <a:cs typeface="Times New Roman"/>
              </a:rPr>
              <a:t>elements</a:t>
            </a:r>
            <a:r>
              <a:rPr sz="3600" spc="-16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are</a:t>
            </a:r>
            <a:r>
              <a:rPr sz="3600" spc="-14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not</a:t>
            </a:r>
            <a:r>
              <a:rPr sz="3600" spc="-150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used.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6896" y="8741718"/>
            <a:ext cx="12194461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553085" algn="l"/>
              </a:tabLst>
            </a:pPr>
            <a:r>
              <a:rPr sz="5100" spc="-37" baseline="-26143" dirty="0">
                <a:latin typeface="Times New Roman"/>
                <a:cs typeface="Times New Roman"/>
              </a:rPr>
              <a:t>7.</a:t>
            </a:r>
            <a:r>
              <a:rPr sz="5100" baseline="-26143" dirty="0">
                <a:latin typeface="Times New Roman"/>
                <a:cs typeface="Times New Roman"/>
              </a:rPr>
              <a:t>	</a:t>
            </a:r>
            <a:r>
              <a:rPr lang="en-IN" sz="5400" spc="-89" baseline="-24691" dirty="0">
                <a:latin typeface="Times New Roman"/>
                <a:cs typeface="Times New Roman"/>
              </a:rPr>
              <a:t>Array have limited functionality compared to other data structure</a:t>
            </a:r>
            <a:endParaRPr sz="1700" dirty="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06195" y="0"/>
            <a:ext cx="11383010" cy="1892935"/>
            <a:chOff x="806195" y="0"/>
            <a:chExt cx="11383010" cy="18929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6195" y="0"/>
              <a:ext cx="7290816" cy="189280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92467" y="0"/>
              <a:ext cx="2229612" cy="189280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940039" y="0"/>
              <a:ext cx="4248911" cy="1892807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46022" y="-48692"/>
            <a:ext cx="10113010" cy="1200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Applications</a:t>
            </a:r>
            <a:r>
              <a:rPr spc="-140" dirty="0"/>
              <a:t> </a:t>
            </a:r>
            <a:r>
              <a:rPr dirty="0"/>
              <a:t>of</a:t>
            </a:r>
            <a:r>
              <a:rPr spc="-290" dirty="0"/>
              <a:t> </a:t>
            </a:r>
            <a:r>
              <a:rPr spc="-20" dirty="0"/>
              <a:t>Arrays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2178030" y="9154464"/>
            <a:ext cx="2724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i="1" spc="-85" dirty="0">
                <a:solidFill>
                  <a:srgbClr val="585858"/>
                </a:solidFill>
                <a:latin typeface="Verdana"/>
                <a:cs typeface="Verdana"/>
              </a:rPr>
              <a:t>15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9908" y="1286231"/>
            <a:ext cx="12727305" cy="5518150"/>
          </a:xfrm>
          <a:prstGeom prst="rect">
            <a:avLst/>
          </a:prstGeom>
        </p:spPr>
        <p:txBody>
          <a:bodyPr vert="horz" wrap="square" lIns="0" tIns="26860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2115"/>
              </a:spcBef>
            </a:pPr>
            <a:r>
              <a:rPr sz="3200" b="1" dirty="0">
                <a:latin typeface="Times New Roman"/>
                <a:cs typeface="Times New Roman"/>
              </a:rPr>
              <a:t>Below</a:t>
            </a:r>
            <a:r>
              <a:rPr sz="3200" b="1" spc="14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are</a:t>
            </a:r>
            <a:r>
              <a:rPr sz="3200" b="1" spc="10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some</a:t>
            </a:r>
            <a:r>
              <a:rPr sz="3200" b="1" spc="14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applications</a:t>
            </a:r>
            <a:r>
              <a:rPr sz="3200" b="1" spc="16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of</a:t>
            </a:r>
            <a:r>
              <a:rPr sz="3200" b="1" spc="100" dirty="0">
                <a:latin typeface="Times New Roman"/>
                <a:cs typeface="Times New Roman"/>
              </a:rPr>
              <a:t> </a:t>
            </a:r>
            <a:r>
              <a:rPr sz="3200" b="1" spc="-10" dirty="0">
                <a:latin typeface="Times New Roman"/>
                <a:cs typeface="Times New Roman"/>
              </a:rPr>
              <a:t>arrays.</a:t>
            </a:r>
            <a:endParaRPr sz="3200">
              <a:latin typeface="Times New Roman"/>
              <a:cs typeface="Times New Roman"/>
            </a:endParaRPr>
          </a:p>
          <a:p>
            <a:pPr marL="526415" marR="5080" indent="-514350" algn="just">
              <a:lnSpc>
                <a:spcPct val="150000"/>
              </a:lnSpc>
              <a:spcBef>
                <a:spcPts val="100"/>
              </a:spcBef>
              <a:buSzPct val="93750"/>
              <a:buAutoNum type="arabicPeriod"/>
              <a:tabLst>
                <a:tab pos="527685" algn="l"/>
              </a:tabLst>
            </a:pPr>
            <a:r>
              <a:rPr sz="3200" b="1" dirty="0">
                <a:latin typeface="Times New Roman"/>
                <a:cs typeface="Times New Roman"/>
              </a:rPr>
              <a:t>Storing</a:t>
            </a:r>
            <a:r>
              <a:rPr sz="3200" b="1" spc="434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and</a:t>
            </a:r>
            <a:r>
              <a:rPr sz="3200" b="1" spc="409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accessing</a:t>
            </a:r>
            <a:r>
              <a:rPr sz="3200" b="1" spc="45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data:</a:t>
            </a:r>
            <a:r>
              <a:rPr sz="3200" b="1" spc="409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Arrays</a:t>
            </a:r>
            <a:r>
              <a:rPr sz="3200" spc="4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are</a:t>
            </a:r>
            <a:r>
              <a:rPr sz="3200" spc="4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used</a:t>
            </a:r>
            <a:r>
              <a:rPr sz="3200" spc="4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4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store</a:t>
            </a:r>
            <a:r>
              <a:rPr sz="3200" spc="4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40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retrieve</a:t>
            </a:r>
            <a:r>
              <a:rPr sz="3200" spc="445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data 	</a:t>
            </a: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2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2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specific</a:t>
            </a:r>
            <a:r>
              <a:rPr sz="3200" spc="2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order.</a:t>
            </a:r>
            <a:r>
              <a:rPr sz="3200" spc="2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For</a:t>
            </a:r>
            <a:r>
              <a:rPr sz="3200" spc="2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example,</a:t>
            </a:r>
            <a:r>
              <a:rPr sz="3200" spc="2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</a:t>
            </a:r>
            <a:r>
              <a:rPr sz="3200" spc="20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array</a:t>
            </a:r>
            <a:r>
              <a:rPr sz="3200" spc="229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can</a:t>
            </a:r>
            <a:r>
              <a:rPr sz="3200" spc="2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be</a:t>
            </a:r>
            <a:r>
              <a:rPr sz="3200" spc="20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used</a:t>
            </a:r>
            <a:r>
              <a:rPr sz="3200" spc="229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2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store</a:t>
            </a:r>
            <a:r>
              <a:rPr sz="3200" spc="2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22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scores 	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10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11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group</a:t>
            </a:r>
            <a:r>
              <a:rPr sz="3200" spc="9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1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students,</a:t>
            </a:r>
            <a:r>
              <a:rPr sz="3200" spc="1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or</a:t>
            </a:r>
            <a:r>
              <a:rPr sz="3200" spc="1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1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temperatures</a:t>
            </a:r>
            <a:r>
              <a:rPr sz="3200" spc="1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recorded</a:t>
            </a:r>
            <a:r>
              <a:rPr sz="3200" spc="1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by</a:t>
            </a:r>
            <a:r>
              <a:rPr sz="3200" spc="10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1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weather</a:t>
            </a:r>
            <a:r>
              <a:rPr sz="3200" spc="13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station.</a:t>
            </a:r>
            <a:endParaRPr sz="3200">
              <a:latin typeface="Times New Roman"/>
              <a:cs typeface="Times New Roman"/>
            </a:endParaRPr>
          </a:p>
          <a:p>
            <a:pPr marL="526415" marR="6350" indent="-514350" algn="just">
              <a:lnSpc>
                <a:spcPct val="150000"/>
              </a:lnSpc>
              <a:spcBef>
                <a:spcPts val="2725"/>
              </a:spcBef>
              <a:buSzPct val="93750"/>
              <a:buAutoNum type="arabicPeriod"/>
              <a:tabLst>
                <a:tab pos="527685" algn="l"/>
              </a:tabLst>
            </a:pPr>
            <a:r>
              <a:rPr sz="3200" b="1" dirty="0">
                <a:latin typeface="Times New Roman"/>
                <a:cs typeface="Times New Roman"/>
              </a:rPr>
              <a:t>Sorting:</a:t>
            </a:r>
            <a:r>
              <a:rPr sz="3200" b="1" spc="7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Arrays</a:t>
            </a:r>
            <a:r>
              <a:rPr sz="3200" spc="7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can</a:t>
            </a:r>
            <a:r>
              <a:rPr sz="3200" spc="7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be</a:t>
            </a:r>
            <a:r>
              <a:rPr sz="3200" spc="7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used</a:t>
            </a:r>
            <a:r>
              <a:rPr sz="3200" spc="7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7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sort</a:t>
            </a:r>
            <a:r>
              <a:rPr sz="3200" spc="7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data</a:t>
            </a:r>
            <a:r>
              <a:rPr sz="3200" spc="7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7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ascending</a:t>
            </a:r>
            <a:r>
              <a:rPr sz="3200" spc="7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or</a:t>
            </a:r>
            <a:r>
              <a:rPr sz="3200" spc="74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descending 	</a:t>
            </a:r>
            <a:r>
              <a:rPr sz="3200" dirty="0">
                <a:latin typeface="Times New Roman"/>
                <a:cs typeface="Times New Roman"/>
              </a:rPr>
              <a:t>order.</a:t>
            </a:r>
            <a:r>
              <a:rPr sz="3200" spc="3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Sorting</a:t>
            </a:r>
            <a:r>
              <a:rPr sz="3200" spc="3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algorithms</a:t>
            </a:r>
            <a:r>
              <a:rPr sz="3200" spc="3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such</a:t>
            </a:r>
            <a:r>
              <a:rPr sz="3200" spc="3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as</a:t>
            </a:r>
            <a:r>
              <a:rPr sz="3200" spc="3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bubble</a:t>
            </a:r>
            <a:r>
              <a:rPr sz="3200" spc="3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sort,</a:t>
            </a:r>
            <a:r>
              <a:rPr sz="3200" spc="3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merge</a:t>
            </a:r>
            <a:r>
              <a:rPr sz="3200" spc="3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sort,</a:t>
            </a:r>
            <a:r>
              <a:rPr sz="3200" spc="3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36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quicksort 	</a:t>
            </a:r>
            <a:r>
              <a:rPr sz="3200" dirty="0">
                <a:latin typeface="Times New Roman"/>
                <a:cs typeface="Times New Roman"/>
              </a:rPr>
              <a:t>rely</a:t>
            </a:r>
            <a:r>
              <a:rPr sz="3200" spc="1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heavily</a:t>
            </a:r>
            <a:r>
              <a:rPr sz="3200" spc="1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on</a:t>
            </a:r>
            <a:r>
              <a:rPr sz="3200" spc="10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arrays.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289285" y="7596631"/>
            <a:ext cx="149479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10" dirty="0">
                <a:latin typeface="Times New Roman"/>
                <a:cs typeface="Times New Roman"/>
              </a:rPr>
              <a:t>elements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087606" y="7596631"/>
            <a:ext cx="91948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10" dirty="0">
                <a:latin typeface="Times New Roman"/>
                <a:cs typeface="Times New Roman"/>
              </a:rPr>
              <a:t>using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79908" y="7353401"/>
            <a:ext cx="9704705" cy="2086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7685" marR="5080" indent="-515620">
              <a:lnSpc>
                <a:spcPct val="150000"/>
              </a:lnSpc>
              <a:spcBef>
                <a:spcPts val="100"/>
              </a:spcBef>
              <a:tabLst>
                <a:tab pos="527685" algn="l"/>
                <a:tab pos="2760345" algn="l"/>
                <a:tab pos="4210050" algn="l"/>
                <a:tab pos="5109210" algn="l"/>
                <a:tab pos="5824220" algn="l"/>
                <a:tab pos="7598409" algn="l"/>
                <a:tab pos="8406130" algn="l"/>
              </a:tabLst>
            </a:pPr>
            <a:r>
              <a:rPr sz="3000" b="1" spc="-25" dirty="0">
                <a:latin typeface="Times New Roman"/>
                <a:cs typeface="Times New Roman"/>
              </a:rPr>
              <a:t>3.</a:t>
            </a:r>
            <a:r>
              <a:rPr sz="3000" b="1" dirty="0">
                <a:latin typeface="Times New Roman"/>
                <a:cs typeface="Times New Roman"/>
              </a:rPr>
              <a:t>	</a:t>
            </a:r>
            <a:r>
              <a:rPr sz="3200" b="1" spc="-10" dirty="0">
                <a:latin typeface="Times New Roman"/>
                <a:cs typeface="Times New Roman"/>
              </a:rPr>
              <a:t>Searching:</a:t>
            </a:r>
            <a:r>
              <a:rPr sz="3200" b="1" dirty="0">
                <a:latin typeface="Times New Roman"/>
                <a:cs typeface="Times New Roman"/>
              </a:rPr>
              <a:t>	</a:t>
            </a:r>
            <a:r>
              <a:rPr sz="3200" spc="-10" dirty="0">
                <a:latin typeface="Times New Roman"/>
                <a:cs typeface="Times New Roman"/>
              </a:rPr>
              <a:t>Arrays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25" dirty="0">
                <a:latin typeface="Times New Roman"/>
                <a:cs typeface="Times New Roman"/>
              </a:rPr>
              <a:t>can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25" dirty="0">
                <a:latin typeface="Times New Roman"/>
                <a:cs typeface="Times New Roman"/>
              </a:rPr>
              <a:t>be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10" dirty="0">
                <a:latin typeface="Times New Roman"/>
                <a:cs typeface="Times New Roman"/>
              </a:rPr>
              <a:t>searched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25" dirty="0">
                <a:latin typeface="Times New Roman"/>
                <a:cs typeface="Times New Roman"/>
              </a:rPr>
              <a:t>for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10" dirty="0">
                <a:latin typeface="Times New Roman"/>
                <a:cs typeface="Times New Roman"/>
              </a:rPr>
              <a:t>specific </a:t>
            </a:r>
            <a:r>
              <a:rPr sz="3200" dirty="0">
                <a:latin typeface="Times New Roman"/>
                <a:cs typeface="Times New Roman"/>
              </a:rPr>
              <a:t>algorithms</a:t>
            </a:r>
            <a:r>
              <a:rPr sz="3200" spc="1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such</a:t>
            </a:r>
            <a:r>
              <a:rPr sz="3200" spc="1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as</a:t>
            </a:r>
            <a:r>
              <a:rPr sz="3200" spc="1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linear</a:t>
            </a:r>
            <a:r>
              <a:rPr sz="3200" spc="1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search</a:t>
            </a:r>
            <a:r>
              <a:rPr sz="3200" spc="1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11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binary</a:t>
            </a:r>
            <a:r>
              <a:rPr sz="3200" spc="14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search.</a:t>
            </a:r>
            <a:endParaRPr sz="3200" dirty="0">
              <a:latin typeface="Times New Roman"/>
              <a:cs typeface="Times New Roman"/>
            </a:endParaRPr>
          </a:p>
          <a:p>
            <a:pPr marL="721995">
              <a:lnSpc>
                <a:spcPct val="100000"/>
              </a:lnSpc>
              <a:spcBef>
                <a:spcPts val="2665"/>
              </a:spcBef>
            </a:pPr>
            <a:endParaRPr sz="1700" dirty="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560300" y="9223959"/>
            <a:ext cx="20002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i="1" spc="-25" dirty="0">
                <a:solidFill>
                  <a:srgbClr val="DFDFD2"/>
                </a:solidFill>
                <a:latin typeface="Constantia"/>
                <a:cs typeface="Constantia"/>
              </a:rPr>
              <a:t>15</a:t>
            </a:r>
            <a:endParaRPr sz="1700">
              <a:latin typeface="Constantia"/>
              <a:cs typeface="Constant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06195" y="0"/>
            <a:ext cx="11383010" cy="1892935"/>
            <a:chOff x="806195" y="0"/>
            <a:chExt cx="11383010" cy="18929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6195" y="0"/>
              <a:ext cx="7290816" cy="189280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92467" y="0"/>
              <a:ext cx="2229612" cy="189280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940039" y="0"/>
              <a:ext cx="4248911" cy="1892807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46022" y="-48692"/>
            <a:ext cx="10113010" cy="1200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Applications</a:t>
            </a:r>
            <a:r>
              <a:rPr spc="-140" dirty="0"/>
              <a:t> </a:t>
            </a:r>
            <a:r>
              <a:rPr dirty="0"/>
              <a:t>of</a:t>
            </a:r>
            <a:r>
              <a:rPr spc="-290" dirty="0"/>
              <a:t> </a:t>
            </a:r>
            <a:r>
              <a:rPr spc="-20" dirty="0"/>
              <a:t>Arrays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2178030" y="9154464"/>
            <a:ext cx="2724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i="1" spc="-85" dirty="0">
                <a:solidFill>
                  <a:srgbClr val="585858"/>
                </a:solidFill>
                <a:latin typeface="Verdana"/>
                <a:cs typeface="Verdana"/>
              </a:rPr>
              <a:t>16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5562" y="882244"/>
            <a:ext cx="12731750" cy="8035925"/>
          </a:xfrm>
          <a:prstGeom prst="rect">
            <a:avLst/>
          </a:prstGeom>
        </p:spPr>
        <p:txBody>
          <a:bodyPr vert="horz" wrap="square" lIns="0" tIns="26860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2115"/>
              </a:spcBef>
            </a:pPr>
            <a:r>
              <a:rPr sz="3200" dirty="0">
                <a:latin typeface="Times New Roman"/>
                <a:cs typeface="Times New Roman"/>
              </a:rPr>
              <a:t>Below</a:t>
            </a:r>
            <a:r>
              <a:rPr sz="3200" spc="1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are</a:t>
            </a:r>
            <a:r>
              <a:rPr sz="3200" spc="1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some</a:t>
            </a:r>
            <a:r>
              <a:rPr sz="3200" spc="1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applications</a:t>
            </a:r>
            <a:r>
              <a:rPr sz="3200" spc="1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11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arrays.</a:t>
            </a:r>
            <a:endParaRPr sz="3200">
              <a:latin typeface="Times New Roman"/>
              <a:cs typeface="Times New Roman"/>
            </a:endParaRPr>
          </a:p>
          <a:p>
            <a:pPr marL="526415" marR="10795" indent="-514350" algn="just">
              <a:lnSpc>
                <a:spcPct val="150000"/>
              </a:lnSpc>
              <a:spcBef>
                <a:spcPts val="100"/>
              </a:spcBef>
              <a:buSzPct val="93750"/>
              <a:buAutoNum type="arabicPeriod" startAt="4"/>
              <a:tabLst>
                <a:tab pos="527685" algn="l"/>
              </a:tabLst>
            </a:pPr>
            <a:r>
              <a:rPr sz="3200" b="1" dirty="0">
                <a:latin typeface="Times New Roman"/>
                <a:cs typeface="Times New Roman"/>
              </a:rPr>
              <a:t>Matrices:</a:t>
            </a:r>
            <a:r>
              <a:rPr sz="3200" b="1" spc="365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Arrays</a:t>
            </a:r>
            <a:r>
              <a:rPr sz="3200" spc="375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are</a:t>
            </a:r>
            <a:r>
              <a:rPr sz="3200" spc="375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used</a:t>
            </a:r>
            <a:r>
              <a:rPr sz="3200" spc="370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380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represent</a:t>
            </a:r>
            <a:r>
              <a:rPr sz="3200" spc="380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matrices</a:t>
            </a:r>
            <a:r>
              <a:rPr sz="3200" spc="380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370" dirty="0">
                <a:latin typeface="Times New Roman"/>
                <a:cs typeface="Times New Roman"/>
              </a:rPr>
              <a:t>  </a:t>
            </a:r>
            <a:r>
              <a:rPr sz="3200" spc="-10" dirty="0">
                <a:latin typeface="Times New Roman"/>
                <a:cs typeface="Times New Roman"/>
              </a:rPr>
              <a:t>mathematical 	</a:t>
            </a:r>
            <a:r>
              <a:rPr sz="3200" dirty="0">
                <a:latin typeface="Times New Roman"/>
                <a:cs typeface="Times New Roman"/>
              </a:rPr>
              <a:t>computations</a:t>
            </a:r>
            <a:r>
              <a:rPr sz="3200" spc="7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such</a:t>
            </a:r>
            <a:r>
              <a:rPr sz="3200" spc="7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as</a:t>
            </a:r>
            <a:r>
              <a:rPr sz="3200" spc="7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matrix</a:t>
            </a:r>
            <a:r>
              <a:rPr sz="3200" spc="7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multiplication,  linear</a:t>
            </a:r>
            <a:r>
              <a:rPr sz="3200" spc="7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algebra,</a:t>
            </a:r>
            <a:r>
              <a:rPr sz="3200" spc="7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75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image 	processing.</a:t>
            </a:r>
            <a:endParaRPr sz="3200">
              <a:latin typeface="Times New Roman"/>
              <a:cs typeface="Times New Roman"/>
            </a:endParaRPr>
          </a:p>
          <a:p>
            <a:pPr marL="526415" marR="6350" indent="-514350" algn="just">
              <a:lnSpc>
                <a:spcPct val="150000"/>
              </a:lnSpc>
              <a:spcBef>
                <a:spcPts val="2185"/>
              </a:spcBef>
              <a:buSzPct val="93750"/>
              <a:buAutoNum type="arabicPeriod" startAt="4"/>
              <a:tabLst>
                <a:tab pos="527685" algn="l"/>
              </a:tabLst>
            </a:pPr>
            <a:r>
              <a:rPr sz="3200" b="1" dirty="0">
                <a:latin typeface="Times New Roman"/>
                <a:cs typeface="Times New Roman"/>
              </a:rPr>
              <a:t>Stacks</a:t>
            </a:r>
            <a:r>
              <a:rPr sz="3200" b="1" spc="26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and</a:t>
            </a:r>
            <a:r>
              <a:rPr sz="3200" b="1" spc="24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queues:</a:t>
            </a:r>
            <a:r>
              <a:rPr sz="3200" b="1" spc="2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Arrays</a:t>
            </a:r>
            <a:r>
              <a:rPr sz="3200" spc="2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are</a:t>
            </a:r>
            <a:r>
              <a:rPr sz="3200" spc="2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used</a:t>
            </a:r>
            <a:r>
              <a:rPr sz="3200" spc="2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as</a:t>
            </a:r>
            <a:r>
              <a:rPr sz="3200" spc="2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2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underlying</a:t>
            </a:r>
            <a:r>
              <a:rPr sz="3200" spc="2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data</a:t>
            </a:r>
            <a:r>
              <a:rPr sz="3200" spc="2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structure</a:t>
            </a:r>
            <a:r>
              <a:rPr sz="3200" spc="285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for 	</a:t>
            </a:r>
            <a:r>
              <a:rPr sz="3200" dirty="0">
                <a:latin typeface="Times New Roman"/>
                <a:cs typeface="Times New Roman"/>
              </a:rPr>
              <a:t>implementing</a:t>
            </a:r>
            <a:r>
              <a:rPr sz="3200" spc="575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stacks</a:t>
            </a:r>
            <a:r>
              <a:rPr sz="3200" spc="570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560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queues,</a:t>
            </a:r>
            <a:r>
              <a:rPr sz="3200" spc="570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which</a:t>
            </a:r>
            <a:r>
              <a:rPr sz="3200" spc="565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are</a:t>
            </a:r>
            <a:r>
              <a:rPr sz="3200" spc="565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commonly</a:t>
            </a:r>
            <a:r>
              <a:rPr sz="3200" spc="565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used</a:t>
            </a:r>
            <a:r>
              <a:rPr sz="3200" spc="565" dirty="0">
                <a:latin typeface="Times New Roman"/>
                <a:cs typeface="Times New Roman"/>
              </a:rPr>
              <a:t>  </a:t>
            </a:r>
            <a:r>
              <a:rPr sz="3200" spc="-25" dirty="0">
                <a:latin typeface="Times New Roman"/>
                <a:cs typeface="Times New Roman"/>
              </a:rPr>
              <a:t>in 	</a:t>
            </a:r>
            <a:r>
              <a:rPr sz="3200" dirty="0">
                <a:latin typeface="Times New Roman"/>
                <a:cs typeface="Times New Roman"/>
              </a:rPr>
              <a:t>algorithms</a:t>
            </a:r>
            <a:r>
              <a:rPr sz="3200" spc="1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1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data</a:t>
            </a:r>
            <a:r>
              <a:rPr sz="3200" spc="16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structures.</a:t>
            </a:r>
            <a:endParaRPr sz="3200">
              <a:latin typeface="Times New Roman"/>
              <a:cs typeface="Times New Roman"/>
            </a:endParaRPr>
          </a:p>
          <a:p>
            <a:pPr marL="526415" marR="5080" indent="-514350" algn="just">
              <a:lnSpc>
                <a:spcPct val="150000"/>
              </a:lnSpc>
              <a:spcBef>
                <a:spcPts val="3085"/>
              </a:spcBef>
              <a:buSzPct val="93750"/>
              <a:buAutoNum type="arabicPeriod" startAt="4"/>
              <a:tabLst>
                <a:tab pos="527685" algn="l"/>
              </a:tabLst>
            </a:pPr>
            <a:r>
              <a:rPr sz="3200" b="1" dirty="0">
                <a:latin typeface="Times New Roman"/>
                <a:cs typeface="Times New Roman"/>
              </a:rPr>
              <a:t>Graphs:</a:t>
            </a:r>
            <a:r>
              <a:rPr sz="3200" b="1" spc="6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Arrays</a:t>
            </a:r>
            <a:r>
              <a:rPr sz="3200" spc="6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can</a:t>
            </a:r>
            <a:r>
              <a:rPr sz="3200" spc="6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be</a:t>
            </a:r>
            <a:r>
              <a:rPr sz="3200" spc="6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used</a:t>
            </a:r>
            <a:r>
              <a:rPr sz="3200" spc="6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6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represent</a:t>
            </a:r>
            <a:r>
              <a:rPr sz="3200" spc="6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graphs</a:t>
            </a:r>
            <a:r>
              <a:rPr sz="3200" spc="6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6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computer</a:t>
            </a:r>
            <a:r>
              <a:rPr sz="3200" spc="64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science. 	</a:t>
            </a:r>
            <a:r>
              <a:rPr sz="3200" dirty="0">
                <a:latin typeface="Times New Roman"/>
                <a:cs typeface="Times New Roman"/>
              </a:rPr>
              <a:t>Each</a:t>
            </a:r>
            <a:r>
              <a:rPr sz="3200" spc="130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element</a:t>
            </a:r>
            <a:r>
              <a:rPr sz="3200" spc="130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130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130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array</a:t>
            </a:r>
            <a:r>
              <a:rPr sz="3200" spc="130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represents</a:t>
            </a:r>
            <a:r>
              <a:rPr sz="3200" spc="140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135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node</a:t>
            </a:r>
            <a:r>
              <a:rPr sz="3200" spc="125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125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130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graph,</a:t>
            </a:r>
            <a:r>
              <a:rPr sz="3200" spc="130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125" dirty="0">
                <a:latin typeface="Times New Roman"/>
                <a:cs typeface="Times New Roman"/>
              </a:rPr>
              <a:t>  </a:t>
            </a:r>
            <a:r>
              <a:rPr sz="3200" spc="-25" dirty="0">
                <a:latin typeface="Times New Roman"/>
                <a:cs typeface="Times New Roman"/>
              </a:rPr>
              <a:t>the 	</a:t>
            </a:r>
            <a:r>
              <a:rPr sz="3200" dirty="0">
                <a:latin typeface="Times New Roman"/>
                <a:cs typeface="Times New Roman"/>
              </a:rPr>
              <a:t>relationships</a:t>
            </a:r>
            <a:r>
              <a:rPr sz="3200" spc="50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between</a:t>
            </a:r>
            <a:r>
              <a:rPr sz="3200" spc="48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4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nodes</a:t>
            </a:r>
            <a:r>
              <a:rPr sz="3200" spc="4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are</a:t>
            </a:r>
            <a:r>
              <a:rPr sz="3200" spc="4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represented</a:t>
            </a:r>
            <a:r>
              <a:rPr sz="3200" spc="50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by</a:t>
            </a:r>
            <a:r>
              <a:rPr sz="3200" spc="4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4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values</a:t>
            </a:r>
            <a:r>
              <a:rPr sz="3200" spc="4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stored</a:t>
            </a:r>
            <a:r>
              <a:rPr sz="3200" spc="495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in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95579" y="8963659"/>
            <a:ext cx="280035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4800" baseline="-23437" dirty="0">
                <a:latin typeface="Times New Roman"/>
                <a:cs typeface="Times New Roman"/>
              </a:rPr>
              <a:t>t</a:t>
            </a:r>
            <a:r>
              <a:rPr sz="4800" spc="15" baseline="-23437" dirty="0">
                <a:latin typeface="Times New Roman"/>
                <a:cs typeface="Times New Roman"/>
              </a:rPr>
              <a:t>h</a:t>
            </a:r>
            <a:r>
              <a:rPr sz="4800" spc="-1627" baseline="-23437" dirty="0">
                <a:latin typeface="Times New Roman"/>
                <a:cs typeface="Times New Roman"/>
              </a:rPr>
              <a:t>e</a:t>
            </a:r>
            <a:r>
              <a:rPr sz="1700" i="1" spc="5" dirty="0">
                <a:solidFill>
                  <a:srgbClr val="585858"/>
                </a:solidFill>
                <a:latin typeface="Verdana"/>
                <a:cs typeface="Verdana"/>
              </a:rPr>
              <a:t>P</a:t>
            </a:r>
            <a:r>
              <a:rPr sz="1700" i="1" spc="-190" dirty="0">
                <a:solidFill>
                  <a:srgbClr val="585858"/>
                </a:solidFill>
                <a:latin typeface="Verdana"/>
                <a:cs typeface="Verdana"/>
              </a:rPr>
              <a:t>R</a:t>
            </a:r>
            <a:r>
              <a:rPr sz="4800" spc="-1935" baseline="-23437" dirty="0">
                <a:latin typeface="Times New Roman"/>
                <a:cs typeface="Times New Roman"/>
              </a:rPr>
              <a:t>a</a:t>
            </a:r>
            <a:r>
              <a:rPr sz="1700" i="1" spc="-200" dirty="0">
                <a:solidFill>
                  <a:srgbClr val="585858"/>
                </a:solidFill>
                <a:latin typeface="Verdana"/>
                <a:cs typeface="Verdana"/>
              </a:rPr>
              <a:t>O</a:t>
            </a:r>
            <a:r>
              <a:rPr sz="4800" spc="-1305" baseline="-23437" dirty="0">
                <a:latin typeface="Times New Roman"/>
                <a:cs typeface="Times New Roman"/>
              </a:rPr>
              <a:t>r</a:t>
            </a:r>
            <a:r>
              <a:rPr sz="1700" i="1" spc="5" dirty="0">
                <a:solidFill>
                  <a:srgbClr val="585858"/>
                </a:solidFill>
                <a:latin typeface="Verdana"/>
                <a:cs typeface="Verdana"/>
              </a:rPr>
              <a:t>F</a:t>
            </a:r>
            <a:r>
              <a:rPr sz="1700" i="1" spc="-600" dirty="0">
                <a:solidFill>
                  <a:srgbClr val="585858"/>
                </a:solidFill>
                <a:latin typeface="Verdana"/>
                <a:cs typeface="Verdana"/>
              </a:rPr>
              <a:t>.</a:t>
            </a:r>
            <a:r>
              <a:rPr sz="4800" spc="-142" baseline="-23437" dirty="0">
                <a:latin typeface="Times New Roman"/>
                <a:cs typeface="Times New Roman"/>
              </a:rPr>
              <a:t>r</a:t>
            </a:r>
            <a:r>
              <a:rPr sz="1700" i="1" spc="-1095" dirty="0">
                <a:solidFill>
                  <a:srgbClr val="585858"/>
                </a:solidFill>
                <a:latin typeface="Verdana"/>
                <a:cs typeface="Verdana"/>
              </a:rPr>
              <a:t>A</a:t>
            </a:r>
            <a:r>
              <a:rPr sz="4800" spc="-390" baseline="-23437" dirty="0">
                <a:latin typeface="Times New Roman"/>
                <a:cs typeface="Times New Roman"/>
              </a:rPr>
              <a:t>a</a:t>
            </a:r>
            <a:r>
              <a:rPr sz="1700" i="1" spc="-1040" dirty="0">
                <a:solidFill>
                  <a:srgbClr val="585858"/>
                </a:solidFill>
                <a:latin typeface="Verdana"/>
                <a:cs typeface="Verdana"/>
              </a:rPr>
              <a:t>N</a:t>
            </a:r>
            <a:r>
              <a:rPr sz="4800" spc="-900" baseline="-23437" dirty="0">
                <a:latin typeface="Times New Roman"/>
                <a:cs typeface="Times New Roman"/>
              </a:rPr>
              <a:t>y</a:t>
            </a:r>
            <a:r>
              <a:rPr sz="1700" i="1" spc="-610" dirty="0">
                <a:solidFill>
                  <a:srgbClr val="585858"/>
                </a:solidFill>
                <a:latin typeface="Verdana"/>
                <a:cs typeface="Verdana"/>
              </a:rPr>
              <a:t>A</a:t>
            </a:r>
            <a:r>
              <a:rPr sz="4800" spc="-240" baseline="-23437" dirty="0">
                <a:latin typeface="Times New Roman"/>
                <a:cs typeface="Times New Roman"/>
              </a:rPr>
              <a:t>.</a:t>
            </a:r>
            <a:r>
              <a:rPr sz="1700" i="1" spc="5" dirty="0">
                <a:solidFill>
                  <a:srgbClr val="585858"/>
                </a:solidFill>
                <a:latin typeface="Verdana"/>
                <a:cs typeface="Verdana"/>
              </a:rPr>
              <a:t>N</a:t>
            </a:r>
            <a:r>
              <a:rPr sz="1700" i="1" spc="-15" dirty="0">
                <a:solidFill>
                  <a:srgbClr val="585858"/>
                </a:solidFill>
                <a:latin typeface="Verdana"/>
                <a:cs typeface="Verdana"/>
              </a:rPr>
              <a:t>D</a:t>
            </a:r>
            <a:r>
              <a:rPr sz="1700" i="1" spc="15" dirty="0">
                <a:solidFill>
                  <a:srgbClr val="585858"/>
                </a:solidFill>
                <a:latin typeface="Verdana"/>
                <a:cs typeface="Verdana"/>
              </a:rPr>
              <a:t> </a:t>
            </a:r>
            <a:r>
              <a:rPr sz="1700" i="1" spc="-20" dirty="0">
                <a:solidFill>
                  <a:srgbClr val="585858"/>
                </a:solidFill>
                <a:latin typeface="Verdana"/>
                <a:cs typeface="Verdana"/>
              </a:rPr>
              <a:t>GHARU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560300" y="9223959"/>
            <a:ext cx="2165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i="1" spc="-25" dirty="0">
                <a:solidFill>
                  <a:srgbClr val="DFDFD2"/>
                </a:solidFill>
                <a:latin typeface="Constantia"/>
                <a:cs typeface="Constantia"/>
              </a:rPr>
              <a:t>16</a:t>
            </a:r>
            <a:endParaRPr sz="1700">
              <a:latin typeface="Constantia"/>
              <a:cs typeface="Constant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8046" y="1271777"/>
            <a:ext cx="12506325" cy="46374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0380" indent="-48768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500380" algn="l"/>
              </a:tabLst>
            </a:pPr>
            <a:r>
              <a:rPr sz="3400" dirty="0">
                <a:latin typeface="Times New Roman"/>
                <a:cs typeface="Times New Roman"/>
              </a:rPr>
              <a:t>C/C++</a:t>
            </a:r>
            <a:r>
              <a:rPr sz="3400" spc="-70" dirty="0">
                <a:latin typeface="Times New Roman"/>
                <a:cs typeface="Times New Roman"/>
              </a:rPr>
              <a:t> </a:t>
            </a:r>
            <a:r>
              <a:rPr sz="3400" spc="-20" dirty="0">
                <a:latin typeface="Times New Roman"/>
                <a:cs typeface="Times New Roman"/>
              </a:rPr>
              <a:t>provides</a:t>
            </a:r>
            <a:r>
              <a:rPr sz="3400" spc="-19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Array</a:t>
            </a:r>
            <a:r>
              <a:rPr sz="3400" spc="-2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as</a:t>
            </a:r>
            <a:r>
              <a:rPr sz="3400" spc="-2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a</a:t>
            </a:r>
            <a:r>
              <a:rPr sz="3400" spc="-3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basic</a:t>
            </a:r>
            <a:r>
              <a:rPr sz="3400" spc="-3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data</a:t>
            </a:r>
            <a:r>
              <a:rPr sz="3400" spc="-25" dirty="0">
                <a:latin typeface="Times New Roman"/>
                <a:cs typeface="Times New Roman"/>
              </a:rPr>
              <a:t> </a:t>
            </a:r>
            <a:r>
              <a:rPr sz="3400" spc="-10" dirty="0">
                <a:latin typeface="Times New Roman"/>
                <a:cs typeface="Times New Roman"/>
              </a:rPr>
              <a:t>structure.</a:t>
            </a:r>
            <a:endParaRPr sz="3400">
              <a:latin typeface="Times New Roman"/>
              <a:cs typeface="Times New Roman"/>
            </a:endParaRPr>
          </a:p>
          <a:p>
            <a:pPr marL="500380" marR="5080" indent="-488315">
              <a:lnSpc>
                <a:spcPct val="150000"/>
              </a:lnSpc>
              <a:spcBef>
                <a:spcPts val="820"/>
              </a:spcBef>
              <a:buFont typeface="Arial MT"/>
              <a:buChar char="•"/>
              <a:tabLst>
                <a:tab pos="500380" algn="l"/>
              </a:tabLst>
            </a:pPr>
            <a:r>
              <a:rPr sz="3400" dirty="0">
                <a:latin typeface="Times New Roman"/>
                <a:cs typeface="Times New Roman"/>
              </a:rPr>
              <a:t>Representation</a:t>
            </a:r>
            <a:r>
              <a:rPr sz="3400" spc="-5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of</a:t>
            </a:r>
            <a:r>
              <a:rPr sz="3400" spc="-8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data</a:t>
            </a:r>
            <a:r>
              <a:rPr sz="3400" spc="-8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is</a:t>
            </a:r>
            <a:r>
              <a:rPr sz="3400" spc="-7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defined</a:t>
            </a:r>
            <a:r>
              <a:rPr sz="3400" spc="-7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by</a:t>
            </a:r>
            <a:r>
              <a:rPr sz="3400" spc="-7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the</a:t>
            </a:r>
            <a:r>
              <a:rPr sz="3400" spc="-7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language</a:t>
            </a:r>
            <a:r>
              <a:rPr sz="3400" spc="-8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compiler</a:t>
            </a:r>
            <a:r>
              <a:rPr sz="3400" spc="-6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itself.</a:t>
            </a:r>
            <a:r>
              <a:rPr sz="3400" spc="-55" dirty="0">
                <a:latin typeface="Times New Roman"/>
                <a:cs typeface="Times New Roman"/>
              </a:rPr>
              <a:t> </a:t>
            </a:r>
            <a:r>
              <a:rPr sz="3400" spc="-25" dirty="0">
                <a:latin typeface="Times New Roman"/>
                <a:cs typeface="Times New Roman"/>
              </a:rPr>
              <a:t>But </a:t>
            </a:r>
            <a:r>
              <a:rPr sz="3400" dirty="0">
                <a:latin typeface="Times New Roman"/>
                <a:cs typeface="Times New Roman"/>
              </a:rPr>
              <a:t>the</a:t>
            </a:r>
            <a:r>
              <a:rPr sz="3400" spc="-5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operations</a:t>
            </a:r>
            <a:r>
              <a:rPr sz="3400" spc="-5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on</a:t>
            </a:r>
            <a:r>
              <a:rPr sz="3400" spc="-4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the</a:t>
            </a:r>
            <a:r>
              <a:rPr sz="3400" spc="-5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data</a:t>
            </a:r>
            <a:r>
              <a:rPr sz="3400" spc="-4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are</a:t>
            </a:r>
            <a:r>
              <a:rPr sz="3400" spc="-4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not</a:t>
            </a:r>
            <a:r>
              <a:rPr sz="3400" spc="-5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defined</a:t>
            </a:r>
            <a:r>
              <a:rPr sz="3400" spc="-5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by</a:t>
            </a:r>
            <a:r>
              <a:rPr sz="3400" spc="-4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the</a:t>
            </a:r>
            <a:r>
              <a:rPr sz="3400" spc="-55" dirty="0">
                <a:latin typeface="Times New Roman"/>
                <a:cs typeface="Times New Roman"/>
              </a:rPr>
              <a:t> </a:t>
            </a:r>
            <a:r>
              <a:rPr sz="3400" spc="-10" dirty="0">
                <a:latin typeface="Times New Roman"/>
                <a:cs typeface="Times New Roman"/>
              </a:rPr>
              <a:t>compiler.</a:t>
            </a:r>
            <a:endParaRPr sz="3400">
              <a:latin typeface="Times New Roman"/>
              <a:cs typeface="Times New Roman"/>
            </a:endParaRPr>
          </a:p>
          <a:p>
            <a:pPr marL="500380" marR="405130" indent="-488315">
              <a:lnSpc>
                <a:spcPct val="150000"/>
              </a:lnSpc>
              <a:spcBef>
                <a:spcPts val="815"/>
              </a:spcBef>
              <a:buFont typeface="Arial MT"/>
              <a:buChar char="•"/>
              <a:tabLst>
                <a:tab pos="500380" algn="l"/>
              </a:tabLst>
            </a:pPr>
            <a:r>
              <a:rPr sz="3400" spc="-100" dirty="0">
                <a:latin typeface="Times New Roman"/>
                <a:cs typeface="Times New Roman"/>
              </a:rPr>
              <a:t>We</a:t>
            </a:r>
            <a:r>
              <a:rPr sz="3400" spc="-114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have</a:t>
            </a:r>
            <a:r>
              <a:rPr sz="3400" spc="-8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to</a:t>
            </a:r>
            <a:r>
              <a:rPr sz="3400" spc="-8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implement</a:t>
            </a:r>
            <a:r>
              <a:rPr sz="3400" spc="-6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or</a:t>
            </a:r>
            <a:r>
              <a:rPr sz="3400" spc="-6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provide</a:t>
            </a:r>
            <a:r>
              <a:rPr sz="3400" spc="-7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the</a:t>
            </a:r>
            <a:r>
              <a:rPr sz="3400" spc="-7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operations</a:t>
            </a:r>
            <a:r>
              <a:rPr sz="3400" spc="-80" dirty="0">
                <a:latin typeface="Times New Roman"/>
                <a:cs typeface="Times New Roman"/>
              </a:rPr>
              <a:t> </a:t>
            </a:r>
            <a:r>
              <a:rPr sz="3400" spc="-20" dirty="0">
                <a:latin typeface="Times New Roman"/>
                <a:cs typeface="Times New Roman"/>
              </a:rPr>
              <a:t>on</a:t>
            </a:r>
            <a:r>
              <a:rPr sz="3400" spc="-19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Array</a:t>
            </a:r>
            <a:r>
              <a:rPr sz="3400" spc="-45" dirty="0">
                <a:latin typeface="Times New Roman"/>
                <a:cs typeface="Times New Roman"/>
              </a:rPr>
              <a:t> </a:t>
            </a:r>
            <a:r>
              <a:rPr sz="3400" spc="-20" dirty="0">
                <a:latin typeface="Times New Roman"/>
                <a:cs typeface="Times New Roman"/>
              </a:rPr>
              <a:t>data </a:t>
            </a:r>
            <a:r>
              <a:rPr sz="3400" dirty="0">
                <a:latin typeface="Times New Roman"/>
                <a:cs typeface="Times New Roman"/>
              </a:rPr>
              <a:t>structure.</a:t>
            </a:r>
            <a:r>
              <a:rPr sz="3400" spc="-5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So,</a:t>
            </a:r>
            <a:r>
              <a:rPr sz="3400" spc="-7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data</a:t>
            </a:r>
            <a:r>
              <a:rPr sz="3400" spc="-6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structure</a:t>
            </a:r>
            <a:r>
              <a:rPr sz="3400" spc="-5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array</a:t>
            </a:r>
            <a:r>
              <a:rPr sz="3400" spc="-4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and</a:t>
            </a:r>
            <a:r>
              <a:rPr sz="3400" spc="-5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the</a:t>
            </a:r>
            <a:r>
              <a:rPr sz="3400" spc="-7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set</a:t>
            </a:r>
            <a:r>
              <a:rPr sz="3400" spc="-6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of</a:t>
            </a:r>
            <a:r>
              <a:rPr sz="3400" spc="-7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operations</a:t>
            </a:r>
            <a:r>
              <a:rPr sz="3400" spc="-70" dirty="0">
                <a:latin typeface="Times New Roman"/>
                <a:cs typeface="Times New Roman"/>
              </a:rPr>
              <a:t> </a:t>
            </a:r>
            <a:r>
              <a:rPr sz="3400" spc="-10" dirty="0">
                <a:latin typeface="Times New Roman"/>
                <a:cs typeface="Times New Roman"/>
              </a:rPr>
              <a:t>together </a:t>
            </a:r>
            <a:r>
              <a:rPr sz="3400" dirty="0">
                <a:latin typeface="Times New Roman"/>
                <a:cs typeface="Times New Roman"/>
              </a:rPr>
              <a:t>we</a:t>
            </a:r>
            <a:r>
              <a:rPr sz="3400" spc="-8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can</a:t>
            </a:r>
            <a:r>
              <a:rPr sz="3400" spc="-6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call</a:t>
            </a:r>
            <a:r>
              <a:rPr sz="3400" spc="-5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it</a:t>
            </a:r>
            <a:r>
              <a:rPr sz="3400" spc="-6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as</a:t>
            </a:r>
            <a:r>
              <a:rPr sz="3400" spc="-21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Abstract</a:t>
            </a:r>
            <a:r>
              <a:rPr sz="3400" spc="-5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Data</a:t>
            </a:r>
            <a:r>
              <a:rPr sz="3400" spc="-110" dirty="0">
                <a:latin typeface="Times New Roman"/>
                <a:cs typeface="Times New Roman"/>
              </a:rPr>
              <a:t> </a:t>
            </a:r>
            <a:r>
              <a:rPr sz="3400" spc="-40" dirty="0">
                <a:latin typeface="Times New Roman"/>
                <a:cs typeface="Times New Roman"/>
              </a:rPr>
              <a:t>Type</a:t>
            </a:r>
            <a:r>
              <a:rPr sz="3400" spc="-65" dirty="0">
                <a:latin typeface="Times New Roman"/>
                <a:cs typeface="Times New Roman"/>
              </a:rPr>
              <a:t> </a:t>
            </a:r>
            <a:r>
              <a:rPr sz="3400" spc="-10" dirty="0">
                <a:latin typeface="Times New Roman"/>
                <a:cs typeface="Times New Roman"/>
              </a:rPr>
              <a:t>(ADT)</a:t>
            </a:r>
            <a:endParaRPr sz="3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2501" y="20269"/>
            <a:ext cx="1268920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dirty="0">
                <a:latin typeface="Times New Roman"/>
                <a:cs typeface="Times New Roman"/>
              </a:rPr>
              <a:t>Abstract</a:t>
            </a:r>
            <a:r>
              <a:rPr sz="7200" spc="100" dirty="0">
                <a:latin typeface="Times New Roman"/>
                <a:cs typeface="Times New Roman"/>
              </a:rPr>
              <a:t> </a:t>
            </a:r>
            <a:r>
              <a:rPr sz="7200" dirty="0">
                <a:latin typeface="Times New Roman"/>
                <a:cs typeface="Times New Roman"/>
              </a:rPr>
              <a:t>Data</a:t>
            </a:r>
            <a:r>
              <a:rPr sz="7200" spc="125" dirty="0">
                <a:latin typeface="Times New Roman"/>
                <a:cs typeface="Times New Roman"/>
              </a:rPr>
              <a:t> </a:t>
            </a:r>
            <a:r>
              <a:rPr sz="7200" dirty="0">
                <a:latin typeface="Times New Roman"/>
                <a:cs typeface="Times New Roman"/>
              </a:rPr>
              <a:t>Type</a:t>
            </a:r>
            <a:r>
              <a:rPr sz="7200" spc="70" dirty="0">
                <a:latin typeface="Times New Roman"/>
                <a:cs typeface="Times New Roman"/>
              </a:rPr>
              <a:t> </a:t>
            </a:r>
            <a:r>
              <a:rPr sz="7200" dirty="0">
                <a:latin typeface="Times New Roman"/>
                <a:cs typeface="Times New Roman"/>
              </a:rPr>
              <a:t>as</a:t>
            </a:r>
            <a:r>
              <a:rPr sz="7200" spc="50" dirty="0">
                <a:latin typeface="Times New Roman"/>
                <a:cs typeface="Times New Roman"/>
              </a:rPr>
              <a:t> </a:t>
            </a:r>
            <a:r>
              <a:rPr sz="7200" dirty="0">
                <a:latin typeface="Times New Roman"/>
                <a:cs typeface="Times New Roman"/>
              </a:rPr>
              <a:t>an</a:t>
            </a:r>
            <a:r>
              <a:rPr sz="7200" spc="65" dirty="0">
                <a:latin typeface="Times New Roman"/>
                <a:cs typeface="Times New Roman"/>
              </a:rPr>
              <a:t> </a:t>
            </a:r>
            <a:r>
              <a:rPr sz="7200" spc="-10" dirty="0">
                <a:latin typeface="Times New Roman"/>
                <a:cs typeface="Times New Roman"/>
              </a:rPr>
              <a:t>Array</a:t>
            </a:r>
            <a:endParaRPr sz="72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8046" y="1232153"/>
            <a:ext cx="12102465" cy="779843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0380" indent="-48768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500380" algn="l"/>
              </a:tabLst>
            </a:pPr>
            <a:r>
              <a:rPr sz="3400" dirty="0">
                <a:latin typeface="Times New Roman"/>
                <a:cs typeface="Times New Roman"/>
              </a:rPr>
              <a:t>ADT</a:t>
            </a:r>
            <a:r>
              <a:rPr sz="3400" spc="-13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indicates</a:t>
            </a:r>
            <a:r>
              <a:rPr sz="3400" spc="-7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for</a:t>
            </a:r>
            <a:r>
              <a:rPr sz="3400" spc="-21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Abstract</a:t>
            </a:r>
            <a:r>
              <a:rPr sz="3400" spc="-5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Data</a:t>
            </a:r>
            <a:r>
              <a:rPr sz="3400" spc="-114" dirty="0">
                <a:latin typeface="Times New Roman"/>
                <a:cs typeface="Times New Roman"/>
              </a:rPr>
              <a:t> </a:t>
            </a:r>
            <a:r>
              <a:rPr sz="3400" spc="-10" dirty="0">
                <a:latin typeface="Times New Roman"/>
                <a:cs typeface="Times New Roman"/>
              </a:rPr>
              <a:t>Type.</a:t>
            </a:r>
            <a:endParaRPr sz="3400">
              <a:latin typeface="Times New Roman"/>
              <a:cs typeface="Times New Roman"/>
            </a:endParaRPr>
          </a:p>
          <a:p>
            <a:pPr marL="500380" marR="360045" indent="-488315">
              <a:lnSpc>
                <a:spcPct val="140000"/>
              </a:lnSpc>
              <a:spcBef>
                <a:spcPts val="820"/>
              </a:spcBef>
              <a:buFont typeface="Arial MT"/>
              <a:buChar char="•"/>
              <a:tabLst>
                <a:tab pos="500380" algn="l"/>
              </a:tabLst>
            </a:pPr>
            <a:r>
              <a:rPr sz="3400" dirty="0">
                <a:latin typeface="Times New Roman"/>
                <a:cs typeface="Times New Roman"/>
              </a:rPr>
              <a:t>Arrays</a:t>
            </a:r>
            <a:r>
              <a:rPr sz="3400" spc="-8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are</a:t>
            </a:r>
            <a:r>
              <a:rPr sz="3400" spc="-8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defined</a:t>
            </a:r>
            <a:r>
              <a:rPr sz="3400" spc="-7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as</a:t>
            </a:r>
            <a:r>
              <a:rPr sz="3400" spc="-215" dirty="0">
                <a:latin typeface="Times New Roman"/>
                <a:cs typeface="Times New Roman"/>
              </a:rPr>
              <a:t> </a:t>
            </a:r>
            <a:r>
              <a:rPr sz="3400" spc="-10" dirty="0">
                <a:latin typeface="Times New Roman"/>
                <a:cs typeface="Times New Roman"/>
              </a:rPr>
              <a:t>ADT’s</a:t>
            </a:r>
            <a:r>
              <a:rPr sz="3400" spc="-6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because</a:t>
            </a:r>
            <a:r>
              <a:rPr sz="3400" spc="-8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they</a:t>
            </a:r>
            <a:r>
              <a:rPr sz="3400" spc="-8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are</a:t>
            </a:r>
            <a:r>
              <a:rPr sz="3400" spc="-8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capable</a:t>
            </a:r>
            <a:r>
              <a:rPr sz="3400" spc="-7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of</a:t>
            </a:r>
            <a:r>
              <a:rPr sz="3400" spc="-80" dirty="0">
                <a:latin typeface="Times New Roman"/>
                <a:cs typeface="Times New Roman"/>
              </a:rPr>
              <a:t> </a:t>
            </a:r>
            <a:r>
              <a:rPr sz="3400" spc="-10" dirty="0">
                <a:latin typeface="Times New Roman"/>
                <a:cs typeface="Times New Roman"/>
              </a:rPr>
              <a:t>holding </a:t>
            </a:r>
            <a:r>
              <a:rPr sz="3400" dirty="0">
                <a:latin typeface="Times New Roman"/>
                <a:cs typeface="Times New Roman"/>
              </a:rPr>
              <a:t>contiguous</a:t>
            </a:r>
            <a:r>
              <a:rPr sz="3400" spc="-114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elements</a:t>
            </a:r>
            <a:r>
              <a:rPr sz="3400" spc="-5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in</a:t>
            </a:r>
            <a:r>
              <a:rPr sz="3400" spc="-5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the</a:t>
            </a:r>
            <a:r>
              <a:rPr sz="3400" spc="-5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same</a:t>
            </a:r>
            <a:r>
              <a:rPr sz="3400" spc="-60" dirty="0">
                <a:latin typeface="Times New Roman"/>
                <a:cs typeface="Times New Roman"/>
              </a:rPr>
              <a:t> </a:t>
            </a:r>
            <a:r>
              <a:rPr sz="3400" spc="-45" dirty="0">
                <a:latin typeface="Times New Roman"/>
                <a:cs typeface="Times New Roman"/>
              </a:rPr>
              <a:t>order.</a:t>
            </a:r>
            <a:r>
              <a:rPr sz="3400" spc="-16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And</a:t>
            </a:r>
            <a:r>
              <a:rPr sz="3400" spc="-5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they</a:t>
            </a:r>
            <a:r>
              <a:rPr sz="3400" spc="-60" dirty="0">
                <a:latin typeface="Times New Roman"/>
                <a:cs typeface="Times New Roman"/>
              </a:rPr>
              <a:t> </a:t>
            </a:r>
            <a:r>
              <a:rPr sz="3400" spc="-10" dirty="0">
                <a:latin typeface="Times New Roman"/>
                <a:cs typeface="Times New Roman"/>
              </a:rPr>
              <a:t>permit</a:t>
            </a:r>
            <a:endParaRPr sz="3400">
              <a:latin typeface="Times New Roman"/>
              <a:cs typeface="Times New Roman"/>
            </a:endParaRPr>
          </a:p>
          <a:p>
            <a:pPr marL="500380" indent="-487680">
              <a:lnSpc>
                <a:spcPct val="100000"/>
              </a:lnSpc>
              <a:spcBef>
                <a:spcPts val="2450"/>
              </a:spcBef>
              <a:buFont typeface="Arial MT"/>
              <a:buChar char="•"/>
              <a:tabLst>
                <a:tab pos="500380" algn="l"/>
              </a:tabLst>
            </a:pPr>
            <a:r>
              <a:rPr sz="3400" dirty="0">
                <a:latin typeface="Times New Roman"/>
                <a:cs typeface="Times New Roman"/>
              </a:rPr>
              <a:t>access</a:t>
            </a:r>
            <a:r>
              <a:rPr sz="3400" spc="-5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for</a:t>
            </a:r>
            <a:r>
              <a:rPr sz="3400" spc="-5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the</a:t>
            </a:r>
            <a:r>
              <a:rPr sz="3400" spc="-5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specific</a:t>
            </a:r>
            <a:r>
              <a:rPr sz="3400" spc="-4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element</a:t>
            </a:r>
            <a:r>
              <a:rPr sz="3400" spc="-5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via</a:t>
            </a:r>
            <a:r>
              <a:rPr sz="3400" spc="-5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index</a:t>
            </a:r>
            <a:r>
              <a:rPr sz="3400" spc="-6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or</a:t>
            </a:r>
            <a:r>
              <a:rPr sz="3400" spc="-55" dirty="0">
                <a:latin typeface="Times New Roman"/>
                <a:cs typeface="Times New Roman"/>
              </a:rPr>
              <a:t> </a:t>
            </a:r>
            <a:r>
              <a:rPr sz="3400" spc="-10" dirty="0">
                <a:latin typeface="Times New Roman"/>
                <a:cs typeface="Times New Roman"/>
              </a:rPr>
              <a:t>position.</a:t>
            </a:r>
            <a:endParaRPr sz="3400">
              <a:latin typeface="Times New Roman"/>
              <a:cs typeface="Times New Roman"/>
            </a:endParaRPr>
          </a:p>
          <a:p>
            <a:pPr marL="500380" indent="-487680">
              <a:lnSpc>
                <a:spcPct val="100000"/>
              </a:lnSpc>
              <a:spcBef>
                <a:spcPts val="2445"/>
              </a:spcBef>
              <a:buFont typeface="Arial MT"/>
              <a:buChar char="•"/>
              <a:tabLst>
                <a:tab pos="500380" algn="l"/>
              </a:tabLst>
            </a:pPr>
            <a:r>
              <a:rPr sz="3400" dirty="0">
                <a:latin typeface="Times New Roman"/>
                <a:cs typeface="Times New Roman"/>
              </a:rPr>
              <a:t>They</a:t>
            </a:r>
            <a:r>
              <a:rPr sz="3400" spc="-6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are</a:t>
            </a:r>
            <a:r>
              <a:rPr sz="3400" spc="-3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abstract</a:t>
            </a:r>
            <a:r>
              <a:rPr sz="3400" spc="-4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because</a:t>
            </a:r>
            <a:r>
              <a:rPr sz="3400" spc="-5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they</a:t>
            </a:r>
            <a:r>
              <a:rPr sz="3400" spc="-6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can</a:t>
            </a:r>
            <a:r>
              <a:rPr sz="3400" spc="-4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be</a:t>
            </a:r>
            <a:r>
              <a:rPr sz="3400" spc="-5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String,</a:t>
            </a:r>
            <a:r>
              <a:rPr sz="3400" spc="-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int</a:t>
            </a:r>
            <a:r>
              <a:rPr sz="3400" spc="-4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or</a:t>
            </a:r>
            <a:r>
              <a:rPr sz="3400" spc="-55" dirty="0">
                <a:latin typeface="Times New Roman"/>
                <a:cs typeface="Times New Roman"/>
              </a:rPr>
              <a:t> </a:t>
            </a:r>
            <a:r>
              <a:rPr sz="3400" spc="-10" dirty="0">
                <a:latin typeface="Times New Roman"/>
                <a:cs typeface="Times New Roman"/>
              </a:rPr>
              <a:t>Person</a:t>
            </a:r>
            <a:endParaRPr sz="3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450"/>
              </a:spcBef>
            </a:pPr>
            <a:r>
              <a:rPr sz="3400" b="1" dirty="0">
                <a:latin typeface="Times New Roman"/>
                <a:cs typeface="Times New Roman"/>
              </a:rPr>
              <a:t>Example</a:t>
            </a:r>
            <a:r>
              <a:rPr sz="3400" b="1" spc="-85" dirty="0">
                <a:latin typeface="Times New Roman"/>
                <a:cs typeface="Times New Roman"/>
              </a:rPr>
              <a:t> </a:t>
            </a:r>
            <a:r>
              <a:rPr sz="3400" b="1" spc="-50" dirty="0">
                <a:latin typeface="Times New Roman"/>
                <a:cs typeface="Times New Roman"/>
              </a:rPr>
              <a:t>:</a:t>
            </a:r>
            <a:endParaRPr sz="3400">
              <a:latin typeface="Times New Roman"/>
              <a:cs typeface="Times New Roman"/>
            </a:endParaRPr>
          </a:p>
          <a:p>
            <a:pPr marL="12700" marR="6895465">
              <a:lnSpc>
                <a:spcPct val="160000"/>
              </a:lnSpc>
            </a:pPr>
            <a:r>
              <a:rPr sz="3400" dirty="0">
                <a:latin typeface="Times New Roman"/>
                <a:cs typeface="Times New Roman"/>
              </a:rPr>
              <a:t>int[]</a:t>
            </a:r>
            <a:r>
              <a:rPr sz="3400" spc="-25" dirty="0">
                <a:latin typeface="Times New Roman"/>
                <a:cs typeface="Times New Roman"/>
              </a:rPr>
              <a:t> </a:t>
            </a:r>
            <a:r>
              <a:rPr sz="3400" spc="-10" dirty="0">
                <a:latin typeface="Times New Roman"/>
                <a:cs typeface="Times New Roman"/>
              </a:rPr>
              <a:t>arrA</a:t>
            </a:r>
            <a:r>
              <a:rPr sz="3400" spc="-20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=</a:t>
            </a:r>
            <a:r>
              <a:rPr sz="3400" spc="-3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new</a:t>
            </a:r>
            <a:r>
              <a:rPr sz="3400" spc="-40" dirty="0">
                <a:latin typeface="Times New Roman"/>
                <a:cs typeface="Times New Roman"/>
              </a:rPr>
              <a:t> </a:t>
            </a:r>
            <a:r>
              <a:rPr sz="3400" spc="-10" dirty="0">
                <a:latin typeface="Times New Roman"/>
                <a:cs typeface="Times New Roman"/>
              </a:rPr>
              <a:t>int[1]; </a:t>
            </a:r>
            <a:r>
              <a:rPr sz="3400" dirty="0">
                <a:latin typeface="Times New Roman"/>
                <a:cs typeface="Times New Roman"/>
              </a:rPr>
              <a:t>String[]</a:t>
            </a:r>
            <a:r>
              <a:rPr sz="3400" spc="-3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arrB</a:t>
            </a:r>
            <a:r>
              <a:rPr sz="3400" spc="-4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=</a:t>
            </a:r>
            <a:r>
              <a:rPr sz="3400" spc="-6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new</a:t>
            </a:r>
            <a:r>
              <a:rPr sz="3400" spc="-55" dirty="0">
                <a:latin typeface="Times New Roman"/>
                <a:cs typeface="Times New Roman"/>
              </a:rPr>
              <a:t> </a:t>
            </a:r>
            <a:r>
              <a:rPr sz="3400" spc="-10" dirty="0">
                <a:latin typeface="Times New Roman"/>
                <a:cs typeface="Times New Roman"/>
              </a:rPr>
              <a:t>String[1];</a:t>
            </a:r>
            <a:endParaRPr sz="3400">
              <a:latin typeface="Times New Roman"/>
              <a:cs typeface="Times New Roman"/>
            </a:endParaRPr>
          </a:p>
          <a:p>
            <a:pPr marL="12700" marR="5080">
              <a:lnSpc>
                <a:spcPct val="140000"/>
              </a:lnSpc>
              <a:spcBef>
                <a:spcPts val="819"/>
              </a:spcBef>
            </a:pPr>
            <a:r>
              <a:rPr sz="3400" dirty="0">
                <a:latin typeface="Times New Roman"/>
                <a:cs typeface="Times New Roman"/>
              </a:rPr>
              <a:t>Person[]</a:t>
            </a:r>
            <a:r>
              <a:rPr sz="3400" spc="-3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arrC</a:t>
            </a:r>
            <a:r>
              <a:rPr sz="3400" spc="-4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=</a:t>
            </a:r>
            <a:r>
              <a:rPr sz="3400" spc="-6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new</a:t>
            </a:r>
            <a:r>
              <a:rPr sz="3400" spc="-6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Person[3];</a:t>
            </a:r>
            <a:r>
              <a:rPr sz="3400" spc="-3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//</a:t>
            </a:r>
            <a:r>
              <a:rPr sz="3400" spc="-4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where</a:t>
            </a:r>
            <a:r>
              <a:rPr sz="3400" spc="-5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Person</a:t>
            </a:r>
            <a:r>
              <a:rPr sz="3400" spc="-4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is</a:t>
            </a:r>
            <a:r>
              <a:rPr sz="3400" spc="-6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treated</a:t>
            </a:r>
            <a:r>
              <a:rPr sz="3400" spc="-4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as</a:t>
            </a:r>
            <a:r>
              <a:rPr sz="3400" spc="-6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a</a:t>
            </a:r>
            <a:r>
              <a:rPr sz="3400" spc="-50" dirty="0">
                <a:latin typeface="Times New Roman"/>
                <a:cs typeface="Times New Roman"/>
              </a:rPr>
              <a:t> </a:t>
            </a:r>
            <a:r>
              <a:rPr sz="3400" spc="-10" dirty="0">
                <a:latin typeface="Times New Roman"/>
                <a:cs typeface="Times New Roman"/>
              </a:rPr>
              <a:t>defined class</a:t>
            </a:r>
            <a:endParaRPr sz="3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2501" y="20269"/>
            <a:ext cx="1268920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dirty="0">
                <a:latin typeface="Times New Roman"/>
                <a:cs typeface="Times New Roman"/>
              </a:rPr>
              <a:t>Abstract</a:t>
            </a:r>
            <a:r>
              <a:rPr sz="7200" spc="100" dirty="0">
                <a:latin typeface="Times New Roman"/>
                <a:cs typeface="Times New Roman"/>
              </a:rPr>
              <a:t> </a:t>
            </a:r>
            <a:r>
              <a:rPr sz="7200" dirty="0">
                <a:latin typeface="Times New Roman"/>
                <a:cs typeface="Times New Roman"/>
              </a:rPr>
              <a:t>Data</a:t>
            </a:r>
            <a:r>
              <a:rPr sz="7200" spc="125" dirty="0">
                <a:latin typeface="Times New Roman"/>
                <a:cs typeface="Times New Roman"/>
              </a:rPr>
              <a:t> </a:t>
            </a:r>
            <a:r>
              <a:rPr sz="7200" dirty="0">
                <a:latin typeface="Times New Roman"/>
                <a:cs typeface="Times New Roman"/>
              </a:rPr>
              <a:t>Type</a:t>
            </a:r>
            <a:r>
              <a:rPr sz="7200" spc="70" dirty="0">
                <a:latin typeface="Times New Roman"/>
                <a:cs typeface="Times New Roman"/>
              </a:rPr>
              <a:t> </a:t>
            </a:r>
            <a:r>
              <a:rPr sz="7200" dirty="0">
                <a:latin typeface="Times New Roman"/>
                <a:cs typeface="Times New Roman"/>
              </a:rPr>
              <a:t>as</a:t>
            </a:r>
            <a:r>
              <a:rPr sz="7200" spc="50" dirty="0">
                <a:latin typeface="Times New Roman"/>
                <a:cs typeface="Times New Roman"/>
              </a:rPr>
              <a:t> </a:t>
            </a:r>
            <a:r>
              <a:rPr sz="7200" dirty="0">
                <a:latin typeface="Times New Roman"/>
                <a:cs typeface="Times New Roman"/>
              </a:rPr>
              <a:t>an</a:t>
            </a:r>
            <a:r>
              <a:rPr sz="7200" spc="65" dirty="0">
                <a:latin typeface="Times New Roman"/>
                <a:cs typeface="Times New Roman"/>
              </a:rPr>
              <a:t> </a:t>
            </a:r>
            <a:r>
              <a:rPr sz="7200" spc="-10" dirty="0">
                <a:latin typeface="Times New Roman"/>
                <a:cs typeface="Times New Roman"/>
              </a:rPr>
              <a:t>Array</a:t>
            </a:r>
            <a:endParaRPr sz="72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8046" y="1012321"/>
            <a:ext cx="11847195" cy="1580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3400" dirty="0">
                <a:latin typeface="Times New Roman"/>
                <a:cs typeface="Times New Roman"/>
              </a:rPr>
              <a:t>The</a:t>
            </a:r>
            <a:r>
              <a:rPr sz="3400" spc="-6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process</a:t>
            </a:r>
            <a:r>
              <a:rPr sz="3400" spc="-5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of</a:t>
            </a:r>
            <a:r>
              <a:rPr sz="3400" spc="-6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providing</a:t>
            </a:r>
            <a:r>
              <a:rPr sz="3400" spc="-6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only</a:t>
            </a:r>
            <a:r>
              <a:rPr sz="3400" spc="-6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the</a:t>
            </a:r>
            <a:r>
              <a:rPr sz="3400" spc="-7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essentials</a:t>
            </a:r>
            <a:r>
              <a:rPr sz="3400" spc="-5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and</a:t>
            </a:r>
            <a:r>
              <a:rPr sz="3400" spc="-6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hiding</a:t>
            </a:r>
            <a:r>
              <a:rPr sz="3400" spc="-6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the</a:t>
            </a:r>
            <a:r>
              <a:rPr sz="3400" spc="-7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details</a:t>
            </a:r>
            <a:r>
              <a:rPr sz="3400" spc="-55" dirty="0">
                <a:latin typeface="Times New Roman"/>
                <a:cs typeface="Times New Roman"/>
              </a:rPr>
              <a:t> </a:t>
            </a:r>
            <a:r>
              <a:rPr sz="3400" spc="-25" dirty="0">
                <a:latin typeface="Times New Roman"/>
                <a:cs typeface="Times New Roman"/>
              </a:rPr>
              <a:t>is </a:t>
            </a:r>
            <a:r>
              <a:rPr sz="3400" dirty="0">
                <a:latin typeface="Times New Roman"/>
                <a:cs typeface="Times New Roman"/>
              </a:rPr>
              <a:t>known</a:t>
            </a:r>
            <a:r>
              <a:rPr sz="3400" spc="-4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as</a:t>
            </a:r>
            <a:r>
              <a:rPr sz="3400" spc="-40" dirty="0">
                <a:latin typeface="Times New Roman"/>
                <a:cs typeface="Times New Roman"/>
              </a:rPr>
              <a:t> </a:t>
            </a:r>
            <a:r>
              <a:rPr sz="3400" spc="-10" dirty="0">
                <a:latin typeface="Times New Roman"/>
                <a:cs typeface="Times New Roman"/>
              </a:rPr>
              <a:t>abstraction.</a:t>
            </a:r>
            <a:endParaRPr sz="3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2501" y="20269"/>
            <a:ext cx="1268920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dirty="0">
                <a:latin typeface="Times New Roman"/>
                <a:cs typeface="Times New Roman"/>
              </a:rPr>
              <a:t>Abstract</a:t>
            </a:r>
            <a:r>
              <a:rPr sz="7200" spc="100" dirty="0">
                <a:latin typeface="Times New Roman"/>
                <a:cs typeface="Times New Roman"/>
              </a:rPr>
              <a:t> </a:t>
            </a:r>
            <a:r>
              <a:rPr sz="7200" dirty="0">
                <a:latin typeface="Times New Roman"/>
                <a:cs typeface="Times New Roman"/>
              </a:rPr>
              <a:t>Data</a:t>
            </a:r>
            <a:r>
              <a:rPr sz="7200" spc="125" dirty="0">
                <a:latin typeface="Times New Roman"/>
                <a:cs typeface="Times New Roman"/>
              </a:rPr>
              <a:t> </a:t>
            </a:r>
            <a:r>
              <a:rPr sz="7200" dirty="0">
                <a:latin typeface="Times New Roman"/>
                <a:cs typeface="Times New Roman"/>
              </a:rPr>
              <a:t>Type</a:t>
            </a:r>
            <a:r>
              <a:rPr sz="7200" spc="70" dirty="0">
                <a:latin typeface="Times New Roman"/>
                <a:cs typeface="Times New Roman"/>
              </a:rPr>
              <a:t> </a:t>
            </a:r>
            <a:r>
              <a:rPr sz="7200" dirty="0">
                <a:latin typeface="Times New Roman"/>
                <a:cs typeface="Times New Roman"/>
              </a:rPr>
              <a:t>as</a:t>
            </a:r>
            <a:r>
              <a:rPr sz="7200" spc="50" dirty="0">
                <a:latin typeface="Times New Roman"/>
                <a:cs typeface="Times New Roman"/>
              </a:rPr>
              <a:t> </a:t>
            </a:r>
            <a:r>
              <a:rPr sz="7200" dirty="0">
                <a:latin typeface="Times New Roman"/>
                <a:cs typeface="Times New Roman"/>
              </a:rPr>
              <a:t>an</a:t>
            </a:r>
            <a:r>
              <a:rPr sz="7200" spc="65" dirty="0">
                <a:latin typeface="Times New Roman"/>
                <a:cs typeface="Times New Roman"/>
              </a:rPr>
              <a:t> </a:t>
            </a:r>
            <a:r>
              <a:rPr sz="7200" spc="-10" dirty="0">
                <a:latin typeface="Times New Roman"/>
                <a:cs typeface="Times New Roman"/>
              </a:rPr>
              <a:t>Array</a:t>
            </a:r>
            <a:endParaRPr sz="72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5575" y="2819400"/>
            <a:ext cx="12519025" cy="6705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8046" y="1215389"/>
            <a:ext cx="12671425" cy="8070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7685" indent="-514984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527685" algn="l"/>
              </a:tabLst>
            </a:pPr>
            <a:r>
              <a:rPr sz="2900" b="1" dirty="0">
                <a:latin typeface="Times New Roman"/>
                <a:cs typeface="Times New Roman"/>
              </a:rPr>
              <a:t>Display</a:t>
            </a:r>
            <a:r>
              <a:rPr sz="2900" b="1" spc="-40" dirty="0">
                <a:latin typeface="Times New Roman"/>
                <a:cs typeface="Times New Roman"/>
              </a:rPr>
              <a:t> </a:t>
            </a:r>
            <a:r>
              <a:rPr sz="2900" b="1" dirty="0">
                <a:latin typeface="Times New Roman"/>
                <a:cs typeface="Times New Roman"/>
              </a:rPr>
              <a:t>()</a:t>
            </a:r>
            <a:r>
              <a:rPr sz="2900" b="1" spc="-4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–</a:t>
            </a:r>
            <a:r>
              <a:rPr sz="2900" spc="-75" dirty="0">
                <a:latin typeface="Times New Roman"/>
                <a:cs typeface="Times New Roman"/>
              </a:rPr>
              <a:t> </a:t>
            </a:r>
            <a:r>
              <a:rPr sz="2900" spc="-20" dirty="0">
                <a:latin typeface="Times New Roman"/>
                <a:cs typeface="Times New Roman"/>
              </a:rPr>
              <a:t>To</a:t>
            </a:r>
            <a:r>
              <a:rPr sz="2900" spc="-1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Display</a:t>
            </a:r>
            <a:r>
              <a:rPr sz="2900" spc="-3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the</a:t>
            </a:r>
            <a:r>
              <a:rPr sz="2900" spc="-3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entire</a:t>
            </a:r>
            <a:r>
              <a:rPr sz="2900" spc="-2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array</a:t>
            </a:r>
            <a:r>
              <a:rPr sz="2900" spc="-3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on</a:t>
            </a:r>
            <a:r>
              <a:rPr sz="2900" spc="-2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the</a:t>
            </a:r>
            <a:r>
              <a:rPr sz="2900" spc="-30" dirty="0">
                <a:latin typeface="Times New Roman"/>
                <a:cs typeface="Times New Roman"/>
              </a:rPr>
              <a:t> </a:t>
            </a:r>
            <a:r>
              <a:rPr sz="2900" spc="-10" dirty="0">
                <a:latin typeface="Times New Roman"/>
                <a:cs typeface="Times New Roman"/>
              </a:rPr>
              <a:t>screen.</a:t>
            </a:r>
            <a:endParaRPr sz="2900">
              <a:latin typeface="Times New Roman"/>
              <a:cs typeface="Times New Roman"/>
            </a:endParaRPr>
          </a:p>
          <a:p>
            <a:pPr marL="527685" indent="-514984">
              <a:lnSpc>
                <a:spcPct val="100000"/>
              </a:lnSpc>
              <a:spcBef>
                <a:spcPts val="2095"/>
              </a:spcBef>
              <a:buAutoNum type="arabicPeriod"/>
              <a:tabLst>
                <a:tab pos="527685" algn="l"/>
              </a:tabLst>
            </a:pPr>
            <a:r>
              <a:rPr sz="2900" b="1" dirty="0">
                <a:latin typeface="Times New Roman"/>
                <a:cs typeface="Times New Roman"/>
              </a:rPr>
              <a:t>Add(n)</a:t>
            </a:r>
            <a:r>
              <a:rPr sz="2900" b="1" spc="-50" dirty="0">
                <a:latin typeface="Times New Roman"/>
                <a:cs typeface="Times New Roman"/>
              </a:rPr>
              <a:t> </a:t>
            </a:r>
            <a:r>
              <a:rPr sz="2900" b="1" dirty="0">
                <a:latin typeface="Times New Roman"/>
                <a:cs typeface="Times New Roman"/>
              </a:rPr>
              <a:t>/</a:t>
            </a:r>
            <a:r>
              <a:rPr sz="2900" b="1" spc="-175" dirty="0">
                <a:latin typeface="Times New Roman"/>
                <a:cs typeface="Times New Roman"/>
              </a:rPr>
              <a:t> </a:t>
            </a:r>
            <a:r>
              <a:rPr sz="2900" b="1" dirty="0">
                <a:latin typeface="Times New Roman"/>
                <a:cs typeface="Times New Roman"/>
              </a:rPr>
              <a:t>Append(n)</a:t>
            </a:r>
            <a:r>
              <a:rPr sz="2900" b="1" spc="-6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–</a:t>
            </a:r>
            <a:r>
              <a:rPr sz="2900" spc="-70" dirty="0">
                <a:latin typeface="Times New Roman"/>
                <a:cs typeface="Times New Roman"/>
              </a:rPr>
              <a:t> </a:t>
            </a:r>
            <a:r>
              <a:rPr sz="2900" spc="-35" dirty="0">
                <a:latin typeface="Times New Roman"/>
                <a:cs typeface="Times New Roman"/>
              </a:rPr>
              <a:t>To</a:t>
            </a:r>
            <a:r>
              <a:rPr sz="2900" spc="-2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add</a:t>
            </a:r>
            <a:r>
              <a:rPr sz="2900" spc="-3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a</a:t>
            </a:r>
            <a:r>
              <a:rPr sz="2900" spc="-2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particular</a:t>
            </a:r>
            <a:r>
              <a:rPr sz="2900" spc="-4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element on</a:t>
            </a:r>
            <a:r>
              <a:rPr sz="2900" spc="-2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the</a:t>
            </a:r>
            <a:r>
              <a:rPr sz="2900" spc="-2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end</a:t>
            </a:r>
            <a:r>
              <a:rPr sz="2900" spc="-3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of</a:t>
            </a:r>
            <a:r>
              <a:rPr sz="2900" spc="-3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the</a:t>
            </a:r>
            <a:r>
              <a:rPr sz="2900" spc="-20" dirty="0">
                <a:latin typeface="Times New Roman"/>
                <a:cs typeface="Times New Roman"/>
              </a:rPr>
              <a:t> </a:t>
            </a:r>
            <a:r>
              <a:rPr sz="2900" spc="-10" dirty="0">
                <a:latin typeface="Times New Roman"/>
                <a:cs typeface="Times New Roman"/>
              </a:rPr>
              <a:t>array.</a:t>
            </a:r>
            <a:endParaRPr sz="2900">
              <a:latin typeface="Times New Roman"/>
              <a:cs typeface="Times New Roman"/>
            </a:endParaRPr>
          </a:p>
          <a:p>
            <a:pPr marL="527685" indent="-514984">
              <a:lnSpc>
                <a:spcPct val="100000"/>
              </a:lnSpc>
              <a:spcBef>
                <a:spcPts val="2085"/>
              </a:spcBef>
              <a:buAutoNum type="arabicPeriod"/>
              <a:tabLst>
                <a:tab pos="527685" algn="l"/>
              </a:tabLst>
            </a:pPr>
            <a:r>
              <a:rPr sz="2900" b="1" dirty="0">
                <a:latin typeface="Times New Roman"/>
                <a:cs typeface="Times New Roman"/>
              </a:rPr>
              <a:t>Insert</a:t>
            </a:r>
            <a:r>
              <a:rPr sz="2900" b="1" spc="-55" dirty="0">
                <a:latin typeface="Times New Roman"/>
                <a:cs typeface="Times New Roman"/>
              </a:rPr>
              <a:t> </a:t>
            </a:r>
            <a:r>
              <a:rPr sz="2900" b="1" dirty="0">
                <a:latin typeface="Times New Roman"/>
                <a:cs typeface="Times New Roman"/>
              </a:rPr>
              <a:t>(index,</a:t>
            </a:r>
            <a:r>
              <a:rPr sz="2900" b="1" spc="-45" dirty="0">
                <a:latin typeface="Times New Roman"/>
                <a:cs typeface="Times New Roman"/>
              </a:rPr>
              <a:t> </a:t>
            </a:r>
            <a:r>
              <a:rPr sz="2900" b="1" dirty="0">
                <a:latin typeface="Times New Roman"/>
                <a:cs typeface="Times New Roman"/>
              </a:rPr>
              <a:t>n)</a:t>
            </a:r>
            <a:r>
              <a:rPr sz="2900" b="1" spc="-3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–</a:t>
            </a:r>
            <a:r>
              <a:rPr sz="2900" spc="-75" dirty="0">
                <a:latin typeface="Times New Roman"/>
                <a:cs typeface="Times New Roman"/>
              </a:rPr>
              <a:t> </a:t>
            </a:r>
            <a:r>
              <a:rPr sz="2900" spc="-30" dirty="0">
                <a:latin typeface="Times New Roman"/>
                <a:cs typeface="Times New Roman"/>
              </a:rPr>
              <a:t>To</a:t>
            </a:r>
            <a:r>
              <a:rPr sz="2900" spc="-2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add</a:t>
            </a:r>
            <a:r>
              <a:rPr sz="2900" spc="-3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an</a:t>
            </a:r>
            <a:r>
              <a:rPr sz="2900" spc="-1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element</a:t>
            </a:r>
            <a:r>
              <a:rPr sz="2900" spc="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to</a:t>
            </a:r>
            <a:r>
              <a:rPr sz="2900" spc="-3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a</a:t>
            </a:r>
            <a:r>
              <a:rPr sz="2900" spc="-3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particular</a:t>
            </a:r>
            <a:r>
              <a:rPr sz="2900" spc="-35" dirty="0">
                <a:latin typeface="Times New Roman"/>
                <a:cs typeface="Times New Roman"/>
              </a:rPr>
              <a:t> </a:t>
            </a:r>
            <a:r>
              <a:rPr sz="2900" spc="-10" dirty="0">
                <a:latin typeface="Times New Roman"/>
                <a:cs typeface="Times New Roman"/>
              </a:rPr>
              <a:t>index.</a:t>
            </a:r>
            <a:endParaRPr sz="2900">
              <a:latin typeface="Times New Roman"/>
              <a:cs typeface="Times New Roman"/>
            </a:endParaRPr>
          </a:p>
          <a:p>
            <a:pPr marL="527685" indent="-514984">
              <a:lnSpc>
                <a:spcPct val="100000"/>
              </a:lnSpc>
              <a:spcBef>
                <a:spcPts val="2090"/>
              </a:spcBef>
              <a:buAutoNum type="arabicPeriod"/>
              <a:tabLst>
                <a:tab pos="527685" algn="l"/>
              </a:tabLst>
            </a:pPr>
            <a:r>
              <a:rPr sz="2900" b="1" dirty="0">
                <a:latin typeface="Times New Roman"/>
                <a:cs typeface="Times New Roman"/>
              </a:rPr>
              <a:t>Delete</a:t>
            </a:r>
            <a:r>
              <a:rPr sz="2900" b="1" spc="-25" dirty="0">
                <a:latin typeface="Times New Roman"/>
                <a:cs typeface="Times New Roman"/>
              </a:rPr>
              <a:t> </a:t>
            </a:r>
            <a:r>
              <a:rPr sz="2900" b="1" dirty="0">
                <a:latin typeface="Times New Roman"/>
                <a:cs typeface="Times New Roman"/>
              </a:rPr>
              <a:t>(index)</a:t>
            </a:r>
            <a:r>
              <a:rPr sz="2900" b="1" spc="-4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–</a:t>
            </a:r>
            <a:r>
              <a:rPr sz="2900" spc="-80" dirty="0">
                <a:latin typeface="Times New Roman"/>
                <a:cs typeface="Times New Roman"/>
              </a:rPr>
              <a:t> </a:t>
            </a:r>
            <a:r>
              <a:rPr sz="2900" spc="-20" dirty="0">
                <a:latin typeface="Times New Roman"/>
                <a:cs typeface="Times New Roman"/>
              </a:rPr>
              <a:t>To</a:t>
            </a:r>
            <a:r>
              <a:rPr sz="2900" spc="-1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delete</a:t>
            </a:r>
            <a:r>
              <a:rPr sz="2900" spc="-3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an</a:t>
            </a:r>
            <a:r>
              <a:rPr sz="2900" spc="-1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element</a:t>
            </a:r>
            <a:r>
              <a:rPr sz="2900" spc="1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with</a:t>
            </a:r>
            <a:r>
              <a:rPr sz="2900" spc="-3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the</a:t>
            </a:r>
            <a:r>
              <a:rPr sz="2900" spc="-3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help</a:t>
            </a:r>
            <a:r>
              <a:rPr sz="2900" spc="-2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of</a:t>
            </a:r>
            <a:r>
              <a:rPr sz="2900" spc="-3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an</a:t>
            </a:r>
            <a:r>
              <a:rPr sz="2900" spc="-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index</a:t>
            </a:r>
            <a:r>
              <a:rPr sz="2900" spc="-4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in</a:t>
            </a:r>
            <a:r>
              <a:rPr sz="2900" spc="-2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the</a:t>
            </a:r>
            <a:r>
              <a:rPr sz="2900" spc="-2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given</a:t>
            </a:r>
            <a:r>
              <a:rPr sz="2900" spc="-40" dirty="0">
                <a:latin typeface="Times New Roman"/>
                <a:cs typeface="Times New Roman"/>
              </a:rPr>
              <a:t> </a:t>
            </a:r>
            <a:r>
              <a:rPr sz="2900" spc="-10" dirty="0">
                <a:latin typeface="Times New Roman"/>
                <a:cs typeface="Times New Roman"/>
              </a:rPr>
              <a:t>array.</a:t>
            </a:r>
            <a:endParaRPr sz="2900">
              <a:latin typeface="Times New Roman"/>
              <a:cs typeface="Times New Roman"/>
            </a:endParaRPr>
          </a:p>
          <a:p>
            <a:pPr marL="527685" indent="-514984">
              <a:lnSpc>
                <a:spcPct val="100000"/>
              </a:lnSpc>
              <a:spcBef>
                <a:spcPts val="2090"/>
              </a:spcBef>
              <a:buAutoNum type="arabicPeriod"/>
              <a:tabLst>
                <a:tab pos="527685" algn="l"/>
              </a:tabLst>
            </a:pPr>
            <a:r>
              <a:rPr sz="2900" b="1" dirty="0">
                <a:latin typeface="Times New Roman"/>
                <a:cs typeface="Times New Roman"/>
              </a:rPr>
              <a:t>Search</a:t>
            </a:r>
            <a:r>
              <a:rPr sz="2900" b="1" spc="-45" dirty="0">
                <a:latin typeface="Times New Roman"/>
                <a:cs typeface="Times New Roman"/>
              </a:rPr>
              <a:t> </a:t>
            </a:r>
            <a:r>
              <a:rPr sz="2900" b="1" dirty="0">
                <a:latin typeface="Times New Roman"/>
                <a:cs typeface="Times New Roman"/>
              </a:rPr>
              <a:t>(n)</a:t>
            </a:r>
            <a:r>
              <a:rPr sz="2900" b="1" spc="-4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–</a:t>
            </a:r>
            <a:r>
              <a:rPr sz="2900" spc="-75" dirty="0">
                <a:latin typeface="Times New Roman"/>
                <a:cs typeface="Times New Roman"/>
              </a:rPr>
              <a:t> </a:t>
            </a:r>
            <a:r>
              <a:rPr sz="2900" spc="-35" dirty="0">
                <a:latin typeface="Times New Roman"/>
                <a:cs typeface="Times New Roman"/>
              </a:rPr>
              <a:t>To </a:t>
            </a:r>
            <a:r>
              <a:rPr sz="2900" dirty="0">
                <a:latin typeface="Times New Roman"/>
                <a:cs typeface="Times New Roman"/>
              </a:rPr>
              <a:t>check</a:t>
            </a:r>
            <a:r>
              <a:rPr sz="2900" spc="-2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whether</a:t>
            </a:r>
            <a:r>
              <a:rPr sz="2900" spc="-4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the</a:t>
            </a:r>
            <a:r>
              <a:rPr sz="2900" spc="-3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given</a:t>
            </a:r>
            <a:r>
              <a:rPr sz="2900" spc="-4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element is</a:t>
            </a:r>
            <a:r>
              <a:rPr sz="2900" spc="-3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present</a:t>
            </a:r>
            <a:r>
              <a:rPr sz="2900" spc="-3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or</a:t>
            </a:r>
            <a:r>
              <a:rPr sz="2900" spc="-3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not</a:t>
            </a:r>
            <a:r>
              <a:rPr sz="2900" spc="-3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in</a:t>
            </a:r>
            <a:r>
              <a:rPr sz="2900" spc="-3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an</a:t>
            </a:r>
            <a:r>
              <a:rPr sz="2900" spc="-30" dirty="0">
                <a:latin typeface="Times New Roman"/>
                <a:cs typeface="Times New Roman"/>
              </a:rPr>
              <a:t> </a:t>
            </a:r>
            <a:r>
              <a:rPr sz="2900" spc="-10" dirty="0">
                <a:latin typeface="Times New Roman"/>
                <a:cs typeface="Times New Roman"/>
              </a:rPr>
              <a:t>array.</a:t>
            </a:r>
            <a:endParaRPr sz="2900">
              <a:latin typeface="Times New Roman"/>
              <a:cs typeface="Times New Roman"/>
            </a:endParaRPr>
          </a:p>
          <a:p>
            <a:pPr marL="527685" indent="-514984">
              <a:lnSpc>
                <a:spcPct val="100000"/>
              </a:lnSpc>
              <a:spcBef>
                <a:spcPts val="2085"/>
              </a:spcBef>
              <a:buAutoNum type="arabicPeriod"/>
              <a:tabLst>
                <a:tab pos="527685" algn="l"/>
              </a:tabLst>
            </a:pPr>
            <a:r>
              <a:rPr sz="2900" b="1" dirty="0">
                <a:latin typeface="Times New Roman"/>
                <a:cs typeface="Times New Roman"/>
              </a:rPr>
              <a:t>Get</a:t>
            </a:r>
            <a:r>
              <a:rPr sz="2900" b="1" spc="-25" dirty="0">
                <a:latin typeface="Times New Roman"/>
                <a:cs typeface="Times New Roman"/>
              </a:rPr>
              <a:t> </a:t>
            </a:r>
            <a:r>
              <a:rPr sz="2900" b="1" dirty="0">
                <a:latin typeface="Times New Roman"/>
                <a:cs typeface="Times New Roman"/>
              </a:rPr>
              <a:t>(index)</a:t>
            </a:r>
            <a:r>
              <a:rPr sz="2900" b="1" spc="-3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–</a:t>
            </a:r>
            <a:r>
              <a:rPr sz="2900" spc="-1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It</a:t>
            </a:r>
            <a:r>
              <a:rPr sz="2900" spc="-2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will</a:t>
            </a:r>
            <a:r>
              <a:rPr sz="2900" spc="-1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return</a:t>
            </a:r>
            <a:r>
              <a:rPr sz="2900" spc="-3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the</a:t>
            </a:r>
            <a:r>
              <a:rPr sz="2900" spc="-2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element</a:t>
            </a:r>
            <a:r>
              <a:rPr sz="2900" spc="2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which</a:t>
            </a:r>
            <a:r>
              <a:rPr sz="2900" spc="-1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presents</a:t>
            </a:r>
            <a:r>
              <a:rPr sz="2900" spc="-2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on</a:t>
            </a:r>
            <a:r>
              <a:rPr sz="2900" spc="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the</a:t>
            </a:r>
            <a:r>
              <a:rPr sz="2900" spc="-2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given</a:t>
            </a:r>
            <a:r>
              <a:rPr sz="2900" spc="-15" dirty="0">
                <a:latin typeface="Times New Roman"/>
                <a:cs typeface="Times New Roman"/>
              </a:rPr>
              <a:t> </a:t>
            </a:r>
            <a:r>
              <a:rPr sz="2900" spc="-10" dirty="0">
                <a:latin typeface="Times New Roman"/>
                <a:cs typeface="Times New Roman"/>
              </a:rPr>
              <a:t>index.</a:t>
            </a:r>
            <a:endParaRPr sz="2900">
              <a:latin typeface="Times New Roman"/>
              <a:cs typeface="Times New Roman"/>
            </a:endParaRPr>
          </a:p>
          <a:p>
            <a:pPr marL="527685" marR="5080" indent="-515620">
              <a:lnSpc>
                <a:spcPct val="140000"/>
              </a:lnSpc>
              <a:spcBef>
                <a:spcPts val="700"/>
              </a:spcBef>
              <a:buAutoNum type="arabicPeriod"/>
              <a:tabLst>
                <a:tab pos="527685" algn="l"/>
              </a:tabLst>
            </a:pPr>
            <a:r>
              <a:rPr sz="2900" b="1" dirty="0">
                <a:latin typeface="Times New Roman"/>
                <a:cs typeface="Times New Roman"/>
              </a:rPr>
              <a:t>Set</a:t>
            </a:r>
            <a:r>
              <a:rPr sz="2900" b="1" spc="250" dirty="0">
                <a:latin typeface="Times New Roman"/>
                <a:cs typeface="Times New Roman"/>
              </a:rPr>
              <a:t> </a:t>
            </a:r>
            <a:r>
              <a:rPr sz="2900" b="1" dirty="0">
                <a:latin typeface="Times New Roman"/>
                <a:cs typeface="Times New Roman"/>
              </a:rPr>
              <a:t>(index,</a:t>
            </a:r>
            <a:r>
              <a:rPr sz="2900" b="1" spc="270" dirty="0">
                <a:latin typeface="Times New Roman"/>
                <a:cs typeface="Times New Roman"/>
              </a:rPr>
              <a:t> </a:t>
            </a:r>
            <a:r>
              <a:rPr sz="2900" b="1" dirty="0">
                <a:latin typeface="Times New Roman"/>
                <a:cs typeface="Times New Roman"/>
              </a:rPr>
              <a:t>x)</a:t>
            </a:r>
            <a:r>
              <a:rPr sz="2900" b="1" spc="26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–</a:t>
            </a:r>
            <a:r>
              <a:rPr sz="2900" spc="24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It</a:t>
            </a:r>
            <a:r>
              <a:rPr sz="2900" spc="24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will</a:t>
            </a:r>
            <a:r>
              <a:rPr sz="2900" spc="254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change</a:t>
            </a:r>
            <a:r>
              <a:rPr sz="2900" spc="26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the</a:t>
            </a:r>
            <a:r>
              <a:rPr sz="2900" spc="27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element</a:t>
            </a:r>
            <a:r>
              <a:rPr sz="2900" spc="28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with</a:t>
            </a:r>
            <a:r>
              <a:rPr sz="2900" spc="254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the</a:t>
            </a:r>
            <a:r>
              <a:rPr sz="2900" spc="25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new</a:t>
            </a:r>
            <a:r>
              <a:rPr sz="2900" spc="26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element</a:t>
            </a:r>
            <a:r>
              <a:rPr sz="2900" spc="26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at</a:t>
            </a:r>
            <a:r>
              <a:rPr sz="2900" spc="27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a</a:t>
            </a:r>
            <a:r>
              <a:rPr sz="2900" spc="270" dirty="0">
                <a:latin typeface="Times New Roman"/>
                <a:cs typeface="Times New Roman"/>
              </a:rPr>
              <a:t> </a:t>
            </a:r>
            <a:r>
              <a:rPr sz="2900" spc="-10" dirty="0">
                <a:latin typeface="Times New Roman"/>
                <a:cs typeface="Times New Roman"/>
              </a:rPr>
              <a:t>particular index.</a:t>
            </a:r>
            <a:endParaRPr sz="2900">
              <a:latin typeface="Times New Roman"/>
              <a:cs typeface="Times New Roman"/>
            </a:endParaRPr>
          </a:p>
          <a:p>
            <a:pPr marL="527685" indent="-514984">
              <a:lnSpc>
                <a:spcPct val="100000"/>
              </a:lnSpc>
              <a:spcBef>
                <a:spcPts val="2090"/>
              </a:spcBef>
              <a:buAutoNum type="arabicPeriod"/>
              <a:tabLst>
                <a:tab pos="527685" algn="l"/>
              </a:tabLst>
            </a:pPr>
            <a:r>
              <a:rPr sz="2900" b="1" dirty="0">
                <a:latin typeface="Times New Roman"/>
                <a:cs typeface="Times New Roman"/>
              </a:rPr>
              <a:t>Max</a:t>
            </a:r>
            <a:r>
              <a:rPr sz="2900" b="1" spc="-20" dirty="0">
                <a:latin typeface="Times New Roman"/>
                <a:cs typeface="Times New Roman"/>
              </a:rPr>
              <a:t> </a:t>
            </a:r>
            <a:r>
              <a:rPr sz="2900" b="1" dirty="0">
                <a:latin typeface="Times New Roman"/>
                <a:cs typeface="Times New Roman"/>
              </a:rPr>
              <a:t>()</a:t>
            </a:r>
            <a:r>
              <a:rPr sz="2900" b="1" spc="-25" dirty="0">
                <a:latin typeface="Times New Roman"/>
                <a:cs typeface="Times New Roman"/>
              </a:rPr>
              <a:t> </a:t>
            </a:r>
            <a:r>
              <a:rPr sz="2900" b="1" dirty="0">
                <a:latin typeface="Times New Roman"/>
                <a:cs typeface="Times New Roman"/>
              </a:rPr>
              <a:t>/</a:t>
            </a:r>
            <a:r>
              <a:rPr sz="2900" b="1" spc="-15" dirty="0">
                <a:latin typeface="Times New Roman"/>
                <a:cs typeface="Times New Roman"/>
              </a:rPr>
              <a:t> </a:t>
            </a:r>
            <a:r>
              <a:rPr sz="2900" b="1" dirty="0">
                <a:latin typeface="Times New Roman"/>
                <a:cs typeface="Times New Roman"/>
              </a:rPr>
              <a:t>Min</a:t>
            </a:r>
            <a:r>
              <a:rPr sz="2900" b="1" spc="-15" dirty="0">
                <a:latin typeface="Times New Roman"/>
                <a:cs typeface="Times New Roman"/>
              </a:rPr>
              <a:t> </a:t>
            </a:r>
            <a:r>
              <a:rPr sz="2900" b="1" dirty="0">
                <a:latin typeface="Times New Roman"/>
                <a:cs typeface="Times New Roman"/>
              </a:rPr>
              <a:t>()</a:t>
            </a:r>
            <a:r>
              <a:rPr sz="2900" b="1" spc="-2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–</a:t>
            </a:r>
            <a:r>
              <a:rPr sz="2900" spc="-7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These</a:t>
            </a:r>
            <a:r>
              <a:rPr sz="2900" spc="-1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will</a:t>
            </a:r>
            <a:r>
              <a:rPr sz="2900" spc="-3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return</a:t>
            </a:r>
            <a:r>
              <a:rPr sz="2900" spc="-2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the</a:t>
            </a:r>
            <a:r>
              <a:rPr sz="2900" spc="-2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max</a:t>
            </a:r>
            <a:r>
              <a:rPr sz="2900" spc="2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and</a:t>
            </a:r>
            <a:r>
              <a:rPr sz="2900" spc="-2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min</a:t>
            </a:r>
            <a:r>
              <a:rPr sz="2900" spc="1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element</a:t>
            </a:r>
            <a:r>
              <a:rPr sz="2900" spc="1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in</a:t>
            </a:r>
            <a:r>
              <a:rPr sz="2900" spc="-1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the</a:t>
            </a:r>
            <a:r>
              <a:rPr sz="2900" spc="-2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given</a:t>
            </a:r>
            <a:r>
              <a:rPr sz="2900" spc="-20" dirty="0">
                <a:latin typeface="Times New Roman"/>
                <a:cs typeface="Times New Roman"/>
              </a:rPr>
              <a:t> </a:t>
            </a:r>
            <a:r>
              <a:rPr sz="2900" spc="-10" dirty="0">
                <a:latin typeface="Times New Roman"/>
                <a:cs typeface="Times New Roman"/>
              </a:rPr>
              <a:t>array.</a:t>
            </a:r>
            <a:endParaRPr sz="2900">
              <a:latin typeface="Times New Roman"/>
              <a:cs typeface="Times New Roman"/>
            </a:endParaRPr>
          </a:p>
          <a:p>
            <a:pPr marL="527685" indent="-514984">
              <a:lnSpc>
                <a:spcPct val="100000"/>
              </a:lnSpc>
              <a:spcBef>
                <a:spcPts val="2090"/>
              </a:spcBef>
              <a:buAutoNum type="arabicPeriod"/>
              <a:tabLst>
                <a:tab pos="527685" algn="l"/>
              </a:tabLst>
            </a:pPr>
            <a:r>
              <a:rPr sz="2900" b="1" dirty="0">
                <a:latin typeface="Times New Roman"/>
                <a:cs typeface="Times New Roman"/>
              </a:rPr>
              <a:t>Reverse</a:t>
            </a:r>
            <a:r>
              <a:rPr sz="2900" b="1" spc="-15" dirty="0">
                <a:latin typeface="Times New Roman"/>
                <a:cs typeface="Times New Roman"/>
              </a:rPr>
              <a:t> </a:t>
            </a:r>
            <a:r>
              <a:rPr sz="2900" b="1" dirty="0">
                <a:latin typeface="Times New Roman"/>
                <a:cs typeface="Times New Roman"/>
              </a:rPr>
              <a:t>()</a:t>
            </a:r>
            <a:r>
              <a:rPr sz="2900" b="1" spc="-2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–</a:t>
            </a:r>
            <a:r>
              <a:rPr sz="2900" spc="-2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It</a:t>
            </a:r>
            <a:r>
              <a:rPr sz="2900" spc="-2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will</a:t>
            </a:r>
            <a:r>
              <a:rPr sz="2900" spc="-3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reverse</a:t>
            </a:r>
            <a:r>
              <a:rPr sz="2900" spc="-3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the</a:t>
            </a:r>
            <a:r>
              <a:rPr sz="2900" spc="-3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order</a:t>
            </a:r>
            <a:r>
              <a:rPr sz="2900" spc="-3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of</a:t>
            </a:r>
            <a:r>
              <a:rPr sz="2900" spc="-1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elements</a:t>
            </a:r>
            <a:r>
              <a:rPr sz="2900" spc="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in</a:t>
            </a:r>
            <a:r>
              <a:rPr sz="2900" spc="-2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the</a:t>
            </a:r>
            <a:r>
              <a:rPr sz="2900" spc="-1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given</a:t>
            </a:r>
            <a:r>
              <a:rPr sz="2900" spc="-30" dirty="0">
                <a:latin typeface="Times New Roman"/>
                <a:cs typeface="Times New Roman"/>
              </a:rPr>
              <a:t> </a:t>
            </a:r>
            <a:r>
              <a:rPr sz="2900" spc="-10" dirty="0">
                <a:latin typeface="Times New Roman"/>
                <a:cs typeface="Times New Roman"/>
              </a:rPr>
              <a:t>array.</a:t>
            </a:r>
            <a:endParaRPr sz="2900">
              <a:latin typeface="Times New Roman"/>
              <a:cs typeface="Times New Roman"/>
            </a:endParaRPr>
          </a:p>
          <a:p>
            <a:pPr marL="527685" marR="5080" indent="-515620">
              <a:lnSpc>
                <a:spcPct val="140000"/>
              </a:lnSpc>
              <a:spcBef>
                <a:spcPts val="695"/>
              </a:spcBef>
              <a:buAutoNum type="arabicPeriod"/>
              <a:tabLst>
                <a:tab pos="527685" algn="l"/>
              </a:tabLst>
            </a:pPr>
            <a:r>
              <a:rPr sz="2900" b="1" dirty="0">
                <a:latin typeface="Times New Roman"/>
                <a:cs typeface="Times New Roman"/>
              </a:rPr>
              <a:t>Shift</a:t>
            </a:r>
            <a:r>
              <a:rPr sz="2900" b="1" spc="295" dirty="0">
                <a:latin typeface="Times New Roman"/>
                <a:cs typeface="Times New Roman"/>
              </a:rPr>
              <a:t> </a:t>
            </a:r>
            <a:r>
              <a:rPr sz="2900" b="1" dirty="0">
                <a:latin typeface="Times New Roman"/>
                <a:cs typeface="Times New Roman"/>
              </a:rPr>
              <a:t>()</a:t>
            </a:r>
            <a:r>
              <a:rPr sz="2900" b="1" spc="32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–</a:t>
            </a:r>
            <a:r>
              <a:rPr sz="2900" spc="30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It</a:t>
            </a:r>
            <a:r>
              <a:rPr sz="2900" spc="31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will</a:t>
            </a:r>
            <a:r>
              <a:rPr sz="2900" spc="31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shift</a:t>
            </a:r>
            <a:r>
              <a:rPr sz="2900" spc="30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the</a:t>
            </a:r>
            <a:r>
              <a:rPr sz="2900" spc="32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whole</a:t>
            </a:r>
            <a:r>
              <a:rPr sz="2900" spc="32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elements</a:t>
            </a:r>
            <a:r>
              <a:rPr sz="2900" spc="33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either</a:t>
            </a:r>
            <a:r>
              <a:rPr sz="2900" spc="32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on</a:t>
            </a:r>
            <a:r>
              <a:rPr sz="2900" spc="33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the</a:t>
            </a:r>
            <a:r>
              <a:rPr sz="2900" spc="33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left</a:t>
            </a:r>
            <a:r>
              <a:rPr sz="2900" spc="31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or</a:t>
            </a:r>
            <a:r>
              <a:rPr sz="2900" spc="31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right</a:t>
            </a:r>
            <a:r>
              <a:rPr sz="2900" spc="31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side</a:t>
            </a:r>
            <a:r>
              <a:rPr sz="2900" spc="32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by</a:t>
            </a:r>
            <a:r>
              <a:rPr sz="2900" spc="320" dirty="0">
                <a:latin typeface="Times New Roman"/>
                <a:cs typeface="Times New Roman"/>
              </a:rPr>
              <a:t> </a:t>
            </a:r>
            <a:r>
              <a:rPr sz="2900" spc="-25" dirty="0">
                <a:latin typeface="Times New Roman"/>
                <a:cs typeface="Times New Roman"/>
              </a:rPr>
              <a:t>the </a:t>
            </a:r>
            <a:r>
              <a:rPr sz="2900" dirty="0">
                <a:latin typeface="Times New Roman"/>
                <a:cs typeface="Times New Roman"/>
              </a:rPr>
              <a:t>given</a:t>
            </a:r>
            <a:r>
              <a:rPr sz="2900" spc="-15" dirty="0">
                <a:latin typeface="Times New Roman"/>
                <a:cs typeface="Times New Roman"/>
              </a:rPr>
              <a:t> </a:t>
            </a:r>
            <a:r>
              <a:rPr sz="2900" spc="-10" dirty="0">
                <a:latin typeface="Times New Roman"/>
                <a:cs typeface="Times New Roman"/>
              </a:rPr>
              <a:t>number.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76934" y="20269"/>
            <a:ext cx="1064069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dirty="0">
                <a:latin typeface="Times New Roman"/>
                <a:cs typeface="Times New Roman"/>
              </a:rPr>
              <a:t>OPERATION</a:t>
            </a:r>
            <a:r>
              <a:rPr sz="7200" spc="110" dirty="0">
                <a:latin typeface="Times New Roman"/>
                <a:cs typeface="Times New Roman"/>
              </a:rPr>
              <a:t> </a:t>
            </a:r>
            <a:r>
              <a:rPr sz="7200" dirty="0">
                <a:latin typeface="Times New Roman"/>
                <a:cs typeface="Times New Roman"/>
              </a:rPr>
              <a:t>OF</a:t>
            </a:r>
            <a:r>
              <a:rPr sz="7200" spc="65" dirty="0">
                <a:latin typeface="Times New Roman"/>
                <a:cs typeface="Times New Roman"/>
              </a:rPr>
              <a:t> </a:t>
            </a:r>
            <a:r>
              <a:rPr sz="7200" spc="-10" dirty="0">
                <a:latin typeface="Times New Roman"/>
                <a:cs typeface="Times New Roman"/>
              </a:rPr>
              <a:t>ARRAY</a:t>
            </a:r>
            <a:endParaRPr sz="72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8046" y="1012321"/>
            <a:ext cx="12670155" cy="7436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8255" algn="just">
              <a:lnSpc>
                <a:spcPct val="150000"/>
              </a:lnSpc>
              <a:spcBef>
                <a:spcPts val="95"/>
              </a:spcBef>
            </a:pPr>
            <a:r>
              <a:rPr sz="3400" dirty="0">
                <a:latin typeface="Times New Roman"/>
                <a:cs typeface="Times New Roman"/>
              </a:rPr>
              <a:t>The</a:t>
            </a:r>
            <a:r>
              <a:rPr sz="3400" spc="27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primary</a:t>
            </a:r>
            <a:r>
              <a:rPr sz="3400" spc="26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goal</a:t>
            </a:r>
            <a:r>
              <a:rPr sz="3400" spc="27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is</a:t>
            </a:r>
            <a:r>
              <a:rPr sz="3400" spc="26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to</a:t>
            </a:r>
            <a:r>
              <a:rPr sz="3400" spc="27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merge</a:t>
            </a:r>
            <a:r>
              <a:rPr sz="3400" spc="27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two</a:t>
            </a:r>
            <a:r>
              <a:rPr sz="3400" spc="27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sorted</a:t>
            </a:r>
            <a:r>
              <a:rPr sz="3400" spc="26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arrays</a:t>
            </a:r>
            <a:r>
              <a:rPr sz="3400" spc="27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in</a:t>
            </a:r>
            <a:r>
              <a:rPr sz="3400" spc="27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ascending</a:t>
            </a:r>
            <a:r>
              <a:rPr sz="3400" spc="28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order</a:t>
            </a:r>
            <a:r>
              <a:rPr sz="3400" spc="260" dirty="0">
                <a:latin typeface="Times New Roman"/>
                <a:cs typeface="Times New Roman"/>
              </a:rPr>
              <a:t> </a:t>
            </a:r>
            <a:r>
              <a:rPr sz="3400" spc="-25" dirty="0">
                <a:latin typeface="Times New Roman"/>
                <a:cs typeface="Times New Roman"/>
              </a:rPr>
              <a:t>and </a:t>
            </a:r>
            <a:r>
              <a:rPr sz="3400" dirty="0">
                <a:latin typeface="Times New Roman"/>
                <a:cs typeface="Times New Roman"/>
              </a:rPr>
              <a:t>display</a:t>
            </a:r>
            <a:r>
              <a:rPr sz="3400" spc="-4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the</a:t>
            </a:r>
            <a:r>
              <a:rPr sz="3400" spc="-6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results</a:t>
            </a:r>
            <a:r>
              <a:rPr sz="3400" spc="-3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as</a:t>
            </a:r>
            <a:r>
              <a:rPr sz="3400" spc="-60" dirty="0">
                <a:latin typeface="Times New Roman"/>
                <a:cs typeface="Times New Roman"/>
              </a:rPr>
              <a:t> </a:t>
            </a:r>
            <a:r>
              <a:rPr sz="3400" spc="-10" dirty="0">
                <a:latin typeface="Times New Roman"/>
                <a:cs typeface="Times New Roman"/>
              </a:rPr>
              <a:t>output.</a:t>
            </a:r>
            <a:endParaRPr sz="3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845"/>
              </a:spcBef>
            </a:pPr>
            <a:endParaRPr sz="34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50000"/>
              </a:lnSpc>
            </a:pPr>
            <a:r>
              <a:rPr sz="3400" dirty="0">
                <a:latin typeface="Times New Roman"/>
                <a:cs typeface="Times New Roman"/>
              </a:rPr>
              <a:t>Combining</a:t>
            </a:r>
            <a:r>
              <a:rPr sz="3400" spc="74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two</a:t>
            </a:r>
            <a:r>
              <a:rPr sz="3400" spc="73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arrays</a:t>
            </a:r>
            <a:r>
              <a:rPr sz="3400" spc="73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into</a:t>
            </a:r>
            <a:r>
              <a:rPr sz="3400" spc="74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a</a:t>
            </a:r>
            <a:r>
              <a:rPr sz="3400" spc="73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single</a:t>
            </a:r>
            <a:r>
              <a:rPr sz="3400" spc="74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array</a:t>
            </a:r>
            <a:r>
              <a:rPr sz="3400" spc="73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is</a:t>
            </a:r>
            <a:r>
              <a:rPr sz="3400" spc="73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known</a:t>
            </a:r>
            <a:r>
              <a:rPr sz="3400" spc="73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as</a:t>
            </a:r>
            <a:r>
              <a:rPr sz="3400" spc="72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merging</a:t>
            </a:r>
            <a:r>
              <a:rPr sz="3400" spc="740" dirty="0">
                <a:latin typeface="Times New Roman"/>
                <a:cs typeface="Times New Roman"/>
              </a:rPr>
              <a:t> </a:t>
            </a:r>
            <a:r>
              <a:rPr sz="3400" spc="-25" dirty="0">
                <a:latin typeface="Times New Roman"/>
                <a:cs typeface="Times New Roman"/>
              </a:rPr>
              <a:t>two </a:t>
            </a:r>
            <a:r>
              <a:rPr sz="3400" dirty="0">
                <a:latin typeface="Times New Roman"/>
                <a:cs typeface="Times New Roman"/>
              </a:rPr>
              <a:t>arrays.</a:t>
            </a:r>
            <a:r>
              <a:rPr sz="3400" spc="56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For</a:t>
            </a:r>
            <a:r>
              <a:rPr sz="3400" spc="56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example,</a:t>
            </a:r>
            <a:r>
              <a:rPr sz="3400" spc="58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if</a:t>
            </a:r>
            <a:r>
              <a:rPr sz="3400" spc="58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the</a:t>
            </a:r>
            <a:r>
              <a:rPr sz="3400" spc="58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first</a:t>
            </a:r>
            <a:r>
              <a:rPr sz="3400" spc="58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array</a:t>
            </a:r>
            <a:r>
              <a:rPr sz="3400" spc="58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has</a:t>
            </a:r>
            <a:r>
              <a:rPr sz="3400" spc="57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5</a:t>
            </a:r>
            <a:r>
              <a:rPr sz="3400" spc="57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elements</a:t>
            </a:r>
            <a:r>
              <a:rPr sz="3400" spc="58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and</a:t>
            </a:r>
            <a:r>
              <a:rPr sz="3400" spc="58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the</a:t>
            </a:r>
            <a:r>
              <a:rPr sz="3400" spc="560" dirty="0">
                <a:latin typeface="Times New Roman"/>
                <a:cs typeface="Times New Roman"/>
              </a:rPr>
              <a:t> </a:t>
            </a:r>
            <a:r>
              <a:rPr sz="3400" spc="-10" dirty="0">
                <a:latin typeface="Times New Roman"/>
                <a:cs typeface="Times New Roman"/>
              </a:rPr>
              <a:t>second </a:t>
            </a:r>
            <a:r>
              <a:rPr sz="3400" dirty="0">
                <a:latin typeface="Times New Roman"/>
                <a:cs typeface="Times New Roman"/>
              </a:rPr>
              <a:t>array</a:t>
            </a:r>
            <a:r>
              <a:rPr sz="3400" spc="21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has</a:t>
            </a:r>
            <a:r>
              <a:rPr sz="3400" spc="21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4,</a:t>
            </a:r>
            <a:r>
              <a:rPr sz="3400" spc="21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the</a:t>
            </a:r>
            <a:r>
              <a:rPr sz="3400" spc="204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resultant</a:t>
            </a:r>
            <a:r>
              <a:rPr sz="3400" spc="23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array</a:t>
            </a:r>
            <a:r>
              <a:rPr sz="3400" spc="22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will</a:t>
            </a:r>
            <a:r>
              <a:rPr sz="3400" spc="21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have</a:t>
            </a:r>
            <a:r>
              <a:rPr sz="3400" spc="21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9</a:t>
            </a:r>
            <a:r>
              <a:rPr sz="3400" spc="21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elements.</a:t>
            </a:r>
            <a:r>
              <a:rPr sz="3400" spc="204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A</a:t>
            </a:r>
            <a:r>
              <a:rPr sz="3400" spc="1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merged</a:t>
            </a:r>
            <a:r>
              <a:rPr sz="3400" spc="22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array</a:t>
            </a:r>
            <a:r>
              <a:rPr sz="3400" spc="215" dirty="0">
                <a:latin typeface="Times New Roman"/>
                <a:cs typeface="Times New Roman"/>
              </a:rPr>
              <a:t> </a:t>
            </a:r>
            <a:r>
              <a:rPr sz="3400" spc="-25" dirty="0">
                <a:latin typeface="Times New Roman"/>
                <a:cs typeface="Times New Roman"/>
              </a:rPr>
              <a:t>is </a:t>
            </a:r>
            <a:r>
              <a:rPr sz="3400" dirty="0">
                <a:latin typeface="Times New Roman"/>
                <a:cs typeface="Times New Roman"/>
              </a:rPr>
              <a:t>the</a:t>
            </a:r>
            <a:r>
              <a:rPr sz="3400" spc="-4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result</a:t>
            </a:r>
            <a:r>
              <a:rPr sz="3400" spc="-2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of</a:t>
            </a:r>
            <a:r>
              <a:rPr sz="3400" spc="-5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this</a:t>
            </a:r>
            <a:r>
              <a:rPr sz="3400" spc="-35" dirty="0">
                <a:latin typeface="Times New Roman"/>
                <a:cs typeface="Times New Roman"/>
              </a:rPr>
              <a:t> </a:t>
            </a:r>
            <a:r>
              <a:rPr sz="3400" spc="-10" dirty="0">
                <a:latin typeface="Times New Roman"/>
                <a:cs typeface="Times New Roman"/>
              </a:rPr>
              <a:t>process.</a:t>
            </a:r>
            <a:endParaRPr sz="3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975"/>
              </a:spcBef>
            </a:pPr>
            <a:endParaRPr sz="3400">
              <a:latin typeface="Times New Roman"/>
              <a:cs typeface="Times New Roman"/>
            </a:endParaRPr>
          </a:p>
          <a:p>
            <a:pPr marL="120650" algn="just">
              <a:lnSpc>
                <a:spcPct val="100000"/>
              </a:lnSpc>
            </a:pPr>
            <a:r>
              <a:rPr sz="3400" dirty="0">
                <a:latin typeface="Times New Roman"/>
                <a:cs typeface="Times New Roman"/>
              </a:rPr>
              <a:t>If</a:t>
            </a:r>
            <a:r>
              <a:rPr sz="3400" spc="-5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you</a:t>
            </a:r>
            <a:r>
              <a:rPr sz="3400" spc="-6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are</a:t>
            </a:r>
            <a:r>
              <a:rPr sz="3400" spc="-4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unfamiliar</a:t>
            </a:r>
            <a:r>
              <a:rPr sz="3400" spc="-3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with</a:t>
            </a:r>
            <a:r>
              <a:rPr sz="3400" spc="-5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the</a:t>
            </a:r>
            <a:r>
              <a:rPr sz="3400" spc="-5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concept</a:t>
            </a:r>
            <a:r>
              <a:rPr sz="3400" spc="-6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of</a:t>
            </a:r>
            <a:r>
              <a:rPr sz="3400" spc="-6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an</a:t>
            </a:r>
            <a:r>
              <a:rPr sz="3400" spc="-60" dirty="0">
                <a:latin typeface="Times New Roman"/>
                <a:cs typeface="Times New Roman"/>
              </a:rPr>
              <a:t> </a:t>
            </a:r>
            <a:r>
              <a:rPr sz="3400" spc="-20" dirty="0">
                <a:latin typeface="Times New Roman"/>
                <a:cs typeface="Times New Roman"/>
              </a:rPr>
              <a:t>array,</a:t>
            </a:r>
            <a:r>
              <a:rPr sz="3400" spc="-5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let's</a:t>
            </a:r>
            <a:r>
              <a:rPr sz="3400" spc="-5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see</a:t>
            </a:r>
            <a:r>
              <a:rPr sz="3400" spc="-5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the</a:t>
            </a:r>
            <a:r>
              <a:rPr sz="3400" spc="-5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example</a:t>
            </a:r>
            <a:r>
              <a:rPr sz="3400" spc="-45" dirty="0">
                <a:latin typeface="Times New Roman"/>
                <a:cs typeface="Times New Roman"/>
              </a:rPr>
              <a:t> </a:t>
            </a:r>
            <a:r>
              <a:rPr sz="3400" spc="-50" dirty="0">
                <a:latin typeface="Times New Roman"/>
                <a:cs typeface="Times New Roman"/>
              </a:rPr>
              <a:t>:</a:t>
            </a:r>
            <a:endParaRPr sz="3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23773" y="20269"/>
            <a:ext cx="1214247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dirty="0">
                <a:latin typeface="Times New Roman"/>
                <a:cs typeface="Times New Roman"/>
              </a:rPr>
              <a:t>MERGING</a:t>
            </a:r>
            <a:r>
              <a:rPr sz="7200" spc="100" dirty="0">
                <a:latin typeface="Times New Roman"/>
                <a:cs typeface="Times New Roman"/>
              </a:rPr>
              <a:t> </a:t>
            </a:r>
            <a:r>
              <a:rPr sz="7200" dirty="0">
                <a:latin typeface="Times New Roman"/>
                <a:cs typeface="Times New Roman"/>
              </a:rPr>
              <a:t>OF</a:t>
            </a:r>
            <a:r>
              <a:rPr sz="7200" spc="65" dirty="0">
                <a:latin typeface="Times New Roman"/>
                <a:cs typeface="Times New Roman"/>
              </a:rPr>
              <a:t> </a:t>
            </a:r>
            <a:r>
              <a:rPr sz="7200" dirty="0">
                <a:latin typeface="Times New Roman"/>
                <a:cs typeface="Times New Roman"/>
              </a:rPr>
              <a:t>TWO</a:t>
            </a:r>
            <a:r>
              <a:rPr sz="7200" spc="70" dirty="0">
                <a:latin typeface="Times New Roman"/>
                <a:cs typeface="Times New Roman"/>
              </a:rPr>
              <a:t> </a:t>
            </a:r>
            <a:r>
              <a:rPr sz="7200" spc="-10" dirty="0">
                <a:latin typeface="Times New Roman"/>
                <a:cs typeface="Times New Roman"/>
              </a:rPr>
              <a:t>ARRAY</a:t>
            </a:r>
            <a:endParaRPr sz="72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8046" y="1271777"/>
            <a:ext cx="12639040" cy="40671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0">
              <a:lnSpc>
                <a:spcPct val="100000"/>
              </a:lnSpc>
              <a:spcBef>
                <a:spcPts val="95"/>
              </a:spcBef>
            </a:pPr>
            <a:r>
              <a:rPr sz="3400" dirty="0">
                <a:latin typeface="Times New Roman"/>
                <a:cs typeface="Times New Roman"/>
              </a:rPr>
              <a:t>If</a:t>
            </a:r>
            <a:r>
              <a:rPr sz="3400" spc="-5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you</a:t>
            </a:r>
            <a:r>
              <a:rPr sz="3400" spc="-6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are</a:t>
            </a:r>
            <a:r>
              <a:rPr sz="3400" spc="-4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unfamiliar</a:t>
            </a:r>
            <a:r>
              <a:rPr sz="3400" spc="-3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with</a:t>
            </a:r>
            <a:r>
              <a:rPr sz="3400" spc="-5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the</a:t>
            </a:r>
            <a:r>
              <a:rPr sz="3400" spc="-5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concept</a:t>
            </a:r>
            <a:r>
              <a:rPr sz="3400" spc="-6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of</a:t>
            </a:r>
            <a:r>
              <a:rPr sz="3400" spc="-6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an</a:t>
            </a:r>
            <a:r>
              <a:rPr sz="3400" spc="-60" dirty="0">
                <a:latin typeface="Times New Roman"/>
                <a:cs typeface="Times New Roman"/>
              </a:rPr>
              <a:t> </a:t>
            </a:r>
            <a:r>
              <a:rPr sz="3400" spc="-20" dirty="0">
                <a:latin typeface="Times New Roman"/>
                <a:cs typeface="Times New Roman"/>
              </a:rPr>
              <a:t>array,</a:t>
            </a:r>
            <a:r>
              <a:rPr sz="3400" spc="-5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let's</a:t>
            </a:r>
            <a:r>
              <a:rPr sz="3400" spc="-5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see</a:t>
            </a:r>
            <a:r>
              <a:rPr sz="3400" spc="-5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the</a:t>
            </a:r>
            <a:r>
              <a:rPr sz="3400" spc="-5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example</a:t>
            </a:r>
            <a:r>
              <a:rPr sz="3400" spc="-45" dirty="0">
                <a:latin typeface="Times New Roman"/>
                <a:cs typeface="Times New Roman"/>
              </a:rPr>
              <a:t> </a:t>
            </a:r>
            <a:r>
              <a:rPr sz="3400" spc="-50" dirty="0">
                <a:latin typeface="Times New Roman"/>
                <a:cs typeface="Times New Roman"/>
              </a:rPr>
              <a:t>:</a:t>
            </a:r>
            <a:endParaRPr sz="3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860"/>
              </a:spcBef>
            </a:pPr>
            <a:r>
              <a:rPr sz="3400" spc="-10" dirty="0">
                <a:latin typeface="Times New Roman"/>
                <a:cs typeface="Times New Roman"/>
              </a:rPr>
              <a:t>Input:</a:t>
            </a:r>
            <a:endParaRPr sz="3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855"/>
              </a:spcBef>
            </a:pPr>
            <a:r>
              <a:rPr sz="3400" b="1" spc="-10" dirty="0">
                <a:latin typeface="Times New Roman"/>
                <a:cs typeface="Times New Roman"/>
              </a:rPr>
              <a:t>1st</a:t>
            </a:r>
            <a:r>
              <a:rPr sz="3400" b="1" spc="-204" dirty="0">
                <a:latin typeface="Times New Roman"/>
                <a:cs typeface="Times New Roman"/>
              </a:rPr>
              <a:t> </a:t>
            </a:r>
            <a:r>
              <a:rPr sz="3400" b="1" dirty="0">
                <a:latin typeface="Times New Roman"/>
                <a:cs typeface="Times New Roman"/>
              </a:rPr>
              <a:t>Array</a:t>
            </a:r>
            <a:r>
              <a:rPr sz="3400" b="1" spc="-20" dirty="0">
                <a:latin typeface="Times New Roman"/>
                <a:cs typeface="Times New Roman"/>
              </a:rPr>
              <a:t> </a:t>
            </a:r>
            <a:r>
              <a:rPr sz="3400" b="1" dirty="0">
                <a:latin typeface="Times New Roman"/>
                <a:cs typeface="Times New Roman"/>
              </a:rPr>
              <a:t>1:</a:t>
            </a:r>
            <a:r>
              <a:rPr sz="3400" b="1" spc="-3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9</a:t>
            </a:r>
            <a:r>
              <a:rPr sz="3400" spc="-3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8</a:t>
            </a:r>
            <a:r>
              <a:rPr sz="3400" spc="-2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4</a:t>
            </a:r>
            <a:r>
              <a:rPr sz="3400" spc="-3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1</a:t>
            </a:r>
            <a:r>
              <a:rPr sz="3400" spc="-25" dirty="0">
                <a:latin typeface="Times New Roman"/>
                <a:cs typeface="Times New Roman"/>
              </a:rPr>
              <a:t> </a:t>
            </a:r>
            <a:r>
              <a:rPr sz="3400" spc="-50" dirty="0">
                <a:latin typeface="Times New Roman"/>
                <a:cs typeface="Times New Roman"/>
              </a:rPr>
              <a:t>5</a:t>
            </a:r>
            <a:endParaRPr sz="3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855"/>
              </a:spcBef>
            </a:pPr>
            <a:r>
              <a:rPr sz="3400" b="1" spc="-10" dirty="0">
                <a:latin typeface="Times New Roman"/>
                <a:cs typeface="Times New Roman"/>
              </a:rPr>
              <a:t>2nd</a:t>
            </a:r>
            <a:r>
              <a:rPr sz="3400" b="1" spc="-204" dirty="0">
                <a:latin typeface="Times New Roman"/>
                <a:cs typeface="Times New Roman"/>
              </a:rPr>
              <a:t> </a:t>
            </a:r>
            <a:r>
              <a:rPr sz="3400" b="1" dirty="0">
                <a:latin typeface="Times New Roman"/>
                <a:cs typeface="Times New Roman"/>
              </a:rPr>
              <a:t>Array</a:t>
            </a:r>
            <a:r>
              <a:rPr sz="3400" b="1" spc="-35" dirty="0">
                <a:latin typeface="Times New Roman"/>
                <a:cs typeface="Times New Roman"/>
              </a:rPr>
              <a:t> </a:t>
            </a:r>
            <a:r>
              <a:rPr sz="3400" b="1" dirty="0">
                <a:latin typeface="Times New Roman"/>
                <a:cs typeface="Times New Roman"/>
              </a:rPr>
              <a:t>2:</a:t>
            </a:r>
            <a:r>
              <a:rPr sz="3400" b="1" spc="-3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2</a:t>
            </a:r>
            <a:r>
              <a:rPr sz="3400" spc="-2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0</a:t>
            </a:r>
            <a:r>
              <a:rPr sz="3400" spc="-4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3</a:t>
            </a:r>
            <a:r>
              <a:rPr sz="3400" spc="-25" dirty="0">
                <a:latin typeface="Times New Roman"/>
                <a:cs typeface="Times New Roman"/>
              </a:rPr>
              <a:t> </a:t>
            </a:r>
            <a:r>
              <a:rPr sz="3400" spc="-50" dirty="0">
                <a:latin typeface="Times New Roman"/>
                <a:cs typeface="Times New Roman"/>
              </a:rPr>
              <a:t>6</a:t>
            </a:r>
            <a:endParaRPr sz="3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860"/>
              </a:spcBef>
            </a:pPr>
            <a:r>
              <a:rPr sz="3400" b="1" dirty="0">
                <a:latin typeface="Times New Roman"/>
                <a:cs typeface="Times New Roman"/>
              </a:rPr>
              <a:t>Output</a:t>
            </a:r>
            <a:r>
              <a:rPr sz="3400" b="1" spc="-20" dirty="0">
                <a:latin typeface="Times New Roman"/>
                <a:cs typeface="Times New Roman"/>
              </a:rPr>
              <a:t> </a:t>
            </a:r>
            <a:r>
              <a:rPr sz="3400" b="1" dirty="0">
                <a:latin typeface="Times New Roman"/>
                <a:cs typeface="Times New Roman"/>
              </a:rPr>
              <a:t>:</a:t>
            </a:r>
            <a:r>
              <a:rPr sz="3400" b="1" spc="-3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The</a:t>
            </a:r>
            <a:r>
              <a:rPr sz="3400" spc="-4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merged</a:t>
            </a:r>
            <a:r>
              <a:rPr sz="3400" spc="-10" dirty="0">
                <a:latin typeface="Times New Roman"/>
                <a:cs typeface="Times New Roman"/>
              </a:rPr>
              <a:t> sorted</a:t>
            </a:r>
            <a:r>
              <a:rPr sz="3400" spc="-19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Array</a:t>
            </a:r>
            <a:r>
              <a:rPr sz="3400" spc="-3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:</a:t>
            </a:r>
            <a:r>
              <a:rPr sz="3400" spc="-3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0</a:t>
            </a:r>
            <a:r>
              <a:rPr sz="3400" spc="-3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1</a:t>
            </a:r>
            <a:r>
              <a:rPr sz="3400" spc="-4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2</a:t>
            </a:r>
            <a:r>
              <a:rPr sz="3400" spc="-3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3</a:t>
            </a:r>
            <a:r>
              <a:rPr sz="3400" spc="-4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4</a:t>
            </a:r>
            <a:r>
              <a:rPr sz="3400" spc="-3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5</a:t>
            </a:r>
            <a:r>
              <a:rPr sz="3400" spc="-4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6</a:t>
            </a:r>
            <a:r>
              <a:rPr sz="3400" spc="-3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8</a:t>
            </a:r>
            <a:r>
              <a:rPr sz="3400" spc="-45" dirty="0">
                <a:latin typeface="Times New Roman"/>
                <a:cs typeface="Times New Roman"/>
              </a:rPr>
              <a:t> </a:t>
            </a:r>
            <a:r>
              <a:rPr sz="3400" spc="-50" dirty="0">
                <a:latin typeface="Times New Roman"/>
                <a:cs typeface="Times New Roman"/>
              </a:rPr>
              <a:t>9</a:t>
            </a:r>
            <a:endParaRPr sz="3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23773" y="20269"/>
            <a:ext cx="1214247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dirty="0">
                <a:latin typeface="Times New Roman"/>
                <a:cs typeface="Times New Roman"/>
              </a:rPr>
              <a:t>MERGING</a:t>
            </a:r>
            <a:r>
              <a:rPr sz="7200" spc="100" dirty="0">
                <a:latin typeface="Times New Roman"/>
                <a:cs typeface="Times New Roman"/>
              </a:rPr>
              <a:t> </a:t>
            </a:r>
            <a:r>
              <a:rPr sz="7200" dirty="0">
                <a:latin typeface="Times New Roman"/>
                <a:cs typeface="Times New Roman"/>
              </a:rPr>
              <a:t>OF</a:t>
            </a:r>
            <a:r>
              <a:rPr sz="7200" spc="65" dirty="0">
                <a:latin typeface="Times New Roman"/>
                <a:cs typeface="Times New Roman"/>
              </a:rPr>
              <a:t> </a:t>
            </a:r>
            <a:r>
              <a:rPr sz="7200" dirty="0">
                <a:latin typeface="Times New Roman"/>
                <a:cs typeface="Times New Roman"/>
              </a:rPr>
              <a:t>TWO</a:t>
            </a:r>
            <a:r>
              <a:rPr sz="7200" spc="70" dirty="0">
                <a:latin typeface="Times New Roman"/>
                <a:cs typeface="Times New Roman"/>
              </a:rPr>
              <a:t> </a:t>
            </a:r>
            <a:r>
              <a:rPr sz="7200" spc="-10" dirty="0">
                <a:latin typeface="Times New Roman"/>
                <a:cs typeface="Times New Roman"/>
              </a:rPr>
              <a:t>ARRAY</a:t>
            </a:r>
            <a:endParaRPr sz="72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11323" y="5867400"/>
            <a:ext cx="9777349" cy="34861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8046" y="1223010"/>
            <a:ext cx="12668885" cy="7868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1760" algn="just">
              <a:lnSpc>
                <a:spcPct val="100000"/>
              </a:lnSpc>
              <a:spcBef>
                <a:spcPts val="95"/>
              </a:spcBef>
            </a:pPr>
            <a:r>
              <a:rPr sz="3100" b="1" dirty="0">
                <a:latin typeface="Times New Roman"/>
                <a:cs typeface="Times New Roman"/>
              </a:rPr>
              <a:t>Program</a:t>
            </a:r>
            <a:r>
              <a:rPr sz="3100" b="1" spc="-60" dirty="0">
                <a:latin typeface="Times New Roman"/>
                <a:cs typeface="Times New Roman"/>
              </a:rPr>
              <a:t> </a:t>
            </a:r>
            <a:r>
              <a:rPr sz="3100" b="1" dirty="0">
                <a:latin typeface="Times New Roman"/>
                <a:cs typeface="Times New Roman"/>
              </a:rPr>
              <a:t>1:</a:t>
            </a:r>
            <a:r>
              <a:rPr sz="3100" b="1" spc="-50" dirty="0">
                <a:latin typeface="Times New Roman"/>
                <a:cs typeface="Times New Roman"/>
              </a:rPr>
              <a:t> </a:t>
            </a:r>
            <a:r>
              <a:rPr sz="3100" b="1" dirty="0">
                <a:latin typeface="Times New Roman"/>
                <a:cs typeface="Times New Roman"/>
              </a:rPr>
              <a:t>Using</a:t>
            </a:r>
            <a:r>
              <a:rPr sz="3100" b="1" spc="-40" dirty="0">
                <a:latin typeface="Times New Roman"/>
                <a:cs typeface="Times New Roman"/>
              </a:rPr>
              <a:t> </a:t>
            </a:r>
            <a:r>
              <a:rPr sz="3100" b="1" dirty="0">
                <a:latin typeface="Times New Roman"/>
                <a:cs typeface="Times New Roman"/>
              </a:rPr>
              <a:t>the</a:t>
            </a:r>
            <a:r>
              <a:rPr sz="3100" b="1" spc="-35" dirty="0">
                <a:latin typeface="Times New Roman"/>
                <a:cs typeface="Times New Roman"/>
              </a:rPr>
              <a:t> </a:t>
            </a:r>
            <a:r>
              <a:rPr sz="3100" b="1" dirty="0">
                <a:latin typeface="Times New Roman"/>
                <a:cs typeface="Times New Roman"/>
              </a:rPr>
              <a:t>+</a:t>
            </a:r>
            <a:r>
              <a:rPr sz="3100" b="1" spc="-65" dirty="0">
                <a:latin typeface="Times New Roman"/>
                <a:cs typeface="Times New Roman"/>
              </a:rPr>
              <a:t> </a:t>
            </a:r>
            <a:r>
              <a:rPr sz="3100" b="1" spc="-10" dirty="0">
                <a:latin typeface="Times New Roman"/>
                <a:cs typeface="Times New Roman"/>
              </a:rPr>
              <a:t>operator</a:t>
            </a:r>
            <a:endParaRPr sz="31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40000"/>
              </a:lnSpc>
              <a:spcBef>
                <a:spcPts val="745"/>
              </a:spcBef>
            </a:pPr>
            <a:r>
              <a:rPr sz="3100" dirty="0">
                <a:latin typeface="Times New Roman"/>
                <a:cs typeface="Times New Roman"/>
              </a:rPr>
              <a:t>With</a:t>
            </a:r>
            <a:r>
              <a:rPr sz="3100" spc="52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the</a:t>
            </a:r>
            <a:r>
              <a:rPr sz="3100" spc="520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help</a:t>
            </a:r>
            <a:r>
              <a:rPr sz="3100" spc="52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of</a:t>
            </a:r>
            <a:r>
              <a:rPr sz="3100" spc="52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the</a:t>
            </a:r>
            <a:r>
              <a:rPr sz="3100" spc="52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+</a:t>
            </a:r>
            <a:r>
              <a:rPr sz="3100" spc="520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operator,</a:t>
            </a:r>
            <a:r>
              <a:rPr sz="3100" spc="53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We</a:t>
            </a:r>
            <a:r>
              <a:rPr sz="3100" spc="520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can</a:t>
            </a:r>
            <a:r>
              <a:rPr sz="3100" spc="520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merge</a:t>
            </a:r>
            <a:r>
              <a:rPr sz="3100" spc="520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two</a:t>
            </a:r>
            <a:r>
              <a:rPr sz="3100" spc="530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arrays.</a:t>
            </a:r>
            <a:r>
              <a:rPr sz="3100" spc="52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The</a:t>
            </a:r>
            <a:r>
              <a:rPr sz="3100" spc="530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+</a:t>
            </a:r>
            <a:r>
              <a:rPr sz="3100" spc="520" dirty="0">
                <a:latin typeface="Times New Roman"/>
                <a:cs typeface="Times New Roman"/>
              </a:rPr>
              <a:t> </a:t>
            </a:r>
            <a:r>
              <a:rPr sz="3100" spc="-10" dirty="0">
                <a:latin typeface="Times New Roman"/>
                <a:cs typeface="Times New Roman"/>
              </a:rPr>
              <a:t>operator </a:t>
            </a:r>
            <a:r>
              <a:rPr sz="3100" dirty="0">
                <a:latin typeface="Times New Roman"/>
                <a:cs typeface="Times New Roman"/>
              </a:rPr>
              <a:t>concatenates</a:t>
            </a:r>
            <a:r>
              <a:rPr sz="3100" spc="5" dirty="0">
                <a:latin typeface="Times New Roman"/>
                <a:cs typeface="Times New Roman"/>
              </a:rPr>
              <a:t>  </a:t>
            </a:r>
            <a:r>
              <a:rPr sz="3100" dirty="0">
                <a:latin typeface="Times New Roman"/>
                <a:cs typeface="Times New Roman"/>
              </a:rPr>
              <a:t>the  elements  of</a:t>
            </a:r>
            <a:r>
              <a:rPr sz="3100" spc="5" dirty="0">
                <a:latin typeface="Times New Roman"/>
                <a:cs typeface="Times New Roman"/>
              </a:rPr>
              <a:t>  </a:t>
            </a:r>
            <a:r>
              <a:rPr sz="3100" dirty="0">
                <a:latin typeface="Times New Roman"/>
                <a:cs typeface="Times New Roman"/>
              </a:rPr>
              <a:t>two</a:t>
            </a:r>
            <a:r>
              <a:rPr sz="3100" spc="5" dirty="0">
                <a:latin typeface="Times New Roman"/>
                <a:cs typeface="Times New Roman"/>
              </a:rPr>
              <a:t>  </a:t>
            </a:r>
            <a:r>
              <a:rPr sz="3100" dirty="0">
                <a:latin typeface="Times New Roman"/>
                <a:cs typeface="Times New Roman"/>
              </a:rPr>
              <a:t>arrays  into</a:t>
            </a:r>
            <a:r>
              <a:rPr sz="3100" spc="5" dirty="0">
                <a:latin typeface="Times New Roman"/>
                <a:cs typeface="Times New Roman"/>
              </a:rPr>
              <a:t>  </a:t>
            </a:r>
            <a:r>
              <a:rPr sz="3100" dirty="0">
                <a:latin typeface="Times New Roman"/>
                <a:cs typeface="Times New Roman"/>
              </a:rPr>
              <a:t>a</a:t>
            </a:r>
            <a:r>
              <a:rPr sz="3100" spc="5" dirty="0">
                <a:latin typeface="Times New Roman"/>
                <a:cs typeface="Times New Roman"/>
              </a:rPr>
              <a:t>  </a:t>
            </a:r>
            <a:r>
              <a:rPr sz="3100" dirty="0">
                <a:latin typeface="Times New Roman"/>
                <a:cs typeface="Times New Roman"/>
              </a:rPr>
              <a:t>single</a:t>
            </a:r>
            <a:r>
              <a:rPr sz="3100" spc="10" dirty="0">
                <a:latin typeface="Times New Roman"/>
                <a:cs typeface="Times New Roman"/>
              </a:rPr>
              <a:t>  </a:t>
            </a:r>
            <a:r>
              <a:rPr sz="3100" dirty="0">
                <a:latin typeface="Times New Roman"/>
                <a:cs typeface="Times New Roman"/>
              </a:rPr>
              <a:t>array.</a:t>
            </a:r>
            <a:r>
              <a:rPr sz="3100" spc="770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Below</a:t>
            </a:r>
            <a:r>
              <a:rPr sz="3100" spc="5" dirty="0">
                <a:latin typeface="Times New Roman"/>
                <a:cs typeface="Times New Roman"/>
              </a:rPr>
              <a:t>  </a:t>
            </a:r>
            <a:r>
              <a:rPr sz="3100" dirty="0">
                <a:latin typeface="Times New Roman"/>
                <a:cs typeface="Times New Roman"/>
              </a:rPr>
              <a:t>is  </a:t>
            </a:r>
            <a:r>
              <a:rPr sz="3100" spc="-25" dirty="0">
                <a:latin typeface="Times New Roman"/>
                <a:cs typeface="Times New Roman"/>
              </a:rPr>
              <a:t>the </a:t>
            </a:r>
            <a:r>
              <a:rPr sz="3100" spc="-10" dirty="0">
                <a:latin typeface="Times New Roman"/>
                <a:cs typeface="Times New Roman"/>
              </a:rPr>
              <a:t>program.</a:t>
            </a:r>
            <a:endParaRPr sz="31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2235"/>
              </a:spcBef>
            </a:pPr>
            <a:r>
              <a:rPr sz="3100" b="1" dirty="0">
                <a:latin typeface="Times New Roman"/>
                <a:cs typeface="Times New Roman"/>
              </a:rPr>
              <a:t>arr1</a:t>
            </a:r>
            <a:r>
              <a:rPr sz="3100" b="1" spc="-4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=</a:t>
            </a:r>
            <a:r>
              <a:rPr sz="3100" spc="-40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[1,</a:t>
            </a:r>
            <a:r>
              <a:rPr sz="3100" spc="-20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2,</a:t>
            </a:r>
            <a:r>
              <a:rPr sz="3100" spc="-25" dirty="0">
                <a:latin typeface="Times New Roman"/>
                <a:cs typeface="Times New Roman"/>
              </a:rPr>
              <a:t> 3]</a:t>
            </a:r>
            <a:endParaRPr sz="31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2230"/>
              </a:spcBef>
            </a:pPr>
            <a:r>
              <a:rPr sz="3100" dirty="0">
                <a:latin typeface="Times New Roman"/>
                <a:cs typeface="Times New Roman"/>
              </a:rPr>
              <a:t>arr2</a:t>
            </a:r>
            <a:r>
              <a:rPr sz="3100" spc="-2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=</a:t>
            </a:r>
            <a:r>
              <a:rPr sz="3100" spc="-20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[4,</a:t>
            </a:r>
            <a:r>
              <a:rPr sz="3100" spc="-3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5,</a:t>
            </a:r>
            <a:r>
              <a:rPr sz="3100" spc="-15" dirty="0">
                <a:latin typeface="Times New Roman"/>
                <a:cs typeface="Times New Roman"/>
              </a:rPr>
              <a:t> </a:t>
            </a:r>
            <a:r>
              <a:rPr sz="3100" spc="-25" dirty="0">
                <a:latin typeface="Times New Roman"/>
                <a:cs typeface="Times New Roman"/>
              </a:rPr>
              <a:t>6]</a:t>
            </a:r>
            <a:endParaRPr sz="31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2235"/>
              </a:spcBef>
            </a:pPr>
            <a:r>
              <a:rPr sz="3100" dirty="0">
                <a:latin typeface="Times New Roman"/>
                <a:cs typeface="Times New Roman"/>
              </a:rPr>
              <a:t>merged_arr</a:t>
            </a:r>
            <a:r>
              <a:rPr sz="3100" spc="-50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=</a:t>
            </a:r>
            <a:r>
              <a:rPr sz="3100" spc="-70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arr1</a:t>
            </a:r>
            <a:r>
              <a:rPr sz="3100" spc="-70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+</a:t>
            </a:r>
            <a:r>
              <a:rPr sz="3100" spc="-60" dirty="0">
                <a:latin typeface="Times New Roman"/>
                <a:cs typeface="Times New Roman"/>
              </a:rPr>
              <a:t> </a:t>
            </a:r>
            <a:r>
              <a:rPr sz="3100" spc="-20" dirty="0">
                <a:latin typeface="Times New Roman"/>
                <a:cs typeface="Times New Roman"/>
              </a:rPr>
              <a:t>arr2</a:t>
            </a:r>
            <a:endParaRPr sz="3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235"/>
              </a:spcBef>
            </a:pPr>
            <a:r>
              <a:rPr sz="3100" spc="-10" dirty="0">
                <a:latin typeface="Times New Roman"/>
                <a:cs typeface="Times New Roman"/>
              </a:rPr>
              <a:t>print("Array</a:t>
            </a:r>
            <a:r>
              <a:rPr sz="3100" spc="-18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After</a:t>
            </a:r>
            <a:r>
              <a:rPr sz="3100" spc="-114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Merging</a:t>
            </a:r>
            <a:r>
              <a:rPr sz="3100" spc="-65" dirty="0">
                <a:latin typeface="Times New Roman"/>
                <a:cs typeface="Times New Roman"/>
              </a:rPr>
              <a:t> </a:t>
            </a:r>
            <a:r>
              <a:rPr sz="3100" spc="-10" dirty="0">
                <a:latin typeface="Times New Roman"/>
                <a:cs typeface="Times New Roman"/>
              </a:rPr>
              <a:t>=",merged_arr)</a:t>
            </a:r>
            <a:endParaRPr sz="3100">
              <a:latin typeface="Times New Roman"/>
              <a:cs typeface="Times New Roman"/>
            </a:endParaRPr>
          </a:p>
          <a:p>
            <a:pPr marL="12700" marR="11294745">
              <a:lnSpc>
                <a:spcPts val="5950"/>
              </a:lnSpc>
              <a:spcBef>
                <a:spcPts val="570"/>
              </a:spcBef>
            </a:pPr>
            <a:r>
              <a:rPr sz="3100" b="1" spc="-10" dirty="0">
                <a:latin typeface="Times New Roman"/>
                <a:cs typeface="Times New Roman"/>
              </a:rPr>
              <a:t>Python </a:t>
            </a:r>
            <a:r>
              <a:rPr sz="3100" b="1" spc="-20" dirty="0">
                <a:latin typeface="Times New Roman"/>
                <a:cs typeface="Times New Roman"/>
              </a:rPr>
              <a:t>Output:</a:t>
            </a:r>
            <a:endParaRPr sz="3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664"/>
              </a:spcBef>
            </a:pPr>
            <a:r>
              <a:rPr sz="3100" spc="-10" dirty="0">
                <a:latin typeface="Times New Roman"/>
                <a:cs typeface="Times New Roman"/>
              </a:rPr>
              <a:t>Array</a:t>
            </a:r>
            <a:r>
              <a:rPr sz="3100" spc="-18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After</a:t>
            </a:r>
            <a:r>
              <a:rPr sz="3100" spc="-3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Merging</a:t>
            </a:r>
            <a:r>
              <a:rPr sz="3100" spc="-2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=</a:t>
            </a:r>
            <a:r>
              <a:rPr sz="3100" spc="-3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[1,</a:t>
            </a:r>
            <a:r>
              <a:rPr sz="3100" spc="-3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2,</a:t>
            </a:r>
            <a:r>
              <a:rPr sz="3100" spc="-50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3,</a:t>
            </a:r>
            <a:r>
              <a:rPr sz="3100" spc="-50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4,</a:t>
            </a:r>
            <a:r>
              <a:rPr sz="3100" spc="-3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5,</a:t>
            </a:r>
            <a:r>
              <a:rPr sz="3100" spc="-50" dirty="0">
                <a:latin typeface="Times New Roman"/>
                <a:cs typeface="Times New Roman"/>
              </a:rPr>
              <a:t> </a:t>
            </a:r>
            <a:r>
              <a:rPr sz="3100" spc="-25" dirty="0">
                <a:latin typeface="Times New Roman"/>
                <a:cs typeface="Times New Roman"/>
              </a:rPr>
              <a:t>6]</a:t>
            </a:r>
            <a:endParaRPr sz="3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23773" y="20269"/>
            <a:ext cx="1214247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dirty="0">
                <a:latin typeface="Times New Roman"/>
                <a:cs typeface="Times New Roman"/>
              </a:rPr>
              <a:t>MERGING</a:t>
            </a:r>
            <a:r>
              <a:rPr sz="7200" spc="100" dirty="0">
                <a:latin typeface="Times New Roman"/>
                <a:cs typeface="Times New Roman"/>
              </a:rPr>
              <a:t> </a:t>
            </a:r>
            <a:r>
              <a:rPr sz="7200" dirty="0">
                <a:latin typeface="Times New Roman"/>
                <a:cs typeface="Times New Roman"/>
              </a:rPr>
              <a:t>OF</a:t>
            </a:r>
            <a:r>
              <a:rPr sz="7200" spc="65" dirty="0">
                <a:latin typeface="Times New Roman"/>
                <a:cs typeface="Times New Roman"/>
              </a:rPr>
              <a:t> </a:t>
            </a:r>
            <a:r>
              <a:rPr sz="7200" dirty="0">
                <a:latin typeface="Times New Roman"/>
                <a:cs typeface="Times New Roman"/>
              </a:rPr>
              <a:t>TWO</a:t>
            </a:r>
            <a:r>
              <a:rPr sz="7200" spc="70" dirty="0">
                <a:latin typeface="Times New Roman"/>
                <a:cs typeface="Times New Roman"/>
              </a:rPr>
              <a:t> </a:t>
            </a:r>
            <a:r>
              <a:rPr sz="7200" spc="-10" dirty="0">
                <a:latin typeface="Times New Roman"/>
                <a:cs typeface="Times New Roman"/>
              </a:rPr>
              <a:t>ARRAY</a:t>
            </a:r>
            <a:endParaRPr sz="72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6148" y="1069365"/>
            <a:ext cx="7056120" cy="857631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3400" b="1" dirty="0">
                <a:latin typeface="Times New Roman"/>
                <a:cs typeface="Times New Roman"/>
              </a:rPr>
              <a:t>#Initialize</a:t>
            </a:r>
            <a:r>
              <a:rPr sz="3400" b="1" spc="-120" dirty="0">
                <a:latin typeface="Times New Roman"/>
                <a:cs typeface="Times New Roman"/>
              </a:rPr>
              <a:t> </a:t>
            </a:r>
            <a:r>
              <a:rPr sz="3400" b="1" spc="-10" dirty="0">
                <a:latin typeface="Times New Roman"/>
                <a:cs typeface="Times New Roman"/>
              </a:rPr>
              <a:t>array</a:t>
            </a:r>
            <a:endParaRPr sz="3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3400" dirty="0">
                <a:latin typeface="Times New Roman"/>
                <a:cs typeface="Times New Roman"/>
              </a:rPr>
              <a:t>arr</a:t>
            </a:r>
            <a:r>
              <a:rPr sz="3400" spc="-1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=</a:t>
            </a:r>
            <a:r>
              <a:rPr sz="3400" spc="-3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[1,</a:t>
            </a:r>
            <a:r>
              <a:rPr sz="3400" spc="-2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2,</a:t>
            </a:r>
            <a:r>
              <a:rPr sz="3400" spc="-3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3,</a:t>
            </a:r>
            <a:r>
              <a:rPr sz="3400" spc="-2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4,</a:t>
            </a:r>
            <a:r>
              <a:rPr sz="3400" spc="-30" dirty="0">
                <a:latin typeface="Times New Roman"/>
                <a:cs typeface="Times New Roman"/>
              </a:rPr>
              <a:t> </a:t>
            </a:r>
            <a:r>
              <a:rPr sz="3400" spc="-25" dirty="0">
                <a:latin typeface="Times New Roman"/>
                <a:cs typeface="Times New Roman"/>
              </a:rPr>
              <a:t>5];</a:t>
            </a:r>
            <a:endParaRPr sz="3400">
              <a:latin typeface="Times New Roman"/>
              <a:cs typeface="Times New Roman"/>
            </a:endParaRPr>
          </a:p>
          <a:p>
            <a:pPr marL="12700" marR="2654935">
              <a:lnSpc>
                <a:spcPct val="110000"/>
              </a:lnSpc>
            </a:pPr>
            <a:r>
              <a:rPr sz="3400" dirty="0">
                <a:latin typeface="Times New Roman"/>
                <a:cs typeface="Times New Roman"/>
              </a:rPr>
              <a:t>print("Original</a:t>
            </a:r>
            <a:r>
              <a:rPr sz="3400" spc="-11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array:</a:t>
            </a:r>
            <a:r>
              <a:rPr sz="3400" spc="-120" dirty="0">
                <a:latin typeface="Times New Roman"/>
                <a:cs typeface="Times New Roman"/>
              </a:rPr>
              <a:t> </a:t>
            </a:r>
            <a:r>
              <a:rPr sz="3400" spc="-25" dirty="0">
                <a:latin typeface="Times New Roman"/>
                <a:cs typeface="Times New Roman"/>
              </a:rPr>
              <a:t>"); </a:t>
            </a:r>
            <a:r>
              <a:rPr sz="3400" dirty="0">
                <a:latin typeface="Times New Roman"/>
                <a:cs typeface="Times New Roman"/>
              </a:rPr>
              <a:t>for</a:t>
            </a:r>
            <a:r>
              <a:rPr sz="3400" spc="-3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i</a:t>
            </a:r>
            <a:r>
              <a:rPr sz="3400" spc="-4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in</a:t>
            </a:r>
            <a:r>
              <a:rPr sz="3400" spc="-4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range(0,</a:t>
            </a:r>
            <a:r>
              <a:rPr sz="3400" spc="-30" dirty="0">
                <a:latin typeface="Times New Roman"/>
                <a:cs typeface="Times New Roman"/>
              </a:rPr>
              <a:t> </a:t>
            </a:r>
            <a:r>
              <a:rPr sz="3400" spc="-10" dirty="0">
                <a:latin typeface="Times New Roman"/>
                <a:cs typeface="Times New Roman"/>
              </a:rPr>
              <a:t>len(arr)):</a:t>
            </a:r>
            <a:endParaRPr sz="3400">
              <a:latin typeface="Times New Roman"/>
              <a:cs typeface="Times New Roman"/>
            </a:endParaRPr>
          </a:p>
          <a:p>
            <a:pPr marL="443865">
              <a:lnSpc>
                <a:spcPct val="100000"/>
              </a:lnSpc>
              <a:spcBef>
                <a:spcPts val="409"/>
              </a:spcBef>
            </a:pPr>
            <a:r>
              <a:rPr sz="3400" spc="-10" dirty="0">
                <a:latin typeface="Times New Roman"/>
                <a:cs typeface="Times New Roman"/>
              </a:rPr>
              <a:t>print(arr[i]),</a:t>
            </a:r>
            <a:endParaRPr sz="3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3400" dirty="0">
                <a:latin typeface="Times New Roman"/>
                <a:cs typeface="Times New Roman"/>
              </a:rPr>
              <a:t>print("Array</a:t>
            </a:r>
            <a:r>
              <a:rPr sz="3400" spc="-7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in</a:t>
            </a:r>
            <a:r>
              <a:rPr sz="3400" spc="-9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reverse</a:t>
            </a:r>
            <a:r>
              <a:rPr sz="3400" spc="-7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order:</a:t>
            </a:r>
            <a:r>
              <a:rPr sz="3400" spc="-80" dirty="0">
                <a:latin typeface="Times New Roman"/>
                <a:cs typeface="Times New Roman"/>
              </a:rPr>
              <a:t> </a:t>
            </a:r>
            <a:r>
              <a:rPr sz="3400" spc="-25" dirty="0">
                <a:latin typeface="Times New Roman"/>
                <a:cs typeface="Times New Roman"/>
              </a:rPr>
              <a:t>");</a:t>
            </a:r>
            <a:endParaRPr sz="3400">
              <a:latin typeface="Times New Roman"/>
              <a:cs typeface="Times New Roman"/>
            </a:endParaRPr>
          </a:p>
          <a:p>
            <a:pPr marL="12700" marR="5080">
              <a:lnSpc>
                <a:spcPct val="110000"/>
              </a:lnSpc>
            </a:pPr>
            <a:r>
              <a:rPr sz="3400" dirty="0">
                <a:latin typeface="Times New Roman"/>
                <a:cs typeface="Times New Roman"/>
              </a:rPr>
              <a:t>#Loop</a:t>
            </a:r>
            <a:r>
              <a:rPr sz="3400" spc="-8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through</a:t>
            </a:r>
            <a:r>
              <a:rPr sz="3400" spc="-7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the</a:t>
            </a:r>
            <a:r>
              <a:rPr sz="3400" spc="-7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array</a:t>
            </a:r>
            <a:r>
              <a:rPr sz="3400" spc="-5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in</a:t>
            </a:r>
            <a:r>
              <a:rPr sz="3400" spc="-6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reverse</a:t>
            </a:r>
            <a:r>
              <a:rPr sz="3400" spc="-45" dirty="0">
                <a:latin typeface="Times New Roman"/>
                <a:cs typeface="Times New Roman"/>
              </a:rPr>
              <a:t> </a:t>
            </a:r>
            <a:r>
              <a:rPr sz="3400" spc="-10" dirty="0">
                <a:latin typeface="Times New Roman"/>
                <a:cs typeface="Times New Roman"/>
              </a:rPr>
              <a:t>order </a:t>
            </a:r>
            <a:r>
              <a:rPr sz="3400" dirty="0">
                <a:latin typeface="Times New Roman"/>
                <a:cs typeface="Times New Roman"/>
              </a:rPr>
              <a:t>for</a:t>
            </a:r>
            <a:r>
              <a:rPr sz="3400" spc="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i</a:t>
            </a:r>
            <a:r>
              <a:rPr sz="3400" spc="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in</a:t>
            </a:r>
            <a:r>
              <a:rPr sz="3400" spc="5" dirty="0">
                <a:latin typeface="Times New Roman"/>
                <a:cs typeface="Times New Roman"/>
              </a:rPr>
              <a:t> </a:t>
            </a:r>
            <a:r>
              <a:rPr sz="3400" spc="-20" dirty="0">
                <a:latin typeface="Times New Roman"/>
                <a:cs typeface="Times New Roman"/>
              </a:rPr>
              <a:t>range(len(arr)-</a:t>
            </a:r>
            <a:r>
              <a:rPr sz="3400" dirty="0">
                <a:latin typeface="Times New Roman"/>
                <a:cs typeface="Times New Roman"/>
              </a:rPr>
              <a:t>1,</a:t>
            </a:r>
            <a:r>
              <a:rPr sz="3400" spc="55" dirty="0">
                <a:latin typeface="Times New Roman"/>
                <a:cs typeface="Times New Roman"/>
              </a:rPr>
              <a:t> </a:t>
            </a:r>
            <a:r>
              <a:rPr sz="3400" spc="-25" dirty="0">
                <a:latin typeface="Times New Roman"/>
                <a:cs typeface="Times New Roman"/>
              </a:rPr>
              <a:t>-</a:t>
            </a:r>
            <a:r>
              <a:rPr sz="3400" dirty="0">
                <a:latin typeface="Times New Roman"/>
                <a:cs typeface="Times New Roman"/>
              </a:rPr>
              <a:t>1,</a:t>
            </a:r>
            <a:r>
              <a:rPr sz="3400" spc="5" dirty="0">
                <a:latin typeface="Times New Roman"/>
                <a:cs typeface="Times New Roman"/>
              </a:rPr>
              <a:t> </a:t>
            </a:r>
            <a:r>
              <a:rPr sz="3400" spc="-25" dirty="0">
                <a:latin typeface="Times New Roman"/>
                <a:cs typeface="Times New Roman"/>
              </a:rPr>
              <a:t>-1):</a:t>
            </a:r>
            <a:endParaRPr sz="3400">
              <a:latin typeface="Times New Roman"/>
              <a:cs typeface="Times New Roman"/>
            </a:endParaRPr>
          </a:p>
          <a:p>
            <a:pPr marL="443865">
              <a:lnSpc>
                <a:spcPct val="100000"/>
              </a:lnSpc>
              <a:spcBef>
                <a:spcPts val="409"/>
              </a:spcBef>
            </a:pPr>
            <a:r>
              <a:rPr sz="3400" spc="-10" dirty="0">
                <a:latin typeface="Times New Roman"/>
                <a:cs typeface="Times New Roman"/>
              </a:rPr>
              <a:t>print(arr[i])</a:t>
            </a:r>
            <a:endParaRPr sz="3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85"/>
              </a:spcBef>
            </a:pPr>
            <a:endParaRPr sz="3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3400" b="1" spc="-10" dirty="0">
                <a:latin typeface="Times New Roman"/>
                <a:cs typeface="Times New Roman"/>
              </a:rPr>
              <a:t>Output:</a:t>
            </a:r>
            <a:endParaRPr sz="3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3400" dirty="0">
                <a:latin typeface="Times New Roman"/>
                <a:cs typeface="Times New Roman"/>
              </a:rPr>
              <a:t>Original</a:t>
            </a:r>
            <a:r>
              <a:rPr sz="3400" spc="-90" dirty="0">
                <a:latin typeface="Times New Roman"/>
                <a:cs typeface="Times New Roman"/>
              </a:rPr>
              <a:t> </a:t>
            </a:r>
            <a:r>
              <a:rPr sz="3400" spc="-10" dirty="0">
                <a:latin typeface="Times New Roman"/>
                <a:cs typeface="Times New Roman"/>
              </a:rPr>
              <a:t>array:</a:t>
            </a:r>
            <a:endParaRPr sz="3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  <a:tabLst>
                <a:tab pos="499745" algn="l"/>
                <a:tab pos="1039494" algn="l"/>
                <a:tab pos="1579245" algn="l"/>
                <a:tab pos="2119630" algn="l"/>
              </a:tabLst>
            </a:pPr>
            <a:r>
              <a:rPr sz="3400" spc="-50" dirty="0">
                <a:latin typeface="Times New Roman"/>
                <a:cs typeface="Times New Roman"/>
              </a:rPr>
              <a:t>1</a:t>
            </a:r>
            <a:r>
              <a:rPr sz="3400" dirty="0">
                <a:latin typeface="Times New Roman"/>
                <a:cs typeface="Times New Roman"/>
              </a:rPr>
              <a:t>	</a:t>
            </a:r>
            <a:r>
              <a:rPr sz="3400" spc="-50" dirty="0">
                <a:latin typeface="Times New Roman"/>
                <a:cs typeface="Times New Roman"/>
              </a:rPr>
              <a:t>2</a:t>
            </a:r>
            <a:r>
              <a:rPr sz="3400" dirty="0">
                <a:latin typeface="Times New Roman"/>
                <a:cs typeface="Times New Roman"/>
              </a:rPr>
              <a:t>	</a:t>
            </a:r>
            <a:r>
              <a:rPr sz="3400" spc="-50" dirty="0">
                <a:latin typeface="Times New Roman"/>
                <a:cs typeface="Times New Roman"/>
              </a:rPr>
              <a:t>3</a:t>
            </a:r>
            <a:r>
              <a:rPr sz="3400" dirty="0">
                <a:latin typeface="Times New Roman"/>
                <a:cs typeface="Times New Roman"/>
              </a:rPr>
              <a:t>	</a:t>
            </a:r>
            <a:r>
              <a:rPr sz="3400" spc="-50" dirty="0">
                <a:latin typeface="Times New Roman"/>
                <a:cs typeface="Times New Roman"/>
              </a:rPr>
              <a:t>4</a:t>
            </a:r>
            <a:r>
              <a:rPr sz="3400" dirty="0">
                <a:latin typeface="Times New Roman"/>
                <a:cs typeface="Times New Roman"/>
              </a:rPr>
              <a:t>	</a:t>
            </a:r>
            <a:r>
              <a:rPr sz="3400" spc="-50" dirty="0">
                <a:latin typeface="Times New Roman"/>
                <a:cs typeface="Times New Roman"/>
              </a:rPr>
              <a:t>5</a:t>
            </a:r>
            <a:endParaRPr sz="3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3400" dirty="0">
                <a:latin typeface="Times New Roman"/>
                <a:cs typeface="Times New Roman"/>
              </a:rPr>
              <a:t>Array</a:t>
            </a:r>
            <a:r>
              <a:rPr sz="3400" spc="-6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in</a:t>
            </a:r>
            <a:r>
              <a:rPr sz="3400" spc="-6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reverse</a:t>
            </a:r>
            <a:r>
              <a:rPr sz="3400" spc="-45" dirty="0">
                <a:latin typeface="Times New Roman"/>
                <a:cs typeface="Times New Roman"/>
              </a:rPr>
              <a:t> </a:t>
            </a:r>
            <a:r>
              <a:rPr sz="3400" spc="-10" dirty="0">
                <a:latin typeface="Times New Roman"/>
                <a:cs typeface="Times New Roman"/>
              </a:rPr>
              <a:t>order:</a:t>
            </a:r>
            <a:endParaRPr sz="3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  <a:tabLst>
                <a:tab pos="659130" algn="l"/>
                <a:tab pos="1199515" algn="l"/>
                <a:tab pos="1738630" algn="l"/>
                <a:tab pos="2279015" algn="l"/>
              </a:tabLst>
            </a:pPr>
            <a:r>
              <a:rPr sz="3400" spc="-50" dirty="0">
                <a:latin typeface="Times New Roman"/>
                <a:cs typeface="Times New Roman"/>
              </a:rPr>
              <a:t>5</a:t>
            </a:r>
            <a:r>
              <a:rPr sz="3400" dirty="0">
                <a:latin typeface="Times New Roman"/>
                <a:cs typeface="Times New Roman"/>
              </a:rPr>
              <a:t>	</a:t>
            </a:r>
            <a:r>
              <a:rPr sz="3400" spc="-50" dirty="0">
                <a:latin typeface="Times New Roman"/>
                <a:cs typeface="Times New Roman"/>
              </a:rPr>
              <a:t>4</a:t>
            </a:r>
            <a:r>
              <a:rPr sz="3400" dirty="0">
                <a:latin typeface="Times New Roman"/>
                <a:cs typeface="Times New Roman"/>
              </a:rPr>
              <a:t>	</a:t>
            </a:r>
            <a:r>
              <a:rPr sz="3400" spc="-50" dirty="0">
                <a:latin typeface="Times New Roman"/>
                <a:cs typeface="Times New Roman"/>
              </a:rPr>
              <a:t>3</a:t>
            </a:r>
            <a:r>
              <a:rPr sz="3400" dirty="0">
                <a:latin typeface="Times New Roman"/>
                <a:cs typeface="Times New Roman"/>
              </a:rPr>
              <a:t>	</a:t>
            </a:r>
            <a:r>
              <a:rPr sz="3400" spc="-50" dirty="0">
                <a:latin typeface="Times New Roman"/>
                <a:cs typeface="Times New Roman"/>
              </a:rPr>
              <a:t>2</a:t>
            </a:r>
            <a:r>
              <a:rPr sz="3400" dirty="0">
                <a:latin typeface="Times New Roman"/>
                <a:cs typeface="Times New Roman"/>
              </a:rPr>
              <a:t>	</a:t>
            </a:r>
            <a:r>
              <a:rPr sz="3400" spc="-50" dirty="0">
                <a:latin typeface="Times New Roman"/>
                <a:cs typeface="Times New Roman"/>
              </a:rPr>
              <a:t>1</a:t>
            </a:r>
            <a:endParaRPr sz="3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14602" y="11125"/>
            <a:ext cx="8990965" cy="1031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dirty="0">
                <a:latin typeface="Times New Roman"/>
                <a:cs typeface="Times New Roman"/>
              </a:rPr>
              <a:t>Reverse</a:t>
            </a:r>
            <a:r>
              <a:rPr sz="6600" spc="65" dirty="0">
                <a:latin typeface="Times New Roman"/>
                <a:cs typeface="Times New Roman"/>
              </a:rPr>
              <a:t> </a:t>
            </a:r>
            <a:r>
              <a:rPr sz="6600" dirty="0">
                <a:latin typeface="Times New Roman"/>
                <a:cs typeface="Times New Roman"/>
              </a:rPr>
              <a:t>Array</a:t>
            </a:r>
            <a:r>
              <a:rPr sz="6600" spc="50" dirty="0">
                <a:latin typeface="Times New Roman"/>
                <a:cs typeface="Times New Roman"/>
              </a:rPr>
              <a:t> </a:t>
            </a:r>
            <a:r>
              <a:rPr sz="6600" dirty="0">
                <a:latin typeface="Times New Roman"/>
                <a:cs typeface="Times New Roman"/>
              </a:rPr>
              <a:t>in</a:t>
            </a:r>
            <a:r>
              <a:rPr sz="6600" spc="70" dirty="0">
                <a:latin typeface="Times New Roman"/>
                <a:cs typeface="Times New Roman"/>
              </a:rPr>
              <a:t> </a:t>
            </a:r>
            <a:r>
              <a:rPr sz="6600" spc="-10" dirty="0">
                <a:latin typeface="Times New Roman"/>
                <a:cs typeface="Times New Roman"/>
              </a:rPr>
              <a:t>Python</a:t>
            </a:r>
            <a:endParaRPr sz="66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6148" y="1069365"/>
            <a:ext cx="12018645" cy="8402955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sz="3400" b="1" dirty="0">
                <a:latin typeface="Times New Roman"/>
                <a:cs typeface="Times New Roman"/>
              </a:rPr>
              <a:t>#</a:t>
            </a:r>
            <a:r>
              <a:rPr sz="3400" b="1" spc="-80" dirty="0">
                <a:latin typeface="Times New Roman"/>
                <a:cs typeface="Times New Roman"/>
              </a:rPr>
              <a:t> </a:t>
            </a:r>
            <a:r>
              <a:rPr sz="3400" b="1" dirty="0">
                <a:latin typeface="Times New Roman"/>
                <a:cs typeface="Times New Roman"/>
              </a:rPr>
              <a:t>Python</a:t>
            </a:r>
            <a:r>
              <a:rPr sz="3400" b="1" spc="-65" dirty="0">
                <a:latin typeface="Times New Roman"/>
                <a:cs typeface="Times New Roman"/>
              </a:rPr>
              <a:t> </a:t>
            </a:r>
            <a:r>
              <a:rPr sz="3400" b="1" dirty="0">
                <a:latin typeface="Times New Roman"/>
                <a:cs typeface="Times New Roman"/>
              </a:rPr>
              <a:t>code</a:t>
            </a:r>
            <a:r>
              <a:rPr sz="3400" b="1" spc="-65" dirty="0">
                <a:latin typeface="Times New Roman"/>
                <a:cs typeface="Times New Roman"/>
              </a:rPr>
              <a:t> </a:t>
            </a:r>
            <a:r>
              <a:rPr sz="3400" b="1" dirty="0">
                <a:latin typeface="Times New Roman"/>
                <a:cs typeface="Times New Roman"/>
              </a:rPr>
              <a:t>to</a:t>
            </a:r>
            <a:r>
              <a:rPr sz="3400" b="1" spc="-75" dirty="0">
                <a:latin typeface="Times New Roman"/>
                <a:cs typeface="Times New Roman"/>
              </a:rPr>
              <a:t> </a:t>
            </a:r>
            <a:r>
              <a:rPr sz="3400" b="1" dirty="0">
                <a:latin typeface="Times New Roman"/>
                <a:cs typeface="Times New Roman"/>
              </a:rPr>
              <a:t>count</a:t>
            </a:r>
            <a:r>
              <a:rPr sz="3400" b="1" spc="-75" dirty="0">
                <a:latin typeface="Times New Roman"/>
                <a:cs typeface="Times New Roman"/>
              </a:rPr>
              <a:t> </a:t>
            </a:r>
            <a:r>
              <a:rPr sz="3400" b="1" dirty="0">
                <a:latin typeface="Times New Roman"/>
                <a:cs typeface="Times New Roman"/>
              </a:rPr>
              <a:t>the</a:t>
            </a:r>
            <a:r>
              <a:rPr sz="3400" b="1" spc="-60" dirty="0">
                <a:latin typeface="Times New Roman"/>
                <a:cs typeface="Times New Roman"/>
              </a:rPr>
              <a:t> </a:t>
            </a:r>
            <a:r>
              <a:rPr sz="3400" b="1" dirty="0">
                <a:latin typeface="Times New Roman"/>
                <a:cs typeface="Times New Roman"/>
              </a:rPr>
              <a:t>number</a:t>
            </a:r>
            <a:r>
              <a:rPr sz="3400" b="1" spc="-120" dirty="0">
                <a:latin typeface="Times New Roman"/>
                <a:cs typeface="Times New Roman"/>
              </a:rPr>
              <a:t> </a:t>
            </a:r>
            <a:r>
              <a:rPr sz="3400" b="1" dirty="0">
                <a:latin typeface="Times New Roman"/>
                <a:cs typeface="Times New Roman"/>
              </a:rPr>
              <a:t>of</a:t>
            </a:r>
            <a:r>
              <a:rPr sz="3400" b="1" spc="-45" dirty="0">
                <a:latin typeface="Times New Roman"/>
                <a:cs typeface="Times New Roman"/>
              </a:rPr>
              <a:t> </a:t>
            </a:r>
            <a:r>
              <a:rPr sz="3400" b="1" dirty="0">
                <a:latin typeface="Times New Roman"/>
                <a:cs typeface="Times New Roman"/>
              </a:rPr>
              <a:t>occurrences</a:t>
            </a:r>
            <a:r>
              <a:rPr sz="3400" b="1" spc="-55" dirty="0">
                <a:latin typeface="Times New Roman"/>
                <a:cs typeface="Times New Roman"/>
              </a:rPr>
              <a:t> </a:t>
            </a:r>
            <a:r>
              <a:rPr sz="3400" b="1" dirty="0">
                <a:latin typeface="Times New Roman"/>
                <a:cs typeface="Times New Roman"/>
              </a:rPr>
              <a:t>of</a:t>
            </a:r>
            <a:r>
              <a:rPr sz="3400" b="1" spc="-75" dirty="0">
                <a:latin typeface="Times New Roman"/>
                <a:cs typeface="Times New Roman"/>
              </a:rPr>
              <a:t> </a:t>
            </a:r>
            <a:r>
              <a:rPr sz="3400" b="1" dirty="0">
                <a:latin typeface="Times New Roman"/>
                <a:cs typeface="Times New Roman"/>
              </a:rPr>
              <a:t>key</a:t>
            </a:r>
            <a:r>
              <a:rPr sz="3400" b="1" spc="-65" dirty="0">
                <a:latin typeface="Times New Roman"/>
                <a:cs typeface="Times New Roman"/>
              </a:rPr>
              <a:t> </a:t>
            </a:r>
            <a:r>
              <a:rPr sz="3400" b="1" spc="-10" dirty="0">
                <a:latin typeface="Times New Roman"/>
                <a:cs typeface="Times New Roman"/>
              </a:rPr>
              <a:t>element</a:t>
            </a:r>
            <a:endParaRPr sz="3400">
              <a:latin typeface="Times New Roman"/>
              <a:cs typeface="Times New Roman"/>
            </a:endParaRPr>
          </a:p>
          <a:p>
            <a:pPr marL="443865" marR="8408035" indent="-431800">
              <a:lnSpc>
                <a:spcPct val="120000"/>
              </a:lnSpc>
            </a:pPr>
            <a:r>
              <a:rPr sz="3400" dirty="0">
                <a:latin typeface="Times New Roman"/>
                <a:cs typeface="Times New Roman"/>
              </a:rPr>
              <a:t>def</a:t>
            </a:r>
            <a:r>
              <a:rPr sz="3400" spc="-8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countX(lst,</a:t>
            </a:r>
            <a:r>
              <a:rPr sz="3400" spc="-75" dirty="0">
                <a:latin typeface="Times New Roman"/>
                <a:cs typeface="Times New Roman"/>
              </a:rPr>
              <a:t> </a:t>
            </a:r>
            <a:r>
              <a:rPr sz="3400" spc="-10" dirty="0">
                <a:latin typeface="Times New Roman"/>
                <a:cs typeface="Times New Roman"/>
              </a:rPr>
              <a:t>key): </a:t>
            </a:r>
            <a:r>
              <a:rPr sz="3400" dirty="0">
                <a:latin typeface="Times New Roman"/>
                <a:cs typeface="Times New Roman"/>
              </a:rPr>
              <a:t>count</a:t>
            </a:r>
            <a:r>
              <a:rPr sz="3400" spc="-4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=</a:t>
            </a:r>
            <a:r>
              <a:rPr sz="3400" spc="-40" dirty="0">
                <a:latin typeface="Times New Roman"/>
                <a:cs typeface="Times New Roman"/>
              </a:rPr>
              <a:t> </a:t>
            </a:r>
            <a:r>
              <a:rPr sz="3400" spc="-50" dirty="0">
                <a:latin typeface="Times New Roman"/>
                <a:cs typeface="Times New Roman"/>
              </a:rPr>
              <a:t>0</a:t>
            </a:r>
            <a:endParaRPr sz="3400">
              <a:latin typeface="Times New Roman"/>
              <a:cs typeface="Times New Roman"/>
            </a:endParaRPr>
          </a:p>
          <a:p>
            <a:pPr marL="443865">
              <a:lnSpc>
                <a:spcPct val="100000"/>
              </a:lnSpc>
              <a:spcBef>
                <a:spcPts val="815"/>
              </a:spcBef>
            </a:pPr>
            <a:r>
              <a:rPr sz="3400" dirty="0">
                <a:latin typeface="Times New Roman"/>
                <a:cs typeface="Times New Roman"/>
              </a:rPr>
              <a:t>for</a:t>
            </a:r>
            <a:r>
              <a:rPr sz="3400" spc="-2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ele</a:t>
            </a:r>
            <a:r>
              <a:rPr sz="3400" spc="-2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in</a:t>
            </a:r>
            <a:r>
              <a:rPr sz="3400" spc="-35" dirty="0">
                <a:latin typeface="Times New Roman"/>
                <a:cs typeface="Times New Roman"/>
              </a:rPr>
              <a:t> </a:t>
            </a:r>
            <a:r>
              <a:rPr sz="3400" spc="-20" dirty="0">
                <a:latin typeface="Times New Roman"/>
                <a:cs typeface="Times New Roman"/>
              </a:rPr>
              <a:t>lst:</a:t>
            </a:r>
            <a:endParaRPr sz="3400">
              <a:latin typeface="Times New Roman"/>
              <a:cs typeface="Times New Roman"/>
            </a:endParaRPr>
          </a:p>
          <a:p>
            <a:pPr marL="1308100" marR="7647940" indent="-431800">
              <a:lnSpc>
                <a:spcPts val="4900"/>
              </a:lnSpc>
              <a:spcBef>
                <a:spcPts val="295"/>
              </a:spcBef>
            </a:pPr>
            <a:r>
              <a:rPr sz="3400" dirty="0">
                <a:latin typeface="Times New Roman"/>
                <a:cs typeface="Times New Roman"/>
              </a:rPr>
              <a:t>if</a:t>
            </a:r>
            <a:r>
              <a:rPr sz="3400" spc="-3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(ele</a:t>
            </a:r>
            <a:r>
              <a:rPr sz="3400" spc="-1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==</a:t>
            </a:r>
            <a:r>
              <a:rPr sz="3400" spc="-35" dirty="0">
                <a:latin typeface="Times New Roman"/>
                <a:cs typeface="Times New Roman"/>
              </a:rPr>
              <a:t> </a:t>
            </a:r>
            <a:r>
              <a:rPr sz="3400" spc="-20" dirty="0">
                <a:latin typeface="Times New Roman"/>
                <a:cs typeface="Times New Roman"/>
              </a:rPr>
              <a:t>key): </a:t>
            </a:r>
            <a:r>
              <a:rPr sz="3400" dirty="0">
                <a:latin typeface="Times New Roman"/>
                <a:cs typeface="Times New Roman"/>
              </a:rPr>
              <a:t>count</a:t>
            </a:r>
            <a:r>
              <a:rPr sz="3400" spc="-4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=</a:t>
            </a:r>
            <a:r>
              <a:rPr sz="3400" spc="-4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count</a:t>
            </a:r>
            <a:r>
              <a:rPr sz="3400" spc="-3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+</a:t>
            </a:r>
            <a:r>
              <a:rPr sz="3400" spc="-40" dirty="0">
                <a:latin typeface="Times New Roman"/>
                <a:cs typeface="Times New Roman"/>
              </a:rPr>
              <a:t> </a:t>
            </a:r>
            <a:r>
              <a:rPr sz="3400" spc="-50" dirty="0">
                <a:latin typeface="Times New Roman"/>
                <a:cs typeface="Times New Roman"/>
              </a:rPr>
              <a:t>1</a:t>
            </a:r>
            <a:endParaRPr sz="3400">
              <a:latin typeface="Times New Roman"/>
              <a:cs typeface="Times New Roman"/>
            </a:endParaRPr>
          </a:p>
          <a:p>
            <a:pPr marL="443865">
              <a:lnSpc>
                <a:spcPct val="100000"/>
              </a:lnSpc>
              <a:spcBef>
                <a:spcPts val="515"/>
              </a:spcBef>
            </a:pPr>
            <a:r>
              <a:rPr sz="3400" dirty="0">
                <a:latin typeface="Times New Roman"/>
                <a:cs typeface="Times New Roman"/>
              </a:rPr>
              <a:t>return</a:t>
            </a:r>
            <a:r>
              <a:rPr sz="3400" spc="-70" dirty="0">
                <a:latin typeface="Times New Roman"/>
                <a:cs typeface="Times New Roman"/>
              </a:rPr>
              <a:t> </a:t>
            </a:r>
            <a:r>
              <a:rPr sz="3400" spc="-10" dirty="0">
                <a:latin typeface="Times New Roman"/>
                <a:cs typeface="Times New Roman"/>
              </a:rPr>
              <a:t>count</a:t>
            </a:r>
            <a:endParaRPr sz="3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05"/>
              </a:spcBef>
            </a:pPr>
            <a:endParaRPr sz="3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3400" dirty="0">
                <a:latin typeface="Times New Roman"/>
                <a:cs typeface="Times New Roman"/>
              </a:rPr>
              <a:t>#</a:t>
            </a:r>
            <a:r>
              <a:rPr sz="3400" spc="-5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Driver</a:t>
            </a:r>
            <a:r>
              <a:rPr sz="3400" spc="-25" dirty="0">
                <a:latin typeface="Times New Roman"/>
                <a:cs typeface="Times New Roman"/>
              </a:rPr>
              <a:t> </a:t>
            </a:r>
            <a:r>
              <a:rPr sz="3400" spc="-20" dirty="0">
                <a:latin typeface="Times New Roman"/>
                <a:cs typeface="Times New Roman"/>
              </a:rPr>
              <a:t>Code</a:t>
            </a:r>
            <a:endParaRPr sz="3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20"/>
              </a:spcBef>
            </a:pPr>
            <a:r>
              <a:rPr sz="3400" dirty="0">
                <a:latin typeface="Times New Roman"/>
                <a:cs typeface="Times New Roman"/>
              </a:rPr>
              <a:t>lst</a:t>
            </a:r>
            <a:r>
              <a:rPr sz="3400" spc="-1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=</a:t>
            </a:r>
            <a:r>
              <a:rPr sz="3400" spc="-3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[8,</a:t>
            </a:r>
            <a:r>
              <a:rPr sz="3400" spc="-3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6,</a:t>
            </a:r>
            <a:r>
              <a:rPr sz="3400" spc="-3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8,</a:t>
            </a:r>
            <a:r>
              <a:rPr sz="3400" spc="-3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10,</a:t>
            </a:r>
            <a:r>
              <a:rPr sz="3400" spc="-3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8,</a:t>
            </a:r>
            <a:r>
              <a:rPr sz="3400" spc="-3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20,</a:t>
            </a:r>
            <a:r>
              <a:rPr sz="3400" spc="-3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10,</a:t>
            </a:r>
            <a:r>
              <a:rPr sz="3400" spc="-3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8,</a:t>
            </a:r>
            <a:r>
              <a:rPr sz="3400" spc="-30" dirty="0">
                <a:latin typeface="Times New Roman"/>
                <a:cs typeface="Times New Roman"/>
              </a:rPr>
              <a:t> </a:t>
            </a:r>
            <a:r>
              <a:rPr sz="3400" spc="-25" dirty="0">
                <a:latin typeface="Times New Roman"/>
                <a:cs typeface="Times New Roman"/>
              </a:rPr>
              <a:t>8]</a:t>
            </a:r>
            <a:endParaRPr sz="3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sz="3400" dirty="0">
                <a:latin typeface="Times New Roman"/>
                <a:cs typeface="Times New Roman"/>
              </a:rPr>
              <a:t>key</a:t>
            </a:r>
            <a:r>
              <a:rPr sz="3400" spc="-2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=</a:t>
            </a:r>
            <a:r>
              <a:rPr sz="3400" spc="-30" dirty="0">
                <a:latin typeface="Times New Roman"/>
                <a:cs typeface="Times New Roman"/>
              </a:rPr>
              <a:t> </a:t>
            </a:r>
            <a:r>
              <a:rPr sz="3400" spc="-50" dirty="0">
                <a:latin typeface="Times New Roman"/>
                <a:cs typeface="Times New Roman"/>
              </a:rPr>
              <a:t>8</a:t>
            </a:r>
            <a:endParaRPr sz="3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sz="3400" dirty="0">
                <a:latin typeface="Times New Roman"/>
                <a:cs typeface="Times New Roman"/>
              </a:rPr>
              <a:t>print('{}</a:t>
            </a:r>
            <a:r>
              <a:rPr sz="3400" spc="-7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has</a:t>
            </a:r>
            <a:r>
              <a:rPr sz="3400" spc="-9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occurred</a:t>
            </a:r>
            <a:r>
              <a:rPr sz="3400" spc="-8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{}</a:t>
            </a:r>
            <a:r>
              <a:rPr sz="3400" spc="-60" dirty="0">
                <a:latin typeface="Times New Roman"/>
                <a:cs typeface="Times New Roman"/>
              </a:rPr>
              <a:t> </a:t>
            </a:r>
            <a:r>
              <a:rPr sz="3400" spc="-20" dirty="0">
                <a:latin typeface="Times New Roman"/>
                <a:cs typeface="Times New Roman"/>
              </a:rPr>
              <a:t>times'.format(key,</a:t>
            </a:r>
            <a:r>
              <a:rPr sz="3400" spc="-4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countX(lst,</a:t>
            </a:r>
            <a:r>
              <a:rPr sz="3400" spc="-90" dirty="0">
                <a:latin typeface="Times New Roman"/>
                <a:cs typeface="Times New Roman"/>
              </a:rPr>
              <a:t> </a:t>
            </a:r>
            <a:r>
              <a:rPr sz="3400" spc="-10" dirty="0">
                <a:latin typeface="Times New Roman"/>
                <a:cs typeface="Times New Roman"/>
              </a:rPr>
              <a:t>key)))</a:t>
            </a:r>
            <a:endParaRPr sz="3400">
              <a:latin typeface="Times New Roman"/>
              <a:cs typeface="Times New Roman"/>
            </a:endParaRPr>
          </a:p>
          <a:p>
            <a:pPr marL="120650">
              <a:lnSpc>
                <a:spcPct val="100000"/>
              </a:lnSpc>
              <a:spcBef>
                <a:spcPts val="3120"/>
              </a:spcBef>
            </a:pPr>
            <a:r>
              <a:rPr sz="3400" b="1" dirty="0">
                <a:latin typeface="Times New Roman"/>
                <a:cs typeface="Times New Roman"/>
              </a:rPr>
              <a:t>Output</a:t>
            </a:r>
            <a:r>
              <a:rPr sz="3400" b="1" spc="-25" dirty="0">
                <a:latin typeface="Times New Roman"/>
                <a:cs typeface="Times New Roman"/>
              </a:rPr>
              <a:t> </a:t>
            </a:r>
            <a:r>
              <a:rPr sz="3400" b="1" dirty="0">
                <a:latin typeface="Times New Roman"/>
                <a:cs typeface="Times New Roman"/>
              </a:rPr>
              <a:t>:</a:t>
            </a:r>
            <a:r>
              <a:rPr sz="3400" b="1" spc="-4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8</a:t>
            </a:r>
            <a:r>
              <a:rPr sz="3400" spc="-5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has</a:t>
            </a:r>
            <a:r>
              <a:rPr sz="3400" spc="-5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occurred</a:t>
            </a:r>
            <a:r>
              <a:rPr sz="3400" spc="-3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5</a:t>
            </a:r>
            <a:r>
              <a:rPr sz="3400" spc="-60" dirty="0">
                <a:latin typeface="Times New Roman"/>
                <a:cs typeface="Times New Roman"/>
              </a:rPr>
              <a:t> </a:t>
            </a:r>
            <a:r>
              <a:rPr sz="3400" spc="-10" dirty="0">
                <a:latin typeface="Times New Roman"/>
                <a:cs typeface="Times New Roman"/>
              </a:rPr>
              <a:t>times</a:t>
            </a:r>
            <a:endParaRPr sz="3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7449" y="11125"/>
            <a:ext cx="12002770" cy="1031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dirty="0">
                <a:latin typeface="Times New Roman"/>
                <a:cs typeface="Times New Roman"/>
              </a:rPr>
              <a:t>Count</a:t>
            </a:r>
            <a:r>
              <a:rPr sz="6600" spc="40" dirty="0">
                <a:latin typeface="Times New Roman"/>
                <a:cs typeface="Times New Roman"/>
              </a:rPr>
              <a:t> </a:t>
            </a:r>
            <a:r>
              <a:rPr sz="6600" dirty="0">
                <a:latin typeface="Times New Roman"/>
                <a:cs typeface="Times New Roman"/>
              </a:rPr>
              <a:t>key</a:t>
            </a:r>
            <a:r>
              <a:rPr sz="6600" spc="25" dirty="0">
                <a:latin typeface="Times New Roman"/>
                <a:cs typeface="Times New Roman"/>
              </a:rPr>
              <a:t> </a:t>
            </a:r>
            <a:r>
              <a:rPr sz="6600" dirty="0">
                <a:latin typeface="Times New Roman"/>
                <a:cs typeface="Times New Roman"/>
              </a:rPr>
              <a:t>using</a:t>
            </a:r>
            <a:r>
              <a:rPr sz="6600" spc="45" dirty="0">
                <a:latin typeface="Times New Roman"/>
                <a:cs typeface="Times New Roman"/>
              </a:rPr>
              <a:t> </a:t>
            </a:r>
            <a:r>
              <a:rPr sz="6600" dirty="0">
                <a:latin typeface="Times New Roman"/>
                <a:cs typeface="Times New Roman"/>
              </a:rPr>
              <a:t>Array</a:t>
            </a:r>
            <a:r>
              <a:rPr sz="6600" spc="25" dirty="0">
                <a:latin typeface="Times New Roman"/>
                <a:cs typeface="Times New Roman"/>
              </a:rPr>
              <a:t> </a:t>
            </a:r>
            <a:r>
              <a:rPr sz="6600" dirty="0">
                <a:latin typeface="Times New Roman"/>
                <a:cs typeface="Times New Roman"/>
              </a:rPr>
              <a:t>in</a:t>
            </a:r>
            <a:r>
              <a:rPr sz="6600" spc="25" dirty="0">
                <a:latin typeface="Times New Roman"/>
                <a:cs typeface="Times New Roman"/>
              </a:rPr>
              <a:t> </a:t>
            </a:r>
            <a:r>
              <a:rPr sz="6600" spc="-10" dirty="0">
                <a:latin typeface="Times New Roman"/>
                <a:cs typeface="Times New Roman"/>
              </a:rPr>
              <a:t>Python</a:t>
            </a:r>
            <a:endParaRPr sz="66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930396" y="0"/>
            <a:ext cx="5113020" cy="1546860"/>
            <a:chOff x="3930396" y="0"/>
            <a:chExt cx="5113020" cy="15468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30396" y="0"/>
              <a:ext cx="2142744" cy="154685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99660" y="0"/>
              <a:ext cx="1464564" cy="154685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90744" y="0"/>
              <a:ext cx="3852672" cy="154685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504182" y="-197104"/>
            <a:ext cx="3964940" cy="1076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900" spc="-20" dirty="0"/>
              <a:t>Ex-</a:t>
            </a:r>
            <a:r>
              <a:rPr sz="6900" spc="-10" dirty="0"/>
              <a:t>Arrays</a:t>
            </a:r>
            <a:endParaRPr sz="6900"/>
          </a:p>
        </p:txBody>
      </p:sp>
      <p:sp>
        <p:nvSpPr>
          <p:cNvPr id="7" name="object 7"/>
          <p:cNvSpPr txBox="1"/>
          <p:nvPr/>
        </p:nvSpPr>
        <p:spPr>
          <a:xfrm>
            <a:off x="550875" y="849855"/>
            <a:ext cx="7132955" cy="880554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000" b="1" dirty="0">
                <a:latin typeface="Times New Roman"/>
                <a:cs typeface="Times New Roman"/>
              </a:rPr>
              <a:t>#include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&lt;stdio.h&gt;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000" b="1" dirty="0">
                <a:latin typeface="Times New Roman"/>
                <a:cs typeface="Times New Roman"/>
              </a:rPr>
              <a:t>int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main</a:t>
            </a:r>
            <a:r>
              <a:rPr sz="2000" b="1" spc="-25" dirty="0">
                <a:latin typeface="Times New Roman"/>
                <a:cs typeface="Times New Roman"/>
              </a:rPr>
              <a:t> ()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000" b="1" spc="-50" dirty="0">
                <a:latin typeface="Times New Roman"/>
                <a:cs typeface="Times New Roman"/>
              </a:rPr>
              <a:t>{</a:t>
            </a:r>
            <a:endParaRPr sz="2000">
              <a:latin typeface="Times New Roman"/>
              <a:cs typeface="Times New Roman"/>
            </a:endParaRPr>
          </a:p>
          <a:p>
            <a:pPr marL="329565">
              <a:lnSpc>
                <a:spcPct val="100000"/>
              </a:lnSpc>
              <a:spcBef>
                <a:spcPts val="480"/>
              </a:spcBef>
            </a:pPr>
            <a:r>
              <a:rPr sz="2000" b="1" dirty="0">
                <a:latin typeface="Times New Roman"/>
                <a:cs typeface="Times New Roman"/>
              </a:rPr>
              <a:t>int</a:t>
            </a:r>
            <a:r>
              <a:rPr sz="2000" b="1" spc="-10" dirty="0">
                <a:latin typeface="Times New Roman"/>
                <a:cs typeface="Times New Roman"/>
              </a:rPr>
              <a:t> a[10],i,size;</a:t>
            </a:r>
            <a:endParaRPr sz="2000">
              <a:latin typeface="Times New Roman"/>
              <a:cs typeface="Times New Roman"/>
            </a:endParaRPr>
          </a:p>
          <a:p>
            <a:pPr marL="690880" marR="720725" indent="-64135">
              <a:lnSpc>
                <a:spcPts val="5760"/>
              </a:lnSpc>
              <a:spcBef>
                <a:spcPts val="755"/>
              </a:spcBef>
            </a:pPr>
            <a:r>
              <a:rPr sz="2000" b="1" dirty="0">
                <a:latin typeface="Times New Roman"/>
                <a:cs typeface="Times New Roman"/>
              </a:rPr>
              <a:t>printf(“\nhow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many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no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elements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u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want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to</a:t>
            </a:r>
            <a:r>
              <a:rPr sz="2000" b="1" spc="47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scan”); scanf(“%d”,&amp;size);</a:t>
            </a:r>
            <a:endParaRPr sz="2000">
              <a:latin typeface="Times New Roman"/>
              <a:cs typeface="Times New Roman"/>
            </a:endParaRPr>
          </a:p>
          <a:p>
            <a:pPr marL="754380" marR="1644014" indent="-64135">
              <a:lnSpc>
                <a:spcPts val="5760"/>
              </a:lnSpc>
            </a:pPr>
            <a:r>
              <a:rPr sz="2000" b="1" dirty="0">
                <a:latin typeface="Times New Roman"/>
                <a:cs typeface="Times New Roman"/>
              </a:rPr>
              <a:t>printf(“\nEnter</a:t>
            </a:r>
            <a:r>
              <a:rPr sz="2000" b="1" spc="-8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elements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</a:t>
            </a:r>
            <a:r>
              <a:rPr sz="2000" b="1" spc="46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array”); for(i=0;i&lt;size;i++)</a:t>
            </a:r>
            <a:endParaRPr sz="2000">
              <a:latin typeface="Times New Roman"/>
              <a:cs typeface="Times New Roman"/>
            </a:endParaRPr>
          </a:p>
          <a:p>
            <a:pPr marL="774700">
              <a:lnSpc>
                <a:spcPts val="2130"/>
              </a:lnSpc>
            </a:pPr>
            <a:r>
              <a:rPr sz="2000" b="1" spc="-50" dirty="0">
                <a:latin typeface="Times New Roman"/>
                <a:cs typeface="Times New Roman"/>
              </a:rPr>
              <a:t>{</a:t>
            </a:r>
            <a:endParaRPr sz="2000">
              <a:latin typeface="Times New Roman"/>
              <a:cs typeface="Times New Roman"/>
            </a:endParaRPr>
          </a:p>
          <a:p>
            <a:pPr marL="205740" algn="ctr">
              <a:lnSpc>
                <a:spcPct val="100000"/>
              </a:lnSpc>
              <a:spcBef>
                <a:spcPts val="480"/>
              </a:spcBef>
            </a:pPr>
            <a:r>
              <a:rPr sz="2000" b="1" spc="-10" dirty="0">
                <a:latin typeface="Times New Roman"/>
                <a:cs typeface="Times New Roman"/>
              </a:rPr>
              <a:t>scanf(“%d”,&amp;a[i]);</a:t>
            </a:r>
            <a:endParaRPr sz="2000">
              <a:latin typeface="Times New Roman"/>
              <a:cs typeface="Times New Roman"/>
            </a:endParaRPr>
          </a:p>
          <a:p>
            <a:pPr marL="626745" marR="4523105" indent="318135">
              <a:lnSpc>
                <a:spcPct val="240000"/>
              </a:lnSpc>
              <a:spcBef>
                <a:spcPts val="5"/>
              </a:spcBef>
              <a:tabLst>
                <a:tab pos="1312545" algn="l"/>
              </a:tabLst>
            </a:pPr>
            <a:r>
              <a:rPr sz="2000" b="1" spc="-50" dirty="0">
                <a:latin typeface="Times New Roman"/>
                <a:cs typeface="Times New Roman"/>
              </a:rPr>
              <a:t>}</a:t>
            </a:r>
            <a:r>
              <a:rPr sz="2000" b="1" dirty="0">
                <a:latin typeface="Times New Roman"/>
                <a:cs typeface="Times New Roman"/>
              </a:rPr>
              <a:t>	//end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for </a:t>
            </a:r>
            <a:r>
              <a:rPr sz="2000" b="1" spc="-10" dirty="0">
                <a:latin typeface="Times New Roman"/>
                <a:cs typeface="Times New Roman"/>
              </a:rPr>
              <a:t>for(i=0;i&lt;size;i++)</a:t>
            </a:r>
            <a:endParaRPr sz="2000">
              <a:latin typeface="Times New Roman"/>
              <a:cs typeface="Times New Roman"/>
            </a:endParaRPr>
          </a:p>
          <a:p>
            <a:pPr marL="647700">
              <a:lnSpc>
                <a:spcPct val="100000"/>
              </a:lnSpc>
              <a:spcBef>
                <a:spcPts val="480"/>
              </a:spcBef>
            </a:pPr>
            <a:r>
              <a:rPr sz="2000" b="1" spc="-50" dirty="0">
                <a:latin typeface="Times New Roman"/>
                <a:cs typeface="Times New Roman"/>
              </a:rPr>
              <a:t>{</a:t>
            </a:r>
            <a:endParaRPr sz="2000">
              <a:latin typeface="Times New Roman"/>
              <a:cs typeface="Times New Roman"/>
            </a:endParaRPr>
          </a:p>
          <a:p>
            <a:pPr marL="1693545">
              <a:lnSpc>
                <a:spcPct val="100000"/>
              </a:lnSpc>
              <a:spcBef>
                <a:spcPts val="480"/>
              </a:spcBef>
            </a:pPr>
            <a:r>
              <a:rPr sz="2000" b="1" dirty="0">
                <a:latin typeface="Times New Roman"/>
                <a:cs typeface="Times New Roman"/>
              </a:rPr>
              <a:t>printf(“The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array</a:t>
            </a:r>
            <a:r>
              <a:rPr sz="2000" b="1" spc="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is</a:t>
            </a:r>
            <a:r>
              <a:rPr sz="2000" b="1" spc="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%d”,a[i]);</a:t>
            </a:r>
            <a:r>
              <a:rPr sz="2000" b="1" spc="-10" dirty="0">
                <a:latin typeface="Times New Roman"/>
                <a:cs typeface="Times New Roman"/>
              </a:rPr>
              <a:t> //Displaying</a:t>
            </a:r>
            <a:r>
              <a:rPr sz="2000" b="1" spc="-13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Array</a:t>
            </a:r>
            <a:endParaRPr sz="2000">
              <a:latin typeface="Times New Roman"/>
              <a:cs typeface="Times New Roman"/>
            </a:endParaRPr>
          </a:p>
          <a:p>
            <a:pPr marL="139065" marR="4886960" indent="741680">
              <a:lnSpc>
                <a:spcPct val="240000"/>
              </a:lnSpc>
              <a:tabLst>
                <a:tab pos="1312545" algn="l"/>
              </a:tabLst>
            </a:pPr>
            <a:r>
              <a:rPr sz="2000" b="1" spc="-50" dirty="0">
                <a:latin typeface="Times New Roman"/>
                <a:cs typeface="Times New Roman"/>
              </a:rPr>
              <a:t>}</a:t>
            </a:r>
            <a:r>
              <a:rPr sz="2000" b="1" dirty="0">
                <a:latin typeface="Times New Roman"/>
                <a:cs typeface="Times New Roman"/>
              </a:rPr>
              <a:t>	//end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for </a:t>
            </a:r>
            <a:r>
              <a:rPr sz="2000" b="1" dirty="0">
                <a:latin typeface="Times New Roman"/>
                <a:cs typeface="Times New Roman"/>
              </a:rPr>
              <a:t>return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0;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38983" y="717804"/>
            <a:ext cx="7926324" cy="218389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41760" rIns="0" bIns="0" rtlCol="0">
            <a:spAutoFit/>
          </a:bodyPr>
          <a:lstStyle/>
          <a:p>
            <a:pPr marL="3185160">
              <a:lnSpc>
                <a:spcPct val="100000"/>
              </a:lnSpc>
              <a:spcBef>
                <a:spcPts val="105"/>
              </a:spcBef>
            </a:pPr>
            <a:r>
              <a:rPr dirty="0"/>
              <a:t>Output</a:t>
            </a:r>
            <a:r>
              <a:rPr spc="-60" dirty="0"/>
              <a:t> </a:t>
            </a:r>
            <a:r>
              <a:rPr dirty="0"/>
              <a:t>will</a:t>
            </a:r>
            <a:r>
              <a:rPr spc="-45" dirty="0"/>
              <a:t> </a:t>
            </a:r>
            <a:r>
              <a:rPr spc="-25" dirty="0"/>
              <a:t>be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50875" y="2973984"/>
            <a:ext cx="264795" cy="3134995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sz="3400" spc="-335" dirty="0">
                <a:latin typeface="Verdana"/>
                <a:cs typeface="Verdana"/>
              </a:rPr>
              <a:t>1</a:t>
            </a:r>
            <a:endParaRPr sz="3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sz="3400" spc="-335" dirty="0">
                <a:latin typeface="Verdana"/>
                <a:cs typeface="Verdana"/>
              </a:rPr>
              <a:t>2</a:t>
            </a:r>
            <a:endParaRPr sz="3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819"/>
              </a:spcBef>
            </a:pPr>
            <a:r>
              <a:rPr sz="3400" spc="-335" dirty="0">
                <a:latin typeface="Verdana"/>
                <a:cs typeface="Verdana"/>
              </a:rPr>
              <a:t>3</a:t>
            </a:r>
            <a:endParaRPr sz="3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sz="3400" spc="-335" dirty="0">
                <a:latin typeface="Verdana"/>
                <a:cs typeface="Verdana"/>
              </a:rPr>
              <a:t>4</a:t>
            </a:r>
            <a:endParaRPr sz="3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sz="3400" spc="-335" dirty="0">
                <a:latin typeface="Verdana"/>
                <a:cs typeface="Verdana"/>
              </a:rPr>
              <a:t>5</a:t>
            </a:r>
            <a:endParaRPr sz="340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82116" y="2626868"/>
            <a:ext cx="42506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printf("Enter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number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elements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array\n"); </a:t>
            </a:r>
            <a:r>
              <a:rPr sz="1800" dirty="0">
                <a:latin typeface="Times New Roman"/>
                <a:cs typeface="Times New Roman"/>
              </a:rPr>
              <a:t>scanf("%d",</a:t>
            </a:r>
            <a:r>
              <a:rPr sz="1800" spc="-8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&amp;n);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82116" y="3449828"/>
            <a:ext cx="30721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printf("Enter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%d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elements\n",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n);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3748" y="980693"/>
            <a:ext cx="3491229" cy="3592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99745" indent="-48704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499745" algn="l"/>
              </a:tabLst>
            </a:pPr>
            <a:r>
              <a:rPr sz="1800" dirty="0">
                <a:latin typeface="Times New Roman"/>
                <a:cs typeface="Times New Roman"/>
              </a:rPr>
              <a:t>#include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&lt;stdio.h&gt;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latin typeface="Arial MT"/>
                <a:cs typeface="Arial MT"/>
              </a:rPr>
              <a:t>•</a:t>
            </a:r>
            <a:endParaRPr sz="1800">
              <a:latin typeface="Arial MT"/>
              <a:cs typeface="Arial MT"/>
            </a:endParaRPr>
          </a:p>
          <a:p>
            <a:pPr marL="499745" indent="-487045">
              <a:lnSpc>
                <a:spcPct val="100000"/>
              </a:lnSpc>
              <a:buFont typeface="Arial MT"/>
              <a:buChar char="•"/>
              <a:tabLst>
                <a:tab pos="499745" algn="l"/>
              </a:tabLst>
            </a:pPr>
            <a:r>
              <a:rPr sz="1800" dirty="0">
                <a:latin typeface="Times New Roman"/>
                <a:cs typeface="Times New Roman"/>
              </a:rPr>
              <a:t>int </a:t>
            </a:r>
            <a:r>
              <a:rPr sz="1800" spc="-10" dirty="0">
                <a:latin typeface="Times New Roman"/>
                <a:cs typeface="Times New Roman"/>
              </a:rPr>
              <a:t>main()</a:t>
            </a:r>
            <a:endParaRPr sz="1800">
              <a:latin typeface="Times New Roman"/>
              <a:cs typeface="Times New Roman"/>
            </a:endParaRPr>
          </a:p>
          <a:p>
            <a:pPr marL="499745" indent="-487045">
              <a:lnSpc>
                <a:spcPct val="100000"/>
              </a:lnSpc>
              <a:buFont typeface="Arial MT"/>
              <a:buChar char="•"/>
              <a:tabLst>
                <a:tab pos="499745" algn="l"/>
              </a:tabLst>
            </a:pPr>
            <a:r>
              <a:rPr sz="1800" spc="-50" dirty="0">
                <a:latin typeface="Times New Roman"/>
                <a:cs typeface="Times New Roman"/>
              </a:rPr>
              <a:t>{</a:t>
            </a:r>
            <a:endParaRPr sz="1800">
              <a:latin typeface="Times New Roman"/>
              <a:cs typeface="Times New Roman"/>
            </a:endParaRPr>
          </a:p>
          <a:p>
            <a:pPr marL="670560" indent="-657860">
              <a:lnSpc>
                <a:spcPct val="100000"/>
              </a:lnSpc>
              <a:buFont typeface="Arial MT"/>
              <a:buChar char="•"/>
              <a:tabLst>
                <a:tab pos="670560" algn="l"/>
              </a:tabLst>
            </a:pPr>
            <a:r>
              <a:rPr sz="1800" dirty="0">
                <a:latin typeface="Times New Roman"/>
                <a:cs typeface="Times New Roman"/>
              </a:rPr>
              <a:t>int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a[100],b[100]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position,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</a:t>
            </a:r>
            <a:r>
              <a:rPr sz="1800" spc="-25" dirty="0">
                <a:latin typeface="Times New Roman"/>
                <a:cs typeface="Times New Roman"/>
              </a:rPr>
              <a:t> n;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latin typeface="Arial MT"/>
                <a:cs typeface="Arial MT"/>
              </a:rPr>
              <a:t>•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latin typeface="Arial MT"/>
                <a:cs typeface="Arial MT"/>
              </a:rPr>
              <a:t>•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latin typeface="Arial MT"/>
                <a:cs typeface="Arial MT"/>
              </a:rPr>
              <a:t>•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latin typeface="Arial MT"/>
                <a:cs typeface="Arial MT"/>
              </a:rPr>
              <a:t>•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latin typeface="Arial MT"/>
                <a:cs typeface="Arial MT"/>
              </a:rPr>
              <a:t>•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50" dirty="0">
                <a:latin typeface="Arial MT"/>
                <a:cs typeface="Arial MT"/>
              </a:rPr>
              <a:t>•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latin typeface="Arial MT"/>
                <a:cs typeface="Arial MT"/>
              </a:rPr>
              <a:t>•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latin typeface="Arial MT"/>
                <a:cs typeface="Arial MT"/>
              </a:rPr>
              <a:t>•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82116" y="3998721"/>
            <a:ext cx="22491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marR="5080" indent="-17272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for (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0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;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&lt;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;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c++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) </a:t>
            </a:r>
            <a:r>
              <a:rPr sz="1800" dirty="0">
                <a:latin typeface="Times New Roman"/>
                <a:cs typeface="Times New Roman"/>
              </a:rPr>
              <a:t>scanf("%d",</a:t>
            </a:r>
            <a:r>
              <a:rPr sz="1800" spc="-8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&amp;a[c]);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23748" y="4821682"/>
            <a:ext cx="367220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14045" indent="-60134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614045" algn="l"/>
              </a:tabLst>
            </a:pPr>
            <a:r>
              <a:rPr sz="1800" dirty="0">
                <a:latin typeface="Times New Roman"/>
                <a:cs typeface="Times New Roman"/>
              </a:rPr>
              <a:t>printf("Enter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%d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elements\n",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n);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23748" y="5370321"/>
            <a:ext cx="10604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 MT"/>
                <a:cs typeface="Arial MT"/>
              </a:rPr>
              <a:t>•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latin typeface="Arial MT"/>
                <a:cs typeface="Arial MT"/>
              </a:rPr>
              <a:t>•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latin typeface="Arial MT"/>
                <a:cs typeface="Arial MT"/>
              </a:rPr>
              <a:t>•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54582" y="5644718"/>
            <a:ext cx="249618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for(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 0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; c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&lt; n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-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 ; c++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)</a:t>
            </a:r>
            <a:endParaRPr sz="1800">
              <a:latin typeface="Times New Roman"/>
              <a:cs typeface="Times New Roman"/>
            </a:endParaRPr>
          </a:p>
          <a:p>
            <a:pPr marL="18288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printf("%d\n",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a[c]);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23748" y="6464934"/>
            <a:ext cx="48482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99745" indent="-48704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499745" algn="l"/>
              </a:tabLst>
            </a:pPr>
            <a:r>
              <a:rPr sz="2400" dirty="0">
                <a:latin typeface="Times New Roman"/>
                <a:cs typeface="Times New Roman"/>
              </a:rPr>
              <a:t>//Coping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element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array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82116" y="9211462"/>
            <a:ext cx="80708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return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0;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23748" y="7196404"/>
            <a:ext cx="3957954" cy="25895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52145" indent="-63944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652145" algn="l"/>
              </a:tabLst>
            </a:pPr>
            <a:r>
              <a:rPr sz="2400" dirty="0">
                <a:latin typeface="Times New Roman"/>
                <a:cs typeface="Times New Roman"/>
              </a:rPr>
              <a:t>for(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0 ;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 &lt;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 - 1 ;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c++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  <a:p>
            <a:pPr marL="881380" indent="-868680">
              <a:lnSpc>
                <a:spcPct val="100000"/>
              </a:lnSpc>
              <a:buFont typeface="Arial MT"/>
              <a:buChar char="•"/>
              <a:tabLst>
                <a:tab pos="881380" algn="l"/>
              </a:tabLst>
            </a:pPr>
            <a:r>
              <a:rPr sz="2400" spc="-50" dirty="0">
                <a:latin typeface="Times New Roman"/>
                <a:cs typeface="Times New Roman"/>
              </a:rPr>
              <a:t>{</a:t>
            </a:r>
            <a:endParaRPr sz="2400">
              <a:latin typeface="Times New Roman"/>
              <a:cs typeface="Times New Roman"/>
            </a:endParaRPr>
          </a:p>
          <a:p>
            <a:pPr marL="1186180" indent="-1173480">
              <a:lnSpc>
                <a:spcPct val="100000"/>
              </a:lnSpc>
              <a:buFont typeface="Arial MT"/>
              <a:buChar char="•"/>
              <a:tabLst>
                <a:tab pos="1186180" algn="l"/>
              </a:tabLst>
            </a:pPr>
            <a:r>
              <a:rPr sz="2400" spc="-10" dirty="0">
                <a:latin typeface="Times New Roman"/>
                <a:cs typeface="Times New Roman"/>
              </a:rPr>
              <a:t>b[c]=a[c];</a:t>
            </a:r>
            <a:endParaRPr sz="2400">
              <a:latin typeface="Times New Roman"/>
              <a:cs typeface="Times New Roman"/>
            </a:endParaRPr>
          </a:p>
          <a:p>
            <a:pPr marL="881380" indent="-868680">
              <a:lnSpc>
                <a:spcPct val="100000"/>
              </a:lnSpc>
              <a:buFont typeface="Arial MT"/>
              <a:buChar char="•"/>
              <a:tabLst>
                <a:tab pos="881380" algn="l"/>
              </a:tabLst>
            </a:pPr>
            <a:r>
              <a:rPr sz="2400" spc="-50" dirty="0"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  <a:p>
            <a:pPr marL="670560" indent="-657860">
              <a:lnSpc>
                <a:spcPct val="100000"/>
              </a:lnSpc>
              <a:spcBef>
                <a:spcPts val="25"/>
              </a:spcBef>
              <a:buFont typeface="Arial MT"/>
              <a:buChar char="•"/>
              <a:tabLst>
                <a:tab pos="670560" algn="l"/>
              </a:tabLst>
            </a:pPr>
            <a:r>
              <a:rPr sz="1800" spc="-50" dirty="0">
                <a:latin typeface="Times New Roman"/>
                <a:cs typeface="Times New Roman"/>
              </a:rPr>
              <a:t>}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latin typeface="Arial MT"/>
                <a:cs typeface="Arial MT"/>
              </a:rPr>
              <a:t>•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50" dirty="0">
                <a:latin typeface="Arial MT"/>
                <a:cs typeface="Arial MT"/>
              </a:rPr>
              <a:t>•</a:t>
            </a:r>
            <a:endParaRPr sz="1800">
              <a:latin typeface="Arial MT"/>
              <a:cs typeface="Arial MT"/>
            </a:endParaRPr>
          </a:p>
          <a:p>
            <a:pPr marL="499745" indent="-487045">
              <a:lnSpc>
                <a:spcPct val="100000"/>
              </a:lnSpc>
              <a:buFont typeface="Arial MT"/>
              <a:buChar char="•"/>
              <a:tabLst>
                <a:tab pos="499745" algn="l"/>
              </a:tabLst>
            </a:pPr>
            <a:r>
              <a:rPr sz="1800" spc="-50" dirty="0">
                <a:latin typeface="Times New Roman"/>
                <a:cs typeface="Times New Roman"/>
              </a:rPr>
              <a:t>}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2048001" y="17221"/>
            <a:ext cx="6205855" cy="1031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i="1" dirty="0">
                <a:latin typeface="Arial"/>
                <a:cs typeface="Arial"/>
              </a:rPr>
              <a:t>Copy</a:t>
            </a:r>
            <a:r>
              <a:rPr sz="6600" i="1" spc="-20" dirty="0">
                <a:latin typeface="Arial"/>
                <a:cs typeface="Arial"/>
              </a:rPr>
              <a:t> </a:t>
            </a:r>
            <a:r>
              <a:rPr sz="6600" i="1" spc="-10" dirty="0">
                <a:latin typeface="Arial"/>
                <a:cs typeface="Arial"/>
              </a:rPr>
              <a:t>operation</a:t>
            </a:r>
            <a:endParaRPr sz="66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66538" y="221056"/>
            <a:ext cx="2870200" cy="1077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900" b="0" spc="-10" dirty="0">
                <a:solidFill>
                  <a:srgbClr val="2E5796"/>
                </a:solidFill>
                <a:latin typeface="Palatino Linotype"/>
                <a:cs typeface="Palatino Linotype"/>
              </a:rPr>
              <a:t>Output</a:t>
            </a:r>
            <a:endParaRPr sz="6900">
              <a:latin typeface="Palatino Linotype"/>
              <a:cs typeface="Palatino Linotyp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7587" y="406654"/>
            <a:ext cx="1327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7E7E7E"/>
                </a:solidFill>
                <a:latin typeface="Arial MT"/>
                <a:cs typeface="Arial MT"/>
              </a:rPr>
              <a:t>•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7587" y="1138173"/>
            <a:ext cx="5945505" cy="2220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•</a:t>
            </a:r>
            <a:endParaRPr sz="2400">
              <a:latin typeface="Arial MT"/>
              <a:cs typeface="Arial MT"/>
            </a:endParaRPr>
          </a:p>
          <a:p>
            <a:pPr marL="499745" indent="-487045">
              <a:lnSpc>
                <a:spcPct val="100000"/>
              </a:lnSpc>
              <a:buFont typeface="Arial MT"/>
              <a:buChar char="•"/>
              <a:tabLst>
                <a:tab pos="499745" algn="l"/>
                <a:tab pos="5633720" algn="l"/>
              </a:tabLst>
            </a:pPr>
            <a:r>
              <a:rPr sz="2400" b="1" spc="-165" dirty="0">
                <a:latin typeface="Tahoma"/>
                <a:cs typeface="Tahoma"/>
              </a:rPr>
              <a:t>Enter</a:t>
            </a:r>
            <a:r>
              <a:rPr sz="2400" b="1" spc="-35" dirty="0">
                <a:latin typeface="Tahoma"/>
                <a:cs typeface="Tahoma"/>
              </a:rPr>
              <a:t> </a:t>
            </a:r>
            <a:r>
              <a:rPr sz="2400" b="1" spc="-60" dirty="0">
                <a:latin typeface="Tahoma"/>
                <a:cs typeface="Tahoma"/>
              </a:rPr>
              <a:t>number</a:t>
            </a:r>
            <a:r>
              <a:rPr sz="2400" b="1" spc="-114" dirty="0">
                <a:latin typeface="Tahoma"/>
                <a:cs typeface="Tahoma"/>
              </a:rPr>
              <a:t> </a:t>
            </a:r>
            <a:r>
              <a:rPr sz="2400" b="1" spc="-60" dirty="0">
                <a:latin typeface="Tahoma"/>
                <a:cs typeface="Tahoma"/>
              </a:rPr>
              <a:t>of</a:t>
            </a:r>
            <a:r>
              <a:rPr sz="2400" b="1" spc="-85" dirty="0">
                <a:latin typeface="Tahoma"/>
                <a:cs typeface="Tahoma"/>
              </a:rPr>
              <a:t> </a:t>
            </a:r>
            <a:r>
              <a:rPr sz="2400" b="1" spc="-50" dirty="0">
                <a:latin typeface="Tahoma"/>
                <a:cs typeface="Tahoma"/>
              </a:rPr>
              <a:t>elements</a:t>
            </a:r>
            <a:r>
              <a:rPr sz="2400" b="1" spc="-70" dirty="0">
                <a:latin typeface="Tahoma"/>
                <a:cs typeface="Tahoma"/>
              </a:rPr>
              <a:t> </a:t>
            </a:r>
            <a:r>
              <a:rPr sz="2400" b="1" spc="-114" dirty="0">
                <a:latin typeface="Tahoma"/>
                <a:cs typeface="Tahoma"/>
              </a:rPr>
              <a:t>in</a:t>
            </a:r>
            <a:r>
              <a:rPr sz="2400" b="1" spc="-60" dirty="0">
                <a:latin typeface="Tahoma"/>
                <a:cs typeface="Tahoma"/>
              </a:rPr>
              <a:t> </a:t>
            </a:r>
            <a:r>
              <a:rPr sz="2400" b="1" spc="-10" dirty="0">
                <a:latin typeface="Tahoma"/>
                <a:cs typeface="Tahoma"/>
              </a:rPr>
              <a:t>array</a:t>
            </a:r>
            <a:r>
              <a:rPr sz="2400" b="1" dirty="0">
                <a:latin typeface="Tahoma"/>
                <a:cs typeface="Tahoma"/>
              </a:rPr>
              <a:t>	</a:t>
            </a:r>
            <a:r>
              <a:rPr sz="2400" b="1" spc="-45" dirty="0">
                <a:latin typeface="Tahoma"/>
                <a:cs typeface="Tahoma"/>
              </a:rPr>
              <a:t>-</a:t>
            </a:r>
            <a:r>
              <a:rPr sz="2400" b="1" spc="-130" dirty="0">
                <a:latin typeface="Tahoma"/>
                <a:cs typeface="Tahoma"/>
              </a:rPr>
              <a:t>4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2400" spc="-50" dirty="0">
                <a:latin typeface="Arial MT"/>
                <a:cs typeface="Arial MT"/>
              </a:rPr>
              <a:t>•</a:t>
            </a:r>
            <a:endParaRPr sz="2400">
              <a:latin typeface="Arial MT"/>
              <a:cs typeface="Arial MT"/>
            </a:endParaRPr>
          </a:p>
          <a:p>
            <a:pPr marL="757555" indent="-744855">
              <a:lnSpc>
                <a:spcPct val="100000"/>
              </a:lnSpc>
              <a:buFont typeface="Arial MT"/>
              <a:buChar char="•"/>
              <a:tabLst>
                <a:tab pos="757555" algn="l"/>
                <a:tab pos="1654175" algn="l"/>
              </a:tabLst>
            </a:pPr>
            <a:r>
              <a:rPr sz="2400" b="1" spc="-10" dirty="0">
                <a:latin typeface="Tahoma"/>
                <a:cs typeface="Tahoma"/>
              </a:rPr>
              <a:t>Enter</a:t>
            </a:r>
            <a:r>
              <a:rPr sz="2400" b="1" dirty="0">
                <a:latin typeface="Tahoma"/>
                <a:cs typeface="Tahoma"/>
              </a:rPr>
              <a:t>	</a:t>
            </a:r>
            <a:r>
              <a:rPr sz="2400" b="1" spc="-190" dirty="0">
                <a:latin typeface="Tahoma"/>
                <a:cs typeface="Tahoma"/>
              </a:rPr>
              <a:t>4</a:t>
            </a:r>
            <a:r>
              <a:rPr sz="2400" b="1" spc="-20" dirty="0">
                <a:latin typeface="Tahoma"/>
                <a:cs typeface="Tahoma"/>
              </a:rPr>
              <a:t> </a:t>
            </a:r>
            <a:r>
              <a:rPr sz="2400" b="1" spc="-10" dirty="0">
                <a:latin typeface="Tahoma"/>
                <a:cs typeface="Tahoma"/>
              </a:rPr>
              <a:t>elements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2400" spc="-50" dirty="0">
                <a:latin typeface="Arial MT"/>
                <a:cs typeface="Arial MT"/>
              </a:rPr>
              <a:t>•</a:t>
            </a:r>
            <a:endParaRPr sz="24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</a:pPr>
            <a:r>
              <a:rPr sz="2400" b="1" spc="-50" dirty="0">
                <a:latin typeface="Tahoma"/>
                <a:cs typeface="Tahoma"/>
              </a:rPr>
              <a:t>1</a:t>
            </a:r>
            <a:endParaRPr sz="2400">
              <a:latin typeface="Tahoma"/>
              <a:cs typeface="Tahoma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748537" y="3343976"/>
          <a:ext cx="3385183" cy="51282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893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6131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69493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69570">
                <a:tc>
                  <a:txBody>
                    <a:bodyPr/>
                    <a:lstStyle/>
                    <a:p>
                      <a:pPr marL="31750">
                        <a:lnSpc>
                          <a:spcPts val="2795"/>
                        </a:lnSpc>
                        <a:spcBef>
                          <a:spcPts val="15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•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795"/>
                        </a:lnSpc>
                        <a:spcBef>
                          <a:spcPts val="15"/>
                        </a:spcBef>
                      </a:pPr>
                      <a:r>
                        <a:rPr sz="2400" b="1" spc="-50" dirty="0">
                          <a:latin typeface="Tahoma"/>
                          <a:cs typeface="Tahoma"/>
                        </a:rPr>
                        <a:t>2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905" marB="0"/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31750">
                        <a:lnSpc>
                          <a:spcPts val="2780"/>
                        </a:lnSpc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•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780"/>
                        </a:lnSpc>
                      </a:pPr>
                      <a:r>
                        <a:rPr sz="2400" b="1" spc="-50" dirty="0">
                          <a:latin typeface="Tahoma"/>
                          <a:cs typeface="Tahoma"/>
                        </a:rPr>
                        <a:t>3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31750">
                        <a:lnSpc>
                          <a:spcPts val="2865"/>
                        </a:lnSpc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•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865"/>
                        </a:lnSpc>
                      </a:pPr>
                      <a:r>
                        <a:rPr sz="2400" b="1" spc="-50" dirty="0">
                          <a:latin typeface="Tahoma"/>
                          <a:cs typeface="Tahoma"/>
                        </a:rPr>
                        <a:t>4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420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•</a:t>
                      </a:r>
                      <a:endParaRPr sz="2400">
                        <a:latin typeface="Arial MT"/>
                        <a:cs typeface="Arial MT"/>
                      </a:endParaRPr>
                    </a:p>
                    <a:p>
                      <a:pPr marL="31750">
                        <a:lnSpc>
                          <a:spcPts val="2795"/>
                        </a:lnSpc>
                        <a:spcBef>
                          <a:spcPts val="5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•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18034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45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ts val="2795"/>
                        </a:lnSpc>
                      </a:pPr>
                      <a:r>
                        <a:rPr sz="2400" b="1" spc="-50" dirty="0">
                          <a:latin typeface="Tahoma"/>
                          <a:cs typeface="Tahoma"/>
                        </a:rPr>
                        <a:t>1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9621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20"/>
                        </a:spcBef>
                      </a:pPr>
                      <a:r>
                        <a:rPr sz="2400" b="1" spc="-35" dirty="0">
                          <a:latin typeface="Tahoma"/>
                          <a:cs typeface="Tahoma"/>
                        </a:rPr>
                        <a:t>displaying</a:t>
                      </a:r>
                      <a:r>
                        <a:rPr sz="2400" b="1" spc="-8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400" b="1" spc="-45" dirty="0">
                          <a:latin typeface="Tahoma"/>
                          <a:cs typeface="Tahoma"/>
                        </a:rPr>
                        <a:t>array</a:t>
                      </a:r>
                      <a:r>
                        <a:rPr sz="2400" b="1" spc="-10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400" b="1" spc="90" dirty="0">
                          <a:latin typeface="Tahoma"/>
                          <a:cs typeface="Tahoma"/>
                        </a:rPr>
                        <a:t>a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80340" marB="0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31750">
                        <a:lnSpc>
                          <a:spcPts val="2780"/>
                        </a:lnSpc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•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780"/>
                        </a:lnSpc>
                      </a:pPr>
                      <a:r>
                        <a:rPr sz="2400" b="1" spc="-50" dirty="0">
                          <a:latin typeface="Tahoma"/>
                          <a:cs typeface="Tahoma"/>
                        </a:rPr>
                        <a:t>2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69570">
                <a:tc>
                  <a:txBody>
                    <a:bodyPr/>
                    <a:lstStyle/>
                    <a:p>
                      <a:pPr marL="31750">
                        <a:lnSpc>
                          <a:spcPts val="2810"/>
                        </a:lnSpc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•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810"/>
                        </a:lnSpc>
                      </a:pPr>
                      <a:r>
                        <a:rPr sz="2400" b="1" spc="-50" dirty="0">
                          <a:latin typeface="Tahoma"/>
                          <a:cs typeface="Tahoma"/>
                        </a:rPr>
                        <a:t>3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61315">
                <a:tc>
                  <a:txBody>
                    <a:bodyPr/>
                    <a:lstStyle/>
                    <a:p>
                      <a:pPr marL="31750">
                        <a:lnSpc>
                          <a:spcPts val="2795"/>
                        </a:lnSpc>
                        <a:spcBef>
                          <a:spcPts val="15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•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1905" marB="0"/>
                </a:tc>
                <a:tc gridSpan="2">
                  <a:txBody>
                    <a:bodyPr/>
                    <a:lstStyle/>
                    <a:p>
                      <a:pPr marL="189865">
                        <a:lnSpc>
                          <a:spcPts val="2795"/>
                        </a:lnSpc>
                        <a:spcBef>
                          <a:spcPts val="15"/>
                        </a:spcBef>
                      </a:pPr>
                      <a:r>
                        <a:rPr sz="2400" b="1" spc="-50" dirty="0">
                          <a:latin typeface="Tahoma"/>
                          <a:cs typeface="Tahoma"/>
                        </a:rPr>
                        <a:t>4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90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31750">
                        <a:lnSpc>
                          <a:spcPts val="2780"/>
                        </a:lnSpc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•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89865">
                        <a:lnSpc>
                          <a:spcPts val="2780"/>
                        </a:lnSpc>
                      </a:pPr>
                      <a:r>
                        <a:rPr sz="2400" b="1" spc="-35" dirty="0">
                          <a:latin typeface="Tahoma"/>
                          <a:cs typeface="Tahoma"/>
                        </a:rPr>
                        <a:t>displaying</a:t>
                      </a:r>
                      <a:r>
                        <a:rPr sz="2400" b="1" spc="-1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400" b="1" spc="-35" dirty="0">
                          <a:latin typeface="Tahoma"/>
                          <a:cs typeface="Tahoma"/>
                        </a:rPr>
                        <a:t>array</a:t>
                      </a:r>
                      <a:r>
                        <a:rPr sz="2400" b="1" spc="-114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400" b="1" spc="10" dirty="0">
                          <a:latin typeface="Tahoma"/>
                          <a:cs typeface="Tahoma"/>
                        </a:rPr>
                        <a:t>b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31750">
                        <a:lnSpc>
                          <a:spcPts val="2780"/>
                        </a:lnSpc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•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89865">
                        <a:lnSpc>
                          <a:spcPts val="2780"/>
                        </a:lnSpc>
                      </a:pPr>
                      <a:r>
                        <a:rPr sz="2400" b="1" spc="-50" dirty="0">
                          <a:latin typeface="Tahoma"/>
                          <a:cs typeface="Tahoma"/>
                        </a:rPr>
                        <a:t>1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31750">
                        <a:lnSpc>
                          <a:spcPts val="2780"/>
                        </a:lnSpc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•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89865">
                        <a:lnSpc>
                          <a:spcPts val="2780"/>
                        </a:lnSpc>
                      </a:pPr>
                      <a:r>
                        <a:rPr sz="2400" b="1" spc="-50" dirty="0">
                          <a:latin typeface="Tahoma"/>
                          <a:cs typeface="Tahoma"/>
                        </a:rPr>
                        <a:t>2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31750">
                        <a:lnSpc>
                          <a:spcPts val="2780"/>
                        </a:lnSpc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•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89865">
                        <a:lnSpc>
                          <a:spcPts val="2780"/>
                        </a:lnSpc>
                      </a:pPr>
                      <a:r>
                        <a:rPr sz="2400" b="1" spc="-50" dirty="0">
                          <a:latin typeface="Tahoma"/>
                          <a:cs typeface="Tahoma"/>
                        </a:rPr>
                        <a:t>3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369570">
                <a:tc>
                  <a:txBody>
                    <a:bodyPr/>
                    <a:lstStyle/>
                    <a:p>
                      <a:pPr marL="31750">
                        <a:lnSpc>
                          <a:spcPts val="2810"/>
                        </a:lnSpc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•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89865">
                        <a:lnSpc>
                          <a:spcPts val="2810"/>
                        </a:lnSpc>
                      </a:pPr>
                      <a:r>
                        <a:rPr sz="2400" b="1" spc="-50" dirty="0">
                          <a:latin typeface="Tahoma"/>
                          <a:cs typeface="Tahoma"/>
                        </a:rPr>
                        <a:t>4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767587" y="8820404"/>
            <a:ext cx="13271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7E7E7E"/>
                </a:solidFill>
                <a:latin typeface="Arial MT"/>
                <a:cs typeface="Arial MT"/>
              </a:rPr>
              <a:t>•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2827" y="1417167"/>
            <a:ext cx="2458720" cy="922019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1400" b="1" spc="-114" dirty="0">
                <a:latin typeface="Tahoma"/>
                <a:cs typeface="Tahoma"/>
              </a:rPr>
              <a:t>int</a:t>
            </a:r>
            <a:r>
              <a:rPr sz="1400" b="1" spc="-5" dirty="0">
                <a:latin typeface="Tahoma"/>
                <a:cs typeface="Tahoma"/>
              </a:rPr>
              <a:t> </a:t>
            </a:r>
            <a:r>
              <a:rPr sz="1400" b="1" spc="-10" dirty="0">
                <a:latin typeface="Tahoma"/>
                <a:cs typeface="Tahoma"/>
              </a:rPr>
              <a:t>main()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1400" b="1" spc="-455" dirty="0">
                <a:latin typeface="Tahoma"/>
                <a:cs typeface="Tahoma"/>
              </a:rPr>
              <a:t>{</a:t>
            </a:r>
            <a:endParaRPr sz="1400">
              <a:latin typeface="Tahoma"/>
              <a:cs typeface="Tahoma"/>
            </a:endParaRPr>
          </a:p>
          <a:p>
            <a:pPr marL="160020">
              <a:lnSpc>
                <a:spcPct val="100000"/>
              </a:lnSpc>
              <a:spcBef>
                <a:spcPts val="675"/>
              </a:spcBef>
            </a:pPr>
            <a:r>
              <a:rPr sz="1400" b="1" spc="-120" dirty="0">
                <a:latin typeface="Tahoma"/>
                <a:cs typeface="Tahoma"/>
              </a:rPr>
              <a:t>int</a:t>
            </a:r>
            <a:r>
              <a:rPr sz="1400" b="1" spc="-5" dirty="0">
                <a:latin typeface="Tahoma"/>
                <a:cs typeface="Tahoma"/>
              </a:rPr>
              <a:t> </a:t>
            </a:r>
            <a:r>
              <a:rPr sz="1400" b="1" spc="-95" dirty="0">
                <a:latin typeface="Tahoma"/>
                <a:cs typeface="Tahoma"/>
              </a:rPr>
              <a:t>array[100],</a:t>
            </a:r>
            <a:r>
              <a:rPr sz="1400" b="1" spc="10" dirty="0">
                <a:latin typeface="Tahoma"/>
                <a:cs typeface="Tahoma"/>
              </a:rPr>
              <a:t> </a:t>
            </a:r>
            <a:r>
              <a:rPr sz="1400" b="1" spc="-50" dirty="0">
                <a:latin typeface="Tahoma"/>
                <a:cs typeface="Tahoma"/>
              </a:rPr>
              <a:t>position,</a:t>
            </a:r>
            <a:r>
              <a:rPr sz="1400" b="1" dirty="0">
                <a:latin typeface="Tahoma"/>
                <a:cs typeface="Tahoma"/>
              </a:rPr>
              <a:t> </a:t>
            </a:r>
            <a:r>
              <a:rPr sz="1400" b="1" spc="-65" dirty="0">
                <a:latin typeface="Tahoma"/>
                <a:cs typeface="Tahoma"/>
              </a:rPr>
              <a:t>i,</a:t>
            </a:r>
            <a:r>
              <a:rPr sz="1400" b="1" dirty="0">
                <a:latin typeface="Tahoma"/>
                <a:cs typeface="Tahoma"/>
              </a:rPr>
              <a:t> </a:t>
            </a:r>
            <a:r>
              <a:rPr sz="1400" b="1" spc="-25" dirty="0">
                <a:latin typeface="Tahoma"/>
                <a:cs typeface="Tahoma"/>
              </a:rPr>
              <a:t>n;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30655" y="2612238"/>
            <a:ext cx="3879850" cy="622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0000"/>
              </a:lnSpc>
              <a:spcBef>
                <a:spcPts val="100"/>
              </a:spcBef>
            </a:pPr>
            <a:r>
              <a:rPr sz="1400" b="1" spc="-110" dirty="0">
                <a:latin typeface="Tahoma"/>
                <a:cs typeface="Tahoma"/>
              </a:rPr>
              <a:t>printf("Enter</a:t>
            </a:r>
            <a:r>
              <a:rPr sz="1400" b="1" spc="-25" dirty="0">
                <a:latin typeface="Tahoma"/>
                <a:cs typeface="Tahoma"/>
              </a:rPr>
              <a:t> </a:t>
            </a:r>
            <a:r>
              <a:rPr sz="1400" b="1" spc="-40" dirty="0">
                <a:latin typeface="Tahoma"/>
                <a:cs typeface="Tahoma"/>
              </a:rPr>
              <a:t>number</a:t>
            </a:r>
            <a:r>
              <a:rPr sz="1400" b="1" spc="-30" dirty="0">
                <a:latin typeface="Tahoma"/>
                <a:cs typeface="Tahoma"/>
              </a:rPr>
              <a:t> </a:t>
            </a:r>
            <a:r>
              <a:rPr sz="1400" b="1" spc="-50" dirty="0">
                <a:latin typeface="Tahoma"/>
                <a:cs typeface="Tahoma"/>
              </a:rPr>
              <a:t>of</a:t>
            </a:r>
            <a:r>
              <a:rPr sz="1400" b="1" spc="-35" dirty="0">
                <a:latin typeface="Tahoma"/>
                <a:cs typeface="Tahoma"/>
              </a:rPr>
              <a:t> </a:t>
            </a:r>
            <a:r>
              <a:rPr sz="1400" b="1" spc="-30" dirty="0">
                <a:latin typeface="Tahoma"/>
                <a:cs typeface="Tahoma"/>
              </a:rPr>
              <a:t>elements</a:t>
            </a:r>
            <a:r>
              <a:rPr sz="1400" b="1" spc="-35" dirty="0">
                <a:latin typeface="Tahoma"/>
                <a:cs typeface="Tahoma"/>
              </a:rPr>
              <a:t> </a:t>
            </a:r>
            <a:r>
              <a:rPr sz="1400" b="1" spc="-90" dirty="0">
                <a:latin typeface="Tahoma"/>
                <a:cs typeface="Tahoma"/>
              </a:rPr>
              <a:t>in</a:t>
            </a:r>
            <a:r>
              <a:rPr sz="1400" b="1" spc="-20" dirty="0">
                <a:latin typeface="Tahoma"/>
                <a:cs typeface="Tahoma"/>
              </a:rPr>
              <a:t> </a:t>
            </a:r>
            <a:r>
              <a:rPr sz="1400" b="1" spc="-50" dirty="0">
                <a:latin typeface="Tahoma"/>
                <a:cs typeface="Tahoma"/>
              </a:rPr>
              <a:t>array\n"); </a:t>
            </a:r>
            <a:r>
              <a:rPr sz="1400" b="1" spc="-95" dirty="0">
                <a:latin typeface="Tahoma"/>
                <a:cs typeface="Tahoma"/>
              </a:rPr>
              <a:t>scanf("%d",</a:t>
            </a:r>
            <a:r>
              <a:rPr sz="1400" b="1" spc="-45" dirty="0">
                <a:latin typeface="Tahoma"/>
                <a:cs typeface="Tahoma"/>
              </a:rPr>
              <a:t> </a:t>
            </a:r>
            <a:r>
              <a:rPr sz="1400" b="1" spc="-20" dirty="0">
                <a:latin typeface="Tahoma"/>
                <a:cs typeface="Tahoma"/>
              </a:rPr>
              <a:t>&amp;n);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30655" y="3593083"/>
            <a:ext cx="277304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110" dirty="0">
                <a:latin typeface="Tahoma"/>
                <a:cs typeface="Tahoma"/>
              </a:rPr>
              <a:t>printf("Enter</a:t>
            </a:r>
            <a:r>
              <a:rPr sz="1400" b="1" dirty="0">
                <a:latin typeface="Tahoma"/>
                <a:cs typeface="Tahoma"/>
              </a:rPr>
              <a:t> </a:t>
            </a:r>
            <a:r>
              <a:rPr sz="1400" b="1" spc="-220" dirty="0">
                <a:latin typeface="Tahoma"/>
                <a:cs typeface="Tahoma"/>
              </a:rPr>
              <a:t>%d</a:t>
            </a:r>
            <a:r>
              <a:rPr sz="1400" b="1" spc="-20" dirty="0">
                <a:latin typeface="Tahoma"/>
                <a:cs typeface="Tahoma"/>
              </a:rPr>
              <a:t> </a:t>
            </a:r>
            <a:r>
              <a:rPr sz="1400" b="1" spc="-45" dirty="0">
                <a:latin typeface="Tahoma"/>
                <a:cs typeface="Tahoma"/>
              </a:rPr>
              <a:t>elements\n",</a:t>
            </a:r>
            <a:r>
              <a:rPr sz="1400" b="1" spc="-10" dirty="0">
                <a:latin typeface="Tahoma"/>
                <a:cs typeface="Tahoma"/>
              </a:rPr>
              <a:t> </a:t>
            </a:r>
            <a:r>
              <a:rPr sz="1400" b="1" spc="-40" dirty="0">
                <a:latin typeface="Tahoma"/>
                <a:cs typeface="Tahoma"/>
              </a:rPr>
              <a:t>n);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30655" y="4106011"/>
            <a:ext cx="2047239" cy="622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0020" marR="5080" indent="-147955">
              <a:lnSpc>
                <a:spcPct val="140000"/>
              </a:lnSpc>
              <a:spcBef>
                <a:spcPts val="100"/>
              </a:spcBef>
            </a:pPr>
            <a:r>
              <a:rPr sz="1400" b="1" spc="-100" dirty="0">
                <a:latin typeface="Tahoma"/>
                <a:cs typeface="Tahoma"/>
              </a:rPr>
              <a:t>for</a:t>
            </a:r>
            <a:r>
              <a:rPr sz="1400" b="1" spc="-35" dirty="0">
                <a:latin typeface="Tahoma"/>
                <a:cs typeface="Tahoma"/>
              </a:rPr>
              <a:t> </a:t>
            </a:r>
            <a:r>
              <a:rPr sz="1400" b="1" spc="-110" dirty="0">
                <a:latin typeface="Tahoma"/>
                <a:cs typeface="Tahoma"/>
              </a:rPr>
              <a:t>(</a:t>
            </a:r>
            <a:r>
              <a:rPr sz="1400" b="1" spc="-15" dirty="0">
                <a:latin typeface="Tahoma"/>
                <a:cs typeface="Tahoma"/>
              </a:rPr>
              <a:t> </a:t>
            </a:r>
            <a:r>
              <a:rPr sz="1400" b="1" spc="-95" dirty="0">
                <a:latin typeface="Tahoma"/>
                <a:cs typeface="Tahoma"/>
              </a:rPr>
              <a:t>i</a:t>
            </a:r>
            <a:r>
              <a:rPr sz="1400" b="1" spc="-30" dirty="0">
                <a:latin typeface="Tahoma"/>
                <a:cs typeface="Tahoma"/>
              </a:rPr>
              <a:t> </a:t>
            </a:r>
            <a:r>
              <a:rPr sz="1400" b="1" spc="-315" dirty="0">
                <a:latin typeface="Tahoma"/>
                <a:cs typeface="Tahoma"/>
              </a:rPr>
              <a:t>=</a:t>
            </a:r>
            <a:r>
              <a:rPr sz="1400" b="1" spc="-15" dirty="0">
                <a:latin typeface="Tahoma"/>
                <a:cs typeface="Tahoma"/>
              </a:rPr>
              <a:t> </a:t>
            </a:r>
            <a:r>
              <a:rPr sz="1400" b="1" spc="-114" dirty="0">
                <a:latin typeface="Tahoma"/>
                <a:cs typeface="Tahoma"/>
              </a:rPr>
              <a:t>0</a:t>
            </a:r>
            <a:r>
              <a:rPr sz="1400" b="1" spc="-35" dirty="0">
                <a:latin typeface="Tahoma"/>
                <a:cs typeface="Tahoma"/>
              </a:rPr>
              <a:t> </a:t>
            </a:r>
            <a:r>
              <a:rPr sz="1400" b="1" spc="-130" dirty="0">
                <a:latin typeface="Tahoma"/>
                <a:cs typeface="Tahoma"/>
              </a:rPr>
              <a:t>;</a:t>
            </a:r>
            <a:r>
              <a:rPr sz="1400" b="1" spc="-20" dirty="0">
                <a:latin typeface="Tahoma"/>
                <a:cs typeface="Tahoma"/>
              </a:rPr>
              <a:t> </a:t>
            </a:r>
            <a:r>
              <a:rPr sz="1400" b="1" spc="-95" dirty="0">
                <a:latin typeface="Tahoma"/>
                <a:cs typeface="Tahoma"/>
              </a:rPr>
              <a:t>i</a:t>
            </a:r>
            <a:r>
              <a:rPr sz="1400" b="1" spc="-30" dirty="0">
                <a:latin typeface="Tahoma"/>
                <a:cs typeface="Tahoma"/>
              </a:rPr>
              <a:t> </a:t>
            </a:r>
            <a:r>
              <a:rPr sz="1400" b="1" spc="-315" dirty="0">
                <a:latin typeface="Tahoma"/>
                <a:cs typeface="Tahoma"/>
              </a:rPr>
              <a:t>&lt;</a:t>
            </a:r>
            <a:r>
              <a:rPr sz="1400" b="1" spc="-15" dirty="0">
                <a:latin typeface="Tahoma"/>
                <a:cs typeface="Tahoma"/>
              </a:rPr>
              <a:t> </a:t>
            </a:r>
            <a:r>
              <a:rPr sz="1400" b="1" dirty="0">
                <a:latin typeface="Tahoma"/>
                <a:cs typeface="Tahoma"/>
              </a:rPr>
              <a:t>n</a:t>
            </a:r>
            <a:r>
              <a:rPr sz="1400" b="1" spc="-30" dirty="0">
                <a:latin typeface="Tahoma"/>
                <a:cs typeface="Tahoma"/>
              </a:rPr>
              <a:t> </a:t>
            </a:r>
            <a:r>
              <a:rPr sz="1400" b="1" spc="-130" dirty="0">
                <a:latin typeface="Tahoma"/>
                <a:cs typeface="Tahoma"/>
              </a:rPr>
              <a:t>;</a:t>
            </a:r>
            <a:r>
              <a:rPr sz="1400" b="1" spc="-30" dirty="0">
                <a:latin typeface="Tahoma"/>
                <a:cs typeface="Tahoma"/>
              </a:rPr>
              <a:t> </a:t>
            </a:r>
            <a:r>
              <a:rPr sz="1400" b="1" spc="-250" dirty="0">
                <a:latin typeface="Tahoma"/>
                <a:cs typeface="Tahoma"/>
              </a:rPr>
              <a:t>i++</a:t>
            </a:r>
            <a:r>
              <a:rPr sz="1400" b="1" spc="-30" dirty="0">
                <a:latin typeface="Tahoma"/>
                <a:cs typeface="Tahoma"/>
              </a:rPr>
              <a:t> </a:t>
            </a:r>
            <a:r>
              <a:rPr sz="1400" b="1" spc="-50" dirty="0">
                <a:latin typeface="Tahoma"/>
                <a:cs typeface="Tahoma"/>
              </a:rPr>
              <a:t>) </a:t>
            </a:r>
            <a:r>
              <a:rPr sz="1400" b="1" spc="-95" dirty="0">
                <a:latin typeface="Tahoma"/>
                <a:cs typeface="Tahoma"/>
              </a:rPr>
              <a:t>scanf("%d",</a:t>
            </a:r>
            <a:r>
              <a:rPr sz="1400" b="1" spc="-45" dirty="0">
                <a:latin typeface="Tahoma"/>
                <a:cs typeface="Tahoma"/>
              </a:rPr>
              <a:t> </a:t>
            </a:r>
            <a:r>
              <a:rPr sz="1400" b="1" spc="-100" dirty="0">
                <a:latin typeface="Tahoma"/>
                <a:cs typeface="Tahoma"/>
              </a:rPr>
              <a:t>&amp;array[i]);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30655" y="5002123"/>
            <a:ext cx="5452745" cy="622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0000"/>
              </a:lnSpc>
              <a:spcBef>
                <a:spcPts val="100"/>
              </a:spcBef>
            </a:pPr>
            <a:r>
              <a:rPr sz="1400" b="1" spc="-110" dirty="0">
                <a:latin typeface="Tahoma"/>
                <a:cs typeface="Tahoma"/>
              </a:rPr>
              <a:t>printf("Enter</a:t>
            </a:r>
            <a:r>
              <a:rPr sz="1400" b="1" spc="-25" dirty="0">
                <a:latin typeface="Tahoma"/>
                <a:cs typeface="Tahoma"/>
              </a:rPr>
              <a:t> </a:t>
            </a:r>
            <a:r>
              <a:rPr sz="1400" b="1" spc="-70" dirty="0">
                <a:latin typeface="Tahoma"/>
                <a:cs typeface="Tahoma"/>
              </a:rPr>
              <a:t>the</a:t>
            </a:r>
            <a:r>
              <a:rPr sz="1400" b="1" spc="-35" dirty="0">
                <a:latin typeface="Tahoma"/>
                <a:cs typeface="Tahoma"/>
              </a:rPr>
              <a:t> </a:t>
            </a:r>
            <a:r>
              <a:rPr sz="1400" b="1" spc="-10" dirty="0">
                <a:latin typeface="Tahoma"/>
                <a:cs typeface="Tahoma"/>
              </a:rPr>
              <a:t>location</a:t>
            </a:r>
            <a:r>
              <a:rPr sz="1400" b="1" spc="-65" dirty="0">
                <a:latin typeface="Tahoma"/>
                <a:cs typeface="Tahoma"/>
              </a:rPr>
              <a:t> </a:t>
            </a:r>
            <a:r>
              <a:rPr sz="1400" b="1" spc="-60" dirty="0">
                <a:latin typeface="Tahoma"/>
                <a:cs typeface="Tahoma"/>
              </a:rPr>
              <a:t>where</a:t>
            </a:r>
            <a:r>
              <a:rPr sz="1400" b="1" spc="-30" dirty="0">
                <a:latin typeface="Tahoma"/>
                <a:cs typeface="Tahoma"/>
              </a:rPr>
              <a:t> </a:t>
            </a:r>
            <a:r>
              <a:rPr sz="1400" b="1" dirty="0">
                <a:latin typeface="Tahoma"/>
                <a:cs typeface="Tahoma"/>
              </a:rPr>
              <a:t>you</a:t>
            </a:r>
            <a:r>
              <a:rPr sz="1400" b="1" spc="-60" dirty="0">
                <a:latin typeface="Tahoma"/>
                <a:cs typeface="Tahoma"/>
              </a:rPr>
              <a:t> </a:t>
            </a:r>
            <a:r>
              <a:rPr sz="1400" b="1" spc="-110" dirty="0">
                <a:latin typeface="Tahoma"/>
                <a:cs typeface="Tahoma"/>
              </a:rPr>
              <a:t>wish</a:t>
            </a:r>
            <a:r>
              <a:rPr sz="1400" b="1" spc="-30" dirty="0">
                <a:latin typeface="Tahoma"/>
                <a:cs typeface="Tahoma"/>
              </a:rPr>
              <a:t> </a:t>
            </a:r>
            <a:r>
              <a:rPr sz="1400" b="1" spc="-55" dirty="0">
                <a:latin typeface="Tahoma"/>
                <a:cs typeface="Tahoma"/>
              </a:rPr>
              <a:t>to</a:t>
            </a:r>
            <a:r>
              <a:rPr sz="1400" b="1" spc="-30" dirty="0">
                <a:latin typeface="Tahoma"/>
                <a:cs typeface="Tahoma"/>
              </a:rPr>
              <a:t> </a:t>
            </a:r>
            <a:r>
              <a:rPr sz="1400" b="1" dirty="0">
                <a:latin typeface="Tahoma"/>
                <a:cs typeface="Tahoma"/>
              </a:rPr>
              <a:t>delete</a:t>
            </a:r>
            <a:r>
              <a:rPr sz="1400" b="1" spc="-30" dirty="0">
                <a:latin typeface="Tahoma"/>
                <a:cs typeface="Tahoma"/>
              </a:rPr>
              <a:t> </a:t>
            </a:r>
            <a:r>
              <a:rPr sz="1400" b="1" spc="-25" dirty="0">
                <a:latin typeface="Tahoma"/>
                <a:cs typeface="Tahoma"/>
              </a:rPr>
              <a:t>element\n"); </a:t>
            </a:r>
            <a:r>
              <a:rPr sz="1400" b="1" spc="-95" dirty="0">
                <a:latin typeface="Tahoma"/>
                <a:cs typeface="Tahoma"/>
              </a:rPr>
              <a:t>scanf("%d",</a:t>
            </a:r>
            <a:r>
              <a:rPr sz="1400" b="1" spc="-45" dirty="0">
                <a:latin typeface="Tahoma"/>
                <a:cs typeface="Tahoma"/>
              </a:rPr>
              <a:t> </a:t>
            </a:r>
            <a:r>
              <a:rPr sz="1400" b="1" spc="-10" dirty="0">
                <a:latin typeface="Tahoma"/>
                <a:cs typeface="Tahoma"/>
              </a:rPr>
              <a:t>&amp;position);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5147" y="819759"/>
            <a:ext cx="2089785" cy="540321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499745" indent="-48704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499745" algn="l"/>
              </a:tabLst>
            </a:pPr>
            <a:r>
              <a:rPr sz="1400" b="1" spc="-45" dirty="0">
                <a:latin typeface="Tahoma"/>
                <a:cs typeface="Tahoma"/>
              </a:rPr>
              <a:t>#include</a:t>
            </a:r>
            <a:r>
              <a:rPr sz="1400" b="1" spc="-60" dirty="0">
                <a:latin typeface="Tahoma"/>
                <a:cs typeface="Tahoma"/>
              </a:rPr>
              <a:t> </a:t>
            </a:r>
            <a:r>
              <a:rPr sz="1400" b="1" spc="-105" dirty="0">
                <a:latin typeface="Tahoma"/>
                <a:cs typeface="Tahoma"/>
              </a:rPr>
              <a:t>&lt;stdio.h&gt;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1400" spc="-50" dirty="0">
                <a:latin typeface="Arial MT"/>
                <a:cs typeface="Arial MT"/>
              </a:rPr>
              <a:t>•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400" spc="-50" dirty="0">
                <a:latin typeface="Arial MT"/>
                <a:cs typeface="Arial MT"/>
              </a:rPr>
              <a:t>•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1400" spc="-50" dirty="0">
                <a:latin typeface="Arial MT"/>
                <a:cs typeface="Arial MT"/>
              </a:rPr>
              <a:t>•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400" spc="-50" dirty="0">
                <a:latin typeface="Arial MT"/>
                <a:cs typeface="Arial MT"/>
              </a:rPr>
              <a:t>•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1400" spc="-50" dirty="0">
                <a:latin typeface="Arial MT"/>
                <a:cs typeface="Arial MT"/>
              </a:rPr>
              <a:t>•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400" spc="-50" dirty="0">
                <a:latin typeface="Arial MT"/>
                <a:cs typeface="Arial MT"/>
              </a:rPr>
              <a:t>•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1400" spc="-50" dirty="0">
                <a:latin typeface="Arial MT"/>
                <a:cs typeface="Arial MT"/>
              </a:rPr>
              <a:t>•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400" spc="-50" dirty="0">
                <a:latin typeface="Arial MT"/>
                <a:cs typeface="Arial MT"/>
              </a:rPr>
              <a:t>•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1400" spc="-50" dirty="0">
                <a:latin typeface="Arial MT"/>
                <a:cs typeface="Arial MT"/>
              </a:rPr>
              <a:t>•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400" spc="-50" dirty="0">
                <a:latin typeface="Arial MT"/>
                <a:cs typeface="Arial MT"/>
              </a:rPr>
              <a:t>•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1400" spc="-50" dirty="0">
                <a:latin typeface="Arial MT"/>
                <a:cs typeface="Arial MT"/>
              </a:rPr>
              <a:t>•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400" spc="-50" dirty="0">
                <a:latin typeface="Arial MT"/>
                <a:cs typeface="Arial MT"/>
              </a:rPr>
              <a:t>•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1400" spc="-50" dirty="0">
                <a:latin typeface="Arial MT"/>
                <a:cs typeface="Arial MT"/>
              </a:rPr>
              <a:t>•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1400" spc="-50" dirty="0">
                <a:latin typeface="Arial MT"/>
                <a:cs typeface="Arial MT"/>
              </a:rPr>
              <a:t>•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400" spc="-50" dirty="0">
                <a:latin typeface="Arial MT"/>
                <a:cs typeface="Arial MT"/>
              </a:rPr>
              <a:t>•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400" spc="-50" dirty="0">
                <a:latin typeface="Arial MT"/>
                <a:cs typeface="Arial MT"/>
              </a:rPr>
              <a:t>•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1400" spc="-50" dirty="0">
                <a:latin typeface="Arial MT"/>
                <a:cs typeface="Arial MT"/>
              </a:rPr>
              <a:t>•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45896" y="5885389"/>
            <a:ext cx="2436495" cy="558800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144780">
              <a:lnSpc>
                <a:spcPct val="100000"/>
              </a:lnSpc>
              <a:spcBef>
                <a:spcPts val="875"/>
              </a:spcBef>
            </a:pPr>
            <a:r>
              <a:rPr sz="1400" b="1" spc="-100" dirty="0">
                <a:latin typeface="Tahoma"/>
                <a:cs typeface="Tahoma"/>
              </a:rPr>
              <a:t>for</a:t>
            </a:r>
            <a:r>
              <a:rPr sz="1400" b="1" spc="-25" dirty="0">
                <a:latin typeface="Tahoma"/>
                <a:cs typeface="Tahoma"/>
              </a:rPr>
              <a:t> </a:t>
            </a:r>
            <a:r>
              <a:rPr sz="1400" b="1" spc="-110" dirty="0">
                <a:latin typeface="Tahoma"/>
                <a:cs typeface="Tahoma"/>
              </a:rPr>
              <a:t>(</a:t>
            </a:r>
            <a:r>
              <a:rPr sz="1400" b="1" spc="-5" dirty="0">
                <a:latin typeface="Tahoma"/>
                <a:cs typeface="Tahoma"/>
              </a:rPr>
              <a:t> </a:t>
            </a:r>
            <a:r>
              <a:rPr sz="1400" b="1" spc="-95" dirty="0">
                <a:latin typeface="Tahoma"/>
                <a:cs typeface="Tahoma"/>
              </a:rPr>
              <a:t>i</a:t>
            </a:r>
            <a:r>
              <a:rPr sz="1400" b="1" spc="-15" dirty="0">
                <a:latin typeface="Tahoma"/>
                <a:cs typeface="Tahoma"/>
              </a:rPr>
              <a:t> </a:t>
            </a:r>
            <a:r>
              <a:rPr sz="1400" b="1" spc="-315" dirty="0">
                <a:latin typeface="Tahoma"/>
                <a:cs typeface="Tahoma"/>
              </a:rPr>
              <a:t>=</a:t>
            </a:r>
            <a:r>
              <a:rPr sz="1400" b="1" spc="-20" dirty="0">
                <a:latin typeface="Tahoma"/>
                <a:cs typeface="Tahoma"/>
              </a:rPr>
              <a:t> </a:t>
            </a:r>
            <a:r>
              <a:rPr sz="1400" b="1" spc="-60" dirty="0">
                <a:latin typeface="Tahoma"/>
                <a:cs typeface="Tahoma"/>
              </a:rPr>
              <a:t>position</a:t>
            </a:r>
            <a:r>
              <a:rPr sz="1400" b="1" spc="-5" dirty="0">
                <a:latin typeface="Tahoma"/>
                <a:cs typeface="Tahoma"/>
              </a:rPr>
              <a:t> </a:t>
            </a:r>
            <a:r>
              <a:rPr sz="1400" b="1" spc="-130" dirty="0">
                <a:latin typeface="Tahoma"/>
                <a:cs typeface="Tahoma"/>
              </a:rPr>
              <a:t>;</a:t>
            </a:r>
            <a:r>
              <a:rPr sz="1400" b="1" spc="-10" dirty="0">
                <a:latin typeface="Tahoma"/>
                <a:cs typeface="Tahoma"/>
              </a:rPr>
              <a:t> </a:t>
            </a:r>
            <a:r>
              <a:rPr sz="1400" b="1" spc="-95" dirty="0">
                <a:latin typeface="Tahoma"/>
                <a:cs typeface="Tahoma"/>
              </a:rPr>
              <a:t>i</a:t>
            </a:r>
            <a:r>
              <a:rPr sz="1400" b="1" spc="-20" dirty="0">
                <a:latin typeface="Tahoma"/>
                <a:cs typeface="Tahoma"/>
              </a:rPr>
              <a:t> </a:t>
            </a:r>
            <a:r>
              <a:rPr sz="1400" b="1" spc="-315" dirty="0">
                <a:latin typeface="Tahoma"/>
                <a:cs typeface="Tahoma"/>
              </a:rPr>
              <a:t>&lt;</a:t>
            </a:r>
            <a:r>
              <a:rPr sz="1400" b="1" spc="-15" dirty="0">
                <a:latin typeface="Tahoma"/>
                <a:cs typeface="Tahoma"/>
              </a:rPr>
              <a:t> </a:t>
            </a:r>
            <a:r>
              <a:rPr sz="1400" b="1" spc="-100" dirty="0">
                <a:latin typeface="Tahoma"/>
                <a:cs typeface="Tahoma"/>
              </a:rPr>
              <a:t>n;</a:t>
            </a:r>
            <a:r>
              <a:rPr sz="1400" b="1" spc="-15" dirty="0">
                <a:latin typeface="Tahoma"/>
                <a:cs typeface="Tahoma"/>
              </a:rPr>
              <a:t> </a:t>
            </a:r>
            <a:r>
              <a:rPr sz="1400" b="1" spc="-250" dirty="0">
                <a:latin typeface="Tahoma"/>
                <a:cs typeface="Tahoma"/>
              </a:rPr>
              <a:t>i++</a:t>
            </a:r>
            <a:r>
              <a:rPr sz="1400" b="1" spc="-20" dirty="0">
                <a:latin typeface="Tahoma"/>
                <a:cs typeface="Tahoma"/>
              </a:rPr>
              <a:t> </a:t>
            </a:r>
            <a:r>
              <a:rPr sz="1400" b="1" spc="-50" dirty="0">
                <a:latin typeface="Tahoma"/>
                <a:cs typeface="Tahoma"/>
              </a:rPr>
              <a:t>)</a:t>
            </a:r>
            <a:endParaRPr sz="1400">
              <a:latin typeface="Tahoma"/>
              <a:cs typeface="Tahoma"/>
            </a:endParaRPr>
          </a:p>
          <a:p>
            <a:pPr marL="417830" indent="-405130">
              <a:lnSpc>
                <a:spcPct val="100000"/>
              </a:lnSpc>
              <a:spcBef>
                <a:spcPts val="545"/>
              </a:spcBef>
              <a:buFont typeface="Courier New"/>
              <a:buChar char="o"/>
              <a:tabLst>
                <a:tab pos="417830" algn="l"/>
              </a:tabLst>
            </a:pPr>
            <a:r>
              <a:rPr sz="1000" b="1" spc="-340" dirty="0">
                <a:latin typeface="Tahoma"/>
                <a:cs typeface="Tahoma"/>
              </a:rPr>
              <a:t>{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5147" y="6794118"/>
            <a:ext cx="8826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latin typeface="Arial MT"/>
                <a:cs typeface="Arial MT"/>
              </a:rPr>
              <a:t>•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26311" y="6794118"/>
            <a:ext cx="170370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90" dirty="0">
                <a:latin typeface="Tahoma"/>
                <a:cs typeface="Tahoma"/>
              </a:rPr>
              <a:t>array[i]</a:t>
            </a:r>
            <a:r>
              <a:rPr sz="1400" b="1" spc="25" dirty="0">
                <a:latin typeface="Tahoma"/>
                <a:cs typeface="Tahoma"/>
              </a:rPr>
              <a:t> </a:t>
            </a:r>
            <a:r>
              <a:rPr sz="1400" b="1" spc="-315" dirty="0">
                <a:latin typeface="Tahoma"/>
                <a:cs typeface="Tahoma"/>
              </a:rPr>
              <a:t>=</a:t>
            </a:r>
            <a:r>
              <a:rPr sz="1400" b="1" spc="5" dirty="0">
                <a:latin typeface="Tahoma"/>
                <a:cs typeface="Tahoma"/>
              </a:rPr>
              <a:t> </a:t>
            </a:r>
            <a:r>
              <a:rPr sz="1400" b="1" spc="-105" dirty="0">
                <a:latin typeface="Tahoma"/>
                <a:cs typeface="Tahoma"/>
              </a:rPr>
              <a:t>array[i+1];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27252" y="7306657"/>
            <a:ext cx="2483485" cy="62357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1400" b="1" spc="-455" dirty="0">
                <a:latin typeface="Tahoma"/>
                <a:cs typeface="Tahoma"/>
              </a:rPr>
              <a:t>}</a:t>
            </a:r>
            <a:endParaRPr sz="1400">
              <a:latin typeface="Tahoma"/>
              <a:cs typeface="Tahoma"/>
            </a:endParaRPr>
          </a:p>
          <a:p>
            <a:pPr marL="62865">
              <a:lnSpc>
                <a:spcPct val="100000"/>
              </a:lnSpc>
              <a:spcBef>
                <a:spcPts val="670"/>
              </a:spcBef>
            </a:pPr>
            <a:r>
              <a:rPr sz="1400" b="1" spc="-100" dirty="0">
                <a:latin typeface="Tahoma"/>
                <a:cs typeface="Tahoma"/>
              </a:rPr>
              <a:t>printf("Resultant</a:t>
            </a:r>
            <a:r>
              <a:rPr sz="1400" b="1" spc="-20" dirty="0">
                <a:latin typeface="Tahoma"/>
                <a:cs typeface="Tahoma"/>
              </a:rPr>
              <a:t> </a:t>
            </a:r>
            <a:r>
              <a:rPr sz="1400" b="1" spc="-25" dirty="0">
                <a:latin typeface="Tahoma"/>
                <a:cs typeface="Tahoma"/>
              </a:rPr>
              <a:t>array</a:t>
            </a:r>
            <a:r>
              <a:rPr sz="1400" b="1" spc="-50" dirty="0">
                <a:latin typeface="Tahoma"/>
                <a:cs typeface="Tahoma"/>
              </a:rPr>
              <a:t> </a:t>
            </a:r>
            <a:r>
              <a:rPr sz="1400" b="1" spc="-65" dirty="0">
                <a:latin typeface="Tahoma"/>
                <a:cs typeface="Tahoma"/>
              </a:rPr>
              <a:t>is\n");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95147" y="7306657"/>
            <a:ext cx="88265" cy="122110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1400" spc="-50" dirty="0">
                <a:latin typeface="Arial MT"/>
                <a:cs typeface="Arial MT"/>
              </a:rPr>
              <a:t>•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1400" spc="-50" dirty="0">
                <a:latin typeface="Arial MT"/>
                <a:cs typeface="Arial MT"/>
              </a:rPr>
              <a:t>•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1400" spc="-50" dirty="0">
                <a:latin typeface="Arial MT"/>
                <a:cs typeface="Arial MT"/>
              </a:rPr>
              <a:t>•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400" spc="-50" dirty="0">
                <a:latin typeface="Arial MT"/>
                <a:cs typeface="Arial MT"/>
              </a:rPr>
              <a:t>•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26311" y="8287893"/>
            <a:ext cx="195770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10" dirty="0">
                <a:latin typeface="Tahoma"/>
                <a:cs typeface="Tahoma"/>
              </a:rPr>
              <a:t>for(</a:t>
            </a:r>
            <a:r>
              <a:rPr sz="1400" b="1" spc="-30" dirty="0">
                <a:latin typeface="Tahoma"/>
                <a:cs typeface="Tahoma"/>
              </a:rPr>
              <a:t> </a:t>
            </a:r>
            <a:r>
              <a:rPr sz="1400" b="1" spc="-90" dirty="0">
                <a:latin typeface="Tahoma"/>
                <a:cs typeface="Tahoma"/>
              </a:rPr>
              <a:t>i</a:t>
            </a:r>
            <a:r>
              <a:rPr sz="1400" b="1" spc="-15" dirty="0">
                <a:latin typeface="Tahoma"/>
                <a:cs typeface="Tahoma"/>
              </a:rPr>
              <a:t> </a:t>
            </a:r>
            <a:r>
              <a:rPr sz="1400" b="1" spc="-315" dirty="0">
                <a:latin typeface="Tahoma"/>
                <a:cs typeface="Tahoma"/>
              </a:rPr>
              <a:t>=</a:t>
            </a:r>
            <a:r>
              <a:rPr sz="1400" b="1" spc="-30" dirty="0">
                <a:latin typeface="Tahoma"/>
                <a:cs typeface="Tahoma"/>
              </a:rPr>
              <a:t> </a:t>
            </a:r>
            <a:r>
              <a:rPr sz="1400" b="1" spc="-110" dirty="0">
                <a:latin typeface="Tahoma"/>
                <a:cs typeface="Tahoma"/>
              </a:rPr>
              <a:t>0</a:t>
            </a:r>
            <a:r>
              <a:rPr sz="1400" b="1" spc="-25" dirty="0">
                <a:latin typeface="Tahoma"/>
                <a:cs typeface="Tahoma"/>
              </a:rPr>
              <a:t> </a:t>
            </a:r>
            <a:r>
              <a:rPr sz="1400" b="1" spc="-130" dirty="0">
                <a:latin typeface="Tahoma"/>
                <a:cs typeface="Tahoma"/>
              </a:rPr>
              <a:t>;</a:t>
            </a:r>
            <a:r>
              <a:rPr sz="1400" b="1" spc="-35" dirty="0">
                <a:latin typeface="Tahoma"/>
                <a:cs typeface="Tahoma"/>
              </a:rPr>
              <a:t> </a:t>
            </a:r>
            <a:r>
              <a:rPr sz="1400" b="1" spc="-90" dirty="0">
                <a:latin typeface="Tahoma"/>
                <a:cs typeface="Tahoma"/>
              </a:rPr>
              <a:t>i</a:t>
            </a:r>
            <a:r>
              <a:rPr sz="1400" b="1" spc="-15" dirty="0">
                <a:latin typeface="Tahoma"/>
                <a:cs typeface="Tahoma"/>
              </a:rPr>
              <a:t> </a:t>
            </a:r>
            <a:r>
              <a:rPr sz="1400" b="1" spc="-315" dirty="0">
                <a:latin typeface="Tahoma"/>
                <a:cs typeface="Tahoma"/>
              </a:rPr>
              <a:t>&lt;</a:t>
            </a:r>
            <a:r>
              <a:rPr sz="1400" b="1" spc="-30" dirty="0">
                <a:latin typeface="Tahoma"/>
                <a:cs typeface="Tahoma"/>
              </a:rPr>
              <a:t> </a:t>
            </a:r>
            <a:r>
              <a:rPr sz="1400" b="1" spc="-50" dirty="0">
                <a:latin typeface="Tahoma"/>
                <a:cs typeface="Tahoma"/>
              </a:rPr>
              <a:t>n-</a:t>
            </a:r>
            <a:r>
              <a:rPr sz="1400" b="1" dirty="0">
                <a:latin typeface="Tahoma"/>
                <a:cs typeface="Tahoma"/>
              </a:rPr>
              <a:t>1</a:t>
            </a:r>
            <a:r>
              <a:rPr sz="1400" b="1" spc="370" dirty="0">
                <a:latin typeface="Tahoma"/>
                <a:cs typeface="Tahoma"/>
              </a:rPr>
              <a:t> </a:t>
            </a:r>
            <a:r>
              <a:rPr sz="1400" b="1" spc="-130" dirty="0">
                <a:latin typeface="Tahoma"/>
                <a:cs typeface="Tahoma"/>
              </a:rPr>
              <a:t>;</a:t>
            </a:r>
            <a:r>
              <a:rPr sz="1400" b="1" spc="-30" dirty="0">
                <a:latin typeface="Tahoma"/>
                <a:cs typeface="Tahoma"/>
              </a:rPr>
              <a:t> </a:t>
            </a:r>
            <a:r>
              <a:rPr sz="1400" b="1" spc="-250" dirty="0">
                <a:latin typeface="Tahoma"/>
                <a:cs typeface="Tahoma"/>
              </a:rPr>
              <a:t>i++</a:t>
            </a:r>
            <a:r>
              <a:rPr sz="1400" b="1" spc="-30" dirty="0">
                <a:latin typeface="Tahoma"/>
                <a:cs typeface="Tahoma"/>
              </a:rPr>
              <a:t> </a:t>
            </a:r>
            <a:r>
              <a:rPr sz="1400" b="1" spc="-50" dirty="0">
                <a:latin typeface="Tahoma"/>
                <a:cs typeface="Tahoma"/>
              </a:rPr>
              <a:t>)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30655" y="8800736"/>
            <a:ext cx="2255520" cy="62357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307975">
              <a:lnSpc>
                <a:spcPct val="100000"/>
              </a:lnSpc>
              <a:spcBef>
                <a:spcPts val="770"/>
              </a:spcBef>
            </a:pPr>
            <a:r>
              <a:rPr sz="1400" b="1" spc="-114" dirty="0">
                <a:latin typeface="Tahoma"/>
                <a:cs typeface="Tahoma"/>
              </a:rPr>
              <a:t>printf("%d\n",</a:t>
            </a:r>
            <a:r>
              <a:rPr sz="1400" b="1" spc="-30" dirty="0">
                <a:latin typeface="Tahoma"/>
                <a:cs typeface="Tahoma"/>
              </a:rPr>
              <a:t> </a:t>
            </a:r>
            <a:r>
              <a:rPr sz="1400" b="1" spc="-75" dirty="0">
                <a:latin typeface="Tahoma"/>
                <a:cs typeface="Tahoma"/>
              </a:rPr>
              <a:t>array[i]);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400" b="1" spc="-105" dirty="0">
                <a:latin typeface="Tahoma"/>
                <a:cs typeface="Tahoma"/>
              </a:rPr>
              <a:t>return</a:t>
            </a:r>
            <a:r>
              <a:rPr sz="1400" b="1" spc="10" dirty="0">
                <a:latin typeface="Tahoma"/>
                <a:cs typeface="Tahoma"/>
              </a:rPr>
              <a:t> </a:t>
            </a:r>
            <a:r>
              <a:rPr sz="1400" b="1" spc="-35" dirty="0">
                <a:latin typeface="Tahoma"/>
                <a:cs typeface="Tahoma"/>
              </a:rPr>
              <a:t>0;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95147" y="8800736"/>
            <a:ext cx="574040" cy="922019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1400" spc="-50" dirty="0">
                <a:latin typeface="Arial MT"/>
                <a:cs typeface="Arial MT"/>
              </a:rPr>
              <a:t>•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400" spc="-50" dirty="0">
                <a:latin typeface="Arial MT"/>
                <a:cs typeface="Arial MT"/>
              </a:rPr>
              <a:t>•</a:t>
            </a:r>
            <a:endParaRPr sz="1400">
              <a:latin typeface="Arial MT"/>
              <a:cs typeface="Arial MT"/>
            </a:endParaRPr>
          </a:p>
          <a:p>
            <a:pPr marL="499745" indent="-487045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499745" algn="l"/>
              </a:tabLst>
            </a:pPr>
            <a:r>
              <a:rPr sz="1400" b="1" spc="-455" dirty="0">
                <a:latin typeface="Tahoma"/>
                <a:cs typeface="Tahoma"/>
              </a:rPr>
              <a:t>}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1971801" y="33985"/>
            <a:ext cx="543687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dirty="0">
                <a:latin typeface="Arial"/>
                <a:cs typeface="Arial"/>
              </a:rPr>
              <a:t>Delete</a:t>
            </a:r>
            <a:r>
              <a:rPr sz="5400" spc="120" dirty="0">
                <a:latin typeface="Arial"/>
                <a:cs typeface="Arial"/>
              </a:rPr>
              <a:t> </a:t>
            </a:r>
            <a:r>
              <a:rPr sz="5400" spc="-10" dirty="0">
                <a:latin typeface="Arial"/>
                <a:cs typeface="Arial"/>
              </a:rPr>
              <a:t>operation</a:t>
            </a:r>
            <a:endParaRPr sz="54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42447" rIns="0" bIns="0" rtlCol="0">
            <a:spAutoFit/>
          </a:bodyPr>
          <a:lstStyle/>
          <a:p>
            <a:pPr marL="1316355">
              <a:lnSpc>
                <a:spcPct val="100000"/>
              </a:lnSpc>
              <a:spcBef>
                <a:spcPts val="95"/>
              </a:spcBef>
            </a:pPr>
            <a:r>
              <a:rPr sz="4600" b="0" i="1" dirty="0">
                <a:solidFill>
                  <a:srgbClr val="5C5C5C"/>
                </a:solidFill>
                <a:latin typeface="Arial"/>
                <a:cs typeface="Arial"/>
              </a:rPr>
              <a:t>Delete</a:t>
            </a:r>
            <a:r>
              <a:rPr sz="4600" b="0" i="1" spc="40" dirty="0">
                <a:solidFill>
                  <a:srgbClr val="5C5C5C"/>
                </a:solidFill>
                <a:latin typeface="Arial"/>
                <a:cs typeface="Arial"/>
              </a:rPr>
              <a:t> </a:t>
            </a:r>
            <a:r>
              <a:rPr sz="4600" b="0" i="1" spc="-10" dirty="0">
                <a:solidFill>
                  <a:srgbClr val="5C5C5C"/>
                </a:solidFill>
                <a:latin typeface="Arial"/>
                <a:cs typeface="Arial"/>
              </a:rPr>
              <a:t>operation</a:t>
            </a:r>
            <a:endParaRPr sz="46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6990" y="1625561"/>
            <a:ext cx="9970389" cy="769454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7548" y="984250"/>
            <a:ext cx="6590665" cy="87560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60" dirty="0">
                <a:latin typeface="Tahoma"/>
                <a:cs typeface="Tahoma"/>
              </a:rPr>
              <a:t>#include</a:t>
            </a:r>
            <a:r>
              <a:rPr sz="1600" b="1" spc="5" dirty="0">
                <a:latin typeface="Tahoma"/>
                <a:cs typeface="Tahoma"/>
              </a:rPr>
              <a:t> </a:t>
            </a:r>
            <a:r>
              <a:rPr sz="1600" b="1" spc="-30" dirty="0">
                <a:latin typeface="Tahoma"/>
                <a:cs typeface="Tahoma"/>
              </a:rPr>
              <a:t>&lt;stdio.h&gt;</a:t>
            </a:r>
            <a:endParaRPr sz="1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60"/>
              </a:spcBef>
            </a:pPr>
            <a:endParaRPr sz="16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600" b="1" spc="-125" dirty="0">
                <a:latin typeface="Tahoma"/>
                <a:cs typeface="Tahoma"/>
              </a:rPr>
              <a:t>int</a:t>
            </a:r>
            <a:r>
              <a:rPr sz="1600" b="1" spc="-10" dirty="0">
                <a:latin typeface="Tahoma"/>
                <a:cs typeface="Tahoma"/>
              </a:rPr>
              <a:t> main()</a:t>
            </a:r>
            <a:endParaRPr sz="16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84"/>
              </a:spcBef>
            </a:pPr>
            <a:r>
              <a:rPr sz="1600" b="1" spc="-509" dirty="0">
                <a:latin typeface="Tahoma"/>
                <a:cs typeface="Tahoma"/>
              </a:rPr>
              <a:t>{</a:t>
            </a:r>
            <a:endParaRPr sz="1600">
              <a:latin typeface="Tahoma"/>
              <a:cs typeface="Tahoma"/>
            </a:endParaRPr>
          </a:p>
          <a:p>
            <a:pPr marL="182880">
              <a:lnSpc>
                <a:spcPct val="100000"/>
              </a:lnSpc>
              <a:spcBef>
                <a:spcPts val="380"/>
              </a:spcBef>
            </a:pPr>
            <a:r>
              <a:rPr sz="1600" b="1" spc="-125" dirty="0">
                <a:latin typeface="Tahoma"/>
                <a:cs typeface="Tahoma"/>
              </a:rPr>
              <a:t>int</a:t>
            </a:r>
            <a:r>
              <a:rPr sz="1600" b="1" spc="-10" dirty="0">
                <a:latin typeface="Tahoma"/>
                <a:cs typeface="Tahoma"/>
              </a:rPr>
              <a:t> </a:t>
            </a:r>
            <a:r>
              <a:rPr sz="1600" b="1" spc="-105" dirty="0">
                <a:latin typeface="Tahoma"/>
                <a:cs typeface="Tahoma"/>
              </a:rPr>
              <a:t>array[100],</a:t>
            </a:r>
            <a:r>
              <a:rPr sz="1600" b="1" spc="-15" dirty="0">
                <a:latin typeface="Tahoma"/>
                <a:cs typeface="Tahoma"/>
              </a:rPr>
              <a:t> </a:t>
            </a:r>
            <a:r>
              <a:rPr sz="1600" b="1" spc="-55" dirty="0">
                <a:latin typeface="Tahoma"/>
                <a:cs typeface="Tahoma"/>
              </a:rPr>
              <a:t>position, </a:t>
            </a:r>
            <a:r>
              <a:rPr sz="1600" b="1" spc="-65" dirty="0">
                <a:latin typeface="Tahoma"/>
                <a:cs typeface="Tahoma"/>
              </a:rPr>
              <a:t>i,</a:t>
            </a:r>
            <a:r>
              <a:rPr sz="1600" b="1" spc="-50" dirty="0">
                <a:latin typeface="Tahoma"/>
                <a:cs typeface="Tahoma"/>
              </a:rPr>
              <a:t> </a:t>
            </a:r>
            <a:r>
              <a:rPr sz="1600" b="1" spc="-10" dirty="0">
                <a:latin typeface="Tahoma"/>
                <a:cs typeface="Tahoma"/>
              </a:rPr>
              <a:t>n,</a:t>
            </a:r>
            <a:r>
              <a:rPr sz="1600" b="1" spc="-35" dirty="0">
                <a:latin typeface="Tahoma"/>
                <a:cs typeface="Tahoma"/>
              </a:rPr>
              <a:t> </a:t>
            </a:r>
            <a:r>
              <a:rPr sz="1600" b="1" spc="-10" dirty="0">
                <a:latin typeface="Tahoma"/>
                <a:cs typeface="Tahoma"/>
              </a:rPr>
              <a:t>value;</a:t>
            </a:r>
            <a:endParaRPr sz="1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75"/>
              </a:spcBef>
            </a:pPr>
            <a:endParaRPr sz="1600">
              <a:latin typeface="Tahoma"/>
              <a:cs typeface="Tahoma"/>
            </a:endParaRPr>
          </a:p>
          <a:p>
            <a:pPr marL="182880" marR="1986914">
              <a:lnSpc>
                <a:spcPct val="120000"/>
              </a:lnSpc>
            </a:pPr>
            <a:r>
              <a:rPr sz="1600" b="1" spc="-130" dirty="0">
                <a:latin typeface="Tahoma"/>
                <a:cs typeface="Tahoma"/>
              </a:rPr>
              <a:t>printf("Enter</a:t>
            </a:r>
            <a:r>
              <a:rPr sz="1600" b="1" dirty="0">
                <a:latin typeface="Tahoma"/>
                <a:cs typeface="Tahoma"/>
              </a:rPr>
              <a:t> </a:t>
            </a:r>
            <a:r>
              <a:rPr sz="1600" b="1" spc="-35" dirty="0">
                <a:latin typeface="Tahoma"/>
                <a:cs typeface="Tahoma"/>
              </a:rPr>
              <a:t>number</a:t>
            </a:r>
            <a:r>
              <a:rPr sz="1600" b="1" spc="-25" dirty="0">
                <a:latin typeface="Tahoma"/>
                <a:cs typeface="Tahoma"/>
              </a:rPr>
              <a:t> </a:t>
            </a:r>
            <a:r>
              <a:rPr sz="1600" b="1" spc="-45" dirty="0">
                <a:latin typeface="Tahoma"/>
                <a:cs typeface="Tahoma"/>
              </a:rPr>
              <a:t>of</a:t>
            </a:r>
            <a:r>
              <a:rPr sz="1600" b="1" spc="-25" dirty="0">
                <a:latin typeface="Tahoma"/>
                <a:cs typeface="Tahoma"/>
              </a:rPr>
              <a:t> </a:t>
            </a:r>
            <a:r>
              <a:rPr sz="1600" b="1" spc="-30" dirty="0">
                <a:latin typeface="Tahoma"/>
                <a:cs typeface="Tahoma"/>
              </a:rPr>
              <a:t>elements</a:t>
            </a:r>
            <a:r>
              <a:rPr sz="1600" b="1" spc="-20" dirty="0">
                <a:latin typeface="Tahoma"/>
                <a:cs typeface="Tahoma"/>
              </a:rPr>
              <a:t> </a:t>
            </a:r>
            <a:r>
              <a:rPr sz="1600" b="1" spc="-90" dirty="0">
                <a:latin typeface="Tahoma"/>
                <a:cs typeface="Tahoma"/>
              </a:rPr>
              <a:t>in</a:t>
            </a:r>
            <a:r>
              <a:rPr sz="1600" b="1" spc="-25" dirty="0">
                <a:latin typeface="Tahoma"/>
                <a:cs typeface="Tahoma"/>
              </a:rPr>
              <a:t> </a:t>
            </a:r>
            <a:r>
              <a:rPr sz="1600" b="1" spc="-60" dirty="0">
                <a:latin typeface="Tahoma"/>
                <a:cs typeface="Tahoma"/>
              </a:rPr>
              <a:t>array\n"); </a:t>
            </a:r>
            <a:r>
              <a:rPr sz="1600" b="1" spc="-120" dirty="0">
                <a:latin typeface="Tahoma"/>
                <a:cs typeface="Tahoma"/>
              </a:rPr>
              <a:t>scanf("%d",</a:t>
            </a:r>
            <a:r>
              <a:rPr sz="1600" b="1" spc="75" dirty="0">
                <a:latin typeface="Tahoma"/>
                <a:cs typeface="Tahoma"/>
              </a:rPr>
              <a:t> </a:t>
            </a:r>
            <a:r>
              <a:rPr sz="1600" b="1" spc="-20" dirty="0">
                <a:latin typeface="Tahoma"/>
                <a:cs typeface="Tahoma"/>
              </a:rPr>
              <a:t>&amp;n);</a:t>
            </a:r>
            <a:endParaRPr sz="1600">
              <a:latin typeface="Tahoma"/>
              <a:cs typeface="Tahoma"/>
            </a:endParaRPr>
          </a:p>
          <a:p>
            <a:pPr marL="182880" marR="3253104">
              <a:lnSpc>
                <a:spcPct val="240000"/>
              </a:lnSpc>
            </a:pPr>
            <a:r>
              <a:rPr sz="1600" b="1" spc="-130" dirty="0">
                <a:latin typeface="Tahoma"/>
                <a:cs typeface="Tahoma"/>
              </a:rPr>
              <a:t>printf("Enter</a:t>
            </a:r>
            <a:r>
              <a:rPr sz="1600" b="1" spc="40" dirty="0">
                <a:latin typeface="Tahoma"/>
                <a:cs typeface="Tahoma"/>
              </a:rPr>
              <a:t> </a:t>
            </a:r>
            <a:r>
              <a:rPr sz="1600" b="1" spc="-270" dirty="0">
                <a:latin typeface="Tahoma"/>
                <a:cs typeface="Tahoma"/>
              </a:rPr>
              <a:t>%d</a:t>
            </a:r>
            <a:r>
              <a:rPr sz="1600" b="1" spc="35" dirty="0">
                <a:latin typeface="Tahoma"/>
                <a:cs typeface="Tahoma"/>
              </a:rPr>
              <a:t> </a:t>
            </a:r>
            <a:r>
              <a:rPr sz="1600" b="1" spc="-45" dirty="0">
                <a:latin typeface="Tahoma"/>
                <a:cs typeface="Tahoma"/>
              </a:rPr>
              <a:t>elements\n",</a:t>
            </a:r>
            <a:r>
              <a:rPr sz="1600" b="1" spc="40" dirty="0">
                <a:latin typeface="Tahoma"/>
                <a:cs typeface="Tahoma"/>
              </a:rPr>
              <a:t> </a:t>
            </a:r>
            <a:r>
              <a:rPr sz="1600" b="1" spc="-90" dirty="0">
                <a:latin typeface="Tahoma"/>
                <a:cs typeface="Tahoma"/>
              </a:rPr>
              <a:t>n); </a:t>
            </a:r>
            <a:r>
              <a:rPr sz="1600" b="1" spc="-110" dirty="0">
                <a:latin typeface="Tahoma"/>
                <a:cs typeface="Tahoma"/>
              </a:rPr>
              <a:t>for</a:t>
            </a:r>
            <a:r>
              <a:rPr sz="1600" b="1" spc="5" dirty="0">
                <a:latin typeface="Tahoma"/>
                <a:cs typeface="Tahoma"/>
              </a:rPr>
              <a:t> </a:t>
            </a:r>
            <a:r>
              <a:rPr sz="1600" b="1" spc="-204" dirty="0">
                <a:latin typeface="Tahoma"/>
                <a:cs typeface="Tahoma"/>
              </a:rPr>
              <a:t>(i=</a:t>
            </a:r>
            <a:r>
              <a:rPr sz="1600" b="1" dirty="0">
                <a:latin typeface="Tahoma"/>
                <a:cs typeface="Tahoma"/>
              </a:rPr>
              <a:t> </a:t>
            </a:r>
            <a:r>
              <a:rPr sz="1600" b="1" spc="-200" dirty="0">
                <a:latin typeface="Tahoma"/>
                <a:cs typeface="Tahoma"/>
              </a:rPr>
              <a:t>0;i&lt;</a:t>
            </a:r>
            <a:r>
              <a:rPr sz="1600" b="1" spc="10" dirty="0">
                <a:latin typeface="Tahoma"/>
                <a:cs typeface="Tahoma"/>
              </a:rPr>
              <a:t> </a:t>
            </a:r>
            <a:r>
              <a:rPr sz="1600" b="1" spc="-105" dirty="0">
                <a:latin typeface="Tahoma"/>
                <a:cs typeface="Tahoma"/>
              </a:rPr>
              <a:t>n;</a:t>
            </a:r>
            <a:r>
              <a:rPr sz="1600" b="1" spc="5" dirty="0">
                <a:latin typeface="Tahoma"/>
                <a:cs typeface="Tahoma"/>
              </a:rPr>
              <a:t> </a:t>
            </a:r>
            <a:r>
              <a:rPr sz="1600" b="1" spc="-20" dirty="0">
                <a:latin typeface="Tahoma"/>
                <a:cs typeface="Tahoma"/>
              </a:rPr>
              <a:t>i++)</a:t>
            </a:r>
            <a:endParaRPr sz="1600">
              <a:latin typeface="Tahoma"/>
              <a:cs typeface="Tahoma"/>
            </a:endParaRPr>
          </a:p>
          <a:p>
            <a:pPr marL="355600">
              <a:lnSpc>
                <a:spcPct val="100000"/>
              </a:lnSpc>
              <a:spcBef>
                <a:spcPts val="385"/>
              </a:spcBef>
            </a:pPr>
            <a:r>
              <a:rPr sz="1600" b="1" spc="-120" dirty="0">
                <a:latin typeface="Tahoma"/>
                <a:cs typeface="Tahoma"/>
              </a:rPr>
              <a:t>scanf("%d",</a:t>
            </a:r>
            <a:r>
              <a:rPr sz="1600" b="1" spc="75" dirty="0">
                <a:latin typeface="Tahoma"/>
                <a:cs typeface="Tahoma"/>
              </a:rPr>
              <a:t> </a:t>
            </a:r>
            <a:r>
              <a:rPr sz="1600" b="1" spc="-20" dirty="0">
                <a:latin typeface="Tahoma"/>
                <a:cs typeface="Tahoma"/>
              </a:rPr>
              <a:t>&amp;array[i]);</a:t>
            </a:r>
            <a:endParaRPr sz="1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70"/>
              </a:spcBef>
            </a:pPr>
            <a:endParaRPr sz="1600">
              <a:latin typeface="Tahoma"/>
              <a:cs typeface="Tahoma"/>
            </a:endParaRPr>
          </a:p>
          <a:p>
            <a:pPr marL="182880" marR="5080">
              <a:lnSpc>
                <a:spcPct val="120200"/>
              </a:lnSpc>
            </a:pPr>
            <a:r>
              <a:rPr sz="1600" b="1" spc="-130" dirty="0">
                <a:latin typeface="Tahoma"/>
                <a:cs typeface="Tahoma"/>
              </a:rPr>
              <a:t>printf("Enter</a:t>
            </a:r>
            <a:r>
              <a:rPr sz="1600" b="1" dirty="0">
                <a:latin typeface="Tahoma"/>
                <a:cs typeface="Tahoma"/>
              </a:rPr>
              <a:t> </a:t>
            </a:r>
            <a:r>
              <a:rPr sz="1600" b="1" spc="-50" dirty="0">
                <a:latin typeface="Tahoma"/>
                <a:cs typeface="Tahoma"/>
              </a:rPr>
              <a:t>the</a:t>
            </a:r>
            <a:r>
              <a:rPr sz="1600" b="1" spc="-35" dirty="0">
                <a:latin typeface="Tahoma"/>
                <a:cs typeface="Tahoma"/>
              </a:rPr>
              <a:t> </a:t>
            </a:r>
            <a:r>
              <a:rPr sz="1600" b="1" spc="-20" dirty="0">
                <a:latin typeface="Tahoma"/>
                <a:cs typeface="Tahoma"/>
              </a:rPr>
              <a:t>location</a:t>
            </a:r>
            <a:r>
              <a:rPr sz="1600" b="1" spc="5" dirty="0">
                <a:latin typeface="Tahoma"/>
                <a:cs typeface="Tahoma"/>
              </a:rPr>
              <a:t> </a:t>
            </a:r>
            <a:r>
              <a:rPr sz="1600" b="1" spc="-45" dirty="0">
                <a:latin typeface="Tahoma"/>
                <a:cs typeface="Tahoma"/>
              </a:rPr>
              <a:t>where</a:t>
            </a:r>
            <a:r>
              <a:rPr sz="1600" b="1" spc="-25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you</a:t>
            </a:r>
            <a:r>
              <a:rPr sz="1600" b="1" spc="-10" dirty="0">
                <a:latin typeface="Tahoma"/>
                <a:cs typeface="Tahoma"/>
              </a:rPr>
              <a:t> </a:t>
            </a:r>
            <a:r>
              <a:rPr sz="1600" b="1" spc="-125" dirty="0">
                <a:latin typeface="Tahoma"/>
                <a:cs typeface="Tahoma"/>
              </a:rPr>
              <a:t>wish</a:t>
            </a:r>
            <a:r>
              <a:rPr sz="1600" b="1" spc="-25" dirty="0">
                <a:latin typeface="Tahoma"/>
                <a:cs typeface="Tahoma"/>
              </a:rPr>
              <a:t> </a:t>
            </a:r>
            <a:r>
              <a:rPr sz="1600" b="1" spc="-80" dirty="0">
                <a:latin typeface="Tahoma"/>
                <a:cs typeface="Tahoma"/>
              </a:rPr>
              <a:t>to</a:t>
            </a:r>
            <a:r>
              <a:rPr sz="1600" b="1" spc="-25" dirty="0">
                <a:latin typeface="Tahoma"/>
                <a:cs typeface="Tahoma"/>
              </a:rPr>
              <a:t> </a:t>
            </a:r>
            <a:r>
              <a:rPr sz="1600" b="1" spc="-110" dirty="0">
                <a:latin typeface="Tahoma"/>
                <a:cs typeface="Tahoma"/>
              </a:rPr>
              <a:t>insert</a:t>
            </a:r>
            <a:r>
              <a:rPr sz="1600" b="1" spc="-20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an</a:t>
            </a:r>
            <a:r>
              <a:rPr sz="1600" b="1" spc="-20" dirty="0">
                <a:latin typeface="Tahoma"/>
                <a:cs typeface="Tahoma"/>
              </a:rPr>
              <a:t> </a:t>
            </a:r>
            <a:r>
              <a:rPr sz="1600" b="1" spc="-35" dirty="0">
                <a:latin typeface="Tahoma"/>
                <a:cs typeface="Tahoma"/>
              </a:rPr>
              <a:t>element\n"); </a:t>
            </a:r>
            <a:r>
              <a:rPr sz="1600" b="1" spc="-120" dirty="0">
                <a:latin typeface="Tahoma"/>
                <a:cs typeface="Tahoma"/>
              </a:rPr>
              <a:t>scanf("%d",</a:t>
            </a:r>
            <a:r>
              <a:rPr sz="1600" b="1" spc="75" dirty="0">
                <a:latin typeface="Tahoma"/>
                <a:cs typeface="Tahoma"/>
              </a:rPr>
              <a:t> </a:t>
            </a:r>
            <a:r>
              <a:rPr sz="1600" b="1" spc="-10" dirty="0">
                <a:latin typeface="Tahoma"/>
                <a:cs typeface="Tahoma"/>
              </a:rPr>
              <a:t>&amp;position);</a:t>
            </a:r>
            <a:endParaRPr sz="1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70"/>
              </a:spcBef>
            </a:pPr>
            <a:endParaRPr sz="1600">
              <a:latin typeface="Tahoma"/>
              <a:cs typeface="Tahoma"/>
            </a:endParaRPr>
          </a:p>
          <a:p>
            <a:pPr marL="182880" marR="3014980">
              <a:lnSpc>
                <a:spcPct val="120000"/>
              </a:lnSpc>
              <a:spcBef>
                <a:spcPts val="5"/>
              </a:spcBef>
            </a:pPr>
            <a:r>
              <a:rPr sz="1600" b="1" spc="-130" dirty="0">
                <a:latin typeface="Tahoma"/>
                <a:cs typeface="Tahoma"/>
              </a:rPr>
              <a:t>printf("Enter</a:t>
            </a:r>
            <a:r>
              <a:rPr sz="1600" b="1" dirty="0">
                <a:latin typeface="Tahoma"/>
                <a:cs typeface="Tahoma"/>
              </a:rPr>
              <a:t> </a:t>
            </a:r>
            <a:r>
              <a:rPr sz="1600" b="1" spc="-50" dirty="0">
                <a:latin typeface="Tahoma"/>
                <a:cs typeface="Tahoma"/>
              </a:rPr>
              <a:t>the</a:t>
            </a:r>
            <a:r>
              <a:rPr sz="1600" b="1" spc="-35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value </a:t>
            </a:r>
            <a:r>
              <a:rPr sz="1600" b="1" spc="-75" dirty="0">
                <a:latin typeface="Tahoma"/>
                <a:cs typeface="Tahoma"/>
              </a:rPr>
              <a:t>to</a:t>
            </a:r>
            <a:r>
              <a:rPr sz="1600" b="1" spc="-25" dirty="0">
                <a:latin typeface="Tahoma"/>
                <a:cs typeface="Tahoma"/>
              </a:rPr>
              <a:t> </a:t>
            </a:r>
            <a:r>
              <a:rPr sz="1600" b="1" spc="-90" dirty="0">
                <a:latin typeface="Tahoma"/>
                <a:cs typeface="Tahoma"/>
              </a:rPr>
              <a:t>insert\n"); </a:t>
            </a:r>
            <a:r>
              <a:rPr sz="1600" b="1" spc="-120" dirty="0">
                <a:latin typeface="Tahoma"/>
                <a:cs typeface="Tahoma"/>
              </a:rPr>
              <a:t>scanf("%d",</a:t>
            </a:r>
            <a:r>
              <a:rPr sz="1600" b="1" spc="75" dirty="0">
                <a:latin typeface="Tahoma"/>
                <a:cs typeface="Tahoma"/>
              </a:rPr>
              <a:t> </a:t>
            </a:r>
            <a:r>
              <a:rPr sz="1600" b="1" spc="-10" dirty="0">
                <a:latin typeface="Tahoma"/>
                <a:cs typeface="Tahoma"/>
              </a:rPr>
              <a:t>&amp;value);</a:t>
            </a:r>
            <a:endParaRPr sz="1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55"/>
              </a:spcBef>
            </a:pPr>
            <a:endParaRPr sz="1600">
              <a:latin typeface="Tahoma"/>
              <a:cs typeface="Tahoma"/>
            </a:endParaRPr>
          </a:p>
          <a:p>
            <a:pPr marL="182880">
              <a:lnSpc>
                <a:spcPct val="100000"/>
              </a:lnSpc>
            </a:pPr>
            <a:r>
              <a:rPr sz="1600" b="1" spc="-110" dirty="0">
                <a:latin typeface="Tahoma"/>
                <a:cs typeface="Tahoma"/>
              </a:rPr>
              <a:t>for</a:t>
            </a:r>
            <a:r>
              <a:rPr sz="1600" b="1" spc="-10" dirty="0">
                <a:latin typeface="Tahoma"/>
                <a:cs typeface="Tahoma"/>
              </a:rPr>
              <a:t> </a:t>
            </a:r>
            <a:r>
              <a:rPr sz="1600" b="1" spc="-120" dirty="0">
                <a:latin typeface="Tahoma"/>
                <a:cs typeface="Tahoma"/>
              </a:rPr>
              <a:t>(i</a:t>
            </a:r>
            <a:r>
              <a:rPr sz="1600" b="1" spc="-25" dirty="0">
                <a:latin typeface="Tahoma"/>
                <a:cs typeface="Tahoma"/>
              </a:rPr>
              <a:t> </a:t>
            </a:r>
            <a:r>
              <a:rPr sz="1600" b="1" spc="-370" dirty="0">
                <a:latin typeface="Tahoma"/>
                <a:cs typeface="Tahoma"/>
              </a:rPr>
              <a:t>=</a:t>
            </a:r>
            <a:r>
              <a:rPr sz="1600" b="1" spc="-15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n</a:t>
            </a:r>
            <a:r>
              <a:rPr sz="1600" b="1" spc="-20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-</a:t>
            </a:r>
            <a:r>
              <a:rPr sz="1600" b="1" spc="-15" dirty="0">
                <a:latin typeface="Tahoma"/>
                <a:cs typeface="Tahoma"/>
              </a:rPr>
              <a:t> </a:t>
            </a:r>
            <a:r>
              <a:rPr sz="1600" b="1" spc="-150" dirty="0">
                <a:latin typeface="Tahoma"/>
                <a:cs typeface="Tahoma"/>
              </a:rPr>
              <a:t>1;</a:t>
            </a:r>
            <a:r>
              <a:rPr sz="1600" b="1" spc="-5" dirty="0">
                <a:latin typeface="Tahoma"/>
                <a:cs typeface="Tahoma"/>
              </a:rPr>
              <a:t> </a:t>
            </a:r>
            <a:r>
              <a:rPr sz="1600" b="1" spc="-110" dirty="0">
                <a:latin typeface="Tahoma"/>
                <a:cs typeface="Tahoma"/>
              </a:rPr>
              <a:t>i</a:t>
            </a:r>
            <a:r>
              <a:rPr sz="1600" b="1" spc="-25" dirty="0">
                <a:latin typeface="Tahoma"/>
                <a:cs typeface="Tahoma"/>
              </a:rPr>
              <a:t> </a:t>
            </a:r>
            <a:r>
              <a:rPr sz="1600" b="1" spc="-370" dirty="0">
                <a:latin typeface="Tahoma"/>
                <a:cs typeface="Tahoma"/>
              </a:rPr>
              <a:t>&gt;=</a:t>
            </a:r>
            <a:r>
              <a:rPr sz="1600" b="1" spc="-15" dirty="0">
                <a:latin typeface="Tahoma"/>
                <a:cs typeface="Tahoma"/>
              </a:rPr>
              <a:t> </a:t>
            </a:r>
            <a:r>
              <a:rPr sz="1600" b="1" spc="-65" dirty="0">
                <a:latin typeface="Tahoma"/>
                <a:cs typeface="Tahoma"/>
              </a:rPr>
              <a:t>position</a:t>
            </a:r>
            <a:r>
              <a:rPr sz="1600" b="1" dirty="0">
                <a:latin typeface="Tahoma"/>
                <a:cs typeface="Tahoma"/>
              </a:rPr>
              <a:t> </a:t>
            </a:r>
            <a:r>
              <a:rPr sz="1600" b="1" spc="-150" dirty="0">
                <a:latin typeface="Tahoma"/>
                <a:cs typeface="Tahoma"/>
              </a:rPr>
              <a:t>;</a:t>
            </a:r>
            <a:r>
              <a:rPr sz="1600" b="1" spc="-10" dirty="0">
                <a:latin typeface="Tahoma"/>
                <a:cs typeface="Tahoma"/>
              </a:rPr>
              <a:t> </a:t>
            </a:r>
            <a:r>
              <a:rPr sz="1600" b="1" spc="-70" dirty="0">
                <a:latin typeface="Tahoma"/>
                <a:cs typeface="Tahoma"/>
              </a:rPr>
              <a:t>i-</a:t>
            </a:r>
            <a:r>
              <a:rPr sz="1600" b="1" spc="-30" dirty="0">
                <a:latin typeface="Tahoma"/>
                <a:cs typeface="Tahoma"/>
              </a:rPr>
              <a:t>-</a:t>
            </a:r>
            <a:r>
              <a:rPr sz="1600" b="1" spc="-50" dirty="0">
                <a:latin typeface="Tahoma"/>
                <a:cs typeface="Tahoma"/>
              </a:rPr>
              <a:t>)</a:t>
            </a:r>
            <a:endParaRPr sz="1600">
              <a:latin typeface="Tahoma"/>
              <a:cs typeface="Tahoma"/>
            </a:endParaRPr>
          </a:p>
          <a:p>
            <a:pPr marL="355600">
              <a:lnSpc>
                <a:spcPct val="100000"/>
              </a:lnSpc>
              <a:spcBef>
                <a:spcPts val="385"/>
              </a:spcBef>
            </a:pPr>
            <a:r>
              <a:rPr sz="1600" b="1" spc="-130" dirty="0">
                <a:latin typeface="Tahoma"/>
                <a:cs typeface="Tahoma"/>
              </a:rPr>
              <a:t>array[i+1]</a:t>
            </a:r>
            <a:r>
              <a:rPr sz="1600" b="1" spc="20" dirty="0">
                <a:latin typeface="Tahoma"/>
                <a:cs typeface="Tahoma"/>
              </a:rPr>
              <a:t> </a:t>
            </a:r>
            <a:r>
              <a:rPr sz="1600" b="1" spc="-355" dirty="0">
                <a:latin typeface="Tahoma"/>
                <a:cs typeface="Tahoma"/>
              </a:rPr>
              <a:t>=</a:t>
            </a:r>
            <a:r>
              <a:rPr sz="1600" b="1" spc="15" dirty="0">
                <a:latin typeface="Tahoma"/>
                <a:cs typeface="Tahoma"/>
              </a:rPr>
              <a:t> </a:t>
            </a:r>
            <a:r>
              <a:rPr sz="1600" b="1" spc="-10" dirty="0">
                <a:latin typeface="Tahoma"/>
                <a:cs typeface="Tahoma"/>
              </a:rPr>
              <a:t>array[i];</a:t>
            </a:r>
            <a:endParaRPr sz="1600">
              <a:latin typeface="Tahoma"/>
              <a:cs typeface="Tahoma"/>
            </a:endParaRPr>
          </a:p>
          <a:p>
            <a:pPr marL="182880" marR="3642995">
              <a:lnSpc>
                <a:spcPct val="240000"/>
              </a:lnSpc>
            </a:pPr>
            <a:r>
              <a:rPr sz="1600" b="1" spc="-75" dirty="0">
                <a:latin typeface="Tahoma"/>
                <a:cs typeface="Tahoma"/>
              </a:rPr>
              <a:t>array[position]</a:t>
            </a:r>
            <a:r>
              <a:rPr sz="1600" b="1" dirty="0">
                <a:latin typeface="Tahoma"/>
                <a:cs typeface="Tahoma"/>
              </a:rPr>
              <a:t> </a:t>
            </a:r>
            <a:r>
              <a:rPr sz="1600" b="1" spc="-370" dirty="0">
                <a:latin typeface="Tahoma"/>
                <a:cs typeface="Tahoma"/>
              </a:rPr>
              <a:t>=</a:t>
            </a:r>
            <a:r>
              <a:rPr sz="1600" b="1" spc="-15" dirty="0">
                <a:latin typeface="Tahoma"/>
                <a:cs typeface="Tahoma"/>
              </a:rPr>
              <a:t> </a:t>
            </a:r>
            <a:r>
              <a:rPr sz="1600" b="1" spc="-10" dirty="0">
                <a:latin typeface="Tahoma"/>
                <a:cs typeface="Tahoma"/>
              </a:rPr>
              <a:t>value; </a:t>
            </a:r>
            <a:r>
              <a:rPr sz="1600" b="1" spc="-110" dirty="0">
                <a:latin typeface="Tahoma"/>
                <a:cs typeface="Tahoma"/>
              </a:rPr>
              <a:t>printf("Resultant</a:t>
            </a:r>
            <a:r>
              <a:rPr sz="1600" b="1" spc="-10" dirty="0">
                <a:latin typeface="Tahoma"/>
                <a:cs typeface="Tahoma"/>
              </a:rPr>
              <a:t> </a:t>
            </a:r>
            <a:r>
              <a:rPr sz="1600" b="1" spc="-30" dirty="0">
                <a:latin typeface="Tahoma"/>
                <a:cs typeface="Tahoma"/>
              </a:rPr>
              <a:t>array</a:t>
            </a:r>
            <a:r>
              <a:rPr sz="1600" b="1" spc="-75" dirty="0">
                <a:latin typeface="Tahoma"/>
                <a:cs typeface="Tahoma"/>
              </a:rPr>
              <a:t> </a:t>
            </a:r>
            <a:r>
              <a:rPr sz="1600" b="1" spc="-90" dirty="0">
                <a:latin typeface="Tahoma"/>
                <a:cs typeface="Tahoma"/>
              </a:rPr>
              <a:t>is\n");</a:t>
            </a:r>
            <a:endParaRPr sz="1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60"/>
              </a:spcBef>
            </a:pPr>
            <a:endParaRPr sz="1600">
              <a:latin typeface="Tahoma"/>
              <a:cs typeface="Tahoma"/>
            </a:endParaRPr>
          </a:p>
          <a:p>
            <a:pPr marL="182880">
              <a:lnSpc>
                <a:spcPct val="100000"/>
              </a:lnSpc>
            </a:pPr>
            <a:r>
              <a:rPr sz="1600" b="1" spc="-120" dirty="0">
                <a:latin typeface="Tahoma"/>
                <a:cs typeface="Tahoma"/>
              </a:rPr>
              <a:t>for</a:t>
            </a:r>
            <a:r>
              <a:rPr sz="1600" b="1" spc="5" dirty="0">
                <a:latin typeface="Tahoma"/>
                <a:cs typeface="Tahoma"/>
              </a:rPr>
              <a:t> </a:t>
            </a:r>
            <a:r>
              <a:rPr sz="1600" b="1" spc="-200" dirty="0">
                <a:latin typeface="Tahoma"/>
                <a:cs typeface="Tahoma"/>
              </a:rPr>
              <a:t>(i=</a:t>
            </a:r>
            <a:r>
              <a:rPr sz="1600" b="1" spc="-5" dirty="0">
                <a:latin typeface="Tahoma"/>
                <a:cs typeface="Tahoma"/>
              </a:rPr>
              <a:t> </a:t>
            </a:r>
            <a:r>
              <a:rPr sz="1600" b="1" spc="-150" dirty="0">
                <a:latin typeface="Tahoma"/>
                <a:cs typeface="Tahoma"/>
              </a:rPr>
              <a:t>0;</a:t>
            </a:r>
            <a:r>
              <a:rPr sz="1600" b="1" dirty="0">
                <a:latin typeface="Tahoma"/>
                <a:cs typeface="Tahoma"/>
              </a:rPr>
              <a:t> </a:t>
            </a:r>
            <a:r>
              <a:rPr sz="1600" b="1" spc="-110" dirty="0">
                <a:latin typeface="Tahoma"/>
                <a:cs typeface="Tahoma"/>
              </a:rPr>
              <a:t>i</a:t>
            </a:r>
            <a:r>
              <a:rPr sz="1600" b="1" spc="-15" dirty="0">
                <a:latin typeface="Tahoma"/>
                <a:cs typeface="Tahoma"/>
              </a:rPr>
              <a:t> </a:t>
            </a:r>
            <a:r>
              <a:rPr sz="1600" b="1" spc="-360" dirty="0">
                <a:latin typeface="Tahoma"/>
                <a:cs typeface="Tahoma"/>
              </a:rPr>
              <a:t>&lt;=</a:t>
            </a:r>
            <a:r>
              <a:rPr sz="1600" b="1" spc="-10" dirty="0">
                <a:latin typeface="Tahoma"/>
                <a:cs typeface="Tahoma"/>
              </a:rPr>
              <a:t> </a:t>
            </a:r>
            <a:r>
              <a:rPr sz="1600" b="1" spc="-100" dirty="0">
                <a:latin typeface="Tahoma"/>
                <a:cs typeface="Tahoma"/>
              </a:rPr>
              <a:t>n;</a:t>
            </a:r>
            <a:r>
              <a:rPr sz="1600" b="1" spc="5" dirty="0">
                <a:latin typeface="Tahoma"/>
                <a:cs typeface="Tahoma"/>
              </a:rPr>
              <a:t> </a:t>
            </a:r>
            <a:r>
              <a:rPr sz="1600" b="1" spc="-20" dirty="0">
                <a:latin typeface="Tahoma"/>
                <a:cs typeface="Tahoma"/>
              </a:rPr>
              <a:t>i++)</a:t>
            </a:r>
            <a:endParaRPr sz="1600">
              <a:latin typeface="Tahoma"/>
              <a:cs typeface="Tahoma"/>
            </a:endParaRPr>
          </a:p>
          <a:p>
            <a:pPr marL="182880" marR="4008120" indent="172085">
              <a:lnSpc>
                <a:spcPct val="120000"/>
              </a:lnSpc>
            </a:pPr>
            <a:r>
              <a:rPr sz="1600" b="1" spc="-140" dirty="0">
                <a:latin typeface="Tahoma"/>
                <a:cs typeface="Tahoma"/>
              </a:rPr>
              <a:t>printf("%d\n",</a:t>
            </a:r>
            <a:r>
              <a:rPr sz="1600" b="1" spc="145" dirty="0">
                <a:latin typeface="Tahoma"/>
                <a:cs typeface="Tahoma"/>
              </a:rPr>
              <a:t> </a:t>
            </a:r>
            <a:r>
              <a:rPr sz="1600" b="1" spc="-95" dirty="0">
                <a:latin typeface="Tahoma"/>
                <a:cs typeface="Tahoma"/>
              </a:rPr>
              <a:t>array[i]); </a:t>
            </a:r>
            <a:r>
              <a:rPr sz="1600" b="1" spc="-114" dirty="0">
                <a:latin typeface="Tahoma"/>
                <a:cs typeface="Tahoma"/>
              </a:rPr>
              <a:t>return</a:t>
            </a:r>
            <a:r>
              <a:rPr sz="1600" b="1" spc="10" dirty="0">
                <a:latin typeface="Tahoma"/>
                <a:cs typeface="Tahoma"/>
              </a:rPr>
              <a:t> </a:t>
            </a:r>
            <a:r>
              <a:rPr sz="1600" b="1" spc="-25" dirty="0">
                <a:latin typeface="Tahoma"/>
                <a:cs typeface="Tahoma"/>
              </a:rPr>
              <a:t>0;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05201" y="33985"/>
            <a:ext cx="674370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dirty="0">
                <a:latin typeface="Arial"/>
                <a:cs typeface="Arial"/>
              </a:rPr>
              <a:t>Inserting</a:t>
            </a:r>
            <a:r>
              <a:rPr sz="5400" spc="130" dirty="0">
                <a:latin typeface="Arial"/>
                <a:cs typeface="Arial"/>
              </a:rPr>
              <a:t> </a:t>
            </a:r>
            <a:r>
              <a:rPr sz="5400" dirty="0">
                <a:latin typeface="Arial"/>
                <a:cs typeface="Arial"/>
              </a:rPr>
              <a:t>an</a:t>
            </a:r>
            <a:r>
              <a:rPr sz="5400" spc="100" dirty="0">
                <a:latin typeface="Arial"/>
                <a:cs typeface="Arial"/>
              </a:rPr>
              <a:t> </a:t>
            </a:r>
            <a:r>
              <a:rPr sz="5400" spc="-10" dirty="0">
                <a:latin typeface="Arial"/>
                <a:cs typeface="Arial"/>
              </a:rPr>
              <a:t>element</a:t>
            </a:r>
            <a:endParaRPr sz="54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0240" y="1517180"/>
            <a:ext cx="10728960" cy="769454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42447" rIns="0" bIns="0" rtlCol="0">
            <a:spAutoFit/>
          </a:bodyPr>
          <a:lstStyle/>
          <a:p>
            <a:pPr marL="1316355">
              <a:lnSpc>
                <a:spcPct val="100000"/>
              </a:lnSpc>
              <a:spcBef>
                <a:spcPts val="95"/>
              </a:spcBef>
            </a:pPr>
            <a:r>
              <a:rPr sz="4600" b="0" i="1" dirty="0">
                <a:solidFill>
                  <a:srgbClr val="5C5C5C"/>
                </a:solidFill>
                <a:latin typeface="Arial"/>
                <a:cs typeface="Arial"/>
              </a:rPr>
              <a:t>Inserting</a:t>
            </a:r>
            <a:r>
              <a:rPr sz="4600" b="0" i="1" spc="60" dirty="0">
                <a:solidFill>
                  <a:srgbClr val="5C5C5C"/>
                </a:solidFill>
                <a:latin typeface="Arial"/>
                <a:cs typeface="Arial"/>
              </a:rPr>
              <a:t> </a:t>
            </a:r>
            <a:r>
              <a:rPr sz="4600" b="0" i="1" dirty="0">
                <a:solidFill>
                  <a:srgbClr val="5C5C5C"/>
                </a:solidFill>
                <a:latin typeface="Arial"/>
                <a:cs typeface="Arial"/>
              </a:rPr>
              <a:t>an</a:t>
            </a:r>
            <a:r>
              <a:rPr sz="4600" b="0" i="1" spc="40" dirty="0">
                <a:solidFill>
                  <a:srgbClr val="5C5C5C"/>
                </a:solidFill>
                <a:latin typeface="Arial"/>
                <a:cs typeface="Arial"/>
              </a:rPr>
              <a:t> </a:t>
            </a:r>
            <a:r>
              <a:rPr sz="4600" b="0" i="1" spc="-10" dirty="0">
                <a:solidFill>
                  <a:srgbClr val="5C5C5C"/>
                </a:solidFill>
                <a:latin typeface="Arial"/>
                <a:cs typeface="Arial"/>
              </a:rPr>
              <a:t>element</a:t>
            </a:r>
            <a:endParaRPr sz="46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7587" y="1647825"/>
            <a:ext cx="4341495" cy="734123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latin typeface="Times New Roman"/>
                <a:cs typeface="Times New Roman"/>
              </a:rPr>
              <a:t>Int</a:t>
            </a:r>
            <a:r>
              <a:rPr sz="4000" spc="-35" dirty="0">
                <a:latin typeface="Times New Roman"/>
                <a:cs typeface="Times New Roman"/>
              </a:rPr>
              <a:t> </a:t>
            </a:r>
            <a:r>
              <a:rPr sz="4000" spc="-10" dirty="0">
                <a:latin typeface="Times New Roman"/>
                <a:cs typeface="Times New Roman"/>
              </a:rPr>
              <a:t>a[10]={5,4,3,2,1}</a:t>
            </a:r>
            <a:endParaRPr sz="4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4000" spc="-20" dirty="0">
                <a:latin typeface="Times New Roman"/>
                <a:cs typeface="Times New Roman"/>
              </a:rPr>
              <a:t>for(i=0;i&lt;n-</a:t>
            </a:r>
            <a:r>
              <a:rPr sz="4000" spc="-10" dirty="0">
                <a:latin typeface="Times New Roman"/>
                <a:cs typeface="Times New Roman"/>
              </a:rPr>
              <a:t>1;i++)</a:t>
            </a:r>
            <a:endParaRPr sz="4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4000" spc="-50" dirty="0">
                <a:latin typeface="Times New Roman"/>
                <a:cs typeface="Times New Roman"/>
              </a:rPr>
              <a:t>{</a:t>
            </a:r>
            <a:endParaRPr sz="4000">
              <a:latin typeface="Times New Roman"/>
              <a:cs typeface="Times New Roman"/>
            </a:endParaRPr>
          </a:p>
          <a:p>
            <a:pPr marL="266700">
              <a:lnSpc>
                <a:spcPct val="100000"/>
              </a:lnSpc>
            </a:pPr>
            <a:r>
              <a:rPr sz="4000" spc="-10" dirty="0">
                <a:latin typeface="Times New Roman"/>
                <a:cs typeface="Times New Roman"/>
              </a:rPr>
              <a:t>for(j=0;j&lt;=n-1;j++)</a:t>
            </a:r>
            <a:endParaRPr sz="4000">
              <a:latin typeface="Times New Roman"/>
              <a:cs typeface="Times New Roman"/>
            </a:endParaRPr>
          </a:p>
          <a:p>
            <a:pPr marL="266700">
              <a:lnSpc>
                <a:spcPct val="100000"/>
              </a:lnSpc>
              <a:spcBef>
                <a:spcPts val="5"/>
              </a:spcBef>
            </a:pPr>
            <a:r>
              <a:rPr sz="4000" spc="-50" dirty="0">
                <a:latin typeface="Times New Roman"/>
                <a:cs typeface="Times New Roman"/>
              </a:rPr>
              <a:t>{</a:t>
            </a:r>
            <a:endParaRPr sz="4000">
              <a:latin typeface="Times New Roman"/>
              <a:cs typeface="Times New Roman"/>
            </a:endParaRPr>
          </a:p>
          <a:p>
            <a:pPr marL="901065">
              <a:lnSpc>
                <a:spcPct val="100000"/>
              </a:lnSpc>
            </a:pPr>
            <a:r>
              <a:rPr sz="4000" spc="-10" dirty="0">
                <a:latin typeface="Times New Roman"/>
                <a:cs typeface="Times New Roman"/>
              </a:rPr>
              <a:t>if(a[j]&gt;a[j+1])</a:t>
            </a:r>
            <a:endParaRPr sz="4000">
              <a:latin typeface="Times New Roman"/>
              <a:cs typeface="Times New Roman"/>
            </a:endParaRPr>
          </a:p>
          <a:p>
            <a:pPr marL="1282065">
              <a:lnSpc>
                <a:spcPct val="100000"/>
              </a:lnSpc>
            </a:pPr>
            <a:r>
              <a:rPr sz="4000" spc="-50" dirty="0">
                <a:latin typeface="Times New Roman"/>
                <a:cs typeface="Times New Roman"/>
              </a:rPr>
              <a:t>{</a:t>
            </a:r>
            <a:endParaRPr sz="4000">
              <a:latin typeface="Times New Roman"/>
              <a:cs typeface="Times New Roman"/>
            </a:endParaRPr>
          </a:p>
          <a:p>
            <a:pPr marL="2074545" marR="110489" indent="-411480">
              <a:lnSpc>
                <a:spcPct val="100000"/>
              </a:lnSpc>
            </a:pPr>
            <a:r>
              <a:rPr sz="4000" spc="-10" dirty="0">
                <a:latin typeface="Times New Roman"/>
                <a:cs typeface="Times New Roman"/>
              </a:rPr>
              <a:t>temp=a[i]; a[i]=a[j]; a[j]=temp;</a:t>
            </a:r>
            <a:endParaRPr sz="4000">
              <a:latin typeface="Times New Roman"/>
              <a:cs typeface="Times New Roman"/>
            </a:endParaRPr>
          </a:p>
          <a:p>
            <a:pPr marL="1819910">
              <a:lnSpc>
                <a:spcPct val="100000"/>
              </a:lnSpc>
              <a:spcBef>
                <a:spcPts val="5"/>
              </a:spcBef>
            </a:pPr>
            <a:r>
              <a:rPr sz="4000" spc="-50" dirty="0">
                <a:latin typeface="Times New Roman"/>
                <a:cs typeface="Times New Roman"/>
              </a:rPr>
              <a:t>}</a:t>
            </a:r>
            <a:endParaRPr sz="4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4000" spc="-50" dirty="0">
                <a:latin typeface="Times New Roman"/>
                <a:cs typeface="Times New Roman"/>
              </a:rPr>
              <a:t>}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267202" y="58039"/>
            <a:ext cx="5467350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71700" algn="l"/>
              </a:tabLst>
            </a:pPr>
            <a:r>
              <a:rPr sz="6600" i="1" spc="-20" dirty="0">
                <a:latin typeface="Arial"/>
                <a:cs typeface="Arial"/>
              </a:rPr>
              <a:t>Sort</a:t>
            </a:r>
            <a:r>
              <a:rPr sz="6600" i="1" dirty="0">
                <a:latin typeface="Arial"/>
                <a:cs typeface="Arial"/>
              </a:rPr>
              <a:t>	an</a:t>
            </a:r>
            <a:r>
              <a:rPr sz="6600" i="1" spc="-5" dirty="0">
                <a:latin typeface="Arial"/>
                <a:cs typeface="Arial"/>
              </a:rPr>
              <a:t> </a:t>
            </a:r>
            <a:r>
              <a:rPr sz="6600" i="1" spc="-10" dirty="0">
                <a:latin typeface="Arial"/>
                <a:cs typeface="Arial"/>
              </a:rPr>
              <a:t>array</a:t>
            </a:r>
            <a:endParaRPr sz="66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6148" y="1358010"/>
            <a:ext cx="4711700" cy="8257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imes New Roman"/>
                <a:cs typeface="Times New Roman"/>
              </a:rPr>
              <a:t>int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main()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spc="-50" dirty="0">
                <a:latin typeface="Times New Roman"/>
                <a:cs typeface="Times New Roman"/>
              </a:rPr>
              <a:t>{</a:t>
            </a:r>
            <a:endParaRPr sz="2000">
              <a:latin typeface="Times New Roman"/>
              <a:cs typeface="Times New Roman"/>
            </a:endParaRPr>
          </a:p>
          <a:p>
            <a:pPr marL="139065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int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array[100],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n, i, temp,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latin typeface="Times New Roman"/>
                <a:cs typeface="Times New Roman"/>
              </a:rPr>
              <a:t>end;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2000">
              <a:latin typeface="Times New Roman"/>
              <a:cs typeface="Times New Roman"/>
            </a:endParaRPr>
          </a:p>
          <a:p>
            <a:pPr marL="139065" marR="2588895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scanf("%d",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latin typeface="Times New Roman"/>
                <a:cs typeface="Times New Roman"/>
              </a:rPr>
              <a:t>&amp;n); </a:t>
            </a:r>
            <a:r>
              <a:rPr sz="2000" b="1" dirty="0">
                <a:latin typeface="Times New Roman"/>
                <a:cs typeface="Times New Roman"/>
              </a:rPr>
              <a:t>end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= n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-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1;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266700" marR="1753870" indent="-128270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for</a:t>
            </a:r>
            <a:r>
              <a:rPr sz="2000" b="1" spc="-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(i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= 0;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&lt;</a:t>
            </a:r>
            <a:r>
              <a:rPr sz="2000" b="1" spc="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n;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i++)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b="1" spc="-50" dirty="0">
                <a:latin typeface="Times New Roman"/>
                <a:cs typeface="Times New Roman"/>
              </a:rPr>
              <a:t>{ </a:t>
            </a:r>
            <a:r>
              <a:rPr sz="2000" b="1" dirty="0">
                <a:latin typeface="Times New Roman"/>
                <a:cs typeface="Times New Roman"/>
              </a:rPr>
              <a:t>scanf("%d",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&amp;array[i]);</a:t>
            </a:r>
            <a:endParaRPr sz="2000">
              <a:latin typeface="Times New Roman"/>
              <a:cs typeface="Times New Roman"/>
            </a:endParaRPr>
          </a:p>
          <a:p>
            <a:pPr marL="139065">
              <a:lnSpc>
                <a:spcPct val="100000"/>
              </a:lnSpc>
              <a:spcBef>
                <a:spcPts val="5"/>
              </a:spcBef>
            </a:pPr>
            <a:r>
              <a:rPr sz="2000" b="1" spc="-50" dirty="0">
                <a:latin typeface="Times New Roman"/>
                <a:cs typeface="Times New Roman"/>
              </a:rPr>
              <a:t>}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2000">
              <a:latin typeface="Times New Roman"/>
              <a:cs typeface="Times New Roman"/>
            </a:endParaRPr>
          </a:p>
          <a:p>
            <a:pPr marL="139065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latin typeface="Times New Roman"/>
                <a:cs typeface="Times New Roman"/>
              </a:rPr>
              <a:t>for</a:t>
            </a:r>
            <a:r>
              <a:rPr sz="2000" b="1" spc="-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(i=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0;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&lt; n/2;</a:t>
            </a:r>
            <a:r>
              <a:rPr sz="2000" b="1" spc="-20" dirty="0">
                <a:latin typeface="Times New Roman"/>
                <a:cs typeface="Times New Roman"/>
              </a:rPr>
              <a:t> i++)</a:t>
            </a:r>
            <a:endParaRPr sz="2000">
              <a:latin typeface="Times New Roman"/>
              <a:cs typeface="Times New Roman"/>
            </a:endParaRPr>
          </a:p>
          <a:p>
            <a:pPr marL="76200">
              <a:lnSpc>
                <a:spcPct val="100000"/>
              </a:lnSpc>
            </a:pPr>
            <a:r>
              <a:rPr sz="2000" b="1" spc="-50" dirty="0">
                <a:latin typeface="Times New Roman"/>
                <a:cs typeface="Times New Roman"/>
              </a:rPr>
              <a:t>{</a:t>
            </a:r>
            <a:endParaRPr sz="2000">
              <a:latin typeface="Times New Roman"/>
              <a:cs typeface="Times New Roman"/>
            </a:endParaRPr>
          </a:p>
          <a:p>
            <a:pPr marL="266700" marR="1934845" indent="62230">
              <a:lnSpc>
                <a:spcPct val="100000"/>
              </a:lnSpc>
              <a:tabLst>
                <a:tab pos="1301115" algn="l"/>
              </a:tabLst>
            </a:pPr>
            <a:r>
              <a:rPr sz="2000" b="1" dirty="0">
                <a:latin typeface="Times New Roman"/>
                <a:cs typeface="Times New Roman"/>
              </a:rPr>
              <a:t>temp</a:t>
            </a:r>
            <a:r>
              <a:rPr sz="2000" b="1" spc="48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= </a:t>
            </a:r>
            <a:r>
              <a:rPr sz="2000" b="1" spc="-10" dirty="0">
                <a:latin typeface="Times New Roman"/>
                <a:cs typeface="Times New Roman"/>
              </a:rPr>
              <a:t>array[i]; array[i]</a:t>
            </a:r>
            <a:r>
              <a:rPr sz="2000" b="1" dirty="0">
                <a:latin typeface="Times New Roman"/>
                <a:cs typeface="Times New Roman"/>
              </a:rPr>
              <a:t>	= </a:t>
            </a:r>
            <a:r>
              <a:rPr sz="2000" b="1" spc="-10" dirty="0">
                <a:latin typeface="Times New Roman"/>
                <a:cs typeface="Times New Roman"/>
              </a:rPr>
              <a:t>array[end]; </a:t>
            </a:r>
            <a:r>
              <a:rPr sz="2000" b="1" dirty="0">
                <a:latin typeface="Times New Roman"/>
                <a:cs typeface="Times New Roman"/>
              </a:rPr>
              <a:t>array[end]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= </a:t>
            </a:r>
            <a:r>
              <a:rPr sz="2000" b="1" spc="-10" dirty="0">
                <a:latin typeface="Times New Roman"/>
                <a:cs typeface="Times New Roman"/>
              </a:rPr>
              <a:t>temp;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266700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end--</a:t>
            </a:r>
            <a:r>
              <a:rPr sz="2000" b="1" spc="-50" dirty="0">
                <a:latin typeface="Times New Roman"/>
                <a:cs typeface="Times New Roman"/>
              </a:rPr>
              <a:t>;</a:t>
            </a:r>
            <a:endParaRPr sz="2000">
              <a:latin typeface="Times New Roman"/>
              <a:cs typeface="Times New Roman"/>
            </a:endParaRPr>
          </a:p>
          <a:p>
            <a:pPr marL="139065">
              <a:lnSpc>
                <a:spcPct val="100000"/>
              </a:lnSpc>
            </a:pPr>
            <a:r>
              <a:rPr sz="2000" b="1" spc="-50" dirty="0">
                <a:latin typeface="Times New Roman"/>
                <a:cs typeface="Times New Roman"/>
              </a:rPr>
              <a:t>}</a:t>
            </a:r>
            <a:endParaRPr sz="2000">
              <a:latin typeface="Times New Roman"/>
              <a:cs typeface="Times New Roman"/>
            </a:endParaRPr>
          </a:p>
          <a:p>
            <a:pPr marL="139065" marR="5080">
              <a:lnSpc>
                <a:spcPts val="4800"/>
              </a:lnSpc>
              <a:spcBef>
                <a:spcPts val="560"/>
              </a:spcBef>
            </a:pPr>
            <a:r>
              <a:rPr sz="2000" b="1" dirty="0">
                <a:latin typeface="Times New Roman"/>
                <a:cs typeface="Times New Roman"/>
              </a:rPr>
              <a:t>printf("Reversed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array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elements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are:\n"); </a:t>
            </a:r>
            <a:r>
              <a:rPr sz="2000" b="1" dirty="0">
                <a:latin typeface="Times New Roman"/>
                <a:cs typeface="Times New Roman"/>
              </a:rPr>
              <a:t>for</a:t>
            </a:r>
            <a:r>
              <a:rPr sz="2000" b="1" spc="-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( i= 0;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&lt; n;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i++)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spc="-50" dirty="0">
                <a:latin typeface="Times New Roman"/>
                <a:cs typeface="Times New Roman"/>
              </a:rPr>
              <a:t>{</a:t>
            </a:r>
            <a:endParaRPr sz="2000">
              <a:latin typeface="Times New Roman"/>
              <a:cs typeface="Times New Roman"/>
            </a:endParaRPr>
          </a:p>
          <a:p>
            <a:pPr marL="266700">
              <a:lnSpc>
                <a:spcPts val="1839"/>
              </a:lnSpc>
            </a:pPr>
            <a:r>
              <a:rPr sz="2000" b="1" dirty="0">
                <a:latin typeface="Times New Roman"/>
                <a:cs typeface="Times New Roman"/>
              </a:rPr>
              <a:t>printf("%d\n",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array[i]);</a:t>
            </a:r>
            <a:endParaRPr sz="2000">
              <a:latin typeface="Times New Roman"/>
              <a:cs typeface="Times New Roman"/>
            </a:endParaRPr>
          </a:p>
          <a:p>
            <a:pPr marL="139065">
              <a:lnSpc>
                <a:spcPct val="100000"/>
              </a:lnSpc>
            </a:pPr>
            <a:r>
              <a:rPr sz="2000" b="1" spc="-50" dirty="0">
                <a:latin typeface="Times New Roman"/>
                <a:cs typeface="Times New Roman"/>
              </a:rPr>
              <a:t>}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39065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latin typeface="Times New Roman"/>
                <a:cs typeface="Times New Roman"/>
              </a:rPr>
              <a:t>return</a:t>
            </a:r>
            <a:r>
              <a:rPr sz="2000" b="1" spc="-65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0;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spc="-50" dirty="0">
                <a:solidFill>
                  <a:srgbClr val="7E7E7E"/>
                </a:solidFill>
                <a:latin typeface="Times New Roman"/>
                <a:cs typeface="Times New Roman"/>
              </a:rPr>
              <a:t>}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76148" y="-122986"/>
            <a:ext cx="9818370" cy="1202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46300">
              <a:lnSpc>
                <a:spcPts val="7390"/>
              </a:lnSpc>
              <a:spcBef>
                <a:spcPts val="100"/>
              </a:spcBef>
              <a:tabLst>
                <a:tab pos="5909310" algn="l"/>
              </a:tabLst>
            </a:pPr>
            <a:r>
              <a:rPr sz="6600" i="1" spc="-10" dirty="0">
                <a:latin typeface="Arial"/>
                <a:cs typeface="Arial"/>
              </a:rPr>
              <a:t>Reverse</a:t>
            </a:r>
            <a:r>
              <a:rPr sz="6600" i="1" dirty="0">
                <a:latin typeface="Arial"/>
                <a:cs typeface="Arial"/>
              </a:rPr>
              <a:t>	array</a:t>
            </a:r>
            <a:r>
              <a:rPr sz="6600" i="1" spc="10" dirty="0">
                <a:latin typeface="Arial"/>
                <a:cs typeface="Arial"/>
              </a:rPr>
              <a:t> </a:t>
            </a:r>
            <a:r>
              <a:rPr sz="6600" i="1" dirty="0">
                <a:latin typeface="Arial"/>
                <a:cs typeface="Arial"/>
              </a:rPr>
              <a:t>in</a:t>
            </a:r>
            <a:r>
              <a:rPr sz="6600" i="1" spc="5" dirty="0">
                <a:latin typeface="Arial"/>
                <a:cs typeface="Arial"/>
              </a:rPr>
              <a:t> </a:t>
            </a:r>
            <a:r>
              <a:rPr sz="6600" i="1" spc="-50" dirty="0">
                <a:latin typeface="Arial"/>
                <a:cs typeface="Arial"/>
              </a:rPr>
              <a:t>C</a:t>
            </a:r>
            <a:endParaRPr sz="6600">
              <a:latin typeface="Arial"/>
              <a:cs typeface="Arial"/>
            </a:endParaRPr>
          </a:p>
          <a:p>
            <a:pPr marL="12700">
              <a:lnSpc>
                <a:spcPts val="1870"/>
              </a:lnSpc>
            </a:pPr>
            <a:r>
              <a:rPr sz="2000" dirty="0">
                <a:solidFill>
                  <a:srgbClr val="000000"/>
                </a:solidFill>
                <a:latin typeface="Times New Roman"/>
                <a:cs typeface="Times New Roman"/>
              </a:rPr>
              <a:t>#include</a:t>
            </a:r>
            <a:r>
              <a:rPr sz="20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000000"/>
                </a:solidFill>
                <a:latin typeface="Times New Roman"/>
                <a:cs typeface="Times New Roman"/>
              </a:rPr>
              <a:t>&lt;stdio.h&gt;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5147" y="955010"/>
            <a:ext cx="5075555" cy="8878570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sz="4400" b="1" spc="-320" dirty="0">
                <a:latin typeface="Tahoma"/>
                <a:cs typeface="Tahoma"/>
              </a:rPr>
              <a:t>int</a:t>
            </a:r>
            <a:r>
              <a:rPr sz="4400" b="1" spc="-65" dirty="0">
                <a:latin typeface="Tahoma"/>
                <a:cs typeface="Tahoma"/>
              </a:rPr>
              <a:t> </a:t>
            </a:r>
            <a:r>
              <a:rPr sz="4400" b="1" spc="-459" dirty="0">
                <a:latin typeface="Tahoma"/>
                <a:cs typeface="Tahoma"/>
              </a:rPr>
              <a:t>a[10]={5,4,3,2,1}</a:t>
            </a:r>
            <a:endParaRPr sz="4400">
              <a:latin typeface="Tahoma"/>
              <a:cs typeface="Tahoma"/>
            </a:endParaRPr>
          </a:p>
          <a:p>
            <a:pPr marL="325120" marR="420370" indent="-312420">
              <a:lnSpc>
                <a:spcPct val="120000"/>
              </a:lnSpc>
            </a:pPr>
            <a:r>
              <a:rPr sz="4400" b="1" spc="-495" dirty="0">
                <a:latin typeface="Tahoma"/>
                <a:cs typeface="Tahoma"/>
              </a:rPr>
              <a:t>for(i=0;i&lt;n;i++) </a:t>
            </a:r>
            <a:r>
              <a:rPr sz="4400" b="1" spc="-540" dirty="0">
                <a:latin typeface="Tahoma"/>
                <a:cs typeface="Tahoma"/>
              </a:rPr>
              <a:t>for(j=i+1;j&lt;n;j++)</a:t>
            </a:r>
            <a:endParaRPr sz="4400">
              <a:latin typeface="Tahoma"/>
              <a:cs typeface="Tahoma"/>
            </a:endParaRPr>
          </a:p>
          <a:p>
            <a:pPr marL="325120">
              <a:lnSpc>
                <a:spcPct val="100000"/>
              </a:lnSpc>
              <a:spcBef>
                <a:spcPts val="1060"/>
              </a:spcBef>
            </a:pPr>
            <a:r>
              <a:rPr sz="4400" b="1" spc="-1310" dirty="0">
                <a:latin typeface="Tahoma"/>
                <a:cs typeface="Tahoma"/>
              </a:rPr>
              <a:t>{</a:t>
            </a:r>
            <a:endParaRPr sz="4400">
              <a:latin typeface="Tahoma"/>
              <a:cs typeface="Tahoma"/>
            </a:endParaRPr>
          </a:p>
          <a:p>
            <a:pPr marL="1102360">
              <a:lnSpc>
                <a:spcPct val="100000"/>
              </a:lnSpc>
              <a:spcBef>
                <a:spcPts val="1055"/>
              </a:spcBef>
            </a:pPr>
            <a:r>
              <a:rPr sz="4400" b="1" spc="-405" dirty="0">
                <a:latin typeface="Tahoma"/>
                <a:cs typeface="Tahoma"/>
              </a:rPr>
              <a:t>if(a[i]&gt;a[j])</a:t>
            </a:r>
            <a:endParaRPr sz="4400">
              <a:latin typeface="Tahoma"/>
              <a:cs typeface="Tahoma"/>
            </a:endParaRPr>
          </a:p>
          <a:p>
            <a:pPr marL="1570355">
              <a:lnSpc>
                <a:spcPct val="100000"/>
              </a:lnSpc>
              <a:spcBef>
                <a:spcPts val="1055"/>
              </a:spcBef>
            </a:pPr>
            <a:r>
              <a:rPr sz="4400" b="1" spc="-1310" dirty="0">
                <a:latin typeface="Tahoma"/>
                <a:cs typeface="Tahoma"/>
              </a:rPr>
              <a:t>{</a:t>
            </a:r>
            <a:endParaRPr sz="4400">
              <a:latin typeface="Tahoma"/>
              <a:cs typeface="Tahoma"/>
            </a:endParaRPr>
          </a:p>
          <a:p>
            <a:pPr marL="2246630" marR="36830" indent="-212090">
              <a:lnSpc>
                <a:spcPct val="120000"/>
              </a:lnSpc>
              <a:spcBef>
                <a:spcPts val="5"/>
              </a:spcBef>
            </a:pPr>
            <a:r>
              <a:rPr sz="4400" b="1" spc="-310" dirty="0">
                <a:latin typeface="Tahoma"/>
                <a:cs typeface="Tahoma"/>
              </a:rPr>
              <a:t>temp=a[i]; </a:t>
            </a:r>
            <a:r>
              <a:rPr sz="4400" b="1" spc="-415" dirty="0">
                <a:latin typeface="Tahoma"/>
                <a:cs typeface="Tahoma"/>
              </a:rPr>
              <a:t>a[i]=a[j]; </a:t>
            </a:r>
            <a:r>
              <a:rPr sz="4400" b="1" spc="-325" dirty="0">
                <a:latin typeface="Tahoma"/>
                <a:cs typeface="Tahoma"/>
              </a:rPr>
              <a:t>a[j]=temp;</a:t>
            </a:r>
            <a:endParaRPr sz="4400">
              <a:latin typeface="Tahoma"/>
              <a:cs typeface="Tahoma"/>
            </a:endParaRPr>
          </a:p>
          <a:p>
            <a:pPr marL="1936114">
              <a:lnSpc>
                <a:spcPct val="100000"/>
              </a:lnSpc>
              <a:spcBef>
                <a:spcPts val="1055"/>
              </a:spcBef>
            </a:pPr>
            <a:r>
              <a:rPr sz="4400" b="1" spc="-1310" dirty="0">
                <a:latin typeface="Tahoma"/>
                <a:cs typeface="Tahoma"/>
              </a:rPr>
              <a:t>}</a:t>
            </a:r>
            <a:endParaRPr sz="4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sz="4400" b="1" spc="-1310" dirty="0">
                <a:latin typeface="Tahoma"/>
                <a:cs typeface="Tahoma"/>
              </a:rPr>
              <a:t>}</a:t>
            </a:r>
            <a:endParaRPr sz="44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09497" y="103123"/>
            <a:ext cx="832421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87240" algn="l"/>
              </a:tabLst>
            </a:pPr>
            <a:r>
              <a:rPr sz="5400" i="1" dirty="0">
                <a:latin typeface="Arial"/>
                <a:cs typeface="Arial"/>
              </a:rPr>
              <a:t>Sort</a:t>
            </a:r>
            <a:r>
              <a:rPr sz="5400" i="1" spc="60" dirty="0">
                <a:latin typeface="Arial"/>
                <a:cs typeface="Arial"/>
              </a:rPr>
              <a:t> </a:t>
            </a:r>
            <a:r>
              <a:rPr sz="5400" i="1" spc="-10" dirty="0">
                <a:latin typeface="Arial"/>
                <a:cs typeface="Arial"/>
              </a:rPr>
              <a:t>element</a:t>
            </a:r>
            <a:r>
              <a:rPr sz="5400" i="1" dirty="0">
                <a:latin typeface="Arial"/>
                <a:cs typeface="Arial"/>
              </a:rPr>
              <a:t>	using</a:t>
            </a:r>
            <a:r>
              <a:rPr sz="5400" i="1" spc="35" dirty="0">
                <a:latin typeface="Arial"/>
                <a:cs typeface="Arial"/>
              </a:rPr>
              <a:t> </a:t>
            </a:r>
            <a:r>
              <a:rPr sz="5400" i="1" spc="-10" dirty="0">
                <a:latin typeface="Arial"/>
                <a:cs typeface="Arial"/>
              </a:rPr>
              <a:t>array</a:t>
            </a:r>
            <a:endParaRPr sz="54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7958" y="-20319"/>
            <a:ext cx="11031220" cy="9251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060180" algn="l"/>
              </a:tabLst>
            </a:pPr>
            <a:r>
              <a:rPr sz="5900" dirty="0"/>
              <a:t>Storage</a:t>
            </a:r>
            <a:r>
              <a:rPr sz="5900" spc="-15" dirty="0"/>
              <a:t> </a:t>
            </a:r>
            <a:r>
              <a:rPr sz="5900" dirty="0"/>
              <a:t>Representation</a:t>
            </a:r>
            <a:r>
              <a:rPr sz="5900" spc="-45" dirty="0"/>
              <a:t> </a:t>
            </a:r>
            <a:r>
              <a:rPr sz="5900" spc="-25" dirty="0"/>
              <a:t>of</a:t>
            </a:r>
            <a:r>
              <a:rPr sz="5900" dirty="0"/>
              <a:t>	</a:t>
            </a:r>
            <a:r>
              <a:rPr sz="5900" spc="-10" dirty="0"/>
              <a:t>Array</a:t>
            </a:r>
            <a:endParaRPr sz="5900"/>
          </a:p>
        </p:txBody>
      </p:sp>
      <p:sp>
        <p:nvSpPr>
          <p:cNvPr id="3" name="object 3"/>
          <p:cNvSpPr txBox="1"/>
          <p:nvPr/>
        </p:nvSpPr>
        <p:spPr>
          <a:xfrm>
            <a:off x="117449" y="953262"/>
            <a:ext cx="12773025" cy="8316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  <a:tabLst>
                <a:tab pos="1039494" algn="l"/>
                <a:tab pos="1348740" algn="l"/>
                <a:tab pos="1991995" algn="l"/>
                <a:tab pos="2660015" algn="l"/>
                <a:tab pos="3689985" algn="l"/>
                <a:tab pos="5238750" algn="l"/>
                <a:tab pos="6746240" algn="l"/>
                <a:tab pos="7607300" algn="l"/>
                <a:tab pos="9500235" algn="l"/>
                <a:tab pos="10648950" algn="l"/>
                <a:tab pos="12395835" algn="l"/>
              </a:tabLst>
            </a:pPr>
            <a:r>
              <a:rPr sz="3400" b="1" spc="-20" dirty="0">
                <a:latin typeface="Times New Roman"/>
                <a:cs typeface="Times New Roman"/>
              </a:rPr>
              <a:t>Note</a:t>
            </a:r>
            <a:r>
              <a:rPr sz="3400" b="1" dirty="0">
                <a:latin typeface="Times New Roman"/>
                <a:cs typeface="Times New Roman"/>
              </a:rPr>
              <a:t>	</a:t>
            </a:r>
            <a:r>
              <a:rPr sz="3400" b="1" spc="-50" dirty="0">
                <a:latin typeface="Times New Roman"/>
                <a:cs typeface="Times New Roman"/>
              </a:rPr>
              <a:t>:</a:t>
            </a:r>
            <a:r>
              <a:rPr sz="3400" b="1" dirty="0">
                <a:latin typeface="Times New Roman"/>
                <a:cs typeface="Times New Roman"/>
              </a:rPr>
              <a:t>	</a:t>
            </a:r>
            <a:r>
              <a:rPr sz="3400" b="1" spc="-25" dirty="0">
                <a:latin typeface="Times New Roman"/>
                <a:cs typeface="Times New Roman"/>
              </a:rPr>
              <a:t>As</a:t>
            </a:r>
            <a:r>
              <a:rPr sz="3400" b="1" dirty="0">
                <a:latin typeface="Times New Roman"/>
                <a:cs typeface="Times New Roman"/>
              </a:rPr>
              <a:t>	</a:t>
            </a:r>
            <a:r>
              <a:rPr sz="3400" b="1" spc="-25" dirty="0">
                <a:latin typeface="Times New Roman"/>
                <a:cs typeface="Times New Roman"/>
              </a:rPr>
              <a:t>we</a:t>
            </a:r>
            <a:r>
              <a:rPr sz="3400" b="1" dirty="0">
                <a:latin typeface="Times New Roman"/>
                <a:cs typeface="Times New Roman"/>
              </a:rPr>
              <a:t>	</a:t>
            </a:r>
            <a:r>
              <a:rPr sz="3400" b="1" spc="-20" dirty="0">
                <a:latin typeface="Times New Roman"/>
                <a:cs typeface="Times New Roman"/>
              </a:rPr>
              <a:t>have</a:t>
            </a:r>
            <a:r>
              <a:rPr sz="3400" b="1" dirty="0">
                <a:latin typeface="Times New Roman"/>
                <a:cs typeface="Times New Roman"/>
              </a:rPr>
              <a:t>	</a:t>
            </a:r>
            <a:r>
              <a:rPr sz="3400" b="1" spc="-10" dirty="0">
                <a:latin typeface="Times New Roman"/>
                <a:cs typeface="Times New Roman"/>
              </a:rPr>
              <a:t>already</a:t>
            </a:r>
            <a:r>
              <a:rPr sz="3400" b="1" dirty="0">
                <a:latin typeface="Times New Roman"/>
                <a:cs typeface="Times New Roman"/>
              </a:rPr>
              <a:t>	</a:t>
            </a:r>
            <a:r>
              <a:rPr sz="3400" b="1" spc="-10" dirty="0">
                <a:latin typeface="Times New Roman"/>
                <a:cs typeface="Times New Roman"/>
              </a:rPr>
              <a:t>studied</a:t>
            </a:r>
            <a:r>
              <a:rPr sz="3400" b="1" dirty="0">
                <a:latin typeface="Times New Roman"/>
                <a:cs typeface="Times New Roman"/>
              </a:rPr>
              <a:t>	</a:t>
            </a:r>
            <a:r>
              <a:rPr sz="3400" b="1" spc="-25" dirty="0">
                <a:latin typeface="Times New Roman"/>
                <a:cs typeface="Times New Roman"/>
              </a:rPr>
              <a:t>and</a:t>
            </a:r>
            <a:r>
              <a:rPr sz="3400" b="1" dirty="0">
                <a:latin typeface="Times New Roman"/>
                <a:cs typeface="Times New Roman"/>
              </a:rPr>
              <a:t>	</a:t>
            </a:r>
            <a:r>
              <a:rPr sz="3400" b="1" spc="-10" dirty="0">
                <a:latin typeface="Times New Roman"/>
                <a:cs typeface="Times New Roman"/>
              </a:rPr>
              <a:t>discussed</a:t>
            </a:r>
            <a:r>
              <a:rPr sz="3400" b="1" dirty="0">
                <a:latin typeface="Times New Roman"/>
                <a:cs typeface="Times New Roman"/>
              </a:rPr>
              <a:t>	</a:t>
            </a:r>
            <a:r>
              <a:rPr sz="3400" b="1" spc="-10" dirty="0">
                <a:latin typeface="Times New Roman"/>
                <a:cs typeface="Times New Roman"/>
              </a:rPr>
              <a:t>Basic</a:t>
            </a:r>
            <a:r>
              <a:rPr sz="3400" b="1" dirty="0">
                <a:latin typeface="Times New Roman"/>
                <a:cs typeface="Times New Roman"/>
              </a:rPr>
              <a:t>	</a:t>
            </a:r>
            <a:r>
              <a:rPr sz="3400" b="1" spc="-10" dirty="0">
                <a:latin typeface="Times New Roman"/>
                <a:cs typeface="Times New Roman"/>
              </a:rPr>
              <a:t>concepts</a:t>
            </a:r>
            <a:r>
              <a:rPr sz="3400" b="1" dirty="0">
                <a:latin typeface="Times New Roman"/>
                <a:cs typeface="Times New Roman"/>
              </a:rPr>
              <a:t>	</a:t>
            </a:r>
            <a:r>
              <a:rPr sz="3400" b="1" spc="-25" dirty="0">
                <a:latin typeface="Times New Roman"/>
                <a:cs typeface="Times New Roman"/>
              </a:rPr>
              <a:t>of </a:t>
            </a:r>
            <a:r>
              <a:rPr sz="3400" b="1" spc="-20" dirty="0">
                <a:latin typeface="Times New Roman"/>
                <a:cs typeface="Times New Roman"/>
              </a:rPr>
              <a:t>array,</a:t>
            </a:r>
            <a:r>
              <a:rPr sz="3400" b="1" spc="-100" dirty="0">
                <a:latin typeface="Times New Roman"/>
                <a:cs typeface="Times New Roman"/>
              </a:rPr>
              <a:t> </a:t>
            </a:r>
            <a:r>
              <a:rPr sz="3400" b="1" spc="-10" dirty="0">
                <a:latin typeface="Times New Roman"/>
                <a:cs typeface="Times New Roman"/>
              </a:rPr>
              <a:t>representation,</a:t>
            </a:r>
            <a:r>
              <a:rPr sz="3400" b="1" spc="-75" dirty="0">
                <a:latin typeface="Times New Roman"/>
                <a:cs typeface="Times New Roman"/>
              </a:rPr>
              <a:t> </a:t>
            </a:r>
            <a:r>
              <a:rPr sz="3400" b="1" dirty="0">
                <a:latin typeface="Times New Roman"/>
                <a:cs typeface="Times New Roman"/>
              </a:rPr>
              <a:t>operation,</a:t>
            </a:r>
            <a:r>
              <a:rPr sz="3400" b="1" spc="-85" dirty="0">
                <a:latin typeface="Times New Roman"/>
                <a:cs typeface="Times New Roman"/>
              </a:rPr>
              <a:t> </a:t>
            </a:r>
            <a:r>
              <a:rPr sz="3400" b="1" spc="-20" dirty="0">
                <a:latin typeface="Times New Roman"/>
                <a:cs typeface="Times New Roman"/>
              </a:rPr>
              <a:t>1-</a:t>
            </a:r>
            <a:r>
              <a:rPr sz="3400" b="1" dirty="0">
                <a:latin typeface="Times New Roman"/>
                <a:cs typeface="Times New Roman"/>
              </a:rPr>
              <a:t>D</a:t>
            </a:r>
            <a:r>
              <a:rPr sz="3400" b="1" spc="-90" dirty="0">
                <a:latin typeface="Times New Roman"/>
                <a:cs typeface="Times New Roman"/>
              </a:rPr>
              <a:t> </a:t>
            </a:r>
            <a:r>
              <a:rPr sz="3400" b="1" dirty="0">
                <a:latin typeface="Times New Roman"/>
                <a:cs typeface="Times New Roman"/>
              </a:rPr>
              <a:t>array</a:t>
            </a:r>
            <a:r>
              <a:rPr sz="3400" b="1" spc="-95" dirty="0">
                <a:latin typeface="Times New Roman"/>
                <a:cs typeface="Times New Roman"/>
              </a:rPr>
              <a:t> </a:t>
            </a:r>
            <a:r>
              <a:rPr sz="3400" b="1" spc="-20" dirty="0">
                <a:latin typeface="Times New Roman"/>
                <a:cs typeface="Times New Roman"/>
              </a:rPr>
              <a:t>etc.</a:t>
            </a:r>
            <a:endParaRPr sz="3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sz="3400" b="1" dirty="0">
                <a:latin typeface="Times New Roman"/>
                <a:cs typeface="Times New Roman"/>
              </a:rPr>
              <a:t>Here,</a:t>
            </a:r>
            <a:r>
              <a:rPr sz="3400" b="1" spc="-60" dirty="0">
                <a:latin typeface="Times New Roman"/>
                <a:cs typeface="Times New Roman"/>
              </a:rPr>
              <a:t> </a:t>
            </a:r>
            <a:r>
              <a:rPr sz="3400" b="1" dirty="0">
                <a:latin typeface="Times New Roman"/>
                <a:cs typeface="Times New Roman"/>
              </a:rPr>
              <a:t>we</a:t>
            </a:r>
            <a:r>
              <a:rPr sz="3400" b="1" spc="-45" dirty="0">
                <a:latin typeface="Times New Roman"/>
                <a:cs typeface="Times New Roman"/>
              </a:rPr>
              <a:t> </a:t>
            </a:r>
            <a:r>
              <a:rPr sz="3400" b="1" dirty="0">
                <a:latin typeface="Times New Roman"/>
                <a:cs typeface="Times New Roman"/>
              </a:rPr>
              <a:t>will</a:t>
            </a:r>
            <a:r>
              <a:rPr sz="3400" b="1" spc="-55" dirty="0">
                <a:latin typeface="Times New Roman"/>
                <a:cs typeface="Times New Roman"/>
              </a:rPr>
              <a:t> </a:t>
            </a:r>
            <a:r>
              <a:rPr sz="3400" b="1" dirty="0">
                <a:latin typeface="Times New Roman"/>
                <a:cs typeface="Times New Roman"/>
              </a:rPr>
              <a:t>see</a:t>
            </a:r>
            <a:r>
              <a:rPr sz="3400" b="1" spc="-55" dirty="0">
                <a:latin typeface="Times New Roman"/>
                <a:cs typeface="Times New Roman"/>
              </a:rPr>
              <a:t> </a:t>
            </a:r>
            <a:r>
              <a:rPr sz="3400" b="1" dirty="0">
                <a:latin typeface="Times New Roman"/>
                <a:cs typeface="Times New Roman"/>
              </a:rPr>
              <a:t>types</a:t>
            </a:r>
            <a:r>
              <a:rPr sz="3400" b="1" spc="-50" dirty="0">
                <a:latin typeface="Times New Roman"/>
                <a:cs typeface="Times New Roman"/>
              </a:rPr>
              <a:t> </a:t>
            </a:r>
            <a:r>
              <a:rPr sz="3400" b="1" dirty="0">
                <a:latin typeface="Times New Roman"/>
                <a:cs typeface="Times New Roman"/>
              </a:rPr>
              <a:t>of</a:t>
            </a:r>
            <a:r>
              <a:rPr sz="3400" b="1" spc="-55" dirty="0">
                <a:latin typeface="Times New Roman"/>
                <a:cs typeface="Times New Roman"/>
              </a:rPr>
              <a:t> </a:t>
            </a:r>
            <a:r>
              <a:rPr sz="3400" b="1" dirty="0">
                <a:latin typeface="Times New Roman"/>
                <a:cs typeface="Times New Roman"/>
              </a:rPr>
              <a:t>array</a:t>
            </a:r>
            <a:r>
              <a:rPr sz="3400" b="1" spc="-55" dirty="0">
                <a:latin typeface="Times New Roman"/>
                <a:cs typeface="Times New Roman"/>
              </a:rPr>
              <a:t> </a:t>
            </a:r>
            <a:r>
              <a:rPr sz="3400" b="1" dirty="0">
                <a:latin typeface="Times New Roman"/>
                <a:cs typeface="Times New Roman"/>
              </a:rPr>
              <a:t>and</a:t>
            </a:r>
            <a:r>
              <a:rPr sz="3400" b="1" spc="-70" dirty="0">
                <a:latin typeface="Times New Roman"/>
                <a:cs typeface="Times New Roman"/>
              </a:rPr>
              <a:t> </a:t>
            </a:r>
            <a:r>
              <a:rPr sz="3400" b="1" dirty="0">
                <a:latin typeface="Times New Roman"/>
                <a:cs typeface="Times New Roman"/>
              </a:rPr>
              <a:t>their</a:t>
            </a:r>
            <a:r>
              <a:rPr sz="3400" b="1" spc="-100" dirty="0">
                <a:latin typeface="Times New Roman"/>
                <a:cs typeface="Times New Roman"/>
              </a:rPr>
              <a:t> </a:t>
            </a:r>
            <a:r>
              <a:rPr sz="3400" b="1" dirty="0">
                <a:latin typeface="Times New Roman"/>
                <a:cs typeface="Times New Roman"/>
              </a:rPr>
              <a:t>address</a:t>
            </a:r>
            <a:r>
              <a:rPr sz="3400" b="1" spc="-45" dirty="0">
                <a:latin typeface="Times New Roman"/>
                <a:cs typeface="Times New Roman"/>
              </a:rPr>
              <a:t> </a:t>
            </a:r>
            <a:r>
              <a:rPr sz="3400" b="1" spc="-10" dirty="0">
                <a:latin typeface="Times New Roman"/>
                <a:cs typeface="Times New Roman"/>
              </a:rPr>
              <a:t>calculation.</a:t>
            </a:r>
            <a:endParaRPr sz="3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05"/>
              </a:spcBef>
            </a:pPr>
            <a:endParaRPr sz="3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3400" b="1" spc="-25" dirty="0">
                <a:latin typeface="Times New Roman"/>
                <a:cs typeface="Times New Roman"/>
              </a:rPr>
              <a:t>Types</a:t>
            </a:r>
            <a:r>
              <a:rPr sz="3400" b="1" spc="-185" dirty="0">
                <a:latin typeface="Times New Roman"/>
                <a:cs typeface="Times New Roman"/>
              </a:rPr>
              <a:t> </a:t>
            </a:r>
            <a:r>
              <a:rPr sz="3400" b="1" spc="-10" dirty="0">
                <a:latin typeface="Times New Roman"/>
                <a:cs typeface="Times New Roman"/>
              </a:rPr>
              <a:t>of</a:t>
            </a:r>
            <a:r>
              <a:rPr sz="3400" b="1" spc="-200" dirty="0">
                <a:latin typeface="Times New Roman"/>
                <a:cs typeface="Times New Roman"/>
              </a:rPr>
              <a:t> </a:t>
            </a:r>
            <a:r>
              <a:rPr sz="3400" b="1" spc="-10" dirty="0">
                <a:latin typeface="Times New Roman"/>
                <a:cs typeface="Times New Roman"/>
              </a:rPr>
              <a:t>Arrays</a:t>
            </a:r>
            <a:endParaRPr sz="3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20"/>
              </a:spcBef>
            </a:pPr>
            <a:r>
              <a:rPr sz="3400" dirty="0">
                <a:latin typeface="Times New Roman"/>
                <a:cs typeface="Times New Roman"/>
              </a:rPr>
              <a:t>The</a:t>
            </a:r>
            <a:r>
              <a:rPr sz="3400" spc="-5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various</a:t>
            </a:r>
            <a:r>
              <a:rPr sz="3400" spc="-4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types</a:t>
            </a:r>
            <a:r>
              <a:rPr sz="3400" spc="-4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of</a:t>
            </a:r>
            <a:r>
              <a:rPr sz="3400" spc="-5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arrays</a:t>
            </a:r>
            <a:r>
              <a:rPr sz="3400" spc="-3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are</a:t>
            </a:r>
            <a:r>
              <a:rPr sz="3400" spc="-3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as</a:t>
            </a:r>
            <a:r>
              <a:rPr sz="3400" spc="-55" dirty="0">
                <a:latin typeface="Times New Roman"/>
                <a:cs typeface="Times New Roman"/>
              </a:rPr>
              <a:t> </a:t>
            </a:r>
            <a:r>
              <a:rPr sz="3400" spc="-10" dirty="0">
                <a:latin typeface="Times New Roman"/>
                <a:cs typeface="Times New Roman"/>
              </a:rPr>
              <a:t>follows.</a:t>
            </a:r>
            <a:endParaRPr sz="3400">
              <a:latin typeface="Times New Roman"/>
              <a:cs typeface="Times New Roman"/>
            </a:endParaRPr>
          </a:p>
          <a:p>
            <a:pPr marL="527685" indent="-514984">
              <a:lnSpc>
                <a:spcPct val="100000"/>
              </a:lnSpc>
              <a:spcBef>
                <a:spcPts val="815"/>
              </a:spcBef>
              <a:buAutoNum type="arabicPeriod"/>
              <a:tabLst>
                <a:tab pos="527685" algn="l"/>
              </a:tabLst>
            </a:pPr>
            <a:r>
              <a:rPr sz="3400" dirty="0">
                <a:latin typeface="Times New Roman"/>
                <a:cs typeface="Times New Roman"/>
              </a:rPr>
              <a:t>One</a:t>
            </a:r>
            <a:r>
              <a:rPr sz="3400" spc="-10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dimensional</a:t>
            </a:r>
            <a:r>
              <a:rPr sz="3400" spc="-75" dirty="0">
                <a:latin typeface="Times New Roman"/>
                <a:cs typeface="Times New Roman"/>
              </a:rPr>
              <a:t> </a:t>
            </a:r>
            <a:r>
              <a:rPr sz="3400" spc="-10" dirty="0">
                <a:latin typeface="Times New Roman"/>
                <a:cs typeface="Times New Roman"/>
              </a:rPr>
              <a:t>array</a:t>
            </a:r>
            <a:endParaRPr sz="3400">
              <a:latin typeface="Times New Roman"/>
              <a:cs typeface="Times New Roman"/>
            </a:endParaRPr>
          </a:p>
          <a:p>
            <a:pPr marL="527685" indent="-514984">
              <a:lnSpc>
                <a:spcPct val="100000"/>
              </a:lnSpc>
              <a:spcBef>
                <a:spcPts val="820"/>
              </a:spcBef>
              <a:buAutoNum type="arabicPeriod"/>
              <a:tabLst>
                <a:tab pos="527685" algn="l"/>
              </a:tabLst>
            </a:pPr>
            <a:r>
              <a:rPr sz="3400" spc="-40" dirty="0">
                <a:latin typeface="Times New Roman"/>
                <a:cs typeface="Times New Roman"/>
              </a:rPr>
              <a:t>Two</a:t>
            </a:r>
            <a:r>
              <a:rPr sz="3400" spc="-15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dimensional</a:t>
            </a:r>
            <a:r>
              <a:rPr sz="3400" spc="-130" dirty="0">
                <a:latin typeface="Times New Roman"/>
                <a:cs typeface="Times New Roman"/>
              </a:rPr>
              <a:t> </a:t>
            </a:r>
            <a:r>
              <a:rPr sz="3400" spc="-20" dirty="0">
                <a:latin typeface="Times New Roman"/>
                <a:cs typeface="Times New Roman"/>
              </a:rPr>
              <a:t>array</a:t>
            </a:r>
            <a:endParaRPr sz="3400">
              <a:latin typeface="Times New Roman"/>
              <a:cs typeface="Times New Roman"/>
            </a:endParaRPr>
          </a:p>
          <a:p>
            <a:pPr marL="527685" indent="-514984">
              <a:lnSpc>
                <a:spcPct val="100000"/>
              </a:lnSpc>
              <a:spcBef>
                <a:spcPts val="815"/>
              </a:spcBef>
              <a:buAutoNum type="arabicPeriod"/>
              <a:tabLst>
                <a:tab pos="527685" algn="l"/>
              </a:tabLst>
            </a:pPr>
            <a:r>
              <a:rPr sz="3400" spc="-20" dirty="0">
                <a:latin typeface="Times New Roman"/>
                <a:cs typeface="Times New Roman"/>
              </a:rPr>
              <a:t>Multi-</a:t>
            </a:r>
            <a:r>
              <a:rPr sz="3400" dirty="0">
                <a:latin typeface="Times New Roman"/>
                <a:cs typeface="Times New Roman"/>
              </a:rPr>
              <a:t>dimensional</a:t>
            </a:r>
            <a:r>
              <a:rPr sz="3400" spc="-65" dirty="0">
                <a:latin typeface="Times New Roman"/>
                <a:cs typeface="Times New Roman"/>
              </a:rPr>
              <a:t> </a:t>
            </a:r>
            <a:r>
              <a:rPr sz="3400" spc="-10" dirty="0">
                <a:latin typeface="Times New Roman"/>
                <a:cs typeface="Times New Roman"/>
              </a:rPr>
              <a:t>array</a:t>
            </a:r>
            <a:endParaRPr sz="3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00"/>
              </a:spcBef>
            </a:pPr>
            <a:endParaRPr sz="3400">
              <a:latin typeface="Times New Roman"/>
              <a:cs typeface="Times New Roman"/>
            </a:endParaRPr>
          </a:p>
          <a:p>
            <a:pPr marL="443230" indent="-430530" algn="just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443230" algn="l"/>
              </a:tabLst>
            </a:pPr>
            <a:r>
              <a:rPr sz="3400" b="1" spc="-30" dirty="0">
                <a:latin typeface="Times New Roman"/>
                <a:cs typeface="Times New Roman"/>
              </a:rPr>
              <a:t>One-</a:t>
            </a:r>
            <a:r>
              <a:rPr sz="3400" b="1" spc="-10" dirty="0">
                <a:latin typeface="Times New Roman"/>
                <a:cs typeface="Times New Roman"/>
              </a:rPr>
              <a:t>Dimensional</a:t>
            </a:r>
            <a:r>
              <a:rPr sz="3400" b="1" spc="-160" dirty="0">
                <a:latin typeface="Times New Roman"/>
                <a:cs typeface="Times New Roman"/>
              </a:rPr>
              <a:t> </a:t>
            </a:r>
            <a:r>
              <a:rPr sz="3400" b="1" spc="-10" dirty="0">
                <a:latin typeface="Times New Roman"/>
                <a:cs typeface="Times New Roman"/>
              </a:rPr>
              <a:t>Array</a:t>
            </a:r>
            <a:endParaRPr sz="3400">
              <a:latin typeface="Times New Roman"/>
              <a:cs typeface="Times New Roman"/>
            </a:endParaRPr>
          </a:p>
          <a:p>
            <a:pPr marL="12700" marR="8255" algn="just">
              <a:lnSpc>
                <a:spcPct val="100000"/>
              </a:lnSpc>
              <a:spcBef>
                <a:spcPts val="815"/>
              </a:spcBef>
            </a:pPr>
            <a:r>
              <a:rPr sz="3400" dirty="0">
                <a:latin typeface="Times New Roman"/>
                <a:cs typeface="Times New Roman"/>
              </a:rPr>
              <a:t>A</a:t>
            </a:r>
            <a:r>
              <a:rPr sz="3400" spc="-20" dirty="0">
                <a:latin typeface="Times New Roman"/>
                <a:cs typeface="Times New Roman"/>
              </a:rPr>
              <a:t> one-</a:t>
            </a:r>
            <a:r>
              <a:rPr sz="3400" dirty="0">
                <a:latin typeface="Times New Roman"/>
                <a:cs typeface="Times New Roman"/>
              </a:rPr>
              <a:t>dimensional</a:t>
            </a:r>
            <a:r>
              <a:rPr sz="3400" spc="19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array</a:t>
            </a:r>
            <a:r>
              <a:rPr sz="3400" spc="19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is</a:t>
            </a:r>
            <a:r>
              <a:rPr sz="3400" spc="16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also</a:t>
            </a:r>
            <a:r>
              <a:rPr sz="3400" spc="18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called</a:t>
            </a:r>
            <a:r>
              <a:rPr sz="3400" spc="18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a</a:t>
            </a:r>
            <a:r>
              <a:rPr sz="3400" spc="170" dirty="0">
                <a:latin typeface="Times New Roman"/>
                <a:cs typeface="Times New Roman"/>
              </a:rPr>
              <a:t> </a:t>
            </a:r>
            <a:r>
              <a:rPr sz="3400" spc="-10" dirty="0">
                <a:latin typeface="Times New Roman"/>
                <a:cs typeface="Times New Roman"/>
              </a:rPr>
              <a:t>single-</a:t>
            </a:r>
            <a:r>
              <a:rPr sz="3400" dirty="0">
                <a:latin typeface="Times New Roman"/>
                <a:cs typeface="Times New Roman"/>
              </a:rPr>
              <a:t>dimensional</a:t>
            </a:r>
            <a:r>
              <a:rPr sz="3400" spc="19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array</a:t>
            </a:r>
            <a:r>
              <a:rPr sz="3400" spc="190" dirty="0">
                <a:latin typeface="Times New Roman"/>
                <a:cs typeface="Times New Roman"/>
              </a:rPr>
              <a:t> </a:t>
            </a:r>
            <a:r>
              <a:rPr sz="3400" spc="-10" dirty="0">
                <a:latin typeface="Times New Roman"/>
                <a:cs typeface="Times New Roman"/>
              </a:rPr>
              <a:t>where </a:t>
            </a:r>
            <a:r>
              <a:rPr sz="3400" dirty="0">
                <a:latin typeface="Times New Roman"/>
                <a:cs typeface="Times New Roman"/>
              </a:rPr>
              <a:t>the</a:t>
            </a:r>
            <a:r>
              <a:rPr sz="3400" spc="11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elements</a:t>
            </a:r>
            <a:r>
              <a:rPr sz="3400" spc="11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will</a:t>
            </a:r>
            <a:r>
              <a:rPr sz="3400" spc="114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be</a:t>
            </a:r>
            <a:r>
              <a:rPr sz="3400" spc="10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accessed</a:t>
            </a:r>
            <a:r>
              <a:rPr sz="3400" spc="11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in</a:t>
            </a:r>
            <a:r>
              <a:rPr sz="3400" spc="10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sequential</a:t>
            </a:r>
            <a:r>
              <a:rPr sz="3400" spc="11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order.</a:t>
            </a:r>
            <a:r>
              <a:rPr sz="3400" spc="11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This</a:t>
            </a:r>
            <a:r>
              <a:rPr sz="3400" spc="9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type</a:t>
            </a:r>
            <a:r>
              <a:rPr sz="3400" spc="10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of</a:t>
            </a:r>
            <a:r>
              <a:rPr sz="3400" spc="9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array</a:t>
            </a:r>
            <a:r>
              <a:rPr sz="3400" spc="110" dirty="0">
                <a:latin typeface="Times New Roman"/>
                <a:cs typeface="Times New Roman"/>
              </a:rPr>
              <a:t> </a:t>
            </a:r>
            <a:r>
              <a:rPr sz="3400" spc="-20" dirty="0">
                <a:latin typeface="Times New Roman"/>
                <a:cs typeface="Times New Roman"/>
              </a:rPr>
              <a:t>will </a:t>
            </a:r>
            <a:r>
              <a:rPr sz="3400" dirty="0">
                <a:latin typeface="Times New Roman"/>
                <a:cs typeface="Times New Roman"/>
              </a:rPr>
              <a:t>be</a:t>
            </a:r>
            <a:r>
              <a:rPr sz="3400" spc="-5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accessed</a:t>
            </a:r>
            <a:r>
              <a:rPr sz="3400" spc="-4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by</a:t>
            </a:r>
            <a:r>
              <a:rPr sz="3400" spc="-6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the</a:t>
            </a:r>
            <a:r>
              <a:rPr sz="3400" spc="-4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subscript</a:t>
            </a:r>
            <a:r>
              <a:rPr sz="3400" spc="-2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of</a:t>
            </a:r>
            <a:r>
              <a:rPr sz="3400" spc="-5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either</a:t>
            </a:r>
            <a:r>
              <a:rPr sz="3400" spc="-3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a</a:t>
            </a:r>
            <a:r>
              <a:rPr sz="3400" spc="-5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column</a:t>
            </a:r>
            <a:r>
              <a:rPr sz="3400" spc="-4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or</a:t>
            </a:r>
            <a:r>
              <a:rPr sz="3400" spc="-6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row</a:t>
            </a:r>
            <a:r>
              <a:rPr sz="3400" spc="-50" dirty="0">
                <a:latin typeface="Times New Roman"/>
                <a:cs typeface="Times New Roman"/>
              </a:rPr>
              <a:t> </a:t>
            </a:r>
            <a:r>
              <a:rPr sz="3400" spc="-10" dirty="0">
                <a:latin typeface="Times New Roman"/>
                <a:cs typeface="Times New Roman"/>
              </a:rPr>
              <a:t>index</a:t>
            </a:r>
            <a:endParaRPr sz="3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7958" y="-20319"/>
            <a:ext cx="11031220" cy="9251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060180" algn="l"/>
              </a:tabLst>
            </a:pPr>
            <a:r>
              <a:rPr sz="5900" dirty="0"/>
              <a:t>Storage</a:t>
            </a:r>
            <a:r>
              <a:rPr sz="5900" spc="-15" dirty="0"/>
              <a:t> </a:t>
            </a:r>
            <a:r>
              <a:rPr sz="5900" dirty="0"/>
              <a:t>Representation</a:t>
            </a:r>
            <a:r>
              <a:rPr sz="5900" spc="-45" dirty="0"/>
              <a:t> </a:t>
            </a:r>
            <a:r>
              <a:rPr sz="5900" spc="-25" dirty="0"/>
              <a:t>of</a:t>
            </a:r>
            <a:r>
              <a:rPr sz="5900" dirty="0"/>
              <a:t>	</a:t>
            </a:r>
            <a:r>
              <a:rPr sz="5900" spc="-10" dirty="0"/>
              <a:t>Array</a:t>
            </a:r>
            <a:endParaRPr sz="5900"/>
          </a:p>
        </p:txBody>
      </p:sp>
      <p:sp>
        <p:nvSpPr>
          <p:cNvPr id="3" name="object 3"/>
          <p:cNvSpPr txBox="1"/>
          <p:nvPr/>
        </p:nvSpPr>
        <p:spPr>
          <a:xfrm>
            <a:off x="117449" y="849021"/>
            <a:ext cx="12773025" cy="2305685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15"/>
              </a:spcBef>
            </a:pPr>
            <a:r>
              <a:rPr sz="3400" b="1" spc="-25" dirty="0">
                <a:latin typeface="Times New Roman"/>
                <a:cs typeface="Times New Roman"/>
              </a:rPr>
              <a:t>Multi-</a:t>
            </a:r>
            <a:r>
              <a:rPr sz="3400" b="1" spc="-10" dirty="0">
                <a:latin typeface="Times New Roman"/>
                <a:cs typeface="Times New Roman"/>
              </a:rPr>
              <a:t>Dimensional</a:t>
            </a:r>
            <a:r>
              <a:rPr sz="3400" b="1" spc="-170" dirty="0">
                <a:latin typeface="Times New Roman"/>
                <a:cs typeface="Times New Roman"/>
              </a:rPr>
              <a:t> </a:t>
            </a:r>
            <a:r>
              <a:rPr sz="3400" b="1" dirty="0">
                <a:latin typeface="Times New Roman"/>
                <a:cs typeface="Times New Roman"/>
              </a:rPr>
              <a:t>Array</a:t>
            </a:r>
            <a:r>
              <a:rPr sz="3400" b="1" spc="-50" dirty="0">
                <a:latin typeface="Times New Roman"/>
                <a:cs typeface="Times New Roman"/>
              </a:rPr>
              <a:t> :</a:t>
            </a:r>
            <a:endParaRPr sz="34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  <a:spcBef>
                <a:spcPts val="815"/>
              </a:spcBef>
            </a:pPr>
            <a:r>
              <a:rPr sz="3400" dirty="0">
                <a:latin typeface="Times New Roman"/>
                <a:cs typeface="Times New Roman"/>
              </a:rPr>
              <a:t>When</a:t>
            </a:r>
            <a:r>
              <a:rPr sz="3400" spc="44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the</a:t>
            </a:r>
            <a:r>
              <a:rPr sz="3400" spc="44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number</a:t>
            </a:r>
            <a:r>
              <a:rPr sz="3400" spc="44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of</a:t>
            </a:r>
            <a:r>
              <a:rPr sz="3400" spc="43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dimensions</a:t>
            </a:r>
            <a:r>
              <a:rPr sz="3400" spc="44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specified</a:t>
            </a:r>
            <a:r>
              <a:rPr sz="3400" spc="44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is</a:t>
            </a:r>
            <a:r>
              <a:rPr sz="3400" spc="434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more</a:t>
            </a:r>
            <a:r>
              <a:rPr sz="3400" spc="44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than</a:t>
            </a:r>
            <a:r>
              <a:rPr sz="3400" spc="43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one,</a:t>
            </a:r>
            <a:r>
              <a:rPr sz="3400" spc="44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then</a:t>
            </a:r>
            <a:r>
              <a:rPr sz="3400" spc="43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it</a:t>
            </a:r>
            <a:r>
              <a:rPr sz="3400" spc="440" dirty="0">
                <a:latin typeface="Times New Roman"/>
                <a:cs typeface="Times New Roman"/>
              </a:rPr>
              <a:t> </a:t>
            </a:r>
            <a:r>
              <a:rPr sz="3400" spc="-25" dirty="0">
                <a:latin typeface="Times New Roman"/>
                <a:cs typeface="Times New Roman"/>
              </a:rPr>
              <a:t>is </a:t>
            </a:r>
            <a:r>
              <a:rPr sz="3400" dirty="0">
                <a:latin typeface="Times New Roman"/>
                <a:cs typeface="Times New Roman"/>
              </a:rPr>
              <a:t>called</a:t>
            </a:r>
            <a:r>
              <a:rPr sz="3400" spc="12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as</a:t>
            </a:r>
            <a:r>
              <a:rPr sz="3400" spc="11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a</a:t>
            </a:r>
            <a:r>
              <a:rPr sz="3400" spc="114" dirty="0">
                <a:latin typeface="Times New Roman"/>
                <a:cs typeface="Times New Roman"/>
              </a:rPr>
              <a:t> </a:t>
            </a:r>
            <a:r>
              <a:rPr sz="3400" spc="-20" dirty="0">
                <a:latin typeface="Times New Roman"/>
                <a:cs typeface="Times New Roman"/>
              </a:rPr>
              <a:t>multi-</a:t>
            </a:r>
            <a:r>
              <a:rPr sz="3400" dirty="0">
                <a:latin typeface="Times New Roman"/>
                <a:cs typeface="Times New Roman"/>
              </a:rPr>
              <a:t>dimensional</a:t>
            </a:r>
            <a:r>
              <a:rPr sz="3400" spc="13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array.</a:t>
            </a:r>
            <a:r>
              <a:rPr sz="3400" spc="12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Multidimensional</a:t>
            </a:r>
            <a:r>
              <a:rPr sz="3400" spc="13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arrays</a:t>
            </a:r>
            <a:r>
              <a:rPr sz="3400" spc="12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include</a:t>
            </a:r>
            <a:r>
              <a:rPr sz="3400" spc="125" dirty="0">
                <a:latin typeface="Times New Roman"/>
                <a:cs typeface="Times New Roman"/>
              </a:rPr>
              <a:t> </a:t>
            </a:r>
            <a:r>
              <a:rPr sz="3400" spc="-25" dirty="0">
                <a:latin typeface="Times New Roman"/>
                <a:cs typeface="Times New Roman"/>
              </a:rPr>
              <a:t>2D </a:t>
            </a:r>
            <a:r>
              <a:rPr sz="3400" dirty="0">
                <a:latin typeface="Times New Roman"/>
                <a:cs typeface="Times New Roman"/>
              </a:rPr>
              <a:t>arrays</a:t>
            </a:r>
            <a:r>
              <a:rPr sz="3400" spc="-2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and</a:t>
            </a:r>
            <a:r>
              <a:rPr sz="3400" spc="-4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3D</a:t>
            </a:r>
            <a:r>
              <a:rPr sz="3400" spc="-60" dirty="0">
                <a:latin typeface="Times New Roman"/>
                <a:cs typeface="Times New Roman"/>
              </a:rPr>
              <a:t> </a:t>
            </a:r>
            <a:r>
              <a:rPr sz="3400" spc="-10" dirty="0">
                <a:latin typeface="Times New Roman"/>
                <a:cs typeface="Times New Roman"/>
              </a:rPr>
              <a:t>arrays.</a:t>
            </a:r>
            <a:endParaRPr sz="34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2775" y="3767963"/>
            <a:ext cx="11833225" cy="568083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7958" y="-20319"/>
            <a:ext cx="11031220" cy="9251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060180" algn="l"/>
              </a:tabLst>
            </a:pPr>
            <a:r>
              <a:rPr sz="5900" dirty="0"/>
              <a:t>Storage</a:t>
            </a:r>
            <a:r>
              <a:rPr sz="5900" spc="-15" dirty="0"/>
              <a:t> </a:t>
            </a:r>
            <a:r>
              <a:rPr sz="5900" dirty="0"/>
              <a:t>Representation</a:t>
            </a:r>
            <a:r>
              <a:rPr sz="5900" spc="-45" dirty="0"/>
              <a:t> </a:t>
            </a:r>
            <a:r>
              <a:rPr sz="5900" spc="-25" dirty="0"/>
              <a:t>of</a:t>
            </a:r>
            <a:r>
              <a:rPr sz="5900" dirty="0"/>
              <a:t>	</a:t>
            </a:r>
            <a:r>
              <a:rPr sz="5900" spc="-10" dirty="0"/>
              <a:t>Array</a:t>
            </a:r>
            <a:endParaRPr sz="5900"/>
          </a:p>
        </p:txBody>
      </p:sp>
      <p:sp>
        <p:nvSpPr>
          <p:cNvPr id="3" name="object 3"/>
          <p:cNvSpPr txBox="1"/>
          <p:nvPr/>
        </p:nvSpPr>
        <p:spPr>
          <a:xfrm>
            <a:off x="117449" y="682650"/>
            <a:ext cx="12773025" cy="8028305"/>
          </a:xfrm>
          <a:prstGeom prst="rect">
            <a:avLst/>
          </a:prstGeom>
        </p:spPr>
        <p:txBody>
          <a:bodyPr vert="horz" wrap="square" lIns="0" tIns="28257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2225"/>
              </a:spcBef>
            </a:pPr>
            <a:r>
              <a:rPr sz="3400" b="1" spc="-25" dirty="0">
                <a:latin typeface="Times New Roman"/>
                <a:cs typeface="Times New Roman"/>
              </a:rPr>
              <a:t>Multi-</a:t>
            </a:r>
            <a:r>
              <a:rPr sz="3400" b="1" spc="-10" dirty="0">
                <a:latin typeface="Times New Roman"/>
                <a:cs typeface="Times New Roman"/>
              </a:rPr>
              <a:t>Dimensional</a:t>
            </a:r>
            <a:r>
              <a:rPr sz="3400" b="1" spc="-170" dirty="0">
                <a:latin typeface="Times New Roman"/>
                <a:cs typeface="Times New Roman"/>
              </a:rPr>
              <a:t> </a:t>
            </a:r>
            <a:r>
              <a:rPr sz="3400" b="1" dirty="0">
                <a:latin typeface="Times New Roman"/>
                <a:cs typeface="Times New Roman"/>
              </a:rPr>
              <a:t>Array</a:t>
            </a:r>
            <a:r>
              <a:rPr sz="3400" b="1" spc="-50" dirty="0">
                <a:latin typeface="Times New Roman"/>
                <a:cs typeface="Times New Roman"/>
              </a:rPr>
              <a:t> :</a:t>
            </a:r>
            <a:endParaRPr sz="34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50000"/>
              </a:lnSpc>
              <a:spcBef>
                <a:spcPts val="85"/>
              </a:spcBef>
            </a:pPr>
            <a:r>
              <a:rPr sz="3400" dirty="0">
                <a:latin typeface="Times New Roman"/>
                <a:cs typeface="Times New Roman"/>
              </a:rPr>
              <a:t>A</a:t>
            </a:r>
            <a:r>
              <a:rPr sz="3400" spc="30" dirty="0">
                <a:latin typeface="Times New Roman"/>
                <a:cs typeface="Times New Roman"/>
              </a:rPr>
              <a:t> </a:t>
            </a:r>
            <a:r>
              <a:rPr sz="3400" spc="-25" dirty="0">
                <a:latin typeface="Times New Roman"/>
                <a:cs typeface="Times New Roman"/>
              </a:rPr>
              <a:t>two-</a:t>
            </a:r>
            <a:r>
              <a:rPr sz="3400" dirty="0">
                <a:latin typeface="Times New Roman"/>
                <a:cs typeface="Times New Roman"/>
              </a:rPr>
              <a:t>dimensional</a:t>
            </a:r>
            <a:r>
              <a:rPr sz="3400" spc="24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array</a:t>
            </a:r>
            <a:r>
              <a:rPr sz="3400" spc="24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will</a:t>
            </a:r>
            <a:r>
              <a:rPr sz="3400" spc="23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be</a:t>
            </a:r>
            <a:r>
              <a:rPr sz="3400" spc="22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accessed</a:t>
            </a:r>
            <a:r>
              <a:rPr sz="3400" spc="24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by</a:t>
            </a:r>
            <a:r>
              <a:rPr sz="3400" spc="22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using</a:t>
            </a:r>
            <a:r>
              <a:rPr sz="3400" spc="22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the</a:t>
            </a:r>
            <a:r>
              <a:rPr sz="3400" spc="229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subscript</a:t>
            </a:r>
            <a:r>
              <a:rPr sz="3400" spc="24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of</a:t>
            </a:r>
            <a:r>
              <a:rPr sz="3400" spc="229" dirty="0">
                <a:latin typeface="Times New Roman"/>
                <a:cs typeface="Times New Roman"/>
              </a:rPr>
              <a:t> </a:t>
            </a:r>
            <a:r>
              <a:rPr sz="3400" spc="-25" dirty="0">
                <a:latin typeface="Times New Roman"/>
                <a:cs typeface="Times New Roman"/>
              </a:rPr>
              <a:t>row </a:t>
            </a:r>
            <a:r>
              <a:rPr sz="3400" dirty="0">
                <a:latin typeface="Times New Roman"/>
                <a:cs typeface="Times New Roman"/>
              </a:rPr>
              <a:t>and</a:t>
            </a:r>
            <a:r>
              <a:rPr sz="3400" spc="1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column</a:t>
            </a:r>
            <a:r>
              <a:rPr sz="3400" spc="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index.</a:t>
            </a:r>
            <a:r>
              <a:rPr sz="3400" spc="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For traversing</a:t>
            </a:r>
            <a:r>
              <a:rPr sz="3400" spc="2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the</a:t>
            </a:r>
            <a:r>
              <a:rPr sz="3400" spc="15" dirty="0">
                <a:latin typeface="Times New Roman"/>
                <a:cs typeface="Times New Roman"/>
              </a:rPr>
              <a:t> </a:t>
            </a:r>
            <a:r>
              <a:rPr sz="3400" spc="-25" dirty="0">
                <a:latin typeface="Times New Roman"/>
                <a:cs typeface="Times New Roman"/>
              </a:rPr>
              <a:t>two-</a:t>
            </a:r>
            <a:r>
              <a:rPr sz="3400" dirty="0">
                <a:latin typeface="Times New Roman"/>
                <a:cs typeface="Times New Roman"/>
              </a:rPr>
              <a:t>dimensional</a:t>
            </a:r>
            <a:r>
              <a:rPr sz="3400" spc="2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array, the</a:t>
            </a:r>
            <a:r>
              <a:rPr sz="3400" spc="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value</a:t>
            </a:r>
            <a:r>
              <a:rPr sz="3400" spc="15" dirty="0">
                <a:latin typeface="Times New Roman"/>
                <a:cs typeface="Times New Roman"/>
              </a:rPr>
              <a:t> </a:t>
            </a:r>
            <a:r>
              <a:rPr sz="3400" spc="-25" dirty="0">
                <a:latin typeface="Times New Roman"/>
                <a:cs typeface="Times New Roman"/>
              </a:rPr>
              <a:t>of </a:t>
            </a:r>
            <a:r>
              <a:rPr sz="3400" dirty="0">
                <a:latin typeface="Times New Roman"/>
                <a:cs typeface="Times New Roman"/>
              </a:rPr>
              <a:t>the</a:t>
            </a:r>
            <a:r>
              <a:rPr sz="3400" spc="31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rows</a:t>
            </a:r>
            <a:r>
              <a:rPr sz="3400" spc="30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and</a:t>
            </a:r>
            <a:r>
              <a:rPr sz="3400" spc="32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columns</a:t>
            </a:r>
            <a:r>
              <a:rPr sz="3400" spc="29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will</a:t>
            </a:r>
            <a:r>
              <a:rPr sz="3400" spc="31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be</a:t>
            </a:r>
            <a:r>
              <a:rPr sz="3400" spc="30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considered.</a:t>
            </a:r>
            <a:r>
              <a:rPr sz="3400" spc="30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In</a:t>
            </a:r>
            <a:r>
              <a:rPr sz="3400" spc="30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the</a:t>
            </a:r>
            <a:r>
              <a:rPr sz="3400" spc="315" dirty="0">
                <a:latin typeface="Times New Roman"/>
                <a:cs typeface="Times New Roman"/>
              </a:rPr>
              <a:t> </a:t>
            </a:r>
            <a:r>
              <a:rPr sz="3400" spc="-25" dirty="0">
                <a:latin typeface="Times New Roman"/>
                <a:cs typeface="Times New Roman"/>
              </a:rPr>
              <a:t>two-</a:t>
            </a:r>
            <a:r>
              <a:rPr sz="3400" dirty="0">
                <a:latin typeface="Times New Roman"/>
                <a:cs typeface="Times New Roman"/>
              </a:rPr>
              <a:t>dimensional</a:t>
            </a:r>
            <a:r>
              <a:rPr sz="3400" spc="315" dirty="0">
                <a:latin typeface="Times New Roman"/>
                <a:cs typeface="Times New Roman"/>
              </a:rPr>
              <a:t> </a:t>
            </a:r>
            <a:r>
              <a:rPr sz="3400" spc="-10" dirty="0">
                <a:latin typeface="Times New Roman"/>
                <a:cs typeface="Times New Roman"/>
              </a:rPr>
              <a:t>array </a:t>
            </a:r>
            <a:r>
              <a:rPr sz="3400" dirty="0">
                <a:latin typeface="Times New Roman"/>
                <a:cs typeface="Times New Roman"/>
              </a:rPr>
              <a:t>face</a:t>
            </a:r>
            <a:r>
              <a:rPr sz="3400" spc="204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[3]</a:t>
            </a:r>
            <a:r>
              <a:rPr sz="3400" spc="19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[4],</a:t>
            </a:r>
            <a:r>
              <a:rPr sz="3400" spc="19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the</a:t>
            </a:r>
            <a:r>
              <a:rPr sz="3400" spc="21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first</a:t>
            </a:r>
            <a:r>
              <a:rPr sz="3400" spc="19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index</a:t>
            </a:r>
            <a:r>
              <a:rPr sz="3400" spc="20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specifies</a:t>
            </a:r>
            <a:r>
              <a:rPr sz="3400" spc="21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the</a:t>
            </a:r>
            <a:r>
              <a:rPr sz="3400" spc="20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number</a:t>
            </a:r>
            <a:r>
              <a:rPr sz="3400" spc="204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of</a:t>
            </a:r>
            <a:r>
              <a:rPr sz="3400" spc="18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rows</a:t>
            </a:r>
            <a:r>
              <a:rPr sz="3400" spc="19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and</a:t>
            </a:r>
            <a:r>
              <a:rPr sz="3400" spc="20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the</a:t>
            </a:r>
            <a:r>
              <a:rPr sz="3400" spc="190" dirty="0">
                <a:latin typeface="Times New Roman"/>
                <a:cs typeface="Times New Roman"/>
              </a:rPr>
              <a:t> </a:t>
            </a:r>
            <a:r>
              <a:rPr sz="3400" spc="-10" dirty="0">
                <a:latin typeface="Times New Roman"/>
                <a:cs typeface="Times New Roman"/>
              </a:rPr>
              <a:t>second </a:t>
            </a:r>
            <a:r>
              <a:rPr sz="3400" dirty="0">
                <a:latin typeface="Times New Roman"/>
                <a:cs typeface="Times New Roman"/>
              </a:rPr>
              <a:t>index</a:t>
            </a:r>
            <a:r>
              <a:rPr sz="3400" spc="105" dirty="0">
                <a:latin typeface="Times New Roman"/>
                <a:cs typeface="Times New Roman"/>
              </a:rPr>
              <a:t>  </a:t>
            </a:r>
            <a:r>
              <a:rPr sz="3400" dirty="0">
                <a:latin typeface="Times New Roman"/>
                <a:cs typeface="Times New Roman"/>
              </a:rPr>
              <a:t>specifies</a:t>
            </a:r>
            <a:r>
              <a:rPr sz="3400" spc="114" dirty="0">
                <a:latin typeface="Times New Roman"/>
                <a:cs typeface="Times New Roman"/>
              </a:rPr>
              <a:t>  </a:t>
            </a:r>
            <a:r>
              <a:rPr sz="3400" dirty="0">
                <a:latin typeface="Times New Roman"/>
                <a:cs typeface="Times New Roman"/>
              </a:rPr>
              <a:t>the</a:t>
            </a:r>
            <a:r>
              <a:rPr sz="3400" spc="105" dirty="0">
                <a:latin typeface="Times New Roman"/>
                <a:cs typeface="Times New Roman"/>
              </a:rPr>
              <a:t>  </a:t>
            </a:r>
            <a:r>
              <a:rPr sz="3400" dirty="0">
                <a:latin typeface="Times New Roman"/>
                <a:cs typeface="Times New Roman"/>
              </a:rPr>
              <a:t>number</a:t>
            </a:r>
            <a:r>
              <a:rPr sz="3400" spc="114" dirty="0">
                <a:latin typeface="Times New Roman"/>
                <a:cs typeface="Times New Roman"/>
              </a:rPr>
              <a:t>  </a:t>
            </a:r>
            <a:r>
              <a:rPr sz="3400" dirty="0">
                <a:latin typeface="Times New Roman"/>
                <a:cs typeface="Times New Roman"/>
              </a:rPr>
              <a:t>of</a:t>
            </a:r>
            <a:r>
              <a:rPr sz="3400" spc="105" dirty="0">
                <a:latin typeface="Times New Roman"/>
                <a:cs typeface="Times New Roman"/>
              </a:rPr>
              <a:t>  </a:t>
            </a:r>
            <a:r>
              <a:rPr sz="3400" dirty="0">
                <a:latin typeface="Times New Roman"/>
                <a:cs typeface="Times New Roman"/>
              </a:rPr>
              <a:t>columns</a:t>
            </a:r>
            <a:r>
              <a:rPr sz="3400" spc="110" dirty="0">
                <a:latin typeface="Times New Roman"/>
                <a:cs typeface="Times New Roman"/>
              </a:rPr>
              <a:t>  </a:t>
            </a:r>
            <a:r>
              <a:rPr sz="3400" dirty="0">
                <a:latin typeface="Times New Roman"/>
                <a:cs typeface="Times New Roman"/>
              </a:rPr>
              <a:t>and</a:t>
            </a:r>
            <a:r>
              <a:rPr sz="3400" spc="110" dirty="0">
                <a:latin typeface="Times New Roman"/>
                <a:cs typeface="Times New Roman"/>
              </a:rPr>
              <a:t>  </a:t>
            </a:r>
            <a:r>
              <a:rPr sz="3400" dirty="0">
                <a:latin typeface="Times New Roman"/>
                <a:cs typeface="Times New Roman"/>
              </a:rPr>
              <a:t>the</a:t>
            </a:r>
            <a:r>
              <a:rPr sz="3400" spc="110" dirty="0">
                <a:latin typeface="Times New Roman"/>
                <a:cs typeface="Times New Roman"/>
              </a:rPr>
              <a:t>  </a:t>
            </a:r>
            <a:r>
              <a:rPr sz="3400" dirty="0">
                <a:latin typeface="Times New Roman"/>
                <a:cs typeface="Times New Roman"/>
              </a:rPr>
              <a:t>array</a:t>
            </a:r>
            <a:r>
              <a:rPr sz="3400" spc="105" dirty="0">
                <a:latin typeface="Times New Roman"/>
                <a:cs typeface="Times New Roman"/>
              </a:rPr>
              <a:t>  </a:t>
            </a:r>
            <a:r>
              <a:rPr sz="3400" dirty="0">
                <a:latin typeface="Times New Roman"/>
                <a:cs typeface="Times New Roman"/>
              </a:rPr>
              <a:t>can</a:t>
            </a:r>
            <a:r>
              <a:rPr sz="3400" spc="105" dirty="0">
                <a:latin typeface="Times New Roman"/>
                <a:cs typeface="Times New Roman"/>
              </a:rPr>
              <a:t>  </a:t>
            </a:r>
            <a:r>
              <a:rPr sz="3400" dirty="0">
                <a:latin typeface="Times New Roman"/>
                <a:cs typeface="Times New Roman"/>
              </a:rPr>
              <a:t>hold</a:t>
            </a:r>
            <a:r>
              <a:rPr sz="3400" spc="105" dirty="0">
                <a:latin typeface="Times New Roman"/>
                <a:cs typeface="Times New Roman"/>
              </a:rPr>
              <a:t>  </a:t>
            </a:r>
            <a:r>
              <a:rPr sz="3400" spc="-25" dirty="0">
                <a:latin typeface="Times New Roman"/>
                <a:cs typeface="Times New Roman"/>
              </a:rPr>
              <a:t>12 </a:t>
            </a:r>
            <a:r>
              <a:rPr sz="3400" dirty="0">
                <a:latin typeface="Times New Roman"/>
                <a:cs typeface="Times New Roman"/>
              </a:rPr>
              <a:t>elements</a:t>
            </a:r>
            <a:r>
              <a:rPr sz="3400" spc="-3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(3</a:t>
            </a:r>
            <a:r>
              <a:rPr sz="3400" spc="-4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*</a:t>
            </a:r>
            <a:r>
              <a:rPr sz="3400" spc="-60" dirty="0">
                <a:latin typeface="Times New Roman"/>
                <a:cs typeface="Times New Roman"/>
              </a:rPr>
              <a:t> </a:t>
            </a:r>
            <a:r>
              <a:rPr sz="3400" spc="-25" dirty="0">
                <a:latin typeface="Times New Roman"/>
                <a:cs typeface="Times New Roman"/>
              </a:rPr>
              <a:t>4).</a:t>
            </a:r>
            <a:endParaRPr sz="3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845"/>
              </a:spcBef>
            </a:pPr>
            <a:endParaRPr sz="3400">
              <a:latin typeface="Times New Roman"/>
              <a:cs typeface="Times New Roman"/>
            </a:endParaRPr>
          </a:p>
          <a:p>
            <a:pPr marL="12700" marR="7620" algn="just">
              <a:lnSpc>
                <a:spcPct val="150000"/>
              </a:lnSpc>
            </a:pPr>
            <a:r>
              <a:rPr sz="3400" dirty="0">
                <a:latin typeface="Times New Roman"/>
                <a:cs typeface="Times New Roman"/>
              </a:rPr>
              <a:t>Similarly,</a:t>
            </a:r>
            <a:r>
              <a:rPr sz="3400" spc="40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in</a:t>
            </a:r>
            <a:r>
              <a:rPr sz="3400" spc="40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a</a:t>
            </a:r>
            <a:r>
              <a:rPr sz="3400" spc="385" dirty="0">
                <a:latin typeface="Times New Roman"/>
                <a:cs typeface="Times New Roman"/>
              </a:rPr>
              <a:t> </a:t>
            </a:r>
            <a:r>
              <a:rPr sz="3400" spc="-20" dirty="0">
                <a:latin typeface="Times New Roman"/>
                <a:cs typeface="Times New Roman"/>
              </a:rPr>
              <a:t>three-</a:t>
            </a:r>
            <a:r>
              <a:rPr sz="3400" dirty="0">
                <a:latin typeface="Times New Roman"/>
                <a:cs typeface="Times New Roman"/>
              </a:rPr>
              <a:t>dimensional</a:t>
            </a:r>
            <a:r>
              <a:rPr sz="3400" spc="41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array,</a:t>
            </a:r>
            <a:r>
              <a:rPr sz="3400" spc="39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there</a:t>
            </a:r>
            <a:r>
              <a:rPr sz="3400" spc="40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will</a:t>
            </a:r>
            <a:r>
              <a:rPr sz="3400" spc="40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be</a:t>
            </a:r>
            <a:r>
              <a:rPr sz="3400" spc="39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three</a:t>
            </a:r>
            <a:r>
              <a:rPr sz="3400" spc="395" dirty="0">
                <a:latin typeface="Times New Roman"/>
                <a:cs typeface="Times New Roman"/>
              </a:rPr>
              <a:t> </a:t>
            </a:r>
            <a:r>
              <a:rPr sz="3400" spc="-10" dirty="0">
                <a:latin typeface="Times New Roman"/>
                <a:cs typeface="Times New Roman"/>
              </a:rPr>
              <a:t>dimensions. </a:t>
            </a:r>
            <a:r>
              <a:rPr sz="3400" dirty="0">
                <a:latin typeface="Times New Roman"/>
                <a:cs typeface="Times New Roman"/>
              </a:rPr>
              <a:t>The</a:t>
            </a:r>
            <a:r>
              <a:rPr sz="3400" spc="-5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array</a:t>
            </a:r>
            <a:r>
              <a:rPr sz="3400" spc="-1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face</a:t>
            </a:r>
            <a:r>
              <a:rPr sz="3400" spc="-3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[5]</a:t>
            </a:r>
            <a:r>
              <a:rPr sz="3400" spc="-3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[10]</a:t>
            </a:r>
            <a:r>
              <a:rPr sz="3400" spc="-4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[15]</a:t>
            </a:r>
            <a:r>
              <a:rPr sz="3400" spc="-3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can</a:t>
            </a:r>
            <a:r>
              <a:rPr sz="3400" spc="-4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hold</a:t>
            </a:r>
            <a:r>
              <a:rPr sz="3400" spc="-4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750</a:t>
            </a:r>
            <a:r>
              <a:rPr sz="3400" spc="-6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elements</a:t>
            </a:r>
            <a:r>
              <a:rPr sz="3400" spc="-2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(5</a:t>
            </a:r>
            <a:r>
              <a:rPr sz="3400" spc="-4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*</a:t>
            </a:r>
            <a:r>
              <a:rPr sz="3400" spc="-5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10</a:t>
            </a:r>
            <a:r>
              <a:rPr sz="3400" spc="-4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*</a:t>
            </a:r>
            <a:r>
              <a:rPr sz="3400" spc="-50" dirty="0">
                <a:latin typeface="Times New Roman"/>
                <a:cs typeface="Times New Roman"/>
              </a:rPr>
              <a:t> </a:t>
            </a:r>
            <a:r>
              <a:rPr sz="3400" spc="-20" dirty="0">
                <a:latin typeface="Times New Roman"/>
                <a:cs typeface="Times New Roman"/>
              </a:rPr>
              <a:t>15).</a:t>
            </a:r>
            <a:endParaRPr sz="3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7885" y="119888"/>
            <a:ext cx="1189101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68195" algn="l"/>
              </a:tabLst>
            </a:pPr>
            <a:r>
              <a:rPr sz="5400" spc="-10" dirty="0"/>
              <a:t>1-</a:t>
            </a:r>
            <a:r>
              <a:rPr sz="5400" dirty="0"/>
              <a:t>D</a:t>
            </a:r>
            <a:r>
              <a:rPr sz="5400" spc="-5" dirty="0"/>
              <a:t> </a:t>
            </a:r>
            <a:r>
              <a:rPr sz="5400" spc="-50" dirty="0"/>
              <a:t>&amp;</a:t>
            </a:r>
            <a:r>
              <a:rPr sz="5400" dirty="0"/>
              <a:t>	</a:t>
            </a:r>
            <a:r>
              <a:rPr sz="5400" spc="-10" dirty="0"/>
              <a:t>2-</a:t>
            </a:r>
            <a:r>
              <a:rPr sz="5400" dirty="0"/>
              <a:t>D</a:t>
            </a:r>
            <a:r>
              <a:rPr sz="5400" spc="-110" dirty="0"/>
              <a:t> </a:t>
            </a:r>
            <a:r>
              <a:rPr sz="5400" dirty="0"/>
              <a:t>dimensional</a:t>
            </a:r>
            <a:r>
              <a:rPr sz="5400" spc="-95" dirty="0"/>
              <a:t> </a:t>
            </a:r>
            <a:r>
              <a:rPr sz="5400" dirty="0"/>
              <a:t>Arrays</a:t>
            </a:r>
            <a:r>
              <a:rPr sz="5400" spc="-114" dirty="0"/>
              <a:t> </a:t>
            </a:r>
            <a:r>
              <a:rPr sz="5400" spc="-10" dirty="0"/>
              <a:t>Syntax</a:t>
            </a:r>
            <a:endParaRPr sz="5400"/>
          </a:p>
        </p:txBody>
      </p:sp>
      <p:sp>
        <p:nvSpPr>
          <p:cNvPr id="3" name="object 3"/>
          <p:cNvSpPr txBox="1"/>
          <p:nvPr/>
        </p:nvSpPr>
        <p:spPr>
          <a:xfrm>
            <a:off x="295147" y="1285009"/>
            <a:ext cx="12021185" cy="7014845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499745" indent="-487045">
              <a:lnSpc>
                <a:spcPct val="100000"/>
              </a:lnSpc>
              <a:spcBef>
                <a:spcPts val="1060"/>
              </a:spcBef>
              <a:buFont typeface="Arial MT"/>
              <a:buChar char="•"/>
              <a:tabLst>
                <a:tab pos="499745" algn="l"/>
              </a:tabLst>
            </a:pPr>
            <a:r>
              <a:rPr sz="4000" b="1" dirty="0">
                <a:latin typeface="Times New Roman"/>
                <a:cs typeface="Times New Roman"/>
              </a:rPr>
              <a:t>One</a:t>
            </a:r>
            <a:r>
              <a:rPr sz="4000" b="1" spc="-125" dirty="0">
                <a:latin typeface="Times New Roman"/>
                <a:cs typeface="Times New Roman"/>
              </a:rPr>
              <a:t> </a:t>
            </a:r>
            <a:r>
              <a:rPr sz="4000" b="1" dirty="0">
                <a:latin typeface="Times New Roman"/>
                <a:cs typeface="Times New Roman"/>
              </a:rPr>
              <a:t>dimensional</a:t>
            </a:r>
            <a:r>
              <a:rPr sz="4000" b="1" spc="-105" dirty="0">
                <a:latin typeface="Times New Roman"/>
                <a:cs typeface="Times New Roman"/>
              </a:rPr>
              <a:t> </a:t>
            </a:r>
            <a:r>
              <a:rPr sz="4000" b="1" dirty="0">
                <a:latin typeface="Times New Roman"/>
                <a:cs typeface="Times New Roman"/>
              </a:rPr>
              <a:t>array</a:t>
            </a:r>
            <a:r>
              <a:rPr sz="4000" b="1" spc="-120" dirty="0">
                <a:latin typeface="Times New Roman"/>
                <a:cs typeface="Times New Roman"/>
              </a:rPr>
              <a:t> </a:t>
            </a:r>
            <a:r>
              <a:rPr sz="4000" b="1" spc="-10" dirty="0">
                <a:latin typeface="Times New Roman"/>
                <a:cs typeface="Times New Roman"/>
              </a:rPr>
              <a:t>declaration</a:t>
            </a:r>
            <a:endParaRPr sz="4000">
              <a:latin typeface="Times New Roman"/>
              <a:cs typeface="Times New Roman"/>
            </a:endParaRPr>
          </a:p>
          <a:p>
            <a:pPr marL="1312545">
              <a:lnSpc>
                <a:spcPct val="100000"/>
              </a:lnSpc>
              <a:spcBef>
                <a:spcPts val="960"/>
              </a:spcBef>
            </a:pPr>
            <a:r>
              <a:rPr sz="4000" dirty="0">
                <a:latin typeface="Times New Roman"/>
                <a:cs typeface="Times New Roman"/>
              </a:rPr>
              <a:t>type</a:t>
            </a:r>
            <a:r>
              <a:rPr sz="4000" spc="-75" dirty="0">
                <a:latin typeface="Times New Roman"/>
                <a:cs typeface="Times New Roman"/>
              </a:rPr>
              <a:t> </a:t>
            </a:r>
            <a:r>
              <a:rPr sz="4000" spc="-10" dirty="0">
                <a:latin typeface="Times New Roman"/>
                <a:cs typeface="Times New Roman"/>
              </a:rPr>
              <a:t>arrayname[size];</a:t>
            </a:r>
            <a:endParaRPr sz="4000">
              <a:latin typeface="Times New Roman"/>
              <a:cs typeface="Times New Roman"/>
            </a:endParaRPr>
          </a:p>
          <a:p>
            <a:pPr marL="1312545">
              <a:lnSpc>
                <a:spcPct val="100000"/>
              </a:lnSpc>
              <a:spcBef>
                <a:spcPts val="960"/>
              </a:spcBef>
            </a:pPr>
            <a:r>
              <a:rPr sz="4000" dirty="0">
                <a:latin typeface="Times New Roman"/>
                <a:cs typeface="Times New Roman"/>
              </a:rPr>
              <a:t>e.g.</a:t>
            </a:r>
            <a:r>
              <a:rPr sz="4000" spc="-4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int</a:t>
            </a:r>
            <a:r>
              <a:rPr sz="4000" spc="-50" dirty="0">
                <a:latin typeface="Times New Roman"/>
                <a:cs typeface="Times New Roman"/>
              </a:rPr>
              <a:t> </a:t>
            </a:r>
            <a:r>
              <a:rPr sz="4000" spc="-10" dirty="0">
                <a:latin typeface="Times New Roman"/>
                <a:cs typeface="Times New Roman"/>
              </a:rPr>
              <a:t>array[10]</a:t>
            </a:r>
            <a:endParaRPr sz="4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120"/>
              </a:spcBef>
            </a:pPr>
            <a:endParaRPr sz="4000">
              <a:latin typeface="Times New Roman"/>
              <a:cs typeface="Times New Roman"/>
            </a:endParaRPr>
          </a:p>
          <a:p>
            <a:pPr marL="499745" indent="-48704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499745" algn="l"/>
              </a:tabLst>
            </a:pPr>
            <a:r>
              <a:rPr sz="4000" b="1" spc="-10" dirty="0">
                <a:latin typeface="Times New Roman"/>
                <a:cs typeface="Times New Roman"/>
              </a:rPr>
              <a:t>Multidimensional</a:t>
            </a:r>
            <a:r>
              <a:rPr sz="4000" b="1" spc="-60" dirty="0">
                <a:latin typeface="Times New Roman"/>
                <a:cs typeface="Times New Roman"/>
              </a:rPr>
              <a:t> </a:t>
            </a:r>
            <a:r>
              <a:rPr sz="4000" b="1" dirty="0">
                <a:latin typeface="Times New Roman"/>
                <a:cs typeface="Times New Roman"/>
              </a:rPr>
              <a:t>array</a:t>
            </a:r>
            <a:r>
              <a:rPr sz="4000" b="1" spc="-95" dirty="0">
                <a:latin typeface="Times New Roman"/>
                <a:cs typeface="Times New Roman"/>
              </a:rPr>
              <a:t> </a:t>
            </a:r>
            <a:r>
              <a:rPr sz="4000" b="1" dirty="0">
                <a:latin typeface="Times New Roman"/>
                <a:cs typeface="Times New Roman"/>
              </a:rPr>
              <a:t>is</a:t>
            </a:r>
            <a:r>
              <a:rPr sz="4000" b="1" spc="-100" dirty="0">
                <a:latin typeface="Times New Roman"/>
                <a:cs typeface="Times New Roman"/>
              </a:rPr>
              <a:t> </a:t>
            </a:r>
            <a:r>
              <a:rPr sz="4000" b="1" dirty="0">
                <a:latin typeface="Times New Roman"/>
                <a:cs typeface="Times New Roman"/>
              </a:rPr>
              <a:t>the</a:t>
            </a:r>
            <a:r>
              <a:rPr sz="4000" b="1" spc="-100" dirty="0">
                <a:latin typeface="Times New Roman"/>
                <a:cs typeface="Times New Roman"/>
              </a:rPr>
              <a:t> </a:t>
            </a:r>
            <a:r>
              <a:rPr sz="4000" b="1" spc="-20" dirty="0">
                <a:latin typeface="Times New Roman"/>
                <a:cs typeface="Times New Roman"/>
              </a:rPr>
              <a:t>two-</a:t>
            </a:r>
            <a:r>
              <a:rPr sz="4000" b="1" dirty="0">
                <a:latin typeface="Times New Roman"/>
                <a:cs typeface="Times New Roman"/>
              </a:rPr>
              <a:t>dimensional</a:t>
            </a:r>
            <a:r>
              <a:rPr sz="4000" b="1" spc="-70" dirty="0">
                <a:latin typeface="Times New Roman"/>
                <a:cs typeface="Times New Roman"/>
              </a:rPr>
              <a:t> </a:t>
            </a:r>
            <a:r>
              <a:rPr sz="4000" b="1" spc="-10" dirty="0">
                <a:latin typeface="Times New Roman"/>
                <a:cs typeface="Times New Roman"/>
              </a:rPr>
              <a:t>array</a:t>
            </a:r>
            <a:endParaRPr sz="4000">
              <a:latin typeface="Times New Roman"/>
              <a:cs typeface="Times New Roman"/>
            </a:endParaRPr>
          </a:p>
          <a:p>
            <a:pPr marL="1312545">
              <a:lnSpc>
                <a:spcPct val="100000"/>
              </a:lnSpc>
              <a:spcBef>
                <a:spcPts val="960"/>
              </a:spcBef>
            </a:pPr>
            <a:r>
              <a:rPr sz="4000" dirty="0">
                <a:latin typeface="Times New Roman"/>
                <a:cs typeface="Times New Roman"/>
              </a:rPr>
              <a:t>type</a:t>
            </a:r>
            <a:r>
              <a:rPr sz="4000" spc="-9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arrayName</a:t>
            </a:r>
            <a:r>
              <a:rPr sz="4000" spc="-7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[</a:t>
            </a:r>
            <a:r>
              <a:rPr sz="4000" spc="-6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size_row</a:t>
            </a:r>
            <a:r>
              <a:rPr sz="4000" spc="-9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][</a:t>
            </a:r>
            <a:r>
              <a:rPr sz="4000" spc="-8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size_col</a:t>
            </a:r>
            <a:r>
              <a:rPr sz="4000" spc="-90" dirty="0">
                <a:latin typeface="Times New Roman"/>
                <a:cs typeface="Times New Roman"/>
              </a:rPr>
              <a:t> </a:t>
            </a:r>
            <a:r>
              <a:rPr sz="4000" spc="-25" dirty="0">
                <a:latin typeface="Times New Roman"/>
                <a:cs typeface="Times New Roman"/>
              </a:rPr>
              <a:t>];</a:t>
            </a:r>
            <a:endParaRPr sz="4000">
              <a:latin typeface="Times New Roman"/>
              <a:cs typeface="Times New Roman"/>
            </a:endParaRPr>
          </a:p>
          <a:p>
            <a:pPr marL="1312545">
              <a:lnSpc>
                <a:spcPct val="100000"/>
              </a:lnSpc>
              <a:spcBef>
                <a:spcPts val="880"/>
              </a:spcBef>
            </a:pPr>
            <a:r>
              <a:rPr sz="3600" dirty="0">
                <a:latin typeface="Times New Roman"/>
                <a:cs typeface="Times New Roman"/>
              </a:rPr>
              <a:t>e.g.</a:t>
            </a:r>
            <a:r>
              <a:rPr sz="3600" spc="-6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int</a:t>
            </a:r>
            <a:r>
              <a:rPr sz="3600" spc="-5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array[3]</a:t>
            </a:r>
            <a:r>
              <a:rPr sz="3600" spc="-50" dirty="0">
                <a:latin typeface="Times New Roman"/>
                <a:cs typeface="Times New Roman"/>
              </a:rPr>
              <a:t> </a:t>
            </a:r>
            <a:r>
              <a:rPr sz="3600" spc="-20" dirty="0">
                <a:latin typeface="Times New Roman"/>
                <a:cs typeface="Times New Roman"/>
              </a:rPr>
              <a:t>[3];</a:t>
            </a: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20"/>
              </a:spcBef>
            </a:pPr>
            <a:endParaRPr sz="3600">
              <a:latin typeface="Times New Roman"/>
              <a:cs typeface="Times New Roman"/>
            </a:endParaRPr>
          </a:p>
          <a:p>
            <a:pPr marL="499745" indent="-48704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499745" algn="l"/>
              </a:tabLst>
            </a:pPr>
            <a:r>
              <a:rPr sz="3600" b="1" dirty="0">
                <a:latin typeface="Times New Roman"/>
                <a:cs typeface="Times New Roman"/>
              </a:rPr>
              <a:t>Multidimensional</a:t>
            </a:r>
            <a:r>
              <a:rPr sz="3600" b="1" spc="-20" dirty="0">
                <a:latin typeface="Times New Roman"/>
                <a:cs typeface="Times New Roman"/>
              </a:rPr>
              <a:t> </a:t>
            </a:r>
            <a:r>
              <a:rPr sz="3600" b="1" dirty="0">
                <a:latin typeface="Times New Roman"/>
                <a:cs typeface="Times New Roman"/>
              </a:rPr>
              <a:t>array</a:t>
            </a:r>
            <a:r>
              <a:rPr sz="3600" b="1" spc="-25" dirty="0">
                <a:latin typeface="Times New Roman"/>
                <a:cs typeface="Times New Roman"/>
              </a:rPr>
              <a:t> </a:t>
            </a:r>
            <a:r>
              <a:rPr sz="3600" b="1" dirty="0">
                <a:latin typeface="Times New Roman"/>
                <a:cs typeface="Times New Roman"/>
              </a:rPr>
              <a:t>is</a:t>
            </a:r>
            <a:r>
              <a:rPr sz="3600" b="1" spc="-25" dirty="0">
                <a:latin typeface="Times New Roman"/>
                <a:cs typeface="Times New Roman"/>
              </a:rPr>
              <a:t> </a:t>
            </a:r>
            <a:r>
              <a:rPr sz="3600" b="1" dirty="0">
                <a:latin typeface="Times New Roman"/>
                <a:cs typeface="Times New Roman"/>
              </a:rPr>
              <a:t>the</a:t>
            </a:r>
            <a:r>
              <a:rPr sz="3600" b="1" spc="-30" dirty="0">
                <a:latin typeface="Times New Roman"/>
                <a:cs typeface="Times New Roman"/>
              </a:rPr>
              <a:t> </a:t>
            </a:r>
            <a:r>
              <a:rPr sz="3600" b="1" spc="-35" dirty="0">
                <a:latin typeface="Times New Roman"/>
                <a:cs typeface="Times New Roman"/>
              </a:rPr>
              <a:t>three-</a:t>
            </a:r>
            <a:r>
              <a:rPr sz="3600" b="1" dirty="0">
                <a:latin typeface="Times New Roman"/>
                <a:cs typeface="Times New Roman"/>
              </a:rPr>
              <a:t>dimensional</a:t>
            </a:r>
            <a:r>
              <a:rPr sz="3600" b="1" spc="-10" dirty="0">
                <a:latin typeface="Times New Roman"/>
                <a:cs typeface="Times New Roman"/>
              </a:rPr>
              <a:t> array</a:t>
            </a:r>
            <a:endParaRPr sz="3600">
              <a:latin typeface="Times New Roman"/>
              <a:cs typeface="Times New Roman"/>
            </a:endParaRPr>
          </a:p>
          <a:p>
            <a:pPr marL="1312545">
              <a:lnSpc>
                <a:spcPct val="100000"/>
              </a:lnSpc>
              <a:spcBef>
                <a:spcPts val="860"/>
              </a:spcBef>
            </a:pPr>
            <a:r>
              <a:rPr sz="3600" dirty="0">
                <a:latin typeface="Times New Roman"/>
                <a:cs typeface="Times New Roman"/>
              </a:rPr>
              <a:t>type</a:t>
            </a:r>
            <a:r>
              <a:rPr sz="3600" spc="-5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arrayName</a:t>
            </a:r>
            <a:r>
              <a:rPr sz="3600" spc="-5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[</a:t>
            </a:r>
            <a:r>
              <a:rPr sz="3600" spc="-5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size</a:t>
            </a:r>
            <a:r>
              <a:rPr sz="3600" spc="-5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][</a:t>
            </a:r>
            <a:r>
              <a:rPr sz="3600" spc="-5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size</a:t>
            </a:r>
            <a:r>
              <a:rPr sz="3600" spc="-5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][</a:t>
            </a:r>
            <a:r>
              <a:rPr sz="3600" spc="-5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size</a:t>
            </a:r>
            <a:r>
              <a:rPr sz="3600" spc="-55" dirty="0">
                <a:latin typeface="Times New Roman"/>
                <a:cs typeface="Times New Roman"/>
              </a:rPr>
              <a:t> </a:t>
            </a:r>
            <a:r>
              <a:rPr sz="3600" spc="-25" dirty="0">
                <a:latin typeface="Times New Roman"/>
                <a:cs typeface="Times New Roman"/>
              </a:rPr>
              <a:t>];;</a:t>
            </a:r>
            <a:endParaRPr sz="36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7958" y="-20319"/>
            <a:ext cx="11031220" cy="9251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060180" algn="l"/>
              </a:tabLst>
            </a:pPr>
            <a:r>
              <a:rPr sz="5900" dirty="0"/>
              <a:t>Storage</a:t>
            </a:r>
            <a:r>
              <a:rPr sz="5900" spc="-15" dirty="0"/>
              <a:t> </a:t>
            </a:r>
            <a:r>
              <a:rPr sz="5900" dirty="0"/>
              <a:t>Representation</a:t>
            </a:r>
            <a:r>
              <a:rPr sz="5900" spc="-45" dirty="0"/>
              <a:t> </a:t>
            </a:r>
            <a:r>
              <a:rPr sz="5900" spc="-25" dirty="0"/>
              <a:t>of</a:t>
            </a:r>
            <a:r>
              <a:rPr sz="5900" dirty="0"/>
              <a:t>	</a:t>
            </a:r>
            <a:r>
              <a:rPr sz="5900" spc="-10" dirty="0"/>
              <a:t>Array</a:t>
            </a:r>
            <a:endParaRPr sz="5900"/>
          </a:p>
        </p:txBody>
      </p:sp>
      <p:sp>
        <p:nvSpPr>
          <p:cNvPr id="3" name="object 3"/>
          <p:cNvSpPr txBox="1"/>
          <p:nvPr/>
        </p:nvSpPr>
        <p:spPr>
          <a:xfrm>
            <a:off x="117449" y="849021"/>
            <a:ext cx="12769850" cy="8006715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sz="3400" b="1" spc="-10" dirty="0">
                <a:latin typeface="Times New Roman"/>
                <a:cs typeface="Times New Roman"/>
              </a:rPr>
              <a:t>Declaration/Initialization</a:t>
            </a:r>
            <a:r>
              <a:rPr sz="3400" b="1" spc="10" dirty="0">
                <a:latin typeface="Times New Roman"/>
                <a:cs typeface="Times New Roman"/>
              </a:rPr>
              <a:t> </a:t>
            </a:r>
            <a:r>
              <a:rPr sz="3400" b="1" dirty="0">
                <a:latin typeface="Times New Roman"/>
                <a:cs typeface="Times New Roman"/>
              </a:rPr>
              <a:t>of</a:t>
            </a:r>
            <a:r>
              <a:rPr sz="3400" b="1" spc="-210" dirty="0">
                <a:latin typeface="Times New Roman"/>
                <a:cs typeface="Times New Roman"/>
              </a:rPr>
              <a:t> </a:t>
            </a:r>
            <a:r>
              <a:rPr sz="3400" b="1" spc="-10" dirty="0">
                <a:latin typeface="Times New Roman"/>
                <a:cs typeface="Times New Roman"/>
              </a:rPr>
              <a:t>Arrays</a:t>
            </a:r>
            <a:endParaRPr sz="3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sz="3400" b="1" dirty="0">
                <a:latin typeface="Times New Roman"/>
                <a:cs typeface="Times New Roman"/>
              </a:rPr>
              <a:t>//</a:t>
            </a:r>
            <a:r>
              <a:rPr sz="3400" b="1" spc="-215" dirty="0">
                <a:latin typeface="Times New Roman"/>
                <a:cs typeface="Times New Roman"/>
              </a:rPr>
              <a:t> </a:t>
            </a:r>
            <a:r>
              <a:rPr sz="3400" b="1" dirty="0">
                <a:latin typeface="Times New Roman"/>
                <a:cs typeface="Times New Roman"/>
              </a:rPr>
              <a:t>A</a:t>
            </a:r>
            <a:r>
              <a:rPr sz="3400" b="1" spc="-210" dirty="0">
                <a:latin typeface="Times New Roman"/>
                <a:cs typeface="Times New Roman"/>
              </a:rPr>
              <a:t> </a:t>
            </a:r>
            <a:r>
              <a:rPr sz="3400" b="1" dirty="0">
                <a:latin typeface="Times New Roman"/>
                <a:cs typeface="Times New Roman"/>
              </a:rPr>
              <a:t>sample</a:t>
            </a:r>
            <a:r>
              <a:rPr sz="3400" b="1" spc="-155" dirty="0">
                <a:latin typeface="Times New Roman"/>
                <a:cs typeface="Times New Roman"/>
              </a:rPr>
              <a:t> </a:t>
            </a:r>
            <a:r>
              <a:rPr sz="3400" b="1" dirty="0">
                <a:latin typeface="Times New Roman"/>
                <a:cs typeface="Times New Roman"/>
              </a:rPr>
              <a:t>program</a:t>
            </a:r>
            <a:r>
              <a:rPr sz="3400" b="1" spc="-65" dirty="0">
                <a:latin typeface="Times New Roman"/>
                <a:cs typeface="Times New Roman"/>
              </a:rPr>
              <a:t> </a:t>
            </a:r>
            <a:r>
              <a:rPr sz="3400" b="1" spc="-20" dirty="0">
                <a:latin typeface="Times New Roman"/>
                <a:cs typeface="Times New Roman"/>
              </a:rPr>
              <a:t>for</a:t>
            </a:r>
            <a:r>
              <a:rPr sz="3400" b="1" spc="-235" dirty="0">
                <a:latin typeface="Times New Roman"/>
                <a:cs typeface="Times New Roman"/>
              </a:rPr>
              <a:t> </a:t>
            </a:r>
            <a:r>
              <a:rPr sz="3400" b="1" dirty="0">
                <a:latin typeface="Times New Roman"/>
                <a:cs typeface="Times New Roman"/>
              </a:rPr>
              <a:t>Array</a:t>
            </a:r>
            <a:r>
              <a:rPr sz="3400" b="1" spc="-70" dirty="0">
                <a:latin typeface="Times New Roman"/>
                <a:cs typeface="Times New Roman"/>
              </a:rPr>
              <a:t> </a:t>
            </a:r>
            <a:r>
              <a:rPr sz="3400" b="1" spc="-10" dirty="0">
                <a:latin typeface="Times New Roman"/>
                <a:cs typeface="Times New Roman"/>
              </a:rPr>
              <a:t>Declaration</a:t>
            </a:r>
            <a:endParaRPr sz="3400">
              <a:latin typeface="Times New Roman"/>
              <a:cs typeface="Times New Roman"/>
            </a:endParaRPr>
          </a:p>
          <a:p>
            <a:pPr marL="12700" marR="9498330">
              <a:lnSpc>
                <a:spcPct val="120000"/>
              </a:lnSpc>
              <a:spcBef>
                <a:spcPts val="5"/>
              </a:spcBef>
            </a:pPr>
            <a:r>
              <a:rPr sz="3400" dirty="0">
                <a:latin typeface="Times New Roman"/>
                <a:cs typeface="Times New Roman"/>
              </a:rPr>
              <a:t>#include</a:t>
            </a:r>
            <a:r>
              <a:rPr sz="3400" spc="-95" dirty="0">
                <a:latin typeface="Times New Roman"/>
                <a:cs typeface="Times New Roman"/>
              </a:rPr>
              <a:t> </a:t>
            </a:r>
            <a:r>
              <a:rPr sz="3400" spc="-10" dirty="0">
                <a:latin typeface="Times New Roman"/>
                <a:cs typeface="Times New Roman"/>
              </a:rPr>
              <a:t>&lt;stdio.h&gt; </a:t>
            </a:r>
            <a:r>
              <a:rPr sz="3400" dirty="0">
                <a:latin typeface="Times New Roman"/>
                <a:cs typeface="Times New Roman"/>
              </a:rPr>
              <a:t>int</a:t>
            </a:r>
            <a:r>
              <a:rPr sz="3400" spc="-25" dirty="0">
                <a:latin typeface="Times New Roman"/>
                <a:cs typeface="Times New Roman"/>
              </a:rPr>
              <a:t> </a:t>
            </a:r>
            <a:r>
              <a:rPr sz="3400" spc="-10" dirty="0">
                <a:latin typeface="Times New Roman"/>
                <a:cs typeface="Times New Roman"/>
              </a:rPr>
              <a:t>main()</a:t>
            </a:r>
            <a:endParaRPr sz="3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sz="3400" spc="-50" dirty="0">
                <a:latin typeface="Times New Roman"/>
                <a:cs typeface="Times New Roman"/>
              </a:rPr>
              <a:t>{</a:t>
            </a:r>
            <a:endParaRPr sz="3400">
              <a:latin typeface="Times New Roman"/>
              <a:cs typeface="Times New Roman"/>
            </a:endParaRPr>
          </a:p>
          <a:p>
            <a:pPr marL="12700" marR="4620895" algn="just">
              <a:lnSpc>
                <a:spcPct val="120000"/>
              </a:lnSpc>
            </a:pPr>
            <a:r>
              <a:rPr sz="3400" dirty="0">
                <a:latin typeface="Times New Roman"/>
                <a:cs typeface="Times New Roman"/>
              </a:rPr>
              <a:t>int</a:t>
            </a:r>
            <a:r>
              <a:rPr sz="3400" spc="-3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one_dim</a:t>
            </a:r>
            <a:r>
              <a:rPr sz="3400" spc="-4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[10];</a:t>
            </a:r>
            <a:r>
              <a:rPr sz="3400" spc="780" dirty="0">
                <a:latin typeface="Times New Roman"/>
                <a:cs typeface="Times New Roman"/>
              </a:rPr>
              <a:t>  </a:t>
            </a:r>
            <a:r>
              <a:rPr sz="3400" b="1" dirty="0">
                <a:latin typeface="Times New Roman"/>
                <a:cs typeface="Times New Roman"/>
              </a:rPr>
              <a:t>#</a:t>
            </a:r>
            <a:r>
              <a:rPr sz="3400" b="1" spc="-45" dirty="0">
                <a:latin typeface="Times New Roman"/>
                <a:cs typeface="Times New Roman"/>
              </a:rPr>
              <a:t> </a:t>
            </a:r>
            <a:r>
              <a:rPr sz="3400" b="1" dirty="0">
                <a:latin typeface="Times New Roman"/>
                <a:cs typeface="Times New Roman"/>
              </a:rPr>
              <a:t>declaration</a:t>
            </a:r>
            <a:r>
              <a:rPr sz="3400" b="1" spc="-15" dirty="0">
                <a:latin typeface="Times New Roman"/>
                <a:cs typeface="Times New Roman"/>
              </a:rPr>
              <a:t> </a:t>
            </a:r>
            <a:r>
              <a:rPr sz="3400" b="1" dirty="0">
                <a:latin typeface="Times New Roman"/>
                <a:cs typeface="Times New Roman"/>
              </a:rPr>
              <a:t>of</a:t>
            </a:r>
            <a:r>
              <a:rPr sz="3400" b="1" spc="-45" dirty="0">
                <a:latin typeface="Times New Roman"/>
                <a:cs typeface="Times New Roman"/>
              </a:rPr>
              <a:t> </a:t>
            </a:r>
            <a:r>
              <a:rPr sz="3400" b="1" dirty="0">
                <a:latin typeface="Times New Roman"/>
                <a:cs typeface="Times New Roman"/>
              </a:rPr>
              <a:t>1D</a:t>
            </a:r>
            <a:r>
              <a:rPr sz="3400" b="1" spc="-45" dirty="0">
                <a:latin typeface="Times New Roman"/>
                <a:cs typeface="Times New Roman"/>
              </a:rPr>
              <a:t> </a:t>
            </a:r>
            <a:r>
              <a:rPr sz="3400" b="1" spc="-10" dirty="0">
                <a:latin typeface="Times New Roman"/>
                <a:cs typeface="Times New Roman"/>
              </a:rPr>
              <a:t>array </a:t>
            </a:r>
            <a:r>
              <a:rPr sz="3400" dirty="0">
                <a:latin typeface="Times New Roman"/>
                <a:cs typeface="Times New Roman"/>
              </a:rPr>
              <a:t>int</a:t>
            </a:r>
            <a:r>
              <a:rPr sz="3400" spc="-5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two_dim</a:t>
            </a:r>
            <a:r>
              <a:rPr sz="3400" spc="-5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[2][2</a:t>
            </a:r>
            <a:r>
              <a:rPr sz="3400" b="1" dirty="0">
                <a:latin typeface="Times New Roman"/>
                <a:cs typeface="Times New Roman"/>
              </a:rPr>
              <a:t>];</a:t>
            </a:r>
            <a:r>
              <a:rPr sz="3400" b="1" spc="755" dirty="0">
                <a:latin typeface="Times New Roman"/>
                <a:cs typeface="Times New Roman"/>
              </a:rPr>
              <a:t> </a:t>
            </a:r>
            <a:r>
              <a:rPr sz="3400" b="1" dirty="0">
                <a:latin typeface="Times New Roman"/>
                <a:cs typeface="Times New Roman"/>
              </a:rPr>
              <a:t>#declaration</a:t>
            </a:r>
            <a:r>
              <a:rPr sz="3400" b="1" spc="-45" dirty="0">
                <a:latin typeface="Times New Roman"/>
                <a:cs typeface="Times New Roman"/>
              </a:rPr>
              <a:t> </a:t>
            </a:r>
            <a:r>
              <a:rPr sz="3400" b="1" dirty="0">
                <a:latin typeface="Times New Roman"/>
                <a:cs typeface="Times New Roman"/>
              </a:rPr>
              <a:t>of</a:t>
            </a:r>
            <a:r>
              <a:rPr sz="3400" b="1" spc="-55" dirty="0">
                <a:latin typeface="Times New Roman"/>
                <a:cs typeface="Times New Roman"/>
              </a:rPr>
              <a:t> </a:t>
            </a:r>
            <a:r>
              <a:rPr sz="3400" b="1" dirty="0">
                <a:latin typeface="Times New Roman"/>
                <a:cs typeface="Times New Roman"/>
              </a:rPr>
              <a:t>2D</a:t>
            </a:r>
            <a:r>
              <a:rPr sz="3400" b="1" spc="-75" dirty="0">
                <a:latin typeface="Times New Roman"/>
                <a:cs typeface="Times New Roman"/>
              </a:rPr>
              <a:t> </a:t>
            </a:r>
            <a:r>
              <a:rPr sz="3400" b="1" spc="-10" dirty="0">
                <a:latin typeface="Times New Roman"/>
                <a:cs typeface="Times New Roman"/>
              </a:rPr>
              <a:t>array </a:t>
            </a:r>
            <a:r>
              <a:rPr sz="3400" dirty="0">
                <a:latin typeface="Times New Roman"/>
                <a:cs typeface="Times New Roman"/>
              </a:rPr>
              <a:t>int</a:t>
            </a:r>
            <a:r>
              <a:rPr sz="3400" spc="-6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three_dim</a:t>
            </a:r>
            <a:r>
              <a:rPr sz="3400" spc="-4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[2][3][4]</a:t>
            </a:r>
            <a:r>
              <a:rPr sz="3400" spc="-4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=</a:t>
            </a:r>
            <a:r>
              <a:rPr sz="3400" spc="-65" dirty="0">
                <a:latin typeface="Times New Roman"/>
                <a:cs typeface="Times New Roman"/>
              </a:rPr>
              <a:t> </a:t>
            </a:r>
            <a:r>
              <a:rPr sz="3400" spc="-50" dirty="0">
                <a:latin typeface="Times New Roman"/>
                <a:cs typeface="Times New Roman"/>
              </a:rPr>
              <a:t>{</a:t>
            </a:r>
            <a:endParaRPr sz="3400">
              <a:latin typeface="Times New Roman"/>
              <a:cs typeface="Times New Roman"/>
            </a:endParaRPr>
          </a:p>
          <a:p>
            <a:pPr marL="2280285" algn="just">
              <a:lnSpc>
                <a:spcPct val="100000"/>
              </a:lnSpc>
              <a:spcBef>
                <a:spcPts val="815"/>
              </a:spcBef>
            </a:pPr>
            <a:r>
              <a:rPr sz="3400" dirty="0">
                <a:latin typeface="Times New Roman"/>
                <a:cs typeface="Times New Roman"/>
              </a:rPr>
              <a:t>{</a:t>
            </a:r>
            <a:r>
              <a:rPr sz="3400" spc="-3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{3,</a:t>
            </a:r>
            <a:r>
              <a:rPr sz="3400" spc="-3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4,</a:t>
            </a:r>
            <a:r>
              <a:rPr sz="3400" spc="-5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2,</a:t>
            </a:r>
            <a:r>
              <a:rPr sz="3400" spc="-5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3},</a:t>
            </a:r>
            <a:r>
              <a:rPr sz="3400" spc="-3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{0,</a:t>
            </a:r>
            <a:r>
              <a:rPr sz="3400" spc="-35" dirty="0">
                <a:latin typeface="Times New Roman"/>
                <a:cs typeface="Times New Roman"/>
              </a:rPr>
              <a:t> </a:t>
            </a:r>
            <a:r>
              <a:rPr sz="3400" spc="-25" dirty="0">
                <a:latin typeface="Times New Roman"/>
                <a:cs typeface="Times New Roman"/>
              </a:rPr>
              <a:t>-</a:t>
            </a:r>
            <a:r>
              <a:rPr sz="3400" dirty="0">
                <a:latin typeface="Times New Roman"/>
                <a:cs typeface="Times New Roman"/>
              </a:rPr>
              <a:t>3,</a:t>
            </a:r>
            <a:r>
              <a:rPr sz="3400" spc="-3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9,</a:t>
            </a:r>
            <a:r>
              <a:rPr sz="3400" spc="-5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11},</a:t>
            </a:r>
            <a:r>
              <a:rPr sz="3400" spc="-4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{23,</a:t>
            </a:r>
            <a:r>
              <a:rPr sz="3400" spc="-3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12,</a:t>
            </a:r>
            <a:r>
              <a:rPr sz="3400" spc="-5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23,</a:t>
            </a:r>
            <a:r>
              <a:rPr sz="3400" spc="-5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2}</a:t>
            </a:r>
            <a:r>
              <a:rPr sz="3400" spc="-40" dirty="0">
                <a:latin typeface="Times New Roman"/>
                <a:cs typeface="Times New Roman"/>
              </a:rPr>
              <a:t> </a:t>
            </a:r>
            <a:r>
              <a:rPr sz="3400" spc="-25" dirty="0">
                <a:latin typeface="Times New Roman"/>
                <a:cs typeface="Times New Roman"/>
              </a:rPr>
              <a:t>},</a:t>
            </a:r>
            <a:endParaRPr sz="3400">
              <a:latin typeface="Times New Roman"/>
              <a:cs typeface="Times New Roman"/>
            </a:endParaRPr>
          </a:p>
          <a:p>
            <a:pPr marL="2280285" algn="just">
              <a:lnSpc>
                <a:spcPct val="100000"/>
              </a:lnSpc>
              <a:spcBef>
                <a:spcPts val="820"/>
              </a:spcBef>
            </a:pPr>
            <a:r>
              <a:rPr sz="3400" dirty="0">
                <a:latin typeface="Times New Roman"/>
                <a:cs typeface="Times New Roman"/>
              </a:rPr>
              <a:t>{</a:t>
            </a:r>
            <a:r>
              <a:rPr sz="3400" spc="-2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{13,</a:t>
            </a:r>
            <a:r>
              <a:rPr sz="3400" spc="-4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4,</a:t>
            </a:r>
            <a:r>
              <a:rPr sz="3400" spc="-2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56,</a:t>
            </a:r>
            <a:r>
              <a:rPr sz="3400" spc="-3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3},</a:t>
            </a:r>
            <a:r>
              <a:rPr sz="3400" spc="-4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{5,</a:t>
            </a:r>
            <a:r>
              <a:rPr sz="3400" spc="-2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9,</a:t>
            </a:r>
            <a:r>
              <a:rPr sz="3400" spc="-2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3,</a:t>
            </a:r>
            <a:r>
              <a:rPr sz="3400" spc="-4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5},</a:t>
            </a:r>
            <a:r>
              <a:rPr sz="3400" spc="-2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{3,</a:t>
            </a:r>
            <a:r>
              <a:rPr sz="3400" spc="-4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1,</a:t>
            </a:r>
            <a:r>
              <a:rPr sz="3400" spc="-2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4,</a:t>
            </a:r>
            <a:r>
              <a:rPr sz="3400" spc="-4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9}</a:t>
            </a:r>
            <a:r>
              <a:rPr sz="3400" spc="-30" dirty="0">
                <a:latin typeface="Times New Roman"/>
                <a:cs typeface="Times New Roman"/>
              </a:rPr>
              <a:t> </a:t>
            </a:r>
            <a:r>
              <a:rPr sz="3400" spc="-50" dirty="0">
                <a:latin typeface="Times New Roman"/>
                <a:cs typeface="Times New Roman"/>
              </a:rPr>
              <a:t>}</a:t>
            </a:r>
            <a:endParaRPr sz="3400">
              <a:latin typeface="Times New Roman"/>
              <a:cs typeface="Times New Roman"/>
            </a:endParaRPr>
          </a:p>
          <a:p>
            <a:pPr marL="12700" marR="5080" indent="1836420" algn="just">
              <a:lnSpc>
                <a:spcPct val="100000"/>
              </a:lnSpc>
              <a:spcBef>
                <a:spcPts val="815"/>
              </a:spcBef>
            </a:pPr>
            <a:r>
              <a:rPr sz="3400" dirty="0">
                <a:latin typeface="Times New Roman"/>
                <a:cs typeface="Times New Roman"/>
              </a:rPr>
              <a:t>};</a:t>
            </a:r>
            <a:r>
              <a:rPr sz="3400" spc="45" dirty="0">
                <a:latin typeface="Times New Roman"/>
                <a:cs typeface="Times New Roman"/>
              </a:rPr>
              <a:t>  </a:t>
            </a:r>
            <a:r>
              <a:rPr sz="3400" b="1" dirty="0">
                <a:latin typeface="Times New Roman"/>
                <a:cs typeface="Times New Roman"/>
              </a:rPr>
              <a:t>#declaration</a:t>
            </a:r>
            <a:r>
              <a:rPr sz="3400" b="1" spc="40" dirty="0">
                <a:latin typeface="Times New Roman"/>
                <a:cs typeface="Times New Roman"/>
              </a:rPr>
              <a:t>  </a:t>
            </a:r>
            <a:r>
              <a:rPr sz="3400" b="1" dirty="0">
                <a:latin typeface="Times New Roman"/>
                <a:cs typeface="Times New Roman"/>
              </a:rPr>
              <a:t>of</a:t>
            </a:r>
            <a:r>
              <a:rPr sz="3400" b="1" spc="45" dirty="0">
                <a:latin typeface="Times New Roman"/>
                <a:cs typeface="Times New Roman"/>
              </a:rPr>
              <a:t>  </a:t>
            </a:r>
            <a:r>
              <a:rPr sz="3400" b="1" dirty="0">
                <a:latin typeface="Times New Roman"/>
                <a:cs typeface="Times New Roman"/>
              </a:rPr>
              <a:t>3D</a:t>
            </a:r>
            <a:r>
              <a:rPr sz="3400" b="1" spc="45" dirty="0">
                <a:latin typeface="Times New Roman"/>
                <a:cs typeface="Times New Roman"/>
              </a:rPr>
              <a:t>  </a:t>
            </a:r>
            <a:r>
              <a:rPr sz="3400" b="1" dirty="0">
                <a:latin typeface="Times New Roman"/>
                <a:cs typeface="Times New Roman"/>
              </a:rPr>
              <a:t>array</a:t>
            </a:r>
            <a:r>
              <a:rPr sz="3400" dirty="0">
                <a:latin typeface="Times New Roman"/>
                <a:cs typeface="Times New Roman"/>
              </a:rPr>
              <a:t>.</a:t>
            </a:r>
            <a:r>
              <a:rPr sz="3400" spc="45" dirty="0">
                <a:latin typeface="Times New Roman"/>
                <a:cs typeface="Times New Roman"/>
              </a:rPr>
              <a:t>  </a:t>
            </a:r>
            <a:r>
              <a:rPr sz="3400" dirty="0">
                <a:latin typeface="Times New Roman"/>
                <a:cs typeface="Times New Roman"/>
              </a:rPr>
              <a:t>Here</a:t>
            </a:r>
            <a:r>
              <a:rPr sz="3400" spc="45" dirty="0">
                <a:latin typeface="Times New Roman"/>
                <a:cs typeface="Times New Roman"/>
              </a:rPr>
              <a:t>  </a:t>
            </a:r>
            <a:r>
              <a:rPr sz="3400" dirty="0">
                <a:latin typeface="Times New Roman"/>
                <a:cs typeface="Times New Roman"/>
              </a:rPr>
              <a:t>the</a:t>
            </a:r>
            <a:r>
              <a:rPr sz="3400" spc="55" dirty="0">
                <a:latin typeface="Times New Roman"/>
                <a:cs typeface="Times New Roman"/>
              </a:rPr>
              <a:t>  </a:t>
            </a:r>
            <a:r>
              <a:rPr sz="3400" dirty="0">
                <a:latin typeface="Times New Roman"/>
                <a:cs typeface="Times New Roman"/>
              </a:rPr>
              <a:t>elements</a:t>
            </a:r>
            <a:r>
              <a:rPr sz="3400" spc="50" dirty="0">
                <a:latin typeface="Times New Roman"/>
                <a:cs typeface="Times New Roman"/>
              </a:rPr>
              <a:t>  </a:t>
            </a:r>
            <a:r>
              <a:rPr sz="3400" dirty="0">
                <a:latin typeface="Times New Roman"/>
                <a:cs typeface="Times New Roman"/>
              </a:rPr>
              <a:t>are</a:t>
            </a:r>
            <a:r>
              <a:rPr sz="3400" spc="45" dirty="0">
                <a:latin typeface="Times New Roman"/>
                <a:cs typeface="Times New Roman"/>
              </a:rPr>
              <a:t>  </a:t>
            </a:r>
            <a:r>
              <a:rPr sz="3400" spc="-20" dirty="0">
                <a:latin typeface="Times New Roman"/>
                <a:cs typeface="Times New Roman"/>
              </a:rPr>
              <a:t>also </a:t>
            </a:r>
            <a:r>
              <a:rPr sz="3400" dirty="0">
                <a:latin typeface="Times New Roman"/>
                <a:cs typeface="Times New Roman"/>
              </a:rPr>
              <a:t>defined.return</a:t>
            </a:r>
            <a:r>
              <a:rPr sz="3400" spc="-145" dirty="0">
                <a:latin typeface="Times New Roman"/>
                <a:cs typeface="Times New Roman"/>
              </a:rPr>
              <a:t> </a:t>
            </a:r>
            <a:r>
              <a:rPr sz="3400" spc="-25" dirty="0">
                <a:latin typeface="Times New Roman"/>
                <a:cs typeface="Times New Roman"/>
              </a:rPr>
              <a:t>0;</a:t>
            </a:r>
            <a:endParaRPr sz="3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sz="3400" spc="-50" dirty="0">
                <a:latin typeface="Times New Roman"/>
                <a:cs typeface="Times New Roman"/>
              </a:rPr>
              <a:t>}</a:t>
            </a:r>
            <a:endParaRPr sz="3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1511" y="211682"/>
            <a:ext cx="4370705" cy="1635125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sz="4400" b="0" spc="-360" dirty="0">
                <a:solidFill>
                  <a:srgbClr val="000000"/>
                </a:solidFill>
                <a:latin typeface="Verdana"/>
                <a:cs typeface="Verdana"/>
              </a:rPr>
              <a:t>m-</a:t>
            </a:r>
            <a:r>
              <a:rPr sz="4400" b="0" dirty="0">
                <a:solidFill>
                  <a:srgbClr val="000000"/>
                </a:solidFill>
                <a:latin typeface="Verdana"/>
                <a:cs typeface="Verdana"/>
              </a:rPr>
              <a:t>no</a:t>
            </a:r>
            <a:r>
              <a:rPr sz="4400" b="0" spc="-315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4400" b="0" dirty="0">
                <a:solidFill>
                  <a:srgbClr val="000000"/>
                </a:solidFill>
                <a:latin typeface="Verdana"/>
                <a:cs typeface="Verdana"/>
              </a:rPr>
              <a:t>of</a:t>
            </a:r>
            <a:r>
              <a:rPr sz="4400" b="0" spc="-29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4400" b="0" spc="-20" dirty="0">
                <a:solidFill>
                  <a:srgbClr val="000000"/>
                </a:solidFill>
                <a:latin typeface="Verdana"/>
                <a:cs typeface="Verdana"/>
              </a:rPr>
              <a:t>rows</a:t>
            </a:r>
            <a:endParaRPr sz="4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sz="4400" b="0" spc="-330" dirty="0">
                <a:solidFill>
                  <a:srgbClr val="000000"/>
                </a:solidFill>
                <a:latin typeface="Verdana"/>
                <a:cs typeface="Verdana"/>
              </a:rPr>
              <a:t>n-</a:t>
            </a:r>
            <a:r>
              <a:rPr sz="4400" b="0" dirty="0">
                <a:solidFill>
                  <a:srgbClr val="000000"/>
                </a:solidFill>
                <a:latin typeface="Verdana"/>
                <a:cs typeface="Verdana"/>
              </a:rPr>
              <a:t>no</a:t>
            </a:r>
            <a:r>
              <a:rPr sz="4400" b="0" spc="-31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4400" b="0" dirty="0">
                <a:solidFill>
                  <a:srgbClr val="000000"/>
                </a:solidFill>
                <a:latin typeface="Verdana"/>
                <a:cs typeface="Verdana"/>
              </a:rPr>
              <a:t>of</a:t>
            </a:r>
            <a:r>
              <a:rPr sz="4400" b="0" spc="-29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4400" b="0" spc="-60" dirty="0">
                <a:solidFill>
                  <a:srgbClr val="000000"/>
                </a:solidFill>
                <a:latin typeface="Verdana"/>
                <a:cs typeface="Verdana"/>
              </a:rPr>
              <a:t>columns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7587" y="1820965"/>
            <a:ext cx="10902315" cy="75380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6370" marR="5080">
              <a:lnSpc>
                <a:spcPct val="120000"/>
              </a:lnSpc>
              <a:spcBef>
                <a:spcPts val="100"/>
              </a:spcBef>
            </a:pPr>
            <a:r>
              <a:rPr sz="4400" spc="-125" dirty="0">
                <a:latin typeface="Verdana"/>
                <a:cs typeface="Verdana"/>
              </a:rPr>
              <a:t>Printf(“\n</a:t>
            </a:r>
            <a:r>
              <a:rPr sz="4400" spc="-310" dirty="0">
                <a:latin typeface="Verdana"/>
                <a:cs typeface="Verdana"/>
              </a:rPr>
              <a:t> </a:t>
            </a:r>
            <a:r>
              <a:rPr sz="4400" spc="-245" dirty="0">
                <a:latin typeface="Verdana"/>
                <a:cs typeface="Verdana"/>
              </a:rPr>
              <a:t>Enter</a:t>
            </a:r>
            <a:r>
              <a:rPr sz="4400" spc="-310" dirty="0">
                <a:latin typeface="Verdana"/>
                <a:cs typeface="Verdana"/>
              </a:rPr>
              <a:t> </a:t>
            </a:r>
            <a:r>
              <a:rPr sz="4400" spc="-60" dirty="0">
                <a:latin typeface="Verdana"/>
                <a:cs typeface="Verdana"/>
              </a:rPr>
              <a:t>the</a:t>
            </a:r>
            <a:r>
              <a:rPr sz="4400" spc="-310" dirty="0">
                <a:latin typeface="Verdana"/>
                <a:cs typeface="Verdana"/>
              </a:rPr>
              <a:t> </a:t>
            </a:r>
            <a:r>
              <a:rPr sz="4400" spc="-235" dirty="0">
                <a:latin typeface="Verdana"/>
                <a:cs typeface="Verdana"/>
              </a:rPr>
              <a:t>rows</a:t>
            </a:r>
            <a:r>
              <a:rPr sz="4400" spc="-305" dirty="0">
                <a:latin typeface="Verdana"/>
                <a:cs typeface="Verdana"/>
              </a:rPr>
              <a:t> </a:t>
            </a:r>
            <a:r>
              <a:rPr sz="4400" spc="155" dirty="0">
                <a:latin typeface="Verdana"/>
                <a:cs typeface="Verdana"/>
              </a:rPr>
              <a:t>and</a:t>
            </a:r>
            <a:r>
              <a:rPr sz="4400" spc="-335" dirty="0">
                <a:latin typeface="Verdana"/>
                <a:cs typeface="Verdana"/>
              </a:rPr>
              <a:t> </a:t>
            </a:r>
            <a:r>
              <a:rPr sz="4400" spc="-125" dirty="0">
                <a:latin typeface="Verdana"/>
                <a:cs typeface="Verdana"/>
              </a:rPr>
              <a:t>columns”); </a:t>
            </a:r>
            <a:r>
              <a:rPr sz="4400" spc="-210" dirty="0">
                <a:latin typeface="Verdana"/>
                <a:cs typeface="Verdana"/>
              </a:rPr>
              <a:t>Scanf(%d</a:t>
            </a:r>
            <a:r>
              <a:rPr sz="4400" spc="-345" dirty="0">
                <a:latin typeface="Verdana"/>
                <a:cs typeface="Verdana"/>
              </a:rPr>
              <a:t> </a:t>
            </a:r>
            <a:r>
              <a:rPr sz="4400" spc="-275" dirty="0">
                <a:latin typeface="Verdana"/>
                <a:cs typeface="Verdana"/>
              </a:rPr>
              <a:t>%d”,&amp;m,&amp;n);</a:t>
            </a:r>
            <a:endParaRPr sz="4400">
              <a:latin typeface="Verdana"/>
              <a:cs typeface="Verdana"/>
            </a:endParaRPr>
          </a:p>
          <a:p>
            <a:pPr marL="166370">
              <a:lnSpc>
                <a:spcPct val="100000"/>
              </a:lnSpc>
              <a:spcBef>
                <a:spcPts val="1060"/>
              </a:spcBef>
            </a:pPr>
            <a:r>
              <a:rPr sz="4400" spc="-530" dirty="0">
                <a:latin typeface="Verdana"/>
                <a:cs typeface="Verdana"/>
              </a:rPr>
              <a:t>for(i=0;i&lt;m;i++)</a:t>
            </a:r>
            <a:endParaRPr sz="4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sz="4400" spc="-1305" dirty="0">
                <a:latin typeface="Verdana"/>
                <a:cs typeface="Verdana"/>
              </a:rPr>
              <a:t>{</a:t>
            </a:r>
            <a:endParaRPr sz="4400">
              <a:latin typeface="Verdana"/>
              <a:cs typeface="Verdana"/>
            </a:endParaRPr>
          </a:p>
          <a:p>
            <a:pPr marL="663575">
              <a:lnSpc>
                <a:spcPct val="100000"/>
              </a:lnSpc>
              <a:spcBef>
                <a:spcPts val="869"/>
              </a:spcBef>
            </a:pPr>
            <a:r>
              <a:rPr sz="3600" spc="-480" dirty="0">
                <a:latin typeface="Verdana"/>
                <a:cs typeface="Verdana"/>
              </a:rPr>
              <a:t>for(j=0;j&lt;n;j++)</a:t>
            </a:r>
            <a:endParaRPr sz="3600">
              <a:latin typeface="Verdana"/>
              <a:cs typeface="Verdana"/>
            </a:endParaRPr>
          </a:p>
          <a:p>
            <a:pPr marL="1299210">
              <a:lnSpc>
                <a:spcPct val="100000"/>
              </a:lnSpc>
              <a:spcBef>
                <a:spcPts val="870"/>
              </a:spcBef>
            </a:pPr>
            <a:r>
              <a:rPr sz="3600" spc="-1080" dirty="0">
                <a:latin typeface="Verdana"/>
                <a:cs typeface="Verdana"/>
              </a:rPr>
              <a:t>{</a:t>
            </a:r>
            <a:endParaRPr sz="3600">
              <a:latin typeface="Verdana"/>
              <a:cs typeface="Verdana"/>
            </a:endParaRPr>
          </a:p>
          <a:p>
            <a:pPr marL="1312545">
              <a:lnSpc>
                <a:spcPct val="100000"/>
              </a:lnSpc>
              <a:spcBef>
                <a:spcPts val="780"/>
              </a:spcBef>
            </a:pPr>
            <a:r>
              <a:rPr sz="3200" spc="-90" dirty="0">
                <a:latin typeface="Verdana"/>
                <a:cs typeface="Verdana"/>
              </a:rPr>
              <a:t>Printf(“\n</a:t>
            </a:r>
            <a:r>
              <a:rPr sz="3200" spc="-229" dirty="0">
                <a:latin typeface="Verdana"/>
                <a:cs typeface="Verdana"/>
              </a:rPr>
              <a:t> </a:t>
            </a:r>
            <a:r>
              <a:rPr sz="3200" spc="-175" dirty="0">
                <a:latin typeface="Verdana"/>
                <a:cs typeface="Verdana"/>
              </a:rPr>
              <a:t>Enter</a:t>
            </a:r>
            <a:r>
              <a:rPr sz="3200" spc="-235" dirty="0">
                <a:latin typeface="Verdana"/>
                <a:cs typeface="Verdana"/>
              </a:rPr>
              <a:t> </a:t>
            </a:r>
            <a:r>
              <a:rPr sz="3200" spc="-40" dirty="0">
                <a:latin typeface="Verdana"/>
                <a:cs typeface="Verdana"/>
              </a:rPr>
              <a:t>the</a:t>
            </a:r>
            <a:r>
              <a:rPr sz="3200" spc="-229" dirty="0">
                <a:latin typeface="Verdana"/>
                <a:cs typeface="Verdana"/>
              </a:rPr>
              <a:t> </a:t>
            </a:r>
            <a:r>
              <a:rPr sz="3200" spc="-10" dirty="0">
                <a:latin typeface="Verdana"/>
                <a:cs typeface="Verdana"/>
              </a:rPr>
              <a:t>value</a:t>
            </a:r>
            <a:r>
              <a:rPr sz="3200" spc="-215" dirty="0">
                <a:latin typeface="Verdana"/>
                <a:cs typeface="Verdana"/>
              </a:rPr>
              <a:t> </a:t>
            </a:r>
            <a:r>
              <a:rPr sz="3200" spc="-310" dirty="0">
                <a:latin typeface="Verdana"/>
                <a:cs typeface="Verdana"/>
              </a:rPr>
              <a:t>of(%d)(%d)=“,i,j);</a:t>
            </a:r>
            <a:endParaRPr sz="3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720"/>
              </a:spcBef>
            </a:pPr>
            <a:endParaRPr sz="3200">
              <a:latin typeface="Verdana"/>
              <a:cs typeface="Verdana"/>
            </a:endParaRPr>
          </a:p>
          <a:p>
            <a:pPr marL="1312545">
              <a:lnSpc>
                <a:spcPct val="100000"/>
              </a:lnSpc>
              <a:spcBef>
                <a:spcPts val="5"/>
              </a:spcBef>
            </a:pPr>
            <a:r>
              <a:rPr sz="3200" spc="-140" dirty="0">
                <a:latin typeface="Verdana"/>
                <a:cs typeface="Verdana"/>
              </a:rPr>
              <a:t>Scanf(“%d”,&amp;a[i][j]);</a:t>
            </a:r>
            <a:endParaRPr sz="3200">
              <a:latin typeface="Verdana"/>
              <a:cs typeface="Verdana"/>
            </a:endParaRPr>
          </a:p>
          <a:p>
            <a:pPr marL="1312545">
              <a:lnSpc>
                <a:spcPct val="100000"/>
              </a:lnSpc>
              <a:spcBef>
                <a:spcPts val="844"/>
              </a:spcBef>
            </a:pPr>
            <a:r>
              <a:rPr sz="3600" spc="-1080" dirty="0">
                <a:latin typeface="Verdana"/>
                <a:cs typeface="Verdana"/>
              </a:rPr>
              <a:t>}</a:t>
            </a:r>
            <a:endParaRPr sz="3600">
              <a:latin typeface="Verdana"/>
              <a:cs typeface="Verdana"/>
            </a:endParaRPr>
          </a:p>
          <a:p>
            <a:pPr marL="1312545">
              <a:lnSpc>
                <a:spcPct val="100000"/>
              </a:lnSpc>
              <a:spcBef>
                <a:spcPts val="865"/>
              </a:spcBef>
            </a:pPr>
            <a:r>
              <a:rPr sz="3600" spc="-1080" dirty="0">
                <a:latin typeface="Verdana"/>
                <a:cs typeface="Verdana"/>
              </a:rPr>
              <a:t>}</a:t>
            </a:r>
            <a:endParaRPr sz="360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6647" y="794384"/>
            <a:ext cx="541782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b="0" spc="-720" dirty="0">
                <a:solidFill>
                  <a:srgbClr val="000000"/>
                </a:solidFill>
                <a:latin typeface="Verdana"/>
                <a:cs typeface="Verdana"/>
              </a:rPr>
              <a:t>for(i=0;i&lt;m;i++)</a:t>
            </a:r>
            <a:endParaRPr sz="6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7587" y="1705052"/>
            <a:ext cx="6598920" cy="6324600"/>
          </a:xfrm>
          <a:prstGeom prst="rect">
            <a:avLst/>
          </a:prstGeom>
        </p:spPr>
        <p:txBody>
          <a:bodyPr vert="horz" wrap="square" lIns="0" tIns="1993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70"/>
              </a:spcBef>
            </a:pPr>
            <a:r>
              <a:rPr sz="6000" spc="-1770" dirty="0">
                <a:latin typeface="Verdana"/>
                <a:cs typeface="Verdana"/>
              </a:rPr>
              <a:t>{</a:t>
            </a:r>
            <a:endParaRPr sz="6000">
              <a:latin typeface="Verdana"/>
              <a:cs typeface="Verdana"/>
            </a:endParaRPr>
          </a:p>
          <a:p>
            <a:pPr marL="831215" marR="1640205" indent="-167640">
              <a:lnSpc>
                <a:spcPct val="120000"/>
              </a:lnSpc>
              <a:spcBef>
                <a:spcPts val="25"/>
              </a:spcBef>
            </a:pPr>
            <a:r>
              <a:rPr sz="4800" spc="-105" dirty="0">
                <a:latin typeface="Verdana"/>
                <a:cs typeface="Verdana"/>
              </a:rPr>
              <a:t>Printf(“\n”); </a:t>
            </a:r>
            <a:r>
              <a:rPr sz="4800" spc="-635" dirty="0">
                <a:latin typeface="Verdana"/>
                <a:cs typeface="Verdana"/>
              </a:rPr>
              <a:t>for(j=0;j&lt;n;j++)</a:t>
            </a:r>
            <a:endParaRPr sz="4800">
              <a:latin typeface="Verdana"/>
              <a:cs typeface="Verdana"/>
            </a:endParaRPr>
          </a:p>
          <a:p>
            <a:pPr marL="663575">
              <a:lnSpc>
                <a:spcPct val="100000"/>
              </a:lnSpc>
              <a:spcBef>
                <a:spcPts val="1150"/>
              </a:spcBef>
            </a:pPr>
            <a:r>
              <a:rPr sz="4800" spc="-1425" dirty="0">
                <a:latin typeface="Verdana"/>
                <a:cs typeface="Verdana"/>
              </a:rPr>
              <a:t>{</a:t>
            </a:r>
            <a:endParaRPr sz="4800">
              <a:latin typeface="Verdana"/>
              <a:cs typeface="Verdana"/>
            </a:endParaRPr>
          </a:p>
          <a:p>
            <a:pPr marL="1312545">
              <a:lnSpc>
                <a:spcPct val="100000"/>
              </a:lnSpc>
              <a:spcBef>
                <a:spcPts val="1075"/>
              </a:spcBef>
            </a:pPr>
            <a:r>
              <a:rPr sz="4400" spc="-300" dirty="0">
                <a:latin typeface="Verdana"/>
                <a:cs typeface="Verdana"/>
              </a:rPr>
              <a:t>printf(“%d”,&amp;a[i][j]);</a:t>
            </a:r>
            <a:endParaRPr sz="4400">
              <a:latin typeface="Verdana"/>
              <a:cs typeface="Verdana"/>
            </a:endParaRPr>
          </a:p>
          <a:p>
            <a:pPr marL="663575">
              <a:lnSpc>
                <a:spcPct val="100000"/>
              </a:lnSpc>
              <a:spcBef>
                <a:spcPts val="1135"/>
              </a:spcBef>
            </a:pPr>
            <a:r>
              <a:rPr sz="4800" spc="-1425" dirty="0">
                <a:latin typeface="Verdana"/>
                <a:cs typeface="Verdana"/>
              </a:rPr>
              <a:t>}</a:t>
            </a:r>
            <a:endParaRPr sz="4800">
              <a:latin typeface="Verdana"/>
              <a:cs typeface="Verdana"/>
            </a:endParaRPr>
          </a:p>
          <a:p>
            <a:pPr marL="663575">
              <a:lnSpc>
                <a:spcPct val="100000"/>
              </a:lnSpc>
              <a:spcBef>
                <a:spcPts val="1155"/>
              </a:spcBef>
            </a:pPr>
            <a:r>
              <a:rPr sz="4800" spc="-1425" dirty="0">
                <a:latin typeface="Verdana"/>
                <a:cs typeface="Verdana"/>
              </a:rPr>
              <a:t>}</a:t>
            </a:r>
            <a:endParaRPr sz="480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5868" y="1367154"/>
            <a:ext cx="11771630" cy="29902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sz="3400" b="1" dirty="0">
                <a:latin typeface="Times New Roman"/>
                <a:cs typeface="Times New Roman"/>
              </a:rPr>
              <a:t>Calculating</a:t>
            </a:r>
            <a:r>
              <a:rPr sz="3400" b="1" spc="-60" dirty="0">
                <a:latin typeface="Times New Roman"/>
                <a:cs typeface="Times New Roman"/>
              </a:rPr>
              <a:t> </a:t>
            </a:r>
            <a:r>
              <a:rPr sz="3400" b="1" dirty="0">
                <a:latin typeface="Times New Roman"/>
                <a:cs typeface="Times New Roman"/>
              </a:rPr>
              <a:t>the</a:t>
            </a:r>
            <a:r>
              <a:rPr sz="3400" b="1" spc="-80" dirty="0">
                <a:latin typeface="Times New Roman"/>
                <a:cs typeface="Times New Roman"/>
              </a:rPr>
              <a:t> </a:t>
            </a:r>
            <a:r>
              <a:rPr sz="3400" b="1" dirty="0">
                <a:latin typeface="Times New Roman"/>
                <a:cs typeface="Times New Roman"/>
              </a:rPr>
              <a:t>address</a:t>
            </a:r>
            <a:r>
              <a:rPr sz="3400" b="1" spc="-75" dirty="0">
                <a:latin typeface="Times New Roman"/>
                <a:cs typeface="Times New Roman"/>
              </a:rPr>
              <a:t> </a:t>
            </a:r>
            <a:r>
              <a:rPr sz="3400" b="1" dirty="0">
                <a:latin typeface="Times New Roman"/>
                <a:cs typeface="Times New Roman"/>
              </a:rPr>
              <a:t>of</a:t>
            </a:r>
            <a:r>
              <a:rPr sz="3400" b="1" spc="-105" dirty="0">
                <a:latin typeface="Times New Roman"/>
                <a:cs typeface="Times New Roman"/>
              </a:rPr>
              <a:t> </a:t>
            </a:r>
            <a:r>
              <a:rPr sz="3400" b="1" dirty="0">
                <a:latin typeface="Times New Roman"/>
                <a:cs typeface="Times New Roman"/>
              </a:rPr>
              <a:t>any</a:t>
            </a:r>
            <a:r>
              <a:rPr sz="3400" b="1" spc="-90" dirty="0">
                <a:latin typeface="Times New Roman"/>
                <a:cs typeface="Times New Roman"/>
              </a:rPr>
              <a:t> </a:t>
            </a:r>
            <a:r>
              <a:rPr sz="3400" b="1" dirty="0">
                <a:latin typeface="Times New Roman"/>
                <a:cs typeface="Times New Roman"/>
              </a:rPr>
              <a:t>element</a:t>
            </a:r>
            <a:r>
              <a:rPr sz="3400" b="1" spc="-65" dirty="0">
                <a:latin typeface="Times New Roman"/>
                <a:cs typeface="Times New Roman"/>
              </a:rPr>
              <a:t> </a:t>
            </a:r>
            <a:r>
              <a:rPr sz="3400" b="1" dirty="0">
                <a:latin typeface="Times New Roman"/>
                <a:cs typeface="Times New Roman"/>
              </a:rPr>
              <a:t>In</a:t>
            </a:r>
            <a:r>
              <a:rPr sz="3400" b="1" spc="-110" dirty="0">
                <a:latin typeface="Times New Roman"/>
                <a:cs typeface="Times New Roman"/>
              </a:rPr>
              <a:t> </a:t>
            </a:r>
            <a:r>
              <a:rPr sz="3400" b="1" dirty="0">
                <a:latin typeface="Times New Roman"/>
                <a:cs typeface="Times New Roman"/>
              </a:rPr>
              <a:t>the</a:t>
            </a:r>
            <a:r>
              <a:rPr sz="3400" b="1" spc="-80" dirty="0">
                <a:latin typeface="Times New Roman"/>
                <a:cs typeface="Times New Roman"/>
              </a:rPr>
              <a:t> </a:t>
            </a:r>
            <a:r>
              <a:rPr sz="3400" b="1" spc="-35" dirty="0">
                <a:latin typeface="Times New Roman"/>
                <a:cs typeface="Times New Roman"/>
              </a:rPr>
              <a:t>1-</a:t>
            </a:r>
            <a:r>
              <a:rPr sz="3400" b="1" dirty="0">
                <a:latin typeface="Times New Roman"/>
                <a:cs typeface="Times New Roman"/>
              </a:rPr>
              <a:t>D</a:t>
            </a:r>
            <a:r>
              <a:rPr sz="3400" b="1" spc="-100" dirty="0">
                <a:latin typeface="Times New Roman"/>
                <a:cs typeface="Times New Roman"/>
              </a:rPr>
              <a:t> </a:t>
            </a:r>
            <a:r>
              <a:rPr sz="3400" b="1" spc="-10" dirty="0">
                <a:latin typeface="Times New Roman"/>
                <a:cs typeface="Times New Roman"/>
              </a:rPr>
              <a:t>array:</a:t>
            </a:r>
            <a:endParaRPr sz="34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50000"/>
              </a:lnSpc>
              <a:spcBef>
                <a:spcPts val="900"/>
              </a:spcBef>
            </a:pPr>
            <a:r>
              <a:rPr sz="3400" dirty="0">
                <a:latin typeface="Times New Roman"/>
                <a:cs typeface="Times New Roman"/>
              </a:rPr>
              <a:t>A</a:t>
            </a:r>
            <a:r>
              <a:rPr sz="3400" spc="805" dirty="0">
                <a:latin typeface="Times New Roman"/>
                <a:cs typeface="Times New Roman"/>
              </a:rPr>
              <a:t> </a:t>
            </a:r>
            <a:r>
              <a:rPr sz="3400" spc="-25" dirty="0">
                <a:latin typeface="Times New Roman"/>
                <a:cs typeface="Times New Roman"/>
              </a:rPr>
              <a:t>1-</a:t>
            </a:r>
            <a:r>
              <a:rPr sz="3400" dirty="0">
                <a:latin typeface="Times New Roman"/>
                <a:cs typeface="Times New Roman"/>
              </a:rPr>
              <a:t>dimensional</a:t>
            </a:r>
            <a:r>
              <a:rPr sz="3400" spc="83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array</a:t>
            </a:r>
            <a:r>
              <a:rPr sz="3400" spc="844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(or</a:t>
            </a:r>
            <a:r>
              <a:rPr sz="3400" spc="844" dirty="0">
                <a:latin typeface="Times New Roman"/>
                <a:cs typeface="Times New Roman"/>
              </a:rPr>
              <a:t> </a:t>
            </a:r>
            <a:r>
              <a:rPr sz="3400" spc="-30" dirty="0">
                <a:latin typeface="Times New Roman"/>
                <a:cs typeface="Times New Roman"/>
              </a:rPr>
              <a:t>single-</a:t>
            </a:r>
            <a:r>
              <a:rPr sz="3400" dirty="0">
                <a:latin typeface="Times New Roman"/>
                <a:cs typeface="Times New Roman"/>
              </a:rPr>
              <a:t>dimension</a:t>
            </a:r>
            <a:r>
              <a:rPr sz="3400" spc="83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array)</a:t>
            </a:r>
            <a:r>
              <a:rPr sz="3400" spc="82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is</a:t>
            </a:r>
            <a:r>
              <a:rPr sz="3400" spc="84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a</a:t>
            </a:r>
            <a:r>
              <a:rPr sz="3400" spc="83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type</a:t>
            </a:r>
            <a:r>
              <a:rPr sz="3400" spc="835" dirty="0">
                <a:latin typeface="Times New Roman"/>
                <a:cs typeface="Times New Roman"/>
              </a:rPr>
              <a:t> </a:t>
            </a:r>
            <a:r>
              <a:rPr sz="3400" spc="-25" dirty="0">
                <a:latin typeface="Times New Roman"/>
                <a:cs typeface="Times New Roman"/>
              </a:rPr>
              <a:t>of </a:t>
            </a:r>
            <a:r>
              <a:rPr sz="3400" dirty="0">
                <a:latin typeface="Times New Roman"/>
                <a:cs typeface="Times New Roman"/>
              </a:rPr>
              <a:t>linear</a:t>
            </a:r>
            <a:r>
              <a:rPr sz="3400" spc="7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array.</a:t>
            </a:r>
            <a:r>
              <a:rPr sz="3400" spc="8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Accessing</a:t>
            </a:r>
            <a:r>
              <a:rPr sz="3400" spc="8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its</a:t>
            </a:r>
            <a:r>
              <a:rPr sz="3400" spc="7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elements</a:t>
            </a:r>
            <a:r>
              <a:rPr sz="3400" spc="9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involves</a:t>
            </a:r>
            <a:r>
              <a:rPr sz="3400" spc="7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a</a:t>
            </a:r>
            <a:r>
              <a:rPr sz="3400" spc="9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single</a:t>
            </a:r>
            <a:r>
              <a:rPr sz="3400" spc="7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subscript</a:t>
            </a:r>
            <a:r>
              <a:rPr sz="3400" spc="85" dirty="0">
                <a:latin typeface="Times New Roman"/>
                <a:cs typeface="Times New Roman"/>
              </a:rPr>
              <a:t> </a:t>
            </a:r>
            <a:r>
              <a:rPr sz="3400" spc="-20" dirty="0">
                <a:latin typeface="Times New Roman"/>
                <a:cs typeface="Times New Roman"/>
              </a:rPr>
              <a:t>that </a:t>
            </a:r>
            <a:r>
              <a:rPr sz="3400" dirty="0">
                <a:latin typeface="Times New Roman"/>
                <a:cs typeface="Times New Roman"/>
              </a:rPr>
              <a:t>can</a:t>
            </a:r>
            <a:r>
              <a:rPr sz="3400" spc="-10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either</a:t>
            </a:r>
            <a:r>
              <a:rPr sz="3400" spc="-8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represent</a:t>
            </a:r>
            <a:r>
              <a:rPr sz="3400" spc="-4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a</a:t>
            </a:r>
            <a:r>
              <a:rPr sz="3400" spc="-114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row</a:t>
            </a:r>
            <a:r>
              <a:rPr sz="3400" spc="-10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or</a:t>
            </a:r>
            <a:r>
              <a:rPr sz="3400" spc="-9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column</a:t>
            </a:r>
            <a:r>
              <a:rPr sz="3400" spc="-75" dirty="0">
                <a:latin typeface="Times New Roman"/>
                <a:cs typeface="Times New Roman"/>
              </a:rPr>
              <a:t> </a:t>
            </a:r>
            <a:r>
              <a:rPr sz="3400" spc="-10" dirty="0">
                <a:latin typeface="Times New Roman"/>
                <a:cs typeface="Times New Roman"/>
              </a:rPr>
              <a:t>index</a:t>
            </a:r>
            <a:r>
              <a:rPr sz="3400" spc="-10" dirty="0">
                <a:latin typeface="Constantia"/>
                <a:cs typeface="Constantia"/>
              </a:rPr>
              <a:t>.</a:t>
            </a:r>
            <a:endParaRPr sz="3400">
              <a:latin typeface="Constantia"/>
              <a:cs typeface="Constant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95097" y="9223959"/>
            <a:ext cx="13779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920"/>
              </a:lnSpc>
              <a:spcBef>
                <a:spcPts val="100"/>
              </a:spcBef>
            </a:pPr>
            <a:r>
              <a:rPr sz="1700" i="1" spc="-50" dirty="0">
                <a:solidFill>
                  <a:srgbClr val="DFDFD2"/>
                </a:solidFill>
                <a:latin typeface="Constantia"/>
                <a:cs typeface="Constantia"/>
              </a:rPr>
              <a:t>4</a:t>
            </a:r>
            <a:endParaRPr sz="1700">
              <a:latin typeface="Constantia"/>
              <a:cs typeface="Constantia"/>
            </a:endParaRPr>
          </a:p>
          <a:p>
            <a:pPr marL="12700">
              <a:lnSpc>
                <a:spcPts val="1920"/>
              </a:lnSpc>
            </a:pPr>
            <a:r>
              <a:rPr sz="1700" i="1" spc="-50" dirty="0">
                <a:solidFill>
                  <a:srgbClr val="DFDFD2"/>
                </a:solidFill>
                <a:latin typeface="Constantia"/>
                <a:cs typeface="Constantia"/>
              </a:rPr>
              <a:t>4</a:t>
            </a:r>
            <a:endParaRPr sz="1700">
              <a:latin typeface="Constantia"/>
              <a:cs typeface="Constant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54837" y="4064"/>
            <a:ext cx="12001500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dirty="0">
                <a:latin typeface="Times New Roman"/>
                <a:cs typeface="Times New Roman"/>
              </a:rPr>
              <a:t>1-D</a:t>
            </a:r>
            <a:r>
              <a:rPr sz="6600" spc="50" dirty="0">
                <a:latin typeface="Times New Roman"/>
                <a:cs typeface="Times New Roman"/>
              </a:rPr>
              <a:t> </a:t>
            </a:r>
            <a:r>
              <a:rPr sz="6600" dirty="0">
                <a:latin typeface="Times New Roman"/>
                <a:cs typeface="Times New Roman"/>
              </a:rPr>
              <a:t>ADDRESS</a:t>
            </a:r>
            <a:r>
              <a:rPr sz="6600" spc="75" dirty="0">
                <a:latin typeface="Times New Roman"/>
                <a:cs typeface="Times New Roman"/>
              </a:rPr>
              <a:t> </a:t>
            </a:r>
            <a:r>
              <a:rPr sz="6600" spc="-10" dirty="0">
                <a:latin typeface="Times New Roman"/>
                <a:cs typeface="Times New Roman"/>
              </a:rPr>
              <a:t>CALCULATION</a:t>
            </a:r>
            <a:endParaRPr sz="6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178030" y="9154464"/>
            <a:ext cx="2724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i="1" spc="-85" dirty="0">
                <a:solidFill>
                  <a:srgbClr val="585858"/>
                </a:solidFill>
                <a:latin typeface="Verdana"/>
                <a:cs typeface="Verdana"/>
              </a:rPr>
              <a:t>44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298683" y="8673490"/>
            <a:ext cx="2800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i="1" spc="-50" dirty="0">
                <a:solidFill>
                  <a:srgbClr val="5C5C5C"/>
                </a:solidFill>
                <a:latin typeface="Arial"/>
                <a:cs typeface="Arial"/>
              </a:rPr>
              <a:t>2</a:t>
            </a:r>
            <a:endParaRPr sz="360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0802" y="4343400"/>
            <a:ext cx="11658600" cy="4762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595097" y="9223959"/>
            <a:ext cx="2457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i="1" spc="-25" dirty="0">
                <a:solidFill>
                  <a:srgbClr val="DFDFD2"/>
                </a:solidFill>
                <a:latin typeface="Constantia"/>
                <a:cs typeface="Constantia"/>
              </a:rPr>
              <a:t>45</a:t>
            </a:r>
            <a:endParaRPr sz="1700">
              <a:latin typeface="Constantia"/>
              <a:cs typeface="Constanti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54837" y="4064"/>
            <a:ext cx="12001500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dirty="0">
                <a:latin typeface="Times New Roman"/>
                <a:cs typeface="Times New Roman"/>
              </a:rPr>
              <a:t>1-D</a:t>
            </a:r>
            <a:r>
              <a:rPr sz="6600" spc="50" dirty="0">
                <a:latin typeface="Times New Roman"/>
                <a:cs typeface="Times New Roman"/>
              </a:rPr>
              <a:t> </a:t>
            </a:r>
            <a:r>
              <a:rPr sz="6600" dirty="0">
                <a:latin typeface="Times New Roman"/>
                <a:cs typeface="Times New Roman"/>
              </a:rPr>
              <a:t>ADDRESS</a:t>
            </a:r>
            <a:r>
              <a:rPr sz="6600" spc="75" dirty="0">
                <a:latin typeface="Times New Roman"/>
                <a:cs typeface="Times New Roman"/>
              </a:rPr>
              <a:t> </a:t>
            </a:r>
            <a:r>
              <a:rPr sz="6600" spc="-10" dirty="0">
                <a:latin typeface="Times New Roman"/>
                <a:cs typeface="Times New Roman"/>
              </a:rPr>
              <a:t>CALCULATION</a:t>
            </a:r>
            <a:endParaRPr sz="6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89787" y="9154464"/>
            <a:ext cx="114611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200765" algn="l"/>
              </a:tabLst>
            </a:pPr>
            <a:r>
              <a:rPr sz="1700" i="1" dirty="0">
                <a:solidFill>
                  <a:srgbClr val="585858"/>
                </a:solidFill>
                <a:latin typeface="Verdana"/>
                <a:cs typeface="Verdana"/>
              </a:rPr>
              <a:t>	</a:t>
            </a:r>
            <a:r>
              <a:rPr sz="1700" i="1" spc="-75" dirty="0">
                <a:solidFill>
                  <a:srgbClr val="585858"/>
                </a:solidFill>
                <a:latin typeface="Verdana"/>
                <a:cs typeface="Verdana"/>
              </a:rPr>
              <a:t>45</a:t>
            </a:r>
            <a:endParaRPr sz="1700" dirty="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5868" y="1107698"/>
            <a:ext cx="12167870" cy="81400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95"/>
              </a:spcBef>
              <a:tabLst>
                <a:tab pos="746760" algn="l"/>
                <a:tab pos="1720850" algn="l"/>
                <a:tab pos="2524125" algn="l"/>
                <a:tab pos="4166870" algn="l"/>
                <a:tab pos="4758690" algn="l"/>
                <a:tab pos="5444490" algn="l"/>
                <a:tab pos="7112000" algn="l"/>
                <a:tab pos="7703184" algn="l"/>
                <a:tab pos="8388985" algn="l"/>
                <a:tab pos="9651365" algn="l"/>
                <a:tab pos="10457180" algn="l"/>
              </a:tabLst>
            </a:pPr>
            <a:r>
              <a:rPr sz="3400" b="1" spc="-25" dirty="0">
                <a:latin typeface="Times New Roman"/>
                <a:cs typeface="Times New Roman"/>
              </a:rPr>
              <a:t>To</a:t>
            </a:r>
            <a:r>
              <a:rPr sz="3400" b="1" dirty="0">
                <a:latin typeface="Times New Roman"/>
                <a:cs typeface="Times New Roman"/>
              </a:rPr>
              <a:t>	</a:t>
            </a:r>
            <a:r>
              <a:rPr sz="3400" b="1" spc="-20" dirty="0">
                <a:latin typeface="Times New Roman"/>
                <a:cs typeface="Times New Roman"/>
              </a:rPr>
              <a:t>find</a:t>
            </a:r>
            <a:r>
              <a:rPr sz="3400" b="1" dirty="0">
                <a:latin typeface="Times New Roman"/>
                <a:cs typeface="Times New Roman"/>
              </a:rPr>
              <a:t>	</a:t>
            </a:r>
            <a:r>
              <a:rPr sz="3400" b="1" spc="-25" dirty="0">
                <a:latin typeface="Times New Roman"/>
                <a:cs typeface="Times New Roman"/>
              </a:rPr>
              <a:t>the</a:t>
            </a:r>
            <a:r>
              <a:rPr sz="3400" b="1" dirty="0">
                <a:latin typeface="Times New Roman"/>
                <a:cs typeface="Times New Roman"/>
              </a:rPr>
              <a:t>	</a:t>
            </a:r>
            <a:r>
              <a:rPr sz="3400" b="1" spc="-10" dirty="0">
                <a:latin typeface="Times New Roman"/>
                <a:cs typeface="Times New Roman"/>
              </a:rPr>
              <a:t>address</a:t>
            </a:r>
            <a:r>
              <a:rPr sz="3400" b="1" dirty="0">
                <a:latin typeface="Times New Roman"/>
                <a:cs typeface="Times New Roman"/>
              </a:rPr>
              <a:t>	</a:t>
            </a:r>
            <a:r>
              <a:rPr sz="3400" b="1" spc="-25" dirty="0">
                <a:latin typeface="Times New Roman"/>
                <a:cs typeface="Times New Roman"/>
              </a:rPr>
              <a:t>of</a:t>
            </a:r>
            <a:r>
              <a:rPr sz="3400" b="1" dirty="0">
                <a:latin typeface="Times New Roman"/>
                <a:cs typeface="Times New Roman"/>
              </a:rPr>
              <a:t>	</a:t>
            </a:r>
            <a:r>
              <a:rPr sz="3400" b="1" spc="-25" dirty="0">
                <a:latin typeface="Times New Roman"/>
                <a:cs typeface="Times New Roman"/>
              </a:rPr>
              <a:t>an</a:t>
            </a:r>
            <a:r>
              <a:rPr sz="3400" b="1" dirty="0">
                <a:latin typeface="Times New Roman"/>
                <a:cs typeface="Times New Roman"/>
              </a:rPr>
              <a:t>	</a:t>
            </a:r>
            <a:r>
              <a:rPr sz="3400" b="1" spc="-10" dirty="0">
                <a:latin typeface="Times New Roman"/>
                <a:cs typeface="Times New Roman"/>
              </a:rPr>
              <a:t>element</a:t>
            </a:r>
            <a:r>
              <a:rPr sz="3400" b="1" dirty="0">
                <a:latin typeface="Times New Roman"/>
                <a:cs typeface="Times New Roman"/>
              </a:rPr>
              <a:t>	</a:t>
            </a:r>
            <a:r>
              <a:rPr sz="3400" b="1" spc="-25" dirty="0">
                <a:latin typeface="Times New Roman"/>
                <a:cs typeface="Times New Roman"/>
              </a:rPr>
              <a:t>in</a:t>
            </a:r>
            <a:r>
              <a:rPr sz="3400" b="1" dirty="0">
                <a:latin typeface="Times New Roman"/>
                <a:cs typeface="Times New Roman"/>
              </a:rPr>
              <a:t>	</a:t>
            </a:r>
            <a:r>
              <a:rPr sz="3400" b="1" spc="-25" dirty="0">
                <a:latin typeface="Times New Roman"/>
                <a:cs typeface="Times New Roman"/>
              </a:rPr>
              <a:t>an</a:t>
            </a:r>
            <a:r>
              <a:rPr sz="3400" b="1" dirty="0">
                <a:latin typeface="Times New Roman"/>
                <a:cs typeface="Times New Roman"/>
              </a:rPr>
              <a:t>	</a:t>
            </a:r>
            <a:r>
              <a:rPr sz="3400" b="1" spc="-10" dirty="0">
                <a:latin typeface="Times New Roman"/>
                <a:cs typeface="Times New Roman"/>
              </a:rPr>
              <a:t>array</a:t>
            </a:r>
            <a:r>
              <a:rPr sz="3400" b="1" dirty="0">
                <a:latin typeface="Times New Roman"/>
                <a:cs typeface="Times New Roman"/>
              </a:rPr>
              <a:t>	</a:t>
            </a:r>
            <a:r>
              <a:rPr sz="3400" b="1" spc="-25" dirty="0">
                <a:latin typeface="Times New Roman"/>
                <a:cs typeface="Times New Roman"/>
              </a:rPr>
              <a:t>the</a:t>
            </a:r>
            <a:r>
              <a:rPr sz="3400" b="1" dirty="0">
                <a:latin typeface="Times New Roman"/>
                <a:cs typeface="Times New Roman"/>
              </a:rPr>
              <a:t>	</a:t>
            </a:r>
            <a:r>
              <a:rPr sz="3400" b="1" spc="-20" dirty="0">
                <a:latin typeface="Times New Roman"/>
                <a:cs typeface="Times New Roman"/>
              </a:rPr>
              <a:t>following </a:t>
            </a:r>
            <a:r>
              <a:rPr sz="3400" b="1" dirty="0">
                <a:latin typeface="Times New Roman"/>
                <a:cs typeface="Times New Roman"/>
              </a:rPr>
              <a:t>formula</a:t>
            </a:r>
            <a:r>
              <a:rPr sz="3400" b="1" spc="-85" dirty="0">
                <a:latin typeface="Times New Roman"/>
                <a:cs typeface="Times New Roman"/>
              </a:rPr>
              <a:t> </a:t>
            </a:r>
            <a:r>
              <a:rPr sz="3400" b="1" dirty="0">
                <a:latin typeface="Times New Roman"/>
                <a:cs typeface="Times New Roman"/>
              </a:rPr>
              <a:t>is</a:t>
            </a:r>
            <a:r>
              <a:rPr sz="3400" b="1" spc="-105" dirty="0">
                <a:latin typeface="Times New Roman"/>
                <a:cs typeface="Times New Roman"/>
              </a:rPr>
              <a:t> </a:t>
            </a:r>
            <a:r>
              <a:rPr sz="3400" b="1" spc="-20" dirty="0">
                <a:latin typeface="Times New Roman"/>
                <a:cs typeface="Times New Roman"/>
              </a:rPr>
              <a:t>used-</a:t>
            </a:r>
            <a:endParaRPr sz="3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940"/>
              </a:spcBef>
            </a:pPr>
            <a:r>
              <a:rPr sz="3400" dirty="0">
                <a:latin typeface="Constantia"/>
                <a:cs typeface="Constantia"/>
              </a:rPr>
              <a:t>Address</a:t>
            </a:r>
            <a:r>
              <a:rPr sz="3400" spc="75" dirty="0">
                <a:latin typeface="Constantia"/>
                <a:cs typeface="Constantia"/>
              </a:rPr>
              <a:t> </a:t>
            </a:r>
            <a:r>
              <a:rPr sz="3400" dirty="0">
                <a:latin typeface="Constantia"/>
                <a:cs typeface="Constantia"/>
              </a:rPr>
              <a:t>of</a:t>
            </a:r>
            <a:r>
              <a:rPr sz="3400" spc="55" dirty="0">
                <a:latin typeface="Constantia"/>
                <a:cs typeface="Constantia"/>
              </a:rPr>
              <a:t> </a:t>
            </a:r>
            <a:r>
              <a:rPr sz="3400" dirty="0">
                <a:latin typeface="Constantia"/>
                <a:cs typeface="Constantia"/>
              </a:rPr>
              <a:t>A[I]</a:t>
            </a:r>
            <a:r>
              <a:rPr sz="3400" spc="80" dirty="0">
                <a:latin typeface="Constantia"/>
                <a:cs typeface="Constantia"/>
              </a:rPr>
              <a:t> </a:t>
            </a:r>
            <a:r>
              <a:rPr sz="3400" dirty="0">
                <a:latin typeface="Constantia"/>
                <a:cs typeface="Constantia"/>
              </a:rPr>
              <a:t>=</a:t>
            </a:r>
            <a:r>
              <a:rPr sz="3400" spc="60" dirty="0">
                <a:latin typeface="Constantia"/>
                <a:cs typeface="Constantia"/>
              </a:rPr>
              <a:t> </a:t>
            </a:r>
            <a:r>
              <a:rPr sz="3400" dirty="0">
                <a:latin typeface="Constantia"/>
                <a:cs typeface="Constantia"/>
              </a:rPr>
              <a:t>B</a:t>
            </a:r>
            <a:r>
              <a:rPr sz="3400" spc="55" dirty="0">
                <a:latin typeface="Constantia"/>
                <a:cs typeface="Constantia"/>
              </a:rPr>
              <a:t> </a:t>
            </a:r>
            <a:r>
              <a:rPr sz="3400" dirty="0">
                <a:latin typeface="Constantia"/>
                <a:cs typeface="Constantia"/>
              </a:rPr>
              <a:t>+</a:t>
            </a:r>
            <a:r>
              <a:rPr sz="3400" spc="60" dirty="0">
                <a:latin typeface="Constantia"/>
                <a:cs typeface="Constantia"/>
              </a:rPr>
              <a:t> </a:t>
            </a:r>
            <a:r>
              <a:rPr sz="3400" dirty="0">
                <a:latin typeface="Constantia"/>
                <a:cs typeface="Constantia"/>
              </a:rPr>
              <a:t>W</a:t>
            </a:r>
            <a:r>
              <a:rPr sz="3400" spc="55" dirty="0">
                <a:latin typeface="Constantia"/>
                <a:cs typeface="Constantia"/>
              </a:rPr>
              <a:t> </a:t>
            </a:r>
            <a:r>
              <a:rPr sz="3400" dirty="0">
                <a:latin typeface="Constantia"/>
                <a:cs typeface="Constantia"/>
              </a:rPr>
              <a:t>*</a:t>
            </a:r>
            <a:r>
              <a:rPr sz="3400" spc="60" dirty="0">
                <a:latin typeface="Constantia"/>
                <a:cs typeface="Constantia"/>
              </a:rPr>
              <a:t> </a:t>
            </a:r>
            <a:r>
              <a:rPr sz="3400" dirty="0">
                <a:latin typeface="Constantia"/>
                <a:cs typeface="Constantia"/>
              </a:rPr>
              <a:t>(I</a:t>
            </a:r>
            <a:r>
              <a:rPr sz="3400" spc="60" dirty="0">
                <a:latin typeface="Constantia"/>
                <a:cs typeface="Constantia"/>
              </a:rPr>
              <a:t> </a:t>
            </a:r>
            <a:r>
              <a:rPr sz="3400" dirty="0">
                <a:latin typeface="Constantia"/>
                <a:cs typeface="Constantia"/>
              </a:rPr>
              <a:t>–</a:t>
            </a:r>
            <a:r>
              <a:rPr sz="3400" spc="60" dirty="0">
                <a:latin typeface="Constantia"/>
                <a:cs typeface="Constantia"/>
              </a:rPr>
              <a:t> </a:t>
            </a:r>
            <a:r>
              <a:rPr sz="3400" spc="-25" dirty="0">
                <a:latin typeface="Constantia"/>
                <a:cs typeface="Constantia"/>
              </a:rPr>
              <a:t>LB)</a:t>
            </a:r>
            <a:endParaRPr sz="3400">
              <a:latin typeface="Constantia"/>
              <a:cs typeface="Constantia"/>
            </a:endParaRPr>
          </a:p>
          <a:p>
            <a:pPr>
              <a:lnSpc>
                <a:spcPct val="100000"/>
              </a:lnSpc>
              <a:spcBef>
                <a:spcPts val="2870"/>
              </a:spcBef>
            </a:pPr>
            <a:endParaRPr sz="3400">
              <a:latin typeface="Constantia"/>
              <a:cs typeface="Constantia"/>
            </a:endParaRPr>
          </a:p>
          <a:p>
            <a:pPr marL="12700" marR="2849880">
              <a:lnSpc>
                <a:spcPct val="172100"/>
              </a:lnSpc>
              <a:spcBef>
                <a:spcPts val="5"/>
              </a:spcBef>
            </a:pPr>
            <a:r>
              <a:rPr sz="3400" dirty="0">
                <a:latin typeface="Constantia"/>
                <a:cs typeface="Constantia"/>
              </a:rPr>
              <a:t>I</a:t>
            </a:r>
            <a:r>
              <a:rPr sz="3400" spc="50" dirty="0">
                <a:latin typeface="Constantia"/>
                <a:cs typeface="Constantia"/>
              </a:rPr>
              <a:t> </a:t>
            </a:r>
            <a:r>
              <a:rPr sz="3400" dirty="0">
                <a:latin typeface="Constantia"/>
                <a:cs typeface="Constantia"/>
              </a:rPr>
              <a:t>=</a:t>
            </a:r>
            <a:r>
              <a:rPr sz="3400" spc="75" dirty="0">
                <a:latin typeface="Constantia"/>
                <a:cs typeface="Constantia"/>
              </a:rPr>
              <a:t> </a:t>
            </a:r>
            <a:r>
              <a:rPr sz="3400" dirty="0">
                <a:latin typeface="Constantia"/>
                <a:cs typeface="Constantia"/>
              </a:rPr>
              <a:t>Subset</a:t>
            </a:r>
            <a:r>
              <a:rPr sz="3400" spc="114" dirty="0">
                <a:latin typeface="Constantia"/>
                <a:cs typeface="Constantia"/>
              </a:rPr>
              <a:t> </a:t>
            </a:r>
            <a:r>
              <a:rPr sz="3400" dirty="0">
                <a:latin typeface="Constantia"/>
                <a:cs typeface="Constantia"/>
              </a:rPr>
              <a:t>of</a:t>
            </a:r>
            <a:r>
              <a:rPr sz="3400" spc="65" dirty="0">
                <a:latin typeface="Constantia"/>
                <a:cs typeface="Constantia"/>
              </a:rPr>
              <a:t> </a:t>
            </a:r>
            <a:r>
              <a:rPr sz="3400" dirty="0">
                <a:latin typeface="Constantia"/>
                <a:cs typeface="Constantia"/>
              </a:rPr>
              <a:t>element</a:t>
            </a:r>
            <a:r>
              <a:rPr sz="3400" spc="100" dirty="0">
                <a:latin typeface="Constantia"/>
                <a:cs typeface="Constantia"/>
              </a:rPr>
              <a:t> </a:t>
            </a:r>
            <a:r>
              <a:rPr sz="3400" dirty="0">
                <a:latin typeface="Constantia"/>
                <a:cs typeface="Constantia"/>
              </a:rPr>
              <a:t>whose</a:t>
            </a:r>
            <a:r>
              <a:rPr sz="3400" spc="90" dirty="0">
                <a:latin typeface="Constantia"/>
                <a:cs typeface="Constantia"/>
              </a:rPr>
              <a:t> </a:t>
            </a:r>
            <a:r>
              <a:rPr sz="3400" dirty="0">
                <a:latin typeface="Constantia"/>
                <a:cs typeface="Constantia"/>
              </a:rPr>
              <a:t>address</a:t>
            </a:r>
            <a:r>
              <a:rPr sz="3400" spc="95" dirty="0">
                <a:latin typeface="Constantia"/>
                <a:cs typeface="Constantia"/>
              </a:rPr>
              <a:t> </a:t>
            </a:r>
            <a:r>
              <a:rPr sz="3400" dirty="0">
                <a:latin typeface="Constantia"/>
                <a:cs typeface="Constantia"/>
              </a:rPr>
              <a:t>to</a:t>
            </a:r>
            <a:r>
              <a:rPr sz="3400" spc="70" dirty="0">
                <a:latin typeface="Constantia"/>
                <a:cs typeface="Constantia"/>
              </a:rPr>
              <a:t> </a:t>
            </a:r>
            <a:r>
              <a:rPr sz="3400" dirty="0">
                <a:latin typeface="Constantia"/>
                <a:cs typeface="Constantia"/>
              </a:rPr>
              <a:t>be</a:t>
            </a:r>
            <a:r>
              <a:rPr sz="3400" spc="80" dirty="0">
                <a:latin typeface="Constantia"/>
                <a:cs typeface="Constantia"/>
              </a:rPr>
              <a:t> </a:t>
            </a:r>
            <a:r>
              <a:rPr sz="3400" spc="-10" dirty="0">
                <a:latin typeface="Constantia"/>
                <a:cs typeface="Constantia"/>
              </a:rPr>
              <a:t>found, </a:t>
            </a:r>
            <a:r>
              <a:rPr sz="3400" dirty="0">
                <a:latin typeface="Constantia"/>
                <a:cs typeface="Constantia"/>
              </a:rPr>
              <a:t>B</a:t>
            </a:r>
            <a:r>
              <a:rPr sz="3400" spc="55" dirty="0">
                <a:latin typeface="Constantia"/>
                <a:cs typeface="Constantia"/>
              </a:rPr>
              <a:t> </a:t>
            </a:r>
            <a:r>
              <a:rPr sz="3400" dirty="0">
                <a:latin typeface="Constantia"/>
                <a:cs typeface="Constantia"/>
              </a:rPr>
              <a:t>=</a:t>
            </a:r>
            <a:r>
              <a:rPr sz="3400" spc="70" dirty="0">
                <a:latin typeface="Constantia"/>
                <a:cs typeface="Constantia"/>
              </a:rPr>
              <a:t> </a:t>
            </a:r>
            <a:r>
              <a:rPr sz="3400" dirty="0">
                <a:latin typeface="Constantia"/>
                <a:cs typeface="Constantia"/>
              </a:rPr>
              <a:t>Base</a:t>
            </a:r>
            <a:r>
              <a:rPr sz="3400" spc="80" dirty="0">
                <a:latin typeface="Constantia"/>
                <a:cs typeface="Constantia"/>
              </a:rPr>
              <a:t> </a:t>
            </a:r>
            <a:r>
              <a:rPr sz="3400" spc="-10" dirty="0">
                <a:latin typeface="Constantia"/>
                <a:cs typeface="Constantia"/>
              </a:rPr>
              <a:t>address,</a:t>
            </a:r>
            <a:endParaRPr sz="3400">
              <a:latin typeface="Constantia"/>
              <a:cs typeface="Constantia"/>
            </a:endParaRPr>
          </a:p>
          <a:p>
            <a:pPr marL="12700">
              <a:lnSpc>
                <a:spcPct val="100000"/>
              </a:lnSpc>
              <a:spcBef>
                <a:spcPts val="2940"/>
              </a:spcBef>
            </a:pPr>
            <a:r>
              <a:rPr sz="3400" dirty="0">
                <a:latin typeface="Constantia"/>
                <a:cs typeface="Constantia"/>
              </a:rPr>
              <a:t>W</a:t>
            </a:r>
            <a:r>
              <a:rPr sz="3400" spc="55" dirty="0">
                <a:latin typeface="Constantia"/>
                <a:cs typeface="Constantia"/>
              </a:rPr>
              <a:t> </a:t>
            </a:r>
            <a:r>
              <a:rPr sz="3400" dirty="0">
                <a:latin typeface="Constantia"/>
                <a:cs typeface="Constantia"/>
              </a:rPr>
              <a:t>=</a:t>
            </a:r>
            <a:r>
              <a:rPr sz="3400" spc="75" dirty="0">
                <a:latin typeface="Constantia"/>
                <a:cs typeface="Constantia"/>
              </a:rPr>
              <a:t> </a:t>
            </a:r>
            <a:r>
              <a:rPr sz="3400" dirty="0">
                <a:latin typeface="Constantia"/>
                <a:cs typeface="Constantia"/>
              </a:rPr>
              <a:t>Storage</a:t>
            </a:r>
            <a:r>
              <a:rPr sz="3400" spc="120" dirty="0">
                <a:latin typeface="Constantia"/>
                <a:cs typeface="Constantia"/>
              </a:rPr>
              <a:t> </a:t>
            </a:r>
            <a:r>
              <a:rPr sz="3400" dirty="0">
                <a:latin typeface="Constantia"/>
                <a:cs typeface="Constantia"/>
              </a:rPr>
              <a:t>size</a:t>
            </a:r>
            <a:r>
              <a:rPr sz="3400" spc="90" dirty="0">
                <a:latin typeface="Constantia"/>
                <a:cs typeface="Constantia"/>
              </a:rPr>
              <a:t> </a:t>
            </a:r>
            <a:r>
              <a:rPr sz="3400" dirty="0">
                <a:latin typeface="Constantia"/>
                <a:cs typeface="Constantia"/>
              </a:rPr>
              <a:t>of</a:t>
            </a:r>
            <a:r>
              <a:rPr sz="3400" spc="75" dirty="0">
                <a:latin typeface="Constantia"/>
                <a:cs typeface="Constantia"/>
              </a:rPr>
              <a:t> </a:t>
            </a:r>
            <a:r>
              <a:rPr sz="3400" dirty="0">
                <a:latin typeface="Constantia"/>
                <a:cs typeface="Constantia"/>
              </a:rPr>
              <a:t>one</a:t>
            </a:r>
            <a:r>
              <a:rPr sz="3400" spc="75" dirty="0">
                <a:latin typeface="Constantia"/>
                <a:cs typeface="Constantia"/>
              </a:rPr>
              <a:t> </a:t>
            </a:r>
            <a:r>
              <a:rPr sz="3400" dirty="0">
                <a:latin typeface="Constantia"/>
                <a:cs typeface="Constantia"/>
              </a:rPr>
              <a:t>element</a:t>
            </a:r>
            <a:r>
              <a:rPr sz="3400" spc="90" dirty="0">
                <a:latin typeface="Constantia"/>
                <a:cs typeface="Constantia"/>
              </a:rPr>
              <a:t> </a:t>
            </a:r>
            <a:r>
              <a:rPr sz="3400" dirty="0">
                <a:latin typeface="Constantia"/>
                <a:cs typeface="Constantia"/>
              </a:rPr>
              <a:t>store</a:t>
            </a:r>
            <a:r>
              <a:rPr sz="3400" spc="110" dirty="0">
                <a:latin typeface="Constantia"/>
                <a:cs typeface="Constantia"/>
              </a:rPr>
              <a:t> </a:t>
            </a:r>
            <a:r>
              <a:rPr sz="3400" dirty="0">
                <a:latin typeface="Constantia"/>
                <a:cs typeface="Constantia"/>
              </a:rPr>
              <a:t>in</a:t>
            </a:r>
            <a:r>
              <a:rPr sz="3400" spc="70" dirty="0">
                <a:latin typeface="Constantia"/>
                <a:cs typeface="Constantia"/>
              </a:rPr>
              <a:t> </a:t>
            </a:r>
            <a:r>
              <a:rPr sz="3400" dirty="0">
                <a:latin typeface="Constantia"/>
                <a:cs typeface="Constantia"/>
              </a:rPr>
              <a:t>any</a:t>
            </a:r>
            <a:r>
              <a:rPr sz="3400" spc="85" dirty="0">
                <a:latin typeface="Constantia"/>
                <a:cs typeface="Constantia"/>
              </a:rPr>
              <a:t> </a:t>
            </a:r>
            <a:r>
              <a:rPr sz="3400" dirty="0">
                <a:latin typeface="Constantia"/>
                <a:cs typeface="Constantia"/>
              </a:rPr>
              <a:t>array(in</a:t>
            </a:r>
            <a:r>
              <a:rPr sz="3400" spc="145" dirty="0">
                <a:latin typeface="Constantia"/>
                <a:cs typeface="Constantia"/>
              </a:rPr>
              <a:t> </a:t>
            </a:r>
            <a:r>
              <a:rPr sz="3400" spc="-10" dirty="0">
                <a:latin typeface="Constantia"/>
                <a:cs typeface="Constantia"/>
              </a:rPr>
              <a:t>byte),</a:t>
            </a:r>
            <a:endParaRPr sz="3400">
              <a:latin typeface="Constantia"/>
              <a:cs typeface="Constantia"/>
            </a:endParaRPr>
          </a:p>
          <a:p>
            <a:pPr marL="12700">
              <a:lnSpc>
                <a:spcPct val="100000"/>
              </a:lnSpc>
              <a:spcBef>
                <a:spcPts val="2940"/>
              </a:spcBef>
              <a:tabLst>
                <a:tab pos="725805" algn="l"/>
                <a:tab pos="1176655" algn="l"/>
                <a:tab pos="2565400" algn="l"/>
                <a:tab pos="5159375" algn="l"/>
                <a:tab pos="6619240" algn="l"/>
                <a:tab pos="7203440" algn="l"/>
                <a:tab pos="9611360" algn="l"/>
                <a:tab pos="10469245" algn="l"/>
              </a:tabLst>
            </a:pPr>
            <a:r>
              <a:rPr sz="3400" spc="-25" dirty="0">
                <a:latin typeface="Constantia"/>
                <a:cs typeface="Constantia"/>
              </a:rPr>
              <a:t>LB</a:t>
            </a:r>
            <a:r>
              <a:rPr sz="3400" dirty="0">
                <a:latin typeface="Constantia"/>
                <a:cs typeface="Constantia"/>
              </a:rPr>
              <a:t>	</a:t>
            </a:r>
            <a:r>
              <a:rPr sz="3400" spc="-50" dirty="0">
                <a:latin typeface="Constantia"/>
                <a:cs typeface="Constantia"/>
              </a:rPr>
              <a:t>=</a:t>
            </a:r>
            <a:r>
              <a:rPr sz="3400" dirty="0">
                <a:latin typeface="Constantia"/>
                <a:cs typeface="Constantia"/>
              </a:rPr>
              <a:t>	</a:t>
            </a:r>
            <a:r>
              <a:rPr sz="3400" spc="-20" dirty="0">
                <a:latin typeface="Constantia"/>
                <a:cs typeface="Constantia"/>
              </a:rPr>
              <a:t>Lower</a:t>
            </a:r>
            <a:r>
              <a:rPr sz="3400" dirty="0">
                <a:latin typeface="Constantia"/>
                <a:cs typeface="Constantia"/>
              </a:rPr>
              <a:t>	</a:t>
            </a:r>
            <a:r>
              <a:rPr sz="3400" spc="-10" dirty="0">
                <a:latin typeface="Constantia"/>
                <a:cs typeface="Constantia"/>
              </a:rPr>
              <a:t>Limit/Lower</a:t>
            </a:r>
            <a:r>
              <a:rPr sz="3400" dirty="0">
                <a:latin typeface="Constantia"/>
                <a:cs typeface="Constantia"/>
              </a:rPr>
              <a:t>	</a:t>
            </a:r>
            <a:r>
              <a:rPr sz="3400" spc="-10" dirty="0">
                <a:latin typeface="Constantia"/>
                <a:cs typeface="Constantia"/>
              </a:rPr>
              <a:t>Bound</a:t>
            </a:r>
            <a:r>
              <a:rPr sz="3400" dirty="0">
                <a:latin typeface="Constantia"/>
                <a:cs typeface="Constantia"/>
              </a:rPr>
              <a:t>	</a:t>
            </a:r>
            <a:r>
              <a:rPr sz="3400" spc="-25" dirty="0">
                <a:latin typeface="Constantia"/>
                <a:cs typeface="Constantia"/>
              </a:rPr>
              <a:t>of</a:t>
            </a:r>
            <a:r>
              <a:rPr sz="3400" dirty="0">
                <a:latin typeface="Constantia"/>
                <a:cs typeface="Constantia"/>
              </a:rPr>
              <a:t>	</a:t>
            </a:r>
            <a:r>
              <a:rPr sz="3400" spc="-10" dirty="0">
                <a:latin typeface="Constantia"/>
                <a:cs typeface="Constantia"/>
              </a:rPr>
              <a:t>subscript(If</a:t>
            </a:r>
            <a:r>
              <a:rPr sz="3400" dirty="0">
                <a:latin typeface="Constantia"/>
                <a:cs typeface="Constantia"/>
              </a:rPr>
              <a:t>	</a:t>
            </a:r>
            <a:r>
              <a:rPr sz="3400" spc="-25" dirty="0">
                <a:latin typeface="Constantia"/>
                <a:cs typeface="Constantia"/>
              </a:rPr>
              <a:t>not</a:t>
            </a:r>
            <a:r>
              <a:rPr sz="3400" dirty="0">
                <a:latin typeface="Constantia"/>
                <a:cs typeface="Constantia"/>
              </a:rPr>
              <a:t>	</a:t>
            </a:r>
            <a:r>
              <a:rPr sz="3400" spc="-10" dirty="0">
                <a:latin typeface="Constantia"/>
                <a:cs typeface="Constantia"/>
              </a:rPr>
              <a:t>specified</a:t>
            </a:r>
            <a:endParaRPr sz="3400">
              <a:latin typeface="Constantia"/>
              <a:cs typeface="Constantia"/>
            </a:endParaRPr>
          </a:p>
          <a:p>
            <a:pPr marL="12700">
              <a:lnSpc>
                <a:spcPts val="3620"/>
              </a:lnSpc>
              <a:spcBef>
                <a:spcPts val="2039"/>
              </a:spcBef>
            </a:pPr>
            <a:r>
              <a:rPr sz="3400" dirty="0">
                <a:latin typeface="Constantia"/>
                <a:cs typeface="Constantia"/>
              </a:rPr>
              <a:t>assume</a:t>
            </a:r>
            <a:r>
              <a:rPr sz="3400" spc="85" dirty="0">
                <a:latin typeface="Constantia"/>
                <a:cs typeface="Constantia"/>
              </a:rPr>
              <a:t> </a:t>
            </a:r>
            <a:r>
              <a:rPr sz="3400" spc="-10" dirty="0">
                <a:latin typeface="Constantia"/>
                <a:cs typeface="Constantia"/>
              </a:rPr>
              <a:t>zero).</a:t>
            </a:r>
            <a:endParaRPr sz="3400">
              <a:latin typeface="Constantia"/>
              <a:cs typeface="Constantia"/>
            </a:endParaRPr>
          </a:p>
          <a:p>
            <a:pPr marR="2169795" algn="r">
              <a:lnSpc>
                <a:spcPts val="3860"/>
              </a:lnSpc>
            </a:pPr>
            <a:r>
              <a:rPr sz="3600" i="1" spc="-50" dirty="0">
                <a:solidFill>
                  <a:srgbClr val="5C5C5C"/>
                </a:solidFill>
                <a:latin typeface="Arial"/>
                <a:cs typeface="Arial"/>
              </a:rPr>
              <a:t>2</a:t>
            </a:r>
            <a:endParaRPr sz="36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398" y="1125727"/>
            <a:ext cx="12601575" cy="7616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Example: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Given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base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address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of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an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array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A[1300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…………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1900]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as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1020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and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size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of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spc="-20" dirty="0">
                <a:latin typeface="Times New Roman"/>
                <a:cs typeface="Times New Roman"/>
              </a:rPr>
              <a:t>each </a:t>
            </a:r>
            <a:r>
              <a:rPr sz="2400" b="1" dirty="0">
                <a:latin typeface="Times New Roman"/>
                <a:cs typeface="Times New Roman"/>
              </a:rPr>
              <a:t>element</a:t>
            </a:r>
            <a:r>
              <a:rPr sz="2400" b="1" spc="-6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is</a:t>
            </a:r>
            <a:r>
              <a:rPr sz="2400" b="1" spc="-6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2</a:t>
            </a:r>
            <a:r>
              <a:rPr sz="2400" b="1" spc="-8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bytes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in</a:t>
            </a:r>
            <a:r>
              <a:rPr sz="2400" b="1" spc="-7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-6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memory,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find</a:t>
            </a:r>
            <a:r>
              <a:rPr sz="2400" b="1" spc="-6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-6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address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of</a:t>
            </a:r>
            <a:r>
              <a:rPr sz="2400" b="1" spc="-6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A[1700].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340"/>
              </a:spcBef>
            </a:pPr>
            <a:r>
              <a:rPr sz="2400" b="1" dirty="0">
                <a:latin typeface="Times New Roman"/>
                <a:cs typeface="Times New Roman"/>
              </a:rPr>
              <a:t>Solution:</a:t>
            </a:r>
            <a:r>
              <a:rPr sz="2400" b="1" spc="-12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Given: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340"/>
              </a:spcBef>
            </a:pPr>
            <a:r>
              <a:rPr sz="2400" b="1" dirty="0">
                <a:latin typeface="Times New Roman"/>
                <a:cs typeface="Times New Roman"/>
              </a:rPr>
              <a:t>Base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address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B</a:t>
            </a:r>
            <a:r>
              <a:rPr sz="2400" b="1" spc="-6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=</a:t>
            </a:r>
            <a:r>
              <a:rPr sz="2400" b="1" spc="-65" dirty="0">
                <a:latin typeface="Times New Roman"/>
                <a:cs typeface="Times New Roman"/>
              </a:rPr>
              <a:t> </a:t>
            </a:r>
            <a:r>
              <a:rPr sz="2400" b="1" spc="-20" dirty="0">
                <a:latin typeface="Times New Roman"/>
                <a:cs typeface="Times New Roman"/>
              </a:rPr>
              <a:t>1020</a:t>
            </a:r>
            <a:endParaRPr sz="2400">
              <a:latin typeface="Times New Roman"/>
              <a:cs typeface="Times New Roman"/>
            </a:endParaRPr>
          </a:p>
          <a:p>
            <a:pPr marL="12700" marR="5197475">
              <a:lnSpc>
                <a:spcPts val="5220"/>
              </a:lnSpc>
              <a:spcBef>
                <a:spcPts val="565"/>
              </a:spcBef>
            </a:pPr>
            <a:r>
              <a:rPr sz="2400" b="1" dirty="0">
                <a:latin typeface="Times New Roman"/>
                <a:cs typeface="Times New Roman"/>
              </a:rPr>
              <a:t>Lower</a:t>
            </a:r>
            <a:r>
              <a:rPr sz="2400" b="1" spc="-6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Limit/Lower</a:t>
            </a:r>
            <a:r>
              <a:rPr sz="2400" b="1" spc="-6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Bound</a:t>
            </a:r>
            <a:r>
              <a:rPr sz="2400" b="1" spc="-6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of</a:t>
            </a:r>
            <a:r>
              <a:rPr sz="2400" b="1" spc="-8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subscript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LB</a:t>
            </a:r>
            <a:r>
              <a:rPr sz="2400" b="1" spc="-8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=</a:t>
            </a:r>
            <a:r>
              <a:rPr sz="2400" b="1" spc="-100" dirty="0">
                <a:latin typeface="Times New Roman"/>
                <a:cs typeface="Times New Roman"/>
              </a:rPr>
              <a:t> </a:t>
            </a:r>
            <a:r>
              <a:rPr sz="2400" b="1" spc="-20" dirty="0">
                <a:latin typeface="Times New Roman"/>
                <a:cs typeface="Times New Roman"/>
              </a:rPr>
              <a:t>1300 </a:t>
            </a:r>
            <a:r>
              <a:rPr sz="2400" b="1" dirty="0">
                <a:latin typeface="Times New Roman"/>
                <a:cs typeface="Times New Roman"/>
              </a:rPr>
              <a:t>Storage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size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of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one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element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store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in</a:t>
            </a:r>
            <a:r>
              <a:rPr sz="2400" b="1" spc="-6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any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array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W</a:t>
            </a:r>
            <a:r>
              <a:rPr sz="2400" b="1" spc="-6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=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2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spc="-20" dirty="0">
                <a:latin typeface="Times New Roman"/>
                <a:cs typeface="Times New Roman"/>
              </a:rPr>
              <a:t>Byte</a:t>
            </a:r>
            <a:endParaRPr sz="2400">
              <a:latin typeface="Times New Roman"/>
              <a:cs typeface="Times New Roman"/>
            </a:endParaRPr>
          </a:p>
          <a:p>
            <a:pPr marL="12700" marR="5711190">
              <a:lnSpc>
                <a:spcPts val="5220"/>
              </a:lnSpc>
              <a:spcBef>
                <a:spcPts val="5"/>
              </a:spcBef>
            </a:pPr>
            <a:r>
              <a:rPr sz="2400" b="1" dirty="0">
                <a:latin typeface="Times New Roman"/>
                <a:cs typeface="Times New Roman"/>
              </a:rPr>
              <a:t>Subset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of</a:t>
            </a:r>
            <a:r>
              <a:rPr sz="2400" b="1" spc="-7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element</a:t>
            </a:r>
            <a:r>
              <a:rPr sz="2400" b="1" spc="-7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whose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address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to</a:t>
            </a:r>
            <a:r>
              <a:rPr sz="2400" b="1" spc="-9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be</a:t>
            </a:r>
            <a:r>
              <a:rPr sz="2400" b="1" spc="-6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found</a:t>
            </a:r>
            <a:r>
              <a:rPr sz="2400" b="1" spc="-6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</a:t>
            </a:r>
            <a:r>
              <a:rPr sz="2400" b="1" spc="-7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=</a:t>
            </a:r>
            <a:r>
              <a:rPr sz="2400" b="1" spc="-75" dirty="0">
                <a:latin typeface="Times New Roman"/>
                <a:cs typeface="Times New Roman"/>
              </a:rPr>
              <a:t> </a:t>
            </a:r>
            <a:r>
              <a:rPr sz="2400" b="1" spc="-20" dirty="0">
                <a:latin typeface="Times New Roman"/>
                <a:cs typeface="Times New Roman"/>
              </a:rPr>
              <a:t>1700 </a:t>
            </a:r>
            <a:r>
              <a:rPr sz="2400" b="1" dirty="0">
                <a:latin typeface="Times New Roman"/>
                <a:cs typeface="Times New Roman"/>
              </a:rPr>
              <a:t>Formula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used: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Address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of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A[I]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=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B</a:t>
            </a:r>
            <a:r>
              <a:rPr sz="2400" b="1" spc="-6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+</a:t>
            </a:r>
            <a:r>
              <a:rPr sz="2400" b="1" spc="-6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W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*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(I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–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latin typeface="Times New Roman"/>
                <a:cs typeface="Times New Roman"/>
              </a:rPr>
              <a:t>LB)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70"/>
              </a:spcBef>
            </a:pPr>
            <a:r>
              <a:rPr sz="1800" b="1" spc="-10" dirty="0">
                <a:latin typeface="Times New Roman"/>
                <a:cs typeface="Times New Roman"/>
              </a:rPr>
              <a:t>Solution: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latin typeface="Times New Roman"/>
                <a:cs typeface="Times New Roman"/>
              </a:rPr>
              <a:t>Address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of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A[1700]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=</a:t>
            </a:r>
            <a:r>
              <a:rPr sz="2400" b="1" spc="-6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1020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+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2</a:t>
            </a:r>
            <a:r>
              <a:rPr sz="2400" b="1" spc="-6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*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(1700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–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1300)</a:t>
            </a:r>
            <a:endParaRPr sz="2400">
              <a:latin typeface="Times New Roman"/>
              <a:cs typeface="Times New Roman"/>
            </a:endParaRPr>
          </a:p>
          <a:p>
            <a:pPr marL="2272665">
              <a:lnSpc>
                <a:spcPct val="100000"/>
              </a:lnSpc>
              <a:spcBef>
                <a:spcPts val="2340"/>
              </a:spcBef>
            </a:pPr>
            <a:r>
              <a:rPr sz="2400" b="1" dirty="0">
                <a:latin typeface="Times New Roman"/>
                <a:cs typeface="Times New Roman"/>
              </a:rPr>
              <a:t>=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1020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+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2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*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(400)</a:t>
            </a:r>
            <a:endParaRPr sz="2400">
              <a:latin typeface="Times New Roman"/>
              <a:cs typeface="Times New Roman"/>
            </a:endParaRPr>
          </a:p>
          <a:p>
            <a:pPr marL="2272665">
              <a:lnSpc>
                <a:spcPct val="100000"/>
              </a:lnSpc>
              <a:spcBef>
                <a:spcPts val="2345"/>
              </a:spcBef>
            </a:pPr>
            <a:r>
              <a:rPr sz="2400" b="1" dirty="0">
                <a:latin typeface="Times New Roman"/>
                <a:cs typeface="Times New Roman"/>
              </a:rPr>
              <a:t>=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1020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+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latin typeface="Times New Roman"/>
                <a:cs typeface="Times New Roman"/>
              </a:rPr>
              <a:t>800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569697" y="9506449"/>
            <a:ext cx="206375" cy="241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720"/>
              </a:lnSpc>
            </a:pPr>
            <a:r>
              <a:rPr sz="1700" i="1" spc="-50" dirty="0">
                <a:solidFill>
                  <a:srgbClr val="DFDFD2"/>
                </a:solidFill>
                <a:latin typeface="Constantia"/>
                <a:cs typeface="Constantia"/>
              </a:rPr>
              <a:t>6</a:t>
            </a:r>
            <a:endParaRPr sz="1700">
              <a:latin typeface="Constantia"/>
              <a:cs typeface="Constant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17398" y="9013647"/>
            <a:ext cx="34442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Address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of</a:t>
            </a:r>
            <a:r>
              <a:rPr sz="2400" b="1" spc="-8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A[1700]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=</a:t>
            </a:r>
            <a:r>
              <a:rPr sz="2400" b="1" spc="-100" dirty="0">
                <a:latin typeface="Times New Roman"/>
                <a:cs typeface="Times New Roman"/>
              </a:rPr>
              <a:t> </a:t>
            </a:r>
            <a:r>
              <a:rPr sz="2400" b="1" spc="-20" dirty="0">
                <a:latin typeface="Times New Roman"/>
                <a:cs typeface="Times New Roman"/>
              </a:rPr>
              <a:t>1820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595097" y="9223959"/>
            <a:ext cx="13779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i="1" spc="-50" dirty="0">
                <a:solidFill>
                  <a:srgbClr val="DFDFD2"/>
                </a:solidFill>
                <a:latin typeface="Constantia"/>
                <a:cs typeface="Constantia"/>
              </a:rPr>
              <a:t>4</a:t>
            </a:r>
            <a:endParaRPr sz="1700">
              <a:latin typeface="Constantia"/>
              <a:cs typeface="Constanti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54837" y="4064"/>
            <a:ext cx="12001500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dirty="0">
                <a:latin typeface="Times New Roman"/>
                <a:cs typeface="Times New Roman"/>
              </a:rPr>
              <a:t>1-D</a:t>
            </a:r>
            <a:r>
              <a:rPr sz="6600" spc="50" dirty="0">
                <a:latin typeface="Times New Roman"/>
                <a:cs typeface="Times New Roman"/>
              </a:rPr>
              <a:t> </a:t>
            </a:r>
            <a:r>
              <a:rPr sz="6600" dirty="0">
                <a:latin typeface="Times New Roman"/>
                <a:cs typeface="Times New Roman"/>
              </a:rPr>
              <a:t>ADDRESS</a:t>
            </a:r>
            <a:r>
              <a:rPr sz="6600" spc="75" dirty="0">
                <a:latin typeface="Times New Roman"/>
                <a:cs typeface="Times New Roman"/>
              </a:rPr>
              <a:t> </a:t>
            </a:r>
            <a:r>
              <a:rPr sz="6600" spc="-10" dirty="0">
                <a:latin typeface="Times New Roman"/>
                <a:cs typeface="Times New Roman"/>
              </a:rPr>
              <a:t>CALCULATION</a:t>
            </a:r>
            <a:endParaRPr sz="6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178030" y="9154464"/>
            <a:ext cx="2724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i="1" spc="-85" dirty="0">
                <a:solidFill>
                  <a:srgbClr val="585858"/>
                </a:solidFill>
                <a:latin typeface="Verdana"/>
                <a:cs typeface="Verdana"/>
              </a:rPr>
              <a:t>46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298683" y="8673490"/>
            <a:ext cx="2800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i="1" spc="-50" dirty="0">
                <a:solidFill>
                  <a:srgbClr val="5C5C5C"/>
                </a:solidFill>
                <a:latin typeface="Arial"/>
                <a:cs typeface="Arial"/>
              </a:rPr>
              <a:t>2</a:t>
            </a:r>
            <a:endParaRPr sz="36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078468" y="4271771"/>
            <a:ext cx="1586865" cy="1127760"/>
            <a:chOff x="9078468" y="4271771"/>
            <a:chExt cx="1586865" cy="11277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078468" y="4320539"/>
              <a:ext cx="1024127" cy="67665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688068" y="4320539"/>
              <a:ext cx="531876" cy="67665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805416" y="4320539"/>
              <a:ext cx="553212" cy="67665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921240" y="4271771"/>
              <a:ext cx="743711" cy="75742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52788" y="4725923"/>
              <a:ext cx="851916" cy="673608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9273667" y="4298791"/>
            <a:ext cx="1013460" cy="873125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20"/>
              </a:spcBef>
            </a:pPr>
            <a:r>
              <a:rPr sz="2300" spc="-10" dirty="0">
                <a:solidFill>
                  <a:srgbClr val="FFFFFF"/>
                </a:solidFill>
                <a:latin typeface="Constantia"/>
                <a:cs typeface="Constantia"/>
              </a:rPr>
              <a:t>X(Base</a:t>
            </a:r>
            <a:r>
              <a:rPr sz="2600" spc="-10" dirty="0">
                <a:solidFill>
                  <a:srgbClr val="FFFFFF"/>
                </a:solidFill>
                <a:latin typeface="Constantia"/>
                <a:cs typeface="Constantia"/>
              </a:rPr>
              <a:t>)</a:t>
            </a:r>
            <a:endParaRPr sz="2600">
              <a:latin typeface="Constantia"/>
              <a:cs typeface="Constantia"/>
            </a:endParaRPr>
          </a:p>
          <a:p>
            <a:pPr algn="ctr">
              <a:lnSpc>
                <a:spcPct val="100000"/>
              </a:lnSpc>
              <a:spcBef>
                <a:spcPts val="370"/>
              </a:spcBef>
            </a:pPr>
            <a:r>
              <a:rPr sz="2300" spc="-25" dirty="0">
                <a:solidFill>
                  <a:srgbClr val="FFFFFF"/>
                </a:solidFill>
                <a:latin typeface="Constantia"/>
                <a:cs typeface="Constantia"/>
              </a:rPr>
              <a:t>X+1</a:t>
            </a:r>
            <a:endParaRPr sz="2300">
              <a:latin typeface="Constantia"/>
              <a:cs typeface="Constant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178030" y="9154464"/>
            <a:ext cx="2724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i="1" spc="-85" dirty="0">
                <a:solidFill>
                  <a:srgbClr val="585858"/>
                </a:solidFill>
                <a:latin typeface="Verdana"/>
                <a:cs typeface="Verdana"/>
              </a:rPr>
              <a:t>47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595097" y="9223959"/>
            <a:ext cx="13779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i="1" spc="-50" dirty="0">
                <a:solidFill>
                  <a:srgbClr val="DFDFD2"/>
                </a:solidFill>
                <a:latin typeface="Constantia"/>
                <a:cs typeface="Constantia"/>
              </a:rPr>
              <a:t>4</a:t>
            </a:r>
            <a:endParaRPr sz="1700">
              <a:latin typeface="Constantia"/>
              <a:cs typeface="Constant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478148" y="7991093"/>
            <a:ext cx="6231890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 b="1" i="1" dirty="0">
                <a:solidFill>
                  <a:srgbClr val="FF0000"/>
                </a:solidFill>
                <a:latin typeface="Constantia"/>
                <a:cs typeface="Constantia"/>
              </a:rPr>
              <a:t>Fig</a:t>
            </a:r>
            <a:r>
              <a:rPr sz="3400" b="1" i="1" spc="-70" dirty="0">
                <a:solidFill>
                  <a:srgbClr val="FF0000"/>
                </a:solidFill>
                <a:latin typeface="Constantia"/>
                <a:cs typeface="Constantia"/>
              </a:rPr>
              <a:t> </a:t>
            </a:r>
            <a:r>
              <a:rPr sz="3400" b="1" i="1" dirty="0">
                <a:solidFill>
                  <a:srgbClr val="FF0000"/>
                </a:solidFill>
                <a:latin typeface="Constantia"/>
                <a:cs typeface="Constantia"/>
              </a:rPr>
              <a:t>2.1</a:t>
            </a:r>
            <a:r>
              <a:rPr sz="3400" b="1" i="1" spc="35" dirty="0">
                <a:solidFill>
                  <a:srgbClr val="FF0000"/>
                </a:solidFill>
                <a:latin typeface="Constantia"/>
                <a:cs typeface="Constantia"/>
              </a:rPr>
              <a:t> </a:t>
            </a:r>
            <a:r>
              <a:rPr sz="3400" b="1" i="1" spc="-20" dirty="0">
                <a:solidFill>
                  <a:srgbClr val="FF0000"/>
                </a:solidFill>
                <a:latin typeface="Constantia"/>
                <a:cs typeface="Constantia"/>
              </a:rPr>
              <a:t>Memory</a:t>
            </a:r>
            <a:r>
              <a:rPr sz="3400" b="1" i="1" spc="-110" dirty="0">
                <a:solidFill>
                  <a:srgbClr val="FF0000"/>
                </a:solidFill>
                <a:latin typeface="Constantia"/>
                <a:cs typeface="Constantia"/>
              </a:rPr>
              <a:t> </a:t>
            </a:r>
            <a:r>
              <a:rPr sz="3400" b="1" i="1" spc="-10" dirty="0">
                <a:solidFill>
                  <a:srgbClr val="FF0000"/>
                </a:solidFill>
                <a:latin typeface="Constantia"/>
                <a:cs typeface="Constantia"/>
              </a:rPr>
              <a:t>Representation</a:t>
            </a:r>
            <a:endParaRPr sz="3400">
              <a:latin typeface="Constantia"/>
              <a:cs typeface="Constanti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1089" rIns="0" bIns="0" rtlCol="0">
            <a:spAutoFit/>
          </a:bodyPr>
          <a:lstStyle/>
          <a:p>
            <a:pPr marL="377825">
              <a:lnSpc>
                <a:spcPct val="100000"/>
              </a:lnSpc>
              <a:spcBef>
                <a:spcPts val="100"/>
              </a:spcBef>
            </a:pPr>
            <a:r>
              <a:rPr sz="5400" dirty="0">
                <a:latin typeface="Times New Roman"/>
                <a:cs typeface="Times New Roman"/>
              </a:rPr>
              <a:t>Memory</a:t>
            </a:r>
            <a:r>
              <a:rPr sz="5400" spc="85" dirty="0">
                <a:latin typeface="Times New Roman"/>
                <a:cs typeface="Times New Roman"/>
              </a:rPr>
              <a:t> </a:t>
            </a:r>
            <a:r>
              <a:rPr sz="5400" dirty="0">
                <a:latin typeface="Times New Roman"/>
                <a:cs typeface="Times New Roman"/>
              </a:rPr>
              <a:t>Representation</a:t>
            </a:r>
            <a:r>
              <a:rPr sz="5400" spc="110" dirty="0">
                <a:latin typeface="Times New Roman"/>
                <a:cs typeface="Times New Roman"/>
              </a:rPr>
              <a:t> </a:t>
            </a:r>
            <a:r>
              <a:rPr sz="5400" dirty="0">
                <a:latin typeface="Times New Roman"/>
                <a:cs typeface="Times New Roman"/>
              </a:rPr>
              <a:t>and</a:t>
            </a:r>
            <a:r>
              <a:rPr sz="5400" spc="75" dirty="0">
                <a:latin typeface="Times New Roman"/>
                <a:cs typeface="Times New Roman"/>
              </a:rPr>
              <a:t> </a:t>
            </a:r>
            <a:r>
              <a:rPr sz="5400" spc="-10" dirty="0">
                <a:latin typeface="Times New Roman"/>
                <a:cs typeface="Times New Roman"/>
              </a:rPr>
              <a:t>Calculation</a:t>
            </a:r>
            <a:endParaRPr sz="5400">
              <a:latin typeface="Times New Roman"/>
              <a:cs typeface="Times New Roman"/>
            </a:endParaRPr>
          </a:p>
        </p:txBody>
      </p:sp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0806" y="864830"/>
            <a:ext cx="12877800" cy="8856599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2569697" y="9506449"/>
            <a:ext cx="206375" cy="241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720"/>
              </a:lnSpc>
            </a:pPr>
            <a:r>
              <a:rPr sz="1700" i="1" spc="-50" dirty="0">
                <a:solidFill>
                  <a:srgbClr val="DFDFD2"/>
                </a:solidFill>
                <a:latin typeface="Constantia"/>
                <a:cs typeface="Constantia"/>
              </a:rPr>
              <a:t>7</a:t>
            </a:r>
            <a:endParaRPr sz="1700">
              <a:latin typeface="Constantia"/>
              <a:cs typeface="Constant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768" y="1097406"/>
            <a:ext cx="11829415" cy="4341495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1187450" marR="43180" indent="-1137285">
              <a:lnSpc>
                <a:spcPts val="3300"/>
              </a:lnSpc>
              <a:spcBef>
                <a:spcPts val="855"/>
              </a:spcBef>
              <a:buClr>
                <a:srgbClr val="E0E1DC"/>
              </a:buClr>
              <a:buSzPct val="94117"/>
              <a:buFont typeface="Wingdings"/>
              <a:buChar char=""/>
              <a:tabLst>
                <a:tab pos="1187450" algn="l"/>
                <a:tab pos="2161540" algn="l"/>
                <a:tab pos="3833495" algn="l"/>
                <a:tab pos="4471670" algn="l"/>
                <a:tab pos="5336540" algn="l"/>
                <a:tab pos="5985510" algn="l"/>
                <a:tab pos="7761605" algn="l"/>
                <a:tab pos="8310245" algn="l"/>
                <a:tab pos="10478770" algn="l"/>
                <a:tab pos="11172190" algn="l"/>
              </a:tabLst>
            </a:pPr>
            <a:r>
              <a:rPr sz="3400" spc="-25" dirty="0">
                <a:latin typeface="Constantia"/>
                <a:cs typeface="Constantia"/>
              </a:rPr>
              <a:t>The</a:t>
            </a:r>
            <a:r>
              <a:rPr sz="3400" dirty="0">
                <a:latin typeface="Constantia"/>
                <a:cs typeface="Constantia"/>
              </a:rPr>
              <a:t>	</a:t>
            </a:r>
            <a:r>
              <a:rPr sz="3400" spc="-10" dirty="0">
                <a:latin typeface="Constantia"/>
                <a:cs typeface="Constantia"/>
              </a:rPr>
              <a:t>address</a:t>
            </a:r>
            <a:r>
              <a:rPr sz="3400" dirty="0">
                <a:latin typeface="Constantia"/>
                <a:cs typeface="Constantia"/>
              </a:rPr>
              <a:t>	</a:t>
            </a:r>
            <a:r>
              <a:rPr sz="3400" spc="-25" dirty="0">
                <a:latin typeface="Constantia"/>
                <a:cs typeface="Constantia"/>
              </a:rPr>
              <a:t>of</a:t>
            </a:r>
            <a:r>
              <a:rPr sz="3400" dirty="0">
                <a:latin typeface="Constantia"/>
                <a:cs typeface="Constantia"/>
              </a:rPr>
              <a:t>	</a:t>
            </a:r>
            <a:r>
              <a:rPr sz="3400" spc="-25" dirty="0">
                <a:latin typeface="Constantia"/>
                <a:cs typeface="Constantia"/>
              </a:rPr>
              <a:t>the</a:t>
            </a:r>
            <a:r>
              <a:rPr sz="3400" dirty="0">
                <a:latin typeface="Constantia"/>
                <a:cs typeface="Constantia"/>
              </a:rPr>
              <a:t>	</a:t>
            </a:r>
            <a:r>
              <a:rPr sz="3400" spc="-25" dirty="0">
                <a:latin typeface="Constantia"/>
                <a:cs typeface="Constantia"/>
              </a:rPr>
              <a:t>i</a:t>
            </a:r>
            <a:r>
              <a:rPr sz="3375" spc="-37" baseline="19753" dirty="0">
                <a:latin typeface="Constantia"/>
                <a:cs typeface="Constantia"/>
              </a:rPr>
              <a:t>th</a:t>
            </a:r>
            <a:r>
              <a:rPr sz="3375" baseline="19753" dirty="0">
                <a:latin typeface="Constantia"/>
                <a:cs typeface="Constantia"/>
              </a:rPr>
              <a:t>	</a:t>
            </a:r>
            <a:r>
              <a:rPr sz="3400" spc="-10" dirty="0">
                <a:latin typeface="Constantia"/>
                <a:cs typeface="Constantia"/>
              </a:rPr>
              <a:t>element</a:t>
            </a:r>
            <a:r>
              <a:rPr sz="3400" dirty="0">
                <a:latin typeface="Constantia"/>
                <a:cs typeface="Constantia"/>
              </a:rPr>
              <a:t>	</a:t>
            </a:r>
            <a:r>
              <a:rPr sz="3400" spc="-35" dirty="0">
                <a:latin typeface="Constantia"/>
                <a:cs typeface="Constantia"/>
              </a:rPr>
              <a:t>is</a:t>
            </a:r>
            <a:r>
              <a:rPr sz="3400" dirty="0">
                <a:latin typeface="Constantia"/>
                <a:cs typeface="Constantia"/>
              </a:rPr>
              <a:t>	</a:t>
            </a:r>
            <a:r>
              <a:rPr sz="3400" spc="-10" dirty="0">
                <a:latin typeface="Constantia"/>
                <a:cs typeface="Constantia"/>
              </a:rPr>
              <a:t>calculated</a:t>
            </a:r>
            <a:r>
              <a:rPr sz="3400" dirty="0">
                <a:latin typeface="Constantia"/>
                <a:cs typeface="Constantia"/>
              </a:rPr>
              <a:t>	</a:t>
            </a:r>
            <a:r>
              <a:rPr sz="3400" spc="-25" dirty="0">
                <a:latin typeface="Constantia"/>
                <a:cs typeface="Constantia"/>
              </a:rPr>
              <a:t>by</a:t>
            </a:r>
            <a:r>
              <a:rPr sz="3400" dirty="0">
                <a:latin typeface="Constantia"/>
                <a:cs typeface="Constantia"/>
              </a:rPr>
              <a:t>	</a:t>
            </a:r>
            <a:r>
              <a:rPr sz="3400" spc="-30" dirty="0">
                <a:latin typeface="Constantia"/>
                <a:cs typeface="Constantia"/>
              </a:rPr>
              <a:t>the </a:t>
            </a:r>
            <a:r>
              <a:rPr sz="3400" spc="-10" dirty="0">
                <a:latin typeface="Constantia"/>
                <a:cs typeface="Constantia"/>
              </a:rPr>
              <a:t>following</a:t>
            </a:r>
            <a:r>
              <a:rPr sz="3400" spc="-160" dirty="0">
                <a:latin typeface="Constantia"/>
                <a:cs typeface="Constantia"/>
              </a:rPr>
              <a:t> </a:t>
            </a:r>
            <a:r>
              <a:rPr sz="3400" spc="-10" dirty="0">
                <a:latin typeface="Constantia"/>
                <a:cs typeface="Constantia"/>
              </a:rPr>
              <a:t>formula</a:t>
            </a:r>
            <a:endParaRPr sz="3400">
              <a:latin typeface="Constantia"/>
              <a:cs typeface="Constantia"/>
            </a:endParaRPr>
          </a:p>
          <a:p>
            <a:pPr>
              <a:lnSpc>
                <a:spcPct val="100000"/>
              </a:lnSpc>
              <a:spcBef>
                <a:spcPts val="2805"/>
              </a:spcBef>
            </a:pPr>
            <a:endParaRPr sz="3400">
              <a:latin typeface="Constantia"/>
              <a:cs typeface="Constantia"/>
            </a:endParaRPr>
          </a:p>
          <a:p>
            <a:pPr marL="1964689" marR="194310" indent="36195">
              <a:lnSpc>
                <a:spcPct val="80000"/>
              </a:lnSpc>
            </a:pPr>
            <a:r>
              <a:rPr sz="3400" dirty="0">
                <a:latin typeface="Constantia"/>
                <a:cs typeface="Constantia"/>
              </a:rPr>
              <a:t>(Base</a:t>
            </a:r>
            <a:r>
              <a:rPr sz="3400" spc="55" dirty="0">
                <a:latin typeface="Constantia"/>
                <a:cs typeface="Constantia"/>
              </a:rPr>
              <a:t> </a:t>
            </a:r>
            <a:r>
              <a:rPr sz="3400" dirty="0">
                <a:latin typeface="Constantia"/>
                <a:cs typeface="Constantia"/>
              </a:rPr>
              <a:t>address)</a:t>
            </a:r>
            <a:r>
              <a:rPr sz="3400" spc="-20" dirty="0">
                <a:latin typeface="Constantia"/>
                <a:cs typeface="Constantia"/>
              </a:rPr>
              <a:t> </a:t>
            </a:r>
            <a:r>
              <a:rPr sz="3400" dirty="0">
                <a:latin typeface="Constantia"/>
                <a:cs typeface="Constantia"/>
              </a:rPr>
              <a:t>+</a:t>
            </a:r>
            <a:r>
              <a:rPr sz="3400" spc="30" dirty="0">
                <a:latin typeface="Constantia"/>
                <a:cs typeface="Constantia"/>
              </a:rPr>
              <a:t> </a:t>
            </a:r>
            <a:r>
              <a:rPr sz="3400" dirty="0">
                <a:latin typeface="Constantia"/>
                <a:cs typeface="Constantia"/>
              </a:rPr>
              <a:t>(offset</a:t>
            </a:r>
            <a:r>
              <a:rPr sz="3400" spc="70" dirty="0">
                <a:latin typeface="Constantia"/>
                <a:cs typeface="Constantia"/>
              </a:rPr>
              <a:t> </a:t>
            </a:r>
            <a:r>
              <a:rPr sz="3400" dirty="0">
                <a:latin typeface="Constantia"/>
                <a:cs typeface="Constantia"/>
              </a:rPr>
              <a:t>of</a:t>
            </a:r>
            <a:r>
              <a:rPr sz="3400" spc="-35" dirty="0">
                <a:latin typeface="Constantia"/>
                <a:cs typeface="Constantia"/>
              </a:rPr>
              <a:t> </a:t>
            </a:r>
            <a:r>
              <a:rPr sz="3400" dirty="0">
                <a:latin typeface="Constantia"/>
                <a:cs typeface="Constantia"/>
              </a:rPr>
              <a:t>the</a:t>
            </a:r>
            <a:r>
              <a:rPr sz="3400" spc="-20" dirty="0">
                <a:latin typeface="Constantia"/>
                <a:cs typeface="Constantia"/>
              </a:rPr>
              <a:t> </a:t>
            </a:r>
            <a:r>
              <a:rPr sz="3400" dirty="0">
                <a:latin typeface="Constantia"/>
                <a:cs typeface="Constantia"/>
              </a:rPr>
              <a:t>i</a:t>
            </a:r>
            <a:r>
              <a:rPr sz="3375" baseline="19753" dirty="0">
                <a:latin typeface="Constantia"/>
                <a:cs typeface="Constantia"/>
              </a:rPr>
              <a:t>th</a:t>
            </a:r>
            <a:r>
              <a:rPr sz="3375" spc="-7" baseline="19753" dirty="0">
                <a:latin typeface="Constantia"/>
                <a:cs typeface="Constantia"/>
              </a:rPr>
              <a:t> </a:t>
            </a:r>
            <a:r>
              <a:rPr sz="3400" dirty="0">
                <a:latin typeface="Constantia"/>
                <a:cs typeface="Constantia"/>
              </a:rPr>
              <a:t>element</a:t>
            </a:r>
            <a:r>
              <a:rPr sz="3400" spc="60" dirty="0">
                <a:latin typeface="Constantia"/>
                <a:cs typeface="Constantia"/>
              </a:rPr>
              <a:t> </a:t>
            </a:r>
            <a:r>
              <a:rPr sz="3400" dirty="0">
                <a:latin typeface="Constantia"/>
                <a:cs typeface="Constantia"/>
              </a:rPr>
              <a:t>from</a:t>
            </a:r>
            <a:r>
              <a:rPr sz="3400" spc="-35" dirty="0">
                <a:latin typeface="Constantia"/>
                <a:cs typeface="Constantia"/>
              </a:rPr>
              <a:t> </a:t>
            </a:r>
            <a:r>
              <a:rPr sz="3400" spc="-20" dirty="0">
                <a:latin typeface="Constantia"/>
                <a:cs typeface="Constantia"/>
              </a:rPr>
              <a:t>base </a:t>
            </a:r>
            <a:r>
              <a:rPr sz="3400" spc="-10" dirty="0">
                <a:latin typeface="Constantia"/>
                <a:cs typeface="Constantia"/>
              </a:rPr>
              <a:t>address)</a:t>
            </a:r>
            <a:endParaRPr sz="3400">
              <a:latin typeface="Constantia"/>
              <a:cs typeface="Constantia"/>
            </a:endParaRPr>
          </a:p>
          <a:p>
            <a:pPr>
              <a:lnSpc>
                <a:spcPct val="100000"/>
              </a:lnSpc>
              <a:spcBef>
                <a:spcPts val="2375"/>
              </a:spcBef>
            </a:pPr>
            <a:endParaRPr sz="3400">
              <a:latin typeface="Constantia"/>
              <a:cs typeface="Constantia"/>
            </a:endParaRPr>
          </a:p>
          <a:p>
            <a:pPr marL="1964689" marR="27940" indent="36195">
              <a:lnSpc>
                <a:spcPts val="3300"/>
              </a:lnSpc>
            </a:pPr>
            <a:r>
              <a:rPr sz="3400" dirty="0">
                <a:latin typeface="Constantia"/>
                <a:cs typeface="Constantia"/>
              </a:rPr>
              <a:t>Here,</a:t>
            </a:r>
            <a:r>
              <a:rPr sz="3400" spc="-110" dirty="0">
                <a:latin typeface="Constantia"/>
                <a:cs typeface="Constantia"/>
              </a:rPr>
              <a:t> </a:t>
            </a:r>
            <a:r>
              <a:rPr sz="3400" dirty="0">
                <a:latin typeface="Constantia"/>
                <a:cs typeface="Constantia"/>
              </a:rPr>
              <a:t>base</a:t>
            </a:r>
            <a:r>
              <a:rPr sz="3400" spc="-100" dirty="0">
                <a:latin typeface="Constantia"/>
                <a:cs typeface="Constantia"/>
              </a:rPr>
              <a:t> </a:t>
            </a:r>
            <a:r>
              <a:rPr sz="3400" dirty="0">
                <a:latin typeface="Constantia"/>
                <a:cs typeface="Constantia"/>
              </a:rPr>
              <a:t>address</a:t>
            </a:r>
            <a:r>
              <a:rPr sz="3400" spc="-85" dirty="0">
                <a:latin typeface="Constantia"/>
                <a:cs typeface="Constantia"/>
              </a:rPr>
              <a:t> </a:t>
            </a:r>
            <a:r>
              <a:rPr sz="3400" dirty="0">
                <a:latin typeface="Constantia"/>
                <a:cs typeface="Constantia"/>
              </a:rPr>
              <a:t>is</a:t>
            </a:r>
            <a:r>
              <a:rPr sz="3400" spc="-25" dirty="0">
                <a:latin typeface="Constantia"/>
                <a:cs typeface="Constantia"/>
              </a:rPr>
              <a:t> </a:t>
            </a:r>
            <a:r>
              <a:rPr sz="3400" dirty="0">
                <a:latin typeface="Constantia"/>
                <a:cs typeface="Constantia"/>
              </a:rPr>
              <a:t>the</a:t>
            </a:r>
            <a:r>
              <a:rPr sz="3400" spc="-15" dirty="0">
                <a:latin typeface="Constantia"/>
                <a:cs typeface="Constantia"/>
              </a:rPr>
              <a:t> </a:t>
            </a:r>
            <a:r>
              <a:rPr sz="3400" dirty="0">
                <a:latin typeface="Constantia"/>
                <a:cs typeface="Constantia"/>
              </a:rPr>
              <a:t>address</a:t>
            </a:r>
            <a:r>
              <a:rPr sz="3400" spc="-85" dirty="0">
                <a:latin typeface="Constantia"/>
                <a:cs typeface="Constantia"/>
              </a:rPr>
              <a:t> </a:t>
            </a:r>
            <a:r>
              <a:rPr sz="3400" dirty="0">
                <a:latin typeface="Constantia"/>
                <a:cs typeface="Constantia"/>
              </a:rPr>
              <a:t>of</a:t>
            </a:r>
            <a:r>
              <a:rPr sz="3400" spc="-90" dirty="0">
                <a:latin typeface="Constantia"/>
                <a:cs typeface="Constantia"/>
              </a:rPr>
              <a:t> </a:t>
            </a:r>
            <a:r>
              <a:rPr sz="3400" dirty="0">
                <a:latin typeface="Constantia"/>
                <a:cs typeface="Constantia"/>
              </a:rPr>
              <a:t>the</a:t>
            </a:r>
            <a:r>
              <a:rPr sz="3400" spc="-85" dirty="0">
                <a:latin typeface="Constantia"/>
                <a:cs typeface="Constantia"/>
              </a:rPr>
              <a:t> </a:t>
            </a:r>
            <a:r>
              <a:rPr sz="3400" dirty="0">
                <a:latin typeface="Constantia"/>
                <a:cs typeface="Constantia"/>
              </a:rPr>
              <a:t>first</a:t>
            </a:r>
            <a:r>
              <a:rPr sz="3400" spc="-90" dirty="0">
                <a:latin typeface="Constantia"/>
                <a:cs typeface="Constantia"/>
              </a:rPr>
              <a:t> </a:t>
            </a:r>
            <a:r>
              <a:rPr sz="3400" spc="-10" dirty="0">
                <a:latin typeface="Constantia"/>
                <a:cs typeface="Constantia"/>
              </a:rPr>
              <a:t>element </a:t>
            </a:r>
            <a:r>
              <a:rPr sz="3400" dirty="0">
                <a:latin typeface="Constantia"/>
                <a:cs typeface="Constantia"/>
              </a:rPr>
              <a:t>where</a:t>
            </a:r>
            <a:r>
              <a:rPr sz="3400" spc="-160" dirty="0">
                <a:latin typeface="Constantia"/>
                <a:cs typeface="Constantia"/>
              </a:rPr>
              <a:t> </a:t>
            </a:r>
            <a:r>
              <a:rPr sz="3400" spc="-10" dirty="0">
                <a:latin typeface="Constantia"/>
                <a:cs typeface="Constantia"/>
              </a:rPr>
              <a:t>array</a:t>
            </a:r>
            <a:r>
              <a:rPr sz="3400" spc="-160" dirty="0">
                <a:latin typeface="Constantia"/>
                <a:cs typeface="Constantia"/>
              </a:rPr>
              <a:t> </a:t>
            </a:r>
            <a:r>
              <a:rPr sz="3400" spc="-25" dirty="0">
                <a:latin typeface="Constantia"/>
                <a:cs typeface="Constantia"/>
              </a:rPr>
              <a:t>storage</a:t>
            </a:r>
            <a:r>
              <a:rPr sz="3400" spc="-190" dirty="0">
                <a:latin typeface="Constantia"/>
                <a:cs typeface="Constantia"/>
              </a:rPr>
              <a:t> </a:t>
            </a:r>
            <a:r>
              <a:rPr sz="3400" spc="-10" dirty="0">
                <a:latin typeface="Constantia"/>
                <a:cs typeface="Constantia"/>
              </a:rPr>
              <a:t>starts.</a:t>
            </a:r>
            <a:endParaRPr sz="3400">
              <a:latin typeface="Constantia"/>
              <a:cs typeface="Constanti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54048" y="4064"/>
            <a:ext cx="10476230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dirty="0">
                <a:latin typeface="Times New Roman"/>
                <a:cs typeface="Times New Roman"/>
              </a:rPr>
              <a:t>ADDRESS</a:t>
            </a:r>
            <a:r>
              <a:rPr sz="6600" spc="60" dirty="0">
                <a:latin typeface="Times New Roman"/>
                <a:cs typeface="Times New Roman"/>
              </a:rPr>
              <a:t> </a:t>
            </a:r>
            <a:r>
              <a:rPr sz="6600" spc="-10" dirty="0">
                <a:latin typeface="Times New Roman"/>
                <a:cs typeface="Times New Roman"/>
              </a:rPr>
              <a:t>CALCULATION</a:t>
            </a:r>
            <a:endParaRPr sz="6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02487" y="9165897"/>
            <a:ext cx="11721465" cy="570230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  <a:tabLst>
                <a:tab pos="11188065" algn="l"/>
                <a:tab pos="11604625" algn="l"/>
              </a:tabLst>
            </a:pPr>
            <a:r>
              <a:rPr sz="1700" i="1" dirty="0">
                <a:solidFill>
                  <a:srgbClr val="585858"/>
                </a:solidFill>
                <a:latin typeface="Verdana"/>
                <a:cs typeface="Verdana"/>
              </a:rPr>
              <a:t>	</a:t>
            </a:r>
            <a:r>
              <a:rPr sz="1700" i="1" spc="-25" dirty="0">
                <a:solidFill>
                  <a:srgbClr val="585858"/>
                </a:solidFill>
                <a:latin typeface="Verdana"/>
                <a:cs typeface="Verdana"/>
              </a:rPr>
              <a:t>48</a:t>
            </a:r>
            <a:r>
              <a:rPr sz="1700" i="1" dirty="0">
                <a:solidFill>
                  <a:srgbClr val="585858"/>
                </a:solidFill>
                <a:latin typeface="Verdana"/>
                <a:cs typeface="Verdana"/>
              </a:rPr>
              <a:t>	</a:t>
            </a:r>
            <a:r>
              <a:rPr sz="2550" i="1" spc="-75" baseline="-17973" dirty="0">
                <a:solidFill>
                  <a:srgbClr val="DFDFD2"/>
                </a:solidFill>
                <a:latin typeface="Constantia"/>
                <a:cs typeface="Constantia"/>
              </a:rPr>
              <a:t>4</a:t>
            </a:r>
            <a:endParaRPr sz="2550" baseline="-17973" dirty="0">
              <a:latin typeface="Constantia"/>
              <a:cs typeface="Constantia"/>
            </a:endParaRPr>
          </a:p>
          <a:p>
            <a:pPr algn="r">
              <a:lnSpc>
                <a:spcPct val="100000"/>
              </a:lnSpc>
              <a:spcBef>
                <a:spcPts val="310"/>
              </a:spcBef>
            </a:pPr>
            <a:r>
              <a:rPr sz="1700" i="1" spc="-50" dirty="0">
                <a:solidFill>
                  <a:srgbClr val="DFDFD2"/>
                </a:solidFill>
                <a:latin typeface="Constantia"/>
                <a:cs typeface="Constantia"/>
              </a:rPr>
              <a:t>8</a:t>
            </a:r>
            <a:endParaRPr sz="1700" dirty="0">
              <a:latin typeface="Constantia"/>
              <a:cs typeface="Constanti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638798"/>
            <a:ext cx="12946253" cy="41148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0298683" y="8673490"/>
            <a:ext cx="2800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i="1" spc="-50" dirty="0">
                <a:solidFill>
                  <a:srgbClr val="5C5C5C"/>
                </a:solidFill>
                <a:latin typeface="Arial"/>
                <a:cs typeface="Arial"/>
              </a:rPr>
              <a:t>2</a:t>
            </a:r>
            <a:endParaRPr sz="36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5868" y="1107698"/>
            <a:ext cx="11770360" cy="39122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  <a:spcBef>
                <a:spcPts val="95"/>
              </a:spcBef>
            </a:pPr>
            <a:r>
              <a:rPr sz="3400" dirty="0">
                <a:latin typeface="Constantia"/>
                <a:cs typeface="Constantia"/>
              </a:rPr>
              <a:t>The</a:t>
            </a:r>
            <a:r>
              <a:rPr sz="3400" spc="245" dirty="0">
                <a:latin typeface="Constantia"/>
                <a:cs typeface="Constantia"/>
              </a:rPr>
              <a:t> </a:t>
            </a:r>
            <a:r>
              <a:rPr sz="3400" dirty="0">
                <a:latin typeface="Constantia"/>
                <a:cs typeface="Constantia"/>
              </a:rPr>
              <a:t>2-dimensional</a:t>
            </a:r>
            <a:r>
              <a:rPr sz="3400" spc="265" dirty="0">
                <a:latin typeface="Constantia"/>
                <a:cs typeface="Constantia"/>
              </a:rPr>
              <a:t> </a:t>
            </a:r>
            <a:r>
              <a:rPr sz="3400" dirty="0">
                <a:latin typeface="Constantia"/>
                <a:cs typeface="Constantia"/>
              </a:rPr>
              <a:t>array</a:t>
            </a:r>
            <a:r>
              <a:rPr sz="3400" spc="235" dirty="0">
                <a:latin typeface="Constantia"/>
                <a:cs typeface="Constantia"/>
              </a:rPr>
              <a:t> </a:t>
            </a:r>
            <a:r>
              <a:rPr sz="3400" dirty="0">
                <a:latin typeface="Constantia"/>
                <a:cs typeface="Constantia"/>
              </a:rPr>
              <a:t>can</a:t>
            </a:r>
            <a:r>
              <a:rPr sz="3400" spc="250" dirty="0">
                <a:latin typeface="Constantia"/>
                <a:cs typeface="Constantia"/>
              </a:rPr>
              <a:t> </a:t>
            </a:r>
            <a:r>
              <a:rPr sz="3400" dirty="0">
                <a:latin typeface="Constantia"/>
                <a:cs typeface="Constantia"/>
              </a:rPr>
              <a:t>be</a:t>
            </a:r>
            <a:r>
              <a:rPr sz="3400" spc="229" dirty="0">
                <a:latin typeface="Constantia"/>
                <a:cs typeface="Constantia"/>
              </a:rPr>
              <a:t> </a:t>
            </a:r>
            <a:r>
              <a:rPr sz="3400" dirty="0">
                <a:latin typeface="Constantia"/>
                <a:cs typeface="Constantia"/>
              </a:rPr>
              <a:t>defined</a:t>
            </a:r>
            <a:r>
              <a:rPr sz="3400" spc="250" dirty="0">
                <a:latin typeface="Constantia"/>
                <a:cs typeface="Constantia"/>
              </a:rPr>
              <a:t> </a:t>
            </a:r>
            <a:r>
              <a:rPr sz="3400" dirty="0">
                <a:latin typeface="Constantia"/>
                <a:cs typeface="Constantia"/>
              </a:rPr>
              <a:t>as</a:t>
            </a:r>
            <a:r>
              <a:rPr sz="3400" spc="229" dirty="0">
                <a:latin typeface="Constantia"/>
                <a:cs typeface="Constantia"/>
              </a:rPr>
              <a:t> </a:t>
            </a:r>
            <a:r>
              <a:rPr sz="3400" dirty="0">
                <a:latin typeface="Constantia"/>
                <a:cs typeface="Constantia"/>
              </a:rPr>
              <a:t>an</a:t>
            </a:r>
            <a:r>
              <a:rPr sz="3400" spc="245" dirty="0">
                <a:latin typeface="Constantia"/>
                <a:cs typeface="Constantia"/>
              </a:rPr>
              <a:t> </a:t>
            </a:r>
            <a:r>
              <a:rPr sz="3400" dirty="0">
                <a:latin typeface="Constantia"/>
                <a:cs typeface="Constantia"/>
              </a:rPr>
              <a:t>array</a:t>
            </a:r>
            <a:r>
              <a:rPr sz="3400" spc="235" dirty="0">
                <a:latin typeface="Constantia"/>
                <a:cs typeface="Constantia"/>
              </a:rPr>
              <a:t> </a:t>
            </a:r>
            <a:r>
              <a:rPr sz="3400" dirty="0">
                <a:latin typeface="Constantia"/>
                <a:cs typeface="Constantia"/>
              </a:rPr>
              <a:t>of</a:t>
            </a:r>
            <a:r>
              <a:rPr sz="3400" spc="240" dirty="0">
                <a:latin typeface="Constantia"/>
                <a:cs typeface="Constantia"/>
              </a:rPr>
              <a:t> </a:t>
            </a:r>
            <a:r>
              <a:rPr sz="3400" spc="-10" dirty="0">
                <a:latin typeface="Constantia"/>
                <a:cs typeface="Constantia"/>
              </a:rPr>
              <a:t>arrays. </a:t>
            </a:r>
            <a:r>
              <a:rPr sz="3400" dirty="0">
                <a:latin typeface="Constantia"/>
                <a:cs typeface="Constantia"/>
              </a:rPr>
              <a:t>The</a:t>
            </a:r>
            <a:r>
              <a:rPr sz="3400" spc="819" dirty="0">
                <a:latin typeface="Constantia"/>
                <a:cs typeface="Constantia"/>
              </a:rPr>
              <a:t> </a:t>
            </a:r>
            <a:r>
              <a:rPr sz="3400" dirty="0">
                <a:latin typeface="Constantia"/>
                <a:cs typeface="Constantia"/>
              </a:rPr>
              <a:t>2-Dimensional</a:t>
            </a:r>
            <a:r>
              <a:rPr sz="3400" spc="844" dirty="0">
                <a:latin typeface="Constantia"/>
                <a:cs typeface="Constantia"/>
              </a:rPr>
              <a:t> </a:t>
            </a:r>
            <a:r>
              <a:rPr sz="3400" dirty="0">
                <a:latin typeface="Constantia"/>
                <a:cs typeface="Constantia"/>
              </a:rPr>
              <a:t>arrays</a:t>
            </a:r>
            <a:r>
              <a:rPr sz="3400" spc="835" dirty="0">
                <a:latin typeface="Constantia"/>
                <a:cs typeface="Constantia"/>
              </a:rPr>
              <a:t> </a:t>
            </a:r>
            <a:r>
              <a:rPr sz="3400" dirty="0">
                <a:latin typeface="Constantia"/>
                <a:cs typeface="Constantia"/>
              </a:rPr>
              <a:t>are</a:t>
            </a:r>
            <a:r>
              <a:rPr sz="3400" spc="805" dirty="0">
                <a:latin typeface="Constantia"/>
                <a:cs typeface="Constantia"/>
              </a:rPr>
              <a:t> </a:t>
            </a:r>
            <a:r>
              <a:rPr sz="3400" dirty="0">
                <a:latin typeface="Constantia"/>
                <a:cs typeface="Constantia"/>
              </a:rPr>
              <a:t>organized  as</a:t>
            </a:r>
            <a:r>
              <a:rPr sz="3400" spc="830" dirty="0">
                <a:latin typeface="Constantia"/>
                <a:cs typeface="Constantia"/>
              </a:rPr>
              <a:t> </a:t>
            </a:r>
            <a:r>
              <a:rPr sz="3400" dirty="0">
                <a:latin typeface="Constantia"/>
                <a:cs typeface="Constantia"/>
              </a:rPr>
              <a:t>matrices</a:t>
            </a:r>
            <a:r>
              <a:rPr sz="3400" spc="825" dirty="0">
                <a:latin typeface="Constantia"/>
                <a:cs typeface="Constantia"/>
              </a:rPr>
              <a:t> </a:t>
            </a:r>
            <a:r>
              <a:rPr sz="3400" spc="-10" dirty="0">
                <a:latin typeface="Constantia"/>
                <a:cs typeface="Constantia"/>
              </a:rPr>
              <a:t>which </a:t>
            </a:r>
            <a:r>
              <a:rPr sz="3400" dirty="0">
                <a:latin typeface="Constantia"/>
                <a:cs typeface="Constantia"/>
              </a:rPr>
              <a:t>can</a:t>
            </a:r>
            <a:r>
              <a:rPr sz="3400" spc="375" dirty="0">
                <a:latin typeface="Constantia"/>
                <a:cs typeface="Constantia"/>
              </a:rPr>
              <a:t> </a:t>
            </a:r>
            <a:r>
              <a:rPr sz="3400" dirty="0">
                <a:latin typeface="Constantia"/>
                <a:cs typeface="Constantia"/>
              </a:rPr>
              <a:t>be</a:t>
            </a:r>
            <a:r>
              <a:rPr sz="3400" spc="385" dirty="0">
                <a:latin typeface="Constantia"/>
                <a:cs typeface="Constantia"/>
              </a:rPr>
              <a:t> </a:t>
            </a:r>
            <a:r>
              <a:rPr sz="3400" dirty="0">
                <a:latin typeface="Constantia"/>
                <a:cs typeface="Constantia"/>
              </a:rPr>
              <a:t>represented</a:t>
            </a:r>
            <a:r>
              <a:rPr sz="3400" spc="400" dirty="0">
                <a:latin typeface="Constantia"/>
                <a:cs typeface="Constantia"/>
              </a:rPr>
              <a:t> </a:t>
            </a:r>
            <a:r>
              <a:rPr sz="3400" dirty="0">
                <a:latin typeface="Constantia"/>
                <a:cs typeface="Constantia"/>
              </a:rPr>
              <a:t>as</a:t>
            </a:r>
            <a:r>
              <a:rPr sz="3400" spc="370" dirty="0">
                <a:latin typeface="Constantia"/>
                <a:cs typeface="Constantia"/>
              </a:rPr>
              <a:t> </a:t>
            </a:r>
            <a:r>
              <a:rPr sz="3400" dirty="0">
                <a:latin typeface="Constantia"/>
                <a:cs typeface="Constantia"/>
              </a:rPr>
              <a:t>the</a:t>
            </a:r>
            <a:r>
              <a:rPr sz="3400" spc="380" dirty="0">
                <a:latin typeface="Constantia"/>
                <a:cs typeface="Constantia"/>
              </a:rPr>
              <a:t> </a:t>
            </a:r>
            <a:r>
              <a:rPr sz="3400" dirty="0">
                <a:latin typeface="Constantia"/>
                <a:cs typeface="Constantia"/>
              </a:rPr>
              <a:t>collection</a:t>
            </a:r>
            <a:r>
              <a:rPr sz="3400" spc="400" dirty="0">
                <a:latin typeface="Constantia"/>
                <a:cs typeface="Constantia"/>
              </a:rPr>
              <a:t> </a:t>
            </a:r>
            <a:r>
              <a:rPr sz="3400" dirty="0">
                <a:latin typeface="Constantia"/>
                <a:cs typeface="Constantia"/>
              </a:rPr>
              <a:t>of</a:t>
            </a:r>
            <a:r>
              <a:rPr sz="3400" spc="365" dirty="0">
                <a:latin typeface="Constantia"/>
                <a:cs typeface="Constantia"/>
              </a:rPr>
              <a:t> </a:t>
            </a:r>
            <a:r>
              <a:rPr sz="3400" dirty="0">
                <a:latin typeface="Constantia"/>
                <a:cs typeface="Constantia"/>
              </a:rPr>
              <a:t>rows</a:t>
            </a:r>
            <a:r>
              <a:rPr sz="3400" spc="385" dirty="0">
                <a:latin typeface="Constantia"/>
                <a:cs typeface="Constantia"/>
              </a:rPr>
              <a:t> </a:t>
            </a:r>
            <a:r>
              <a:rPr sz="3400" dirty="0">
                <a:latin typeface="Constantia"/>
                <a:cs typeface="Constantia"/>
              </a:rPr>
              <a:t>and</a:t>
            </a:r>
            <a:r>
              <a:rPr sz="3400" spc="380" dirty="0">
                <a:latin typeface="Constantia"/>
                <a:cs typeface="Constantia"/>
              </a:rPr>
              <a:t> </a:t>
            </a:r>
            <a:r>
              <a:rPr sz="3400" dirty="0">
                <a:latin typeface="Constantia"/>
                <a:cs typeface="Constantia"/>
              </a:rPr>
              <a:t>columns</a:t>
            </a:r>
            <a:r>
              <a:rPr sz="3400" spc="409" dirty="0">
                <a:latin typeface="Constantia"/>
                <a:cs typeface="Constantia"/>
              </a:rPr>
              <a:t> </a:t>
            </a:r>
            <a:r>
              <a:rPr sz="3400" spc="-25" dirty="0">
                <a:latin typeface="Constantia"/>
                <a:cs typeface="Constantia"/>
              </a:rPr>
              <a:t>as </a:t>
            </a:r>
            <a:r>
              <a:rPr sz="3400" dirty="0">
                <a:latin typeface="Constantia"/>
                <a:cs typeface="Constantia"/>
              </a:rPr>
              <a:t>array[M][N]</a:t>
            </a:r>
            <a:r>
              <a:rPr sz="3400" spc="815" dirty="0">
                <a:latin typeface="Constantia"/>
                <a:cs typeface="Constantia"/>
              </a:rPr>
              <a:t> </a:t>
            </a:r>
            <a:r>
              <a:rPr sz="3400" dirty="0">
                <a:latin typeface="Constantia"/>
                <a:cs typeface="Constantia"/>
              </a:rPr>
              <a:t>where</a:t>
            </a:r>
            <a:r>
              <a:rPr sz="3400" spc="800" dirty="0">
                <a:latin typeface="Constantia"/>
                <a:cs typeface="Constantia"/>
              </a:rPr>
              <a:t> </a:t>
            </a:r>
            <a:r>
              <a:rPr sz="3400" dirty="0">
                <a:latin typeface="Constantia"/>
                <a:cs typeface="Constantia"/>
              </a:rPr>
              <a:t>M</a:t>
            </a:r>
            <a:r>
              <a:rPr sz="3400" spc="780" dirty="0">
                <a:latin typeface="Constantia"/>
                <a:cs typeface="Constantia"/>
              </a:rPr>
              <a:t> </a:t>
            </a:r>
            <a:r>
              <a:rPr sz="3400" dirty="0">
                <a:latin typeface="Constantia"/>
                <a:cs typeface="Constantia"/>
              </a:rPr>
              <a:t>is</a:t>
            </a:r>
            <a:r>
              <a:rPr sz="3400" spc="785" dirty="0">
                <a:latin typeface="Constantia"/>
                <a:cs typeface="Constantia"/>
              </a:rPr>
              <a:t> </a:t>
            </a:r>
            <a:r>
              <a:rPr sz="3400" dirty="0">
                <a:latin typeface="Constantia"/>
                <a:cs typeface="Constantia"/>
              </a:rPr>
              <a:t>the</a:t>
            </a:r>
            <a:r>
              <a:rPr sz="3400" spc="805" dirty="0">
                <a:latin typeface="Constantia"/>
                <a:cs typeface="Constantia"/>
              </a:rPr>
              <a:t> </a:t>
            </a:r>
            <a:r>
              <a:rPr sz="3400" dirty="0">
                <a:latin typeface="Constantia"/>
                <a:cs typeface="Constantia"/>
              </a:rPr>
              <a:t>number</a:t>
            </a:r>
            <a:r>
              <a:rPr sz="3400" spc="795" dirty="0">
                <a:latin typeface="Constantia"/>
                <a:cs typeface="Constantia"/>
              </a:rPr>
              <a:t> </a:t>
            </a:r>
            <a:r>
              <a:rPr sz="3400" dirty="0">
                <a:latin typeface="Constantia"/>
                <a:cs typeface="Constantia"/>
              </a:rPr>
              <a:t>of</a:t>
            </a:r>
            <a:r>
              <a:rPr sz="3400" spc="785" dirty="0">
                <a:latin typeface="Constantia"/>
                <a:cs typeface="Constantia"/>
              </a:rPr>
              <a:t> </a:t>
            </a:r>
            <a:r>
              <a:rPr sz="3400" dirty="0">
                <a:latin typeface="Constantia"/>
                <a:cs typeface="Constantia"/>
              </a:rPr>
              <a:t>rows</a:t>
            </a:r>
            <a:r>
              <a:rPr sz="3400" spc="795" dirty="0">
                <a:latin typeface="Constantia"/>
                <a:cs typeface="Constantia"/>
              </a:rPr>
              <a:t> </a:t>
            </a:r>
            <a:r>
              <a:rPr sz="3400" dirty="0">
                <a:latin typeface="Constantia"/>
                <a:cs typeface="Constantia"/>
              </a:rPr>
              <a:t>and</a:t>
            </a:r>
            <a:r>
              <a:rPr sz="3400" spc="785" dirty="0">
                <a:latin typeface="Constantia"/>
                <a:cs typeface="Constantia"/>
              </a:rPr>
              <a:t> </a:t>
            </a:r>
            <a:r>
              <a:rPr sz="3400" dirty="0">
                <a:latin typeface="Constantia"/>
                <a:cs typeface="Constantia"/>
              </a:rPr>
              <a:t>N</a:t>
            </a:r>
            <a:r>
              <a:rPr sz="3400" spc="780" dirty="0">
                <a:latin typeface="Constantia"/>
                <a:cs typeface="Constantia"/>
              </a:rPr>
              <a:t> </a:t>
            </a:r>
            <a:r>
              <a:rPr sz="3400" dirty="0">
                <a:latin typeface="Constantia"/>
                <a:cs typeface="Constantia"/>
              </a:rPr>
              <a:t>is</a:t>
            </a:r>
            <a:r>
              <a:rPr sz="3400" spc="775" dirty="0">
                <a:latin typeface="Constantia"/>
                <a:cs typeface="Constantia"/>
              </a:rPr>
              <a:t> </a:t>
            </a:r>
            <a:r>
              <a:rPr sz="3400" spc="-25" dirty="0">
                <a:latin typeface="Constantia"/>
                <a:cs typeface="Constantia"/>
              </a:rPr>
              <a:t>the </a:t>
            </a:r>
            <a:r>
              <a:rPr sz="3400" dirty="0">
                <a:latin typeface="Constantia"/>
                <a:cs typeface="Constantia"/>
              </a:rPr>
              <a:t>number</a:t>
            </a:r>
            <a:r>
              <a:rPr sz="3400" spc="95" dirty="0">
                <a:latin typeface="Constantia"/>
                <a:cs typeface="Constantia"/>
              </a:rPr>
              <a:t> </a:t>
            </a:r>
            <a:r>
              <a:rPr sz="3400" dirty="0">
                <a:latin typeface="Constantia"/>
                <a:cs typeface="Constantia"/>
              </a:rPr>
              <a:t>of</a:t>
            </a:r>
            <a:r>
              <a:rPr sz="3400" spc="75" dirty="0">
                <a:latin typeface="Constantia"/>
                <a:cs typeface="Constantia"/>
              </a:rPr>
              <a:t> </a:t>
            </a:r>
            <a:r>
              <a:rPr sz="3400" spc="-10" dirty="0">
                <a:latin typeface="Constantia"/>
                <a:cs typeface="Constantia"/>
              </a:rPr>
              <a:t>columns.</a:t>
            </a:r>
            <a:endParaRPr sz="3400">
              <a:latin typeface="Constantia"/>
              <a:cs typeface="Constant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95097" y="9223959"/>
            <a:ext cx="13779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i="1" spc="-50" dirty="0">
                <a:solidFill>
                  <a:srgbClr val="DFDFD2"/>
                </a:solidFill>
                <a:latin typeface="Constantia"/>
                <a:cs typeface="Constantia"/>
              </a:rPr>
              <a:t>4</a:t>
            </a:r>
            <a:endParaRPr sz="1700">
              <a:latin typeface="Constantia"/>
              <a:cs typeface="Constant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54837" y="4064"/>
            <a:ext cx="12001500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dirty="0">
                <a:latin typeface="Times New Roman"/>
                <a:cs typeface="Times New Roman"/>
              </a:rPr>
              <a:t>2-D</a:t>
            </a:r>
            <a:r>
              <a:rPr sz="6600" spc="50" dirty="0">
                <a:latin typeface="Times New Roman"/>
                <a:cs typeface="Times New Roman"/>
              </a:rPr>
              <a:t> </a:t>
            </a:r>
            <a:r>
              <a:rPr sz="6600" dirty="0">
                <a:latin typeface="Times New Roman"/>
                <a:cs typeface="Times New Roman"/>
              </a:rPr>
              <a:t>ADDRESS</a:t>
            </a:r>
            <a:r>
              <a:rPr sz="6600" spc="75" dirty="0">
                <a:latin typeface="Times New Roman"/>
                <a:cs typeface="Times New Roman"/>
              </a:rPr>
              <a:t> </a:t>
            </a:r>
            <a:r>
              <a:rPr sz="6600" spc="-10" dirty="0">
                <a:latin typeface="Times New Roman"/>
                <a:cs typeface="Times New Roman"/>
              </a:rPr>
              <a:t>CALCULATION</a:t>
            </a:r>
            <a:endParaRPr sz="6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178030" y="9154464"/>
            <a:ext cx="2724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i="1" spc="-85" dirty="0">
                <a:solidFill>
                  <a:srgbClr val="585858"/>
                </a:solidFill>
                <a:latin typeface="Verdana"/>
                <a:cs typeface="Verdana"/>
              </a:rPr>
              <a:t>49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298683" y="8673490"/>
            <a:ext cx="2800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i="1" spc="-50" dirty="0">
                <a:solidFill>
                  <a:srgbClr val="5C5C5C"/>
                </a:solidFill>
                <a:latin typeface="Arial"/>
                <a:cs typeface="Arial"/>
              </a:rPr>
              <a:t>2</a:t>
            </a:r>
            <a:endParaRPr sz="360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79698" y="4991098"/>
            <a:ext cx="9525000" cy="476250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2595097" y="9506449"/>
            <a:ext cx="142875" cy="241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20"/>
              </a:lnSpc>
            </a:pPr>
            <a:r>
              <a:rPr sz="1700" i="1" spc="-50" dirty="0">
                <a:solidFill>
                  <a:srgbClr val="DFDFD2"/>
                </a:solidFill>
                <a:latin typeface="Constantia"/>
                <a:cs typeface="Constantia"/>
              </a:rPr>
              <a:t>9</a:t>
            </a:r>
            <a:endParaRPr sz="1700">
              <a:latin typeface="Constantia"/>
              <a:cs typeface="Constant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595097" y="9223959"/>
            <a:ext cx="126364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i="1" spc="-50" dirty="0">
                <a:solidFill>
                  <a:srgbClr val="DFDFD2"/>
                </a:solidFill>
                <a:latin typeface="Constantia"/>
                <a:cs typeface="Constantia"/>
              </a:rPr>
              <a:t>5</a:t>
            </a:r>
            <a:endParaRPr sz="1700">
              <a:latin typeface="Constantia"/>
              <a:cs typeface="Constanti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89564" rIns="0" bIns="0" rtlCol="0">
            <a:spAutoFit/>
          </a:bodyPr>
          <a:lstStyle/>
          <a:p>
            <a:pPr marL="363220">
              <a:lnSpc>
                <a:spcPct val="100000"/>
              </a:lnSpc>
              <a:spcBef>
                <a:spcPts val="100"/>
              </a:spcBef>
            </a:pPr>
            <a:r>
              <a:rPr sz="5600" dirty="0">
                <a:latin typeface="Times New Roman"/>
                <a:cs typeface="Times New Roman"/>
              </a:rPr>
              <a:t>Row</a:t>
            </a:r>
            <a:r>
              <a:rPr sz="5600" spc="60" dirty="0">
                <a:latin typeface="Times New Roman"/>
                <a:cs typeface="Times New Roman"/>
              </a:rPr>
              <a:t> </a:t>
            </a:r>
            <a:r>
              <a:rPr sz="5600" dirty="0">
                <a:latin typeface="Times New Roman"/>
                <a:cs typeface="Times New Roman"/>
              </a:rPr>
              <a:t>major</a:t>
            </a:r>
            <a:r>
              <a:rPr sz="5600" spc="35" dirty="0">
                <a:latin typeface="Times New Roman"/>
                <a:cs typeface="Times New Roman"/>
              </a:rPr>
              <a:t> </a:t>
            </a:r>
            <a:r>
              <a:rPr sz="5600" dirty="0">
                <a:latin typeface="Times New Roman"/>
                <a:cs typeface="Times New Roman"/>
              </a:rPr>
              <a:t>&amp;</a:t>
            </a:r>
            <a:r>
              <a:rPr sz="5600" spc="50" dirty="0">
                <a:latin typeface="Times New Roman"/>
                <a:cs typeface="Times New Roman"/>
              </a:rPr>
              <a:t> </a:t>
            </a:r>
            <a:r>
              <a:rPr sz="5600" dirty="0">
                <a:latin typeface="Times New Roman"/>
                <a:cs typeface="Times New Roman"/>
              </a:rPr>
              <a:t>Col</a:t>
            </a:r>
            <a:r>
              <a:rPr sz="5600" spc="55" dirty="0">
                <a:latin typeface="Times New Roman"/>
                <a:cs typeface="Times New Roman"/>
              </a:rPr>
              <a:t> </a:t>
            </a:r>
            <a:r>
              <a:rPr sz="5600" dirty="0">
                <a:latin typeface="Times New Roman"/>
                <a:cs typeface="Times New Roman"/>
              </a:rPr>
              <a:t>major</a:t>
            </a:r>
            <a:r>
              <a:rPr sz="5600" spc="10" dirty="0">
                <a:latin typeface="Times New Roman"/>
                <a:cs typeface="Times New Roman"/>
              </a:rPr>
              <a:t> </a:t>
            </a:r>
            <a:r>
              <a:rPr sz="5600" spc="-10" dirty="0">
                <a:latin typeface="Times New Roman"/>
                <a:cs typeface="Times New Roman"/>
              </a:rPr>
              <a:t>Representation</a:t>
            </a:r>
            <a:endParaRPr sz="5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178030" y="9154464"/>
            <a:ext cx="2724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i="1" spc="-85" dirty="0">
                <a:solidFill>
                  <a:srgbClr val="585858"/>
                </a:solidFill>
                <a:latin typeface="Verdana"/>
                <a:cs typeface="Verdana"/>
              </a:rPr>
              <a:t>50</a:t>
            </a:r>
            <a:endParaRPr sz="1700">
              <a:latin typeface="Verdana"/>
              <a:cs typeface="Verdan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107991"/>
            <a:ext cx="13004292" cy="864560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2595097" y="9506449"/>
            <a:ext cx="142240" cy="241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20"/>
              </a:lnSpc>
            </a:pPr>
            <a:r>
              <a:rPr sz="1700" i="1" spc="-50" dirty="0">
                <a:solidFill>
                  <a:srgbClr val="DFDFD2"/>
                </a:solidFill>
                <a:latin typeface="Constantia"/>
                <a:cs typeface="Constantia"/>
              </a:rPr>
              <a:t>0</a:t>
            </a:r>
            <a:endParaRPr sz="1700">
              <a:latin typeface="Constantia"/>
              <a:cs typeface="Constant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1815" y="0"/>
            <a:ext cx="12917805" cy="1892935"/>
            <a:chOff x="51815" y="0"/>
            <a:chExt cx="12917805" cy="18929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815" y="0"/>
              <a:ext cx="3352800" cy="189280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00071" y="0"/>
              <a:ext cx="1627631" cy="189280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23160" y="0"/>
              <a:ext cx="3899916" cy="189280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47131" y="0"/>
              <a:ext cx="7722108" cy="1892807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691387" y="-48692"/>
            <a:ext cx="11647170" cy="1200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5" dirty="0"/>
              <a:t>Row-</a:t>
            </a:r>
            <a:r>
              <a:rPr dirty="0"/>
              <a:t>major</a:t>
            </a:r>
            <a:r>
              <a:rPr spc="-254" dirty="0"/>
              <a:t> </a:t>
            </a:r>
            <a:r>
              <a:rPr spc="-10" dirty="0"/>
              <a:t>representation</a:t>
            </a:r>
          </a:p>
        </p:txBody>
      </p:sp>
      <p:grpSp>
        <p:nvGrpSpPr>
          <p:cNvPr id="8" name="object 8"/>
          <p:cNvGrpSpPr/>
          <p:nvPr/>
        </p:nvGrpSpPr>
        <p:grpSpPr>
          <a:xfrm>
            <a:off x="0" y="1219197"/>
            <a:ext cx="13004800" cy="8534400"/>
            <a:chOff x="0" y="1219197"/>
            <a:chExt cx="13004800" cy="8534400"/>
          </a:xfrm>
        </p:grpSpPr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0" y="1219197"/>
              <a:ext cx="6426200" cy="85344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26200" y="1292225"/>
              <a:ext cx="6578092" cy="625157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391147" y="7505698"/>
              <a:ext cx="6613144" cy="2247900"/>
            </a:xfrm>
            <a:prstGeom prst="rect">
              <a:avLst/>
            </a:prstGeom>
          </p:spPr>
        </p:pic>
      </p:grp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51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3004800" cy="1861185"/>
            <a:chOff x="0" y="0"/>
            <a:chExt cx="13004800" cy="186118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5378196" cy="186080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53483" y="0"/>
              <a:ext cx="6789419" cy="186080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117835" y="0"/>
              <a:ext cx="2886455" cy="1860803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23468" y="189051"/>
            <a:ext cx="12167235" cy="1031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dirty="0"/>
              <a:t>CONCEPT</a:t>
            </a:r>
            <a:r>
              <a:rPr sz="6600" spc="-114" dirty="0"/>
              <a:t> </a:t>
            </a:r>
            <a:r>
              <a:rPr sz="6600" dirty="0"/>
              <a:t>OF</a:t>
            </a:r>
            <a:r>
              <a:rPr sz="6600" spc="-95" dirty="0"/>
              <a:t> </a:t>
            </a:r>
            <a:r>
              <a:rPr sz="6600" dirty="0"/>
              <a:t>ORDERED</a:t>
            </a:r>
            <a:r>
              <a:rPr sz="6600" spc="-175" dirty="0"/>
              <a:t> </a:t>
            </a:r>
            <a:r>
              <a:rPr sz="6600" spc="-20" dirty="0"/>
              <a:t>LIST</a:t>
            </a:r>
            <a:endParaRPr sz="660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52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486867" y="1399599"/>
            <a:ext cx="11466195" cy="6537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2590" marR="371475" indent="-388620">
              <a:lnSpc>
                <a:spcPct val="130000"/>
              </a:lnSpc>
              <a:spcBef>
                <a:spcPts val="100"/>
              </a:spcBef>
              <a:buClr>
                <a:srgbClr val="E0E1DC"/>
              </a:buClr>
              <a:buSzPct val="94117"/>
              <a:buFont typeface="Wingdings"/>
              <a:buChar char=""/>
              <a:tabLst>
                <a:tab pos="402590" algn="l"/>
                <a:tab pos="10267950" algn="l"/>
              </a:tabLst>
            </a:pPr>
            <a:r>
              <a:rPr sz="3400" i="1" spc="-10" dirty="0">
                <a:latin typeface="Constantia"/>
                <a:cs typeface="Constantia"/>
              </a:rPr>
              <a:t>Ordered</a:t>
            </a:r>
            <a:r>
              <a:rPr sz="3400" i="1" spc="-114" dirty="0">
                <a:latin typeface="Constantia"/>
                <a:cs typeface="Constantia"/>
              </a:rPr>
              <a:t> </a:t>
            </a:r>
            <a:r>
              <a:rPr sz="3400" i="1" dirty="0">
                <a:latin typeface="Constantia"/>
                <a:cs typeface="Constantia"/>
              </a:rPr>
              <a:t>list</a:t>
            </a:r>
            <a:r>
              <a:rPr sz="3400" i="1" spc="-35" dirty="0">
                <a:latin typeface="Constantia"/>
                <a:cs typeface="Constantia"/>
              </a:rPr>
              <a:t> </a:t>
            </a:r>
            <a:r>
              <a:rPr sz="3400" i="1" dirty="0">
                <a:latin typeface="Constantia"/>
                <a:cs typeface="Constantia"/>
              </a:rPr>
              <a:t>is</a:t>
            </a:r>
            <a:r>
              <a:rPr sz="3400" i="1" spc="5" dirty="0">
                <a:latin typeface="Constantia"/>
                <a:cs typeface="Constantia"/>
              </a:rPr>
              <a:t> </a:t>
            </a:r>
            <a:r>
              <a:rPr sz="3400" i="1" dirty="0">
                <a:latin typeface="Constantia"/>
                <a:cs typeface="Constantia"/>
              </a:rPr>
              <a:t>the</a:t>
            </a:r>
            <a:r>
              <a:rPr sz="3400" i="1" spc="-95" dirty="0">
                <a:latin typeface="Constantia"/>
                <a:cs typeface="Constantia"/>
              </a:rPr>
              <a:t> </a:t>
            </a:r>
            <a:r>
              <a:rPr sz="3400" i="1" dirty="0">
                <a:latin typeface="Constantia"/>
                <a:cs typeface="Constantia"/>
              </a:rPr>
              <a:t>most</a:t>
            </a:r>
            <a:r>
              <a:rPr sz="3400" i="1" spc="-105" dirty="0">
                <a:latin typeface="Constantia"/>
                <a:cs typeface="Constantia"/>
              </a:rPr>
              <a:t> </a:t>
            </a:r>
            <a:r>
              <a:rPr sz="3400" i="1" spc="-10" dirty="0">
                <a:latin typeface="Constantia"/>
                <a:cs typeface="Constantia"/>
              </a:rPr>
              <a:t>common</a:t>
            </a:r>
            <a:r>
              <a:rPr sz="3400" i="1" spc="-95" dirty="0">
                <a:latin typeface="Constantia"/>
                <a:cs typeface="Constantia"/>
              </a:rPr>
              <a:t> </a:t>
            </a:r>
            <a:r>
              <a:rPr sz="3400" i="1" dirty="0">
                <a:latin typeface="Constantia"/>
                <a:cs typeface="Constantia"/>
              </a:rPr>
              <a:t>and</a:t>
            </a:r>
            <a:r>
              <a:rPr sz="3400" i="1" spc="-65" dirty="0">
                <a:latin typeface="Constantia"/>
                <a:cs typeface="Constantia"/>
              </a:rPr>
              <a:t> </a:t>
            </a:r>
            <a:r>
              <a:rPr sz="3400" i="1" spc="-10" dirty="0">
                <a:latin typeface="Constantia"/>
                <a:cs typeface="Constantia"/>
              </a:rPr>
              <a:t>frequently</a:t>
            </a:r>
            <a:r>
              <a:rPr sz="3400" i="1" spc="-105" dirty="0">
                <a:latin typeface="Constantia"/>
                <a:cs typeface="Constantia"/>
              </a:rPr>
              <a:t> </a:t>
            </a:r>
            <a:r>
              <a:rPr sz="3400" i="1" spc="-20" dirty="0">
                <a:latin typeface="Constantia"/>
                <a:cs typeface="Constantia"/>
              </a:rPr>
              <a:t>used</a:t>
            </a:r>
            <a:r>
              <a:rPr sz="3400" i="1" dirty="0">
                <a:latin typeface="Constantia"/>
                <a:cs typeface="Constantia"/>
              </a:rPr>
              <a:t>	</a:t>
            </a:r>
            <a:r>
              <a:rPr sz="3400" i="1" spc="-25" dirty="0">
                <a:latin typeface="Constantia"/>
                <a:cs typeface="Constantia"/>
              </a:rPr>
              <a:t>data </a:t>
            </a:r>
            <a:r>
              <a:rPr sz="3400" i="1" spc="-10" dirty="0">
                <a:latin typeface="Constantia"/>
                <a:cs typeface="Constantia"/>
              </a:rPr>
              <a:t>object</a:t>
            </a:r>
            <a:endParaRPr sz="3400">
              <a:latin typeface="Constantia"/>
              <a:cs typeface="Constantia"/>
            </a:endParaRPr>
          </a:p>
          <a:p>
            <a:pPr marL="401320" marR="5080" indent="-389255">
              <a:lnSpc>
                <a:spcPts val="3710"/>
              </a:lnSpc>
              <a:spcBef>
                <a:spcPts val="944"/>
              </a:spcBef>
              <a:buClr>
                <a:srgbClr val="E0E1DC"/>
              </a:buClr>
              <a:buSzPct val="94117"/>
              <a:buFont typeface="Wingdings"/>
              <a:buChar char=""/>
              <a:tabLst>
                <a:tab pos="402590" algn="l"/>
                <a:tab pos="1752600" algn="l"/>
                <a:tab pos="3670300" algn="l"/>
                <a:tab pos="4244975" algn="l"/>
                <a:tab pos="4893945" algn="l"/>
                <a:tab pos="6553834" algn="l"/>
                <a:tab pos="7312659" algn="l"/>
                <a:tab pos="8074659" algn="l"/>
                <a:tab pos="9565640" algn="l"/>
                <a:tab pos="10600690" algn="l"/>
              </a:tabLst>
            </a:pPr>
            <a:r>
              <a:rPr sz="3400" i="1" spc="-10" dirty="0">
                <a:latin typeface="Constantia"/>
                <a:cs typeface="Constantia"/>
              </a:rPr>
              <a:t>Linear</a:t>
            </a:r>
            <a:r>
              <a:rPr sz="3400" i="1" dirty="0">
                <a:latin typeface="Constantia"/>
                <a:cs typeface="Constantia"/>
              </a:rPr>
              <a:t>	</a:t>
            </a:r>
            <a:r>
              <a:rPr sz="3400" i="1" spc="-10" dirty="0">
                <a:latin typeface="Constantia"/>
                <a:cs typeface="Constantia"/>
              </a:rPr>
              <a:t>elements</a:t>
            </a:r>
            <a:r>
              <a:rPr sz="3400" i="1" dirty="0">
                <a:latin typeface="Constantia"/>
                <a:cs typeface="Constantia"/>
              </a:rPr>
              <a:t>	</a:t>
            </a:r>
            <a:r>
              <a:rPr sz="3400" i="1" spc="-25" dirty="0">
                <a:latin typeface="Constantia"/>
                <a:cs typeface="Constantia"/>
              </a:rPr>
              <a:t>of</a:t>
            </a:r>
            <a:r>
              <a:rPr sz="3400" i="1" dirty="0">
                <a:latin typeface="Constantia"/>
                <a:cs typeface="Constantia"/>
              </a:rPr>
              <a:t>	</a:t>
            </a:r>
            <a:r>
              <a:rPr sz="3400" i="1" spc="-25" dirty="0">
                <a:latin typeface="Constantia"/>
                <a:cs typeface="Constantia"/>
              </a:rPr>
              <a:t>an</a:t>
            </a:r>
            <a:r>
              <a:rPr sz="3400" i="1" dirty="0">
                <a:latin typeface="Constantia"/>
                <a:cs typeface="Constantia"/>
              </a:rPr>
              <a:t>	</a:t>
            </a:r>
            <a:r>
              <a:rPr sz="3400" i="1" spc="-10" dirty="0">
                <a:latin typeface="Constantia"/>
                <a:cs typeface="Constantia"/>
              </a:rPr>
              <a:t>ordered</a:t>
            </a:r>
            <a:r>
              <a:rPr sz="3400" i="1" dirty="0">
                <a:latin typeface="Constantia"/>
                <a:cs typeface="Constantia"/>
              </a:rPr>
              <a:t>	</a:t>
            </a:r>
            <a:r>
              <a:rPr sz="3400" i="1" spc="-20" dirty="0">
                <a:latin typeface="Constantia"/>
                <a:cs typeface="Constantia"/>
              </a:rPr>
              <a:t>list</a:t>
            </a:r>
            <a:r>
              <a:rPr sz="3400" i="1" dirty="0">
                <a:latin typeface="Constantia"/>
                <a:cs typeface="Constantia"/>
              </a:rPr>
              <a:t>	</a:t>
            </a:r>
            <a:r>
              <a:rPr sz="3400" i="1" spc="-25" dirty="0">
                <a:latin typeface="Constantia"/>
                <a:cs typeface="Constantia"/>
              </a:rPr>
              <a:t>are</a:t>
            </a:r>
            <a:r>
              <a:rPr sz="3400" i="1" dirty="0">
                <a:latin typeface="Constantia"/>
                <a:cs typeface="Constantia"/>
              </a:rPr>
              <a:t>	</a:t>
            </a:r>
            <a:r>
              <a:rPr sz="3400" i="1" spc="-10" dirty="0">
                <a:latin typeface="Constantia"/>
                <a:cs typeface="Constantia"/>
              </a:rPr>
              <a:t>related</a:t>
            </a:r>
            <a:r>
              <a:rPr sz="3400" i="1" dirty="0">
                <a:latin typeface="Constantia"/>
                <a:cs typeface="Constantia"/>
              </a:rPr>
              <a:t>	</a:t>
            </a:r>
            <a:r>
              <a:rPr sz="3400" i="1" spc="-20" dirty="0">
                <a:latin typeface="Constantia"/>
                <a:cs typeface="Constantia"/>
              </a:rPr>
              <a:t>with</a:t>
            </a:r>
            <a:r>
              <a:rPr sz="3400" i="1" dirty="0">
                <a:latin typeface="Constantia"/>
                <a:cs typeface="Constantia"/>
              </a:rPr>
              <a:t>	</a:t>
            </a:r>
            <a:r>
              <a:rPr sz="3400" i="1" spc="-20" dirty="0">
                <a:latin typeface="Constantia"/>
                <a:cs typeface="Constantia"/>
              </a:rPr>
              <a:t>each 	</a:t>
            </a:r>
            <a:r>
              <a:rPr sz="3400" i="1" dirty="0">
                <a:latin typeface="Constantia"/>
                <a:cs typeface="Constantia"/>
              </a:rPr>
              <a:t>other</a:t>
            </a:r>
            <a:r>
              <a:rPr sz="3400" i="1" spc="-60" dirty="0">
                <a:latin typeface="Constantia"/>
                <a:cs typeface="Constantia"/>
              </a:rPr>
              <a:t> </a:t>
            </a:r>
            <a:r>
              <a:rPr sz="3400" i="1" dirty="0">
                <a:latin typeface="Constantia"/>
                <a:cs typeface="Constantia"/>
              </a:rPr>
              <a:t>in</a:t>
            </a:r>
            <a:r>
              <a:rPr sz="3400" i="1" spc="-90" dirty="0">
                <a:latin typeface="Constantia"/>
                <a:cs typeface="Constantia"/>
              </a:rPr>
              <a:t> </a:t>
            </a:r>
            <a:r>
              <a:rPr sz="3400" i="1" dirty="0">
                <a:latin typeface="Constantia"/>
                <a:cs typeface="Constantia"/>
              </a:rPr>
              <a:t>a</a:t>
            </a:r>
            <a:r>
              <a:rPr sz="3400" i="1" spc="-100" dirty="0">
                <a:latin typeface="Constantia"/>
                <a:cs typeface="Constantia"/>
              </a:rPr>
              <a:t> </a:t>
            </a:r>
            <a:r>
              <a:rPr sz="3400" i="1" spc="-25" dirty="0">
                <a:latin typeface="Constantia"/>
                <a:cs typeface="Constantia"/>
              </a:rPr>
              <a:t>particular</a:t>
            </a:r>
            <a:r>
              <a:rPr sz="3400" i="1" spc="-160" dirty="0">
                <a:latin typeface="Constantia"/>
                <a:cs typeface="Constantia"/>
              </a:rPr>
              <a:t> </a:t>
            </a:r>
            <a:r>
              <a:rPr sz="3400" i="1" spc="-25" dirty="0">
                <a:latin typeface="Constantia"/>
                <a:cs typeface="Constantia"/>
              </a:rPr>
              <a:t>order</a:t>
            </a:r>
            <a:r>
              <a:rPr sz="3400" i="1" spc="-215" dirty="0">
                <a:latin typeface="Constantia"/>
                <a:cs typeface="Constantia"/>
              </a:rPr>
              <a:t> </a:t>
            </a:r>
            <a:r>
              <a:rPr sz="3400" i="1" dirty="0">
                <a:latin typeface="Constantia"/>
                <a:cs typeface="Constantia"/>
              </a:rPr>
              <a:t>or</a:t>
            </a:r>
            <a:r>
              <a:rPr sz="3400" i="1" spc="-135" dirty="0">
                <a:latin typeface="Constantia"/>
                <a:cs typeface="Constantia"/>
              </a:rPr>
              <a:t> </a:t>
            </a:r>
            <a:r>
              <a:rPr sz="3400" i="1" spc="-10" dirty="0">
                <a:latin typeface="Constantia"/>
                <a:cs typeface="Constantia"/>
              </a:rPr>
              <a:t>sequence</a:t>
            </a:r>
            <a:endParaRPr sz="3400">
              <a:latin typeface="Constantia"/>
              <a:cs typeface="Constantia"/>
            </a:endParaRPr>
          </a:p>
          <a:p>
            <a:pPr marL="403860" indent="-389890">
              <a:lnSpc>
                <a:spcPct val="100000"/>
              </a:lnSpc>
              <a:spcBef>
                <a:spcPts val="335"/>
              </a:spcBef>
              <a:buClr>
                <a:srgbClr val="E0E1DC"/>
              </a:buClr>
              <a:buSzPct val="94117"/>
              <a:buFont typeface="Wingdings"/>
              <a:buChar char=""/>
              <a:tabLst>
                <a:tab pos="403860" algn="l"/>
              </a:tabLst>
            </a:pPr>
            <a:r>
              <a:rPr sz="3400" i="1" spc="-20" dirty="0">
                <a:latin typeface="Constantia"/>
                <a:cs typeface="Constantia"/>
              </a:rPr>
              <a:t>Following</a:t>
            </a:r>
            <a:r>
              <a:rPr sz="3400" i="1" spc="-125" dirty="0">
                <a:latin typeface="Constantia"/>
                <a:cs typeface="Constantia"/>
              </a:rPr>
              <a:t> </a:t>
            </a:r>
            <a:r>
              <a:rPr sz="3400" i="1" dirty="0">
                <a:latin typeface="Constantia"/>
                <a:cs typeface="Constantia"/>
              </a:rPr>
              <a:t>are</a:t>
            </a:r>
            <a:r>
              <a:rPr sz="3400" i="1" spc="-125" dirty="0">
                <a:latin typeface="Constantia"/>
                <a:cs typeface="Constantia"/>
              </a:rPr>
              <a:t> </a:t>
            </a:r>
            <a:r>
              <a:rPr sz="3400" i="1" dirty="0">
                <a:latin typeface="Constantia"/>
                <a:cs typeface="Constantia"/>
              </a:rPr>
              <a:t>some</a:t>
            </a:r>
            <a:r>
              <a:rPr sz="3400" i="1" spc="-105" dirty="0">
                <a:latin typeface="Constantia"/>
                <a:cs typeface="Constantia"/>
              </a:rPr>
              <a:t> </a:t>
            </a:r>
            <a:r>
              <a:rPr sz="3400" i="1" dirty="0">
                <a:latin typeface="Constantia"/>
                <a:cs typeface="Constantia"/>
              </a:rPr>
              <a:t>examples</a:t>
            </a:r>
            <a:r>
              <a:rPr sz="3400" i="1" spc="-75" dirty="0">
                <a:latin typeface="Constantia"/>
                <a:cs typeface="Constantia"/>
              </a:rPr>
              <a:t> </a:t>
            </a:r>
            <a:r>
              <a:rPr sz="3400" i="1" dirty="0">
                <a:latin typeface="Constantia"/>
                <a:cs typeface="Constantia"/>
              </a:rPr>
              <a:t>of</a:t>
            </a:r>
            <a:r>
              <a:rPr sz="3400" i="1" spc="-105" dirty="0">
                <a:latin typeface="Constantia"/>
                <a:cs typeface="Constantia"/>
              </a:rPr>
              <a:t> </a:t>
            </a:r>
            <a:r>
              <a:rPr sz="3400" i="1" dirty="0">
                <a:latin typeface="Constantia"/>
                <a:cs typeface="Constantia"/>
              </a:rPr>
              <a:t>theordered</a:t>
            </a:r>
            <a:r>
              <a:rPr sz="3400" i="1" spc="-125" dirty="0">
                <a:latin typeface="Constantia"/>
                <a:cs typeface="Constantia"/>
              </a:rPr>
              <a:t> </a:t>
            </a:r>
            <a:r>
              <a:rPr sz="3400" i="1" spc="-10" dirty="0">
                <a:latin typeface="Constantia"/>
                <a:cs typeface="Constantia"/>
              </a:rPr>
              <a:t>list.</a:t>
            </a:r>
            <a:endParaRPr sz="3400">
              <a:latin typeface="Constantia"/>
              <a:cs typeface="Constantia"/>
            </a:endParaRPr>
          </a:p>
          <a:p>
            <a:pPr>
              <a:lnSpc>
                <a:spcPct val="100000"/>
              </a:lnSpc>
              <a:spcBef>
                <a:spcPts val="2425"/>
              </a:spcBef>
              <a:buClr>
                <a:srgbClr val="E0E1DC"/>
              </a:buClr>
              <a:buFont typeface="Wingdings"/>
              <a:buChar char=""/>
            </a:pPr>
            <a:endParaRPr sz="3400">
              <a:latin typeface="Constantia"/>
              <a:cs typeface="Constantia"/>
            </a:endParaRPr>
          </a:p>
          <a:p>
            <a:pPr marL="2450465" lvl="1" indent="-721995">
              <a:lnSpc>
                <a:spcPct val="100000"/>
              </a:lnSpc>
              <a:buClr>
                <a:srgbClr val="E0E1DC"/>
              </a:buClr>
              <a:buSzPct val="93548"/>
              <a:buFont typeface="Wingdings"/>
              <a:buChar char=""/>
              <a:tabLst>
                <a:tab pos="2450465" algn="l"/>
              </a:tabLst>
            </a:pPr>
            <a:r>
              <a:rPr sz="3100" i="1" dirty="0">
                <a:latin typeface="Constantia"/>
                <a:cs typeface="Constantia"/>
              </a:rPr>
              <a:t>1,</a:t>
            </a:r>
            <a:r>
              <a:rPr sz="3100" i="1" spc="-45" dirty="0">
                <a:latin typeface="Constantia"/>
                <a:cs typeface="Constantia"/>
              </a:rPr>
              <a:t> </a:t>
            </a:r>
            <a:r>
              <a:rPr sz="3100" i="1" spc="-10" dirty="0">
                <a:latin typeface="Constantia"/>
                <a:cs typeface="Constantia"/>
              </a:rPr>
              <a:t>3,5,7,9,11,13,15</a:t>
            </a:r>
            <a:endParaRPr sz="3100">
              <a:latin typeface="Constantia"/>
              <a:cs typeface="Constantia"/>
            </a:endParaRPr>
          </a:p>
          <a:p>
            <a:pPr marL="2450465" lvl="1" indent="-721995">
              <a:lnSpc>
                <a:spcPct val="100000"/>
              </a:lnSpc>
              <a:spcBef>
                <a:spcPts val="280"/>
              </a:spcBef>
              <a:buClr>
                <a:srgbClr val="E0E1DC"/>
              </a:buClr>
              <a:buSzPct val="93548"/>
              <a:buFont typeface="Wingdings"/>
              <a:buChar char=""/>
              <a:tabLst>
                <a:tab pos="2450465" algn="l"/>
              </a:tabLst>
            </a:pPr>
            <a:r>
              <a:rPr sz="3100" i="1" spc="-45" dirty="0">
                <a:latin typeface="Constantia"/>
                <a:cs typeface="Constantia"/>
              </a:rPr>
              <a:t>January,</a:t>
            </a:r>
            <a:r>
              <a:rPr sz="3100" i="1" spc="-140" dirty="0">
                <a:latin typeface="Constantia"/>
                <a:cs typeface="Constantia"/>
              </a:rPr>
              <a:t> </a:t>
            </a:r>
            <a:r>
              <a:rPr sz="3100" i="1" spc="-50" dirty="0">
                <a:latin typeface="Constantia"/>
                <a:cs typeface="Constantia"/>
              </a:rPr>
              <a:t>February,</a:t>
            </a:r>
            <a:r>
              <a:rPr sz="3100" i="1" spc="-130" dirty="0">
                <a:latin typeface="Constantia"/>
                <a:cs typeface="Constantia"/>
              </a:rPr>
              <a:t> </a:t>
            </a:r>
            <a:r>
              <a:rPr sz="3100" i="1" spc="-10" dirty="0">
                <a:latin typeface="Constantia"/>
                <a:cs typeface="Constantia"/>
              </a:rPr>
              <a:t>March,</a:t>
            </a:r>
            <a:r>
              <a:rPr sz="3100" i="1" spc="-165" dirty="0">
                <a:latin typeface="Constantia"/>
                <a:cs typeface="Constantia"/>
              </a:rPr>
              <a:t> </a:t>
            </a:r>
            <a:r>
              <a:rPr sz="3100" i="1" dirty="0">
                <a:latin typeface="Constantia"/>
                <a:cs typeface="Constantia"/>
              </a:rPr>
              <a:t>April,</a:t>
            </a:r>
            <a:r>
              <a:rPr sz="3100" i="1" spc="-125" dirty="0">
                <a:latin typeface="Constantia"/>
                <a:cs typeface="Constantia"/>
              </a:rPr>
              <a:t> </a:t>
            </a:r>
            <a:r>
              <a:rPr sz="3100" i="1" spc="-85" dirty="0">
                <a:latin typeface="Constantia"/>
                <a:cs typeface="Constantia"/>
              </a:rPr>
              <a:t>May,</a:t>
            </a:r>
            <a:r>
              <a:rPr sz="3100" i="1" spc="-225" dirty="0">
                <a:latin typeface="Constantia"/>
                <a:cs typeface="Constantia"/>
              </a:rPr>
              <a:t> </a:t>
            </a:r>
            <a:r>
              <a:rPr sz="3100" i="1" dirty="0">
                <a:latin typeface="Constantia"/>
                <a:cs typeface="Constantia"/>
              </a:rPr>
              <a:t>June,</a:t>
            </a:r>
            <a:r>
              <a:rPr sz="3100" i="1" spc="-10" dirty="0">
                <a:latin typeface="Constantia"/>
                <a:cs typeface="Constantia"/>
              </a:rPr>
              <a:t> July,</a:t>
            </a:r>
            <a:endParaRPr sz="3100">
              <a:latin typeface="Constantia"/>
              <a:cs typeface="Constantia"/>
            </a:endParaRPr>
          </a:p>
          <a:p>
            <a:pPr marL="2449195">
              <a:lnSpc>
                <a:spcPct val="100000"/>
              </a:lnSpc>
              <a:spcBef>
                <a:spcPts val="1285"/>
              </a:spcBef>
            </a:pPr>
            <a:r>
              <a:rPr sz="3100" i="1" spc="-20" dirty="0">
                <a:latin typeface="Constantia"/>
                <a:cs typeface="Constantia"/>
              </a:rPr>
              <a:t>August,</a:t>
            </a:r>
            <a:r>
              <a:rPr sz="3100" i="1" spc="-120" dirty="0">
                <a:latin typeface="Constantia"/>
                <a:cs typeface="Constantia"/>
              </a:rPr>
              <a:t> </a:t>
            </a:r>
            <a:r>
              <a:rPr sz="3100" i="1" spc="-10" dirty="0">
                <a:latin typeface="Constantia"/>
                <a:cs typeface="Constantia"/>
              </a:rPr>
              <a:t>September,</a:t>
            </a:r>
            <a:endParaRPr sz="3100">
              <a:latin typeface="Constantia"/>
              <a:cs typeface="Constantia"/>
            </a:endParaRPr>
          </a:p>
          <a:p>
            <a:pPr marL="2450465" lvl="1" indent="-721995">
              <a:lnSpc>
                <a:spcPct val="100000"/>
              </a:lnSpc>
              <a:spcBef>
                <a:spcPts val="395"/>
              </a:spcBef>
              <a:buClr>
                <a:srgbClr val="E0E1DC"/>
              </a:buClr>
              <a:buSzPct val="93548"/>
              <a:buFont typeface="Wingdings"/>
              <a:buChar char=""/>
              <a:tabLst>
                <a:tab pos="2450465" algn="l"/>
              </a:tabLst>
            </a:pPr>
            <a:r>
              <a:rPr sz="3100" i="1" spc="-45" dirty="0">
                <a:latin typeface="Constantia"/>
                <a:cs typeface="Constantia"/>
              </a:rPr>
              <a:t>October,</a:t>
            </a:r>
            <a:r>
              <a:rPr sz="3100" i="1" spc="-135" dirty="0">
                <a:latin typeface="Constantia"/>
                <a:cs typeface="Constantia"/>
              </a:rPr>
              <a:t> </a:t>
            </a:r>
            <a:r>
              <a:rPr sz="3100" i="1" spc="-60" dirty="0">
                <a:latin typeface="Constantia"/>
                <a:cs typeface="Constantia"/>
              </a:rPr>
              <a:t>November,</a:t>
            </a:r>
            <a:r>
              <a:rPr sz="3100" i="1" spc="-85" dirty="0">
                <a:latin typeface="Constantia"/>
                <a:cs typeface="Constantia"/>
              </a:rPr>
              <a:t> </a:t>
            </a:r>
            <a:r>
              <a:rPr sz="3100" i="1" spc="-10" dirty="0">
                <a:latin typeface="Constantia"/>
                <a:cs typeface="Constantia"/>
              </a:rPr>
              <a:t>December</a:t>
            </a:r>
            <a:endParaRPr sz="3100">
              <a:latin typeface="Constantia"/>
              <a:cs typeface="Constantia"/>
            </a:endParaRPr>
          </a:p>
          <a:p>
            <a:pPr marL="2450465" lvl="1" indent="-721995">
              <a:lnSpc>
                <a:spcPct val="100000"/>
              </a:lnSpc>
              <a:spcBef>
                <a:spcPts val="385"/>
              </a:spcBef>
              <a:buClr>
                <a:srgbClr val="E0E1DC"/>
              </a:buClr>
              <a:buSzPct val="93548"/>
              <a:buFont typeface="Wingdings"/>
              <a:buChar char=""/>
              <a:tabLst>
                <a:tab pos="2450465" algn="l"/>
              </a:tabLst>
            </a:pPr>
            <a:r>
              <a:rPr sz="3100" i="1" dirty="0">
                <a:latin typeface="Constantia"/>
                <a:cs typeface="Constantia"/>
              </a:rPr>
              <a:t>Red,</a:t>
            </a:r>
            <a:r>
              <a:rPr sz="3100" i="1" spc="-125" dirty="0">
                <a:latin typeface="Constantia"/>
                <a:cs typeface="Constantia"/>
              </a:rPr>
              <a:t> </a:t>
            </a:r>
            <a:r>
              <a:rPr sz="3100" i="1" dirty="0">
                <a:latin typeface="Constantia"/>
                <a:cs typeface="Constantia"/>
              </a:rPr>
              <a:t>Blue,</a:t>
            </a:r>
            <a:r>
              <a:rPr sz="3100" i="1" spc="-130" dirty="0">
                <a:latin typeface="Constantia"/>
                <a:cs typeface="Constantia"/>
              </a:rPr>
              <a:t> </a:t>
            </a:r>
            <a:r>
              <a:rPr sz="3100" i="1" spc="-10" dirty="0">
                <a:latin typeface="Constantia"/>
                <a:cs typeface="Constantia"/>
              </a:rPr>
              <a:t>Green,</a:t>
            </a:r>
            <a:r>
              <a:rPr sz="3100" i="1" spc="-135" dirty="0">
                <a:latin typeface="Constantia"/>
                <a:cs typeface="Constantia"/>
              </a:rPr>
              <a:t> </a:t>
            </a:r>
            <a:r>
              <a:rPr sz="3100" i="1" spc="-10" dirty="0">
                <a:latin typeface="Constantia"/>
                <a:cs typeface="Constantia"/>
              </a:rPr>
              <a:t>Black,</a:t>
            </a:r>
            <a:r>
              <a:rPr sz="3100" i="1" spc="-175" dirty="0">
                <a:latin typeface="Constantia"/>
                <a:cs typeface="Constantia"/>
              </a:rPr>
              <a:t> </a:t>
            </a:r>
            <a:r>
              <a:rPr sz="3100" i="1" spc="-10" dirty="0">
                <a:latin typeface="Constantia"/>
                <a:cs typeface="Constantia"/>
              </a:rPr>
              <a:t>Yell</a:t>
            </a:r>
            <a:r>
              <a:rPr sz="3400" i="1" spc="-10" dirty="0">
                <a:latin typeface="Constantia"/>
                <a:cs typeface="Constantia"/>
              </a:rPr>
              <a:t>ow</a:t>
            </a:r>
            <a:endParaRPr sz="3400">
              <a:latin typeface="Constantia"/>
              <a:cs typeface="Constant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33400" y="1299972"/>
            <a:ext cx="7962900" cy="1009015"/>
            <a:chOff x="533400" y="1299972"/>
            <a:chExt cx="7962900" cy="10090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3400" y="1360932"/>
              <a:ext cx="906780" cy="88087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8491" y="1299972"/>
              <a:ext cx="1155192" cy="100888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46275" y="1299972"/>
              <a:ext cx="835151" cy="100888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84019" y="1299972"/>
              <a:ext cx="792480" cy="100888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79091" y="1299972"/>
              <a:ext cx="835152" cy="100888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228088" y="1299972"/>
              <a:ext cx="865632" cy="100888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96311" y="1299972"/>
              <a:ext cx="792479" cy="100888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91383" y="1299972"/>
              <a:ext cx="835152" cy="100888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034283" y="1299972"/>
              <a:ext cx="1274064" cy="1008888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710939" y="1299972"/>
              <a:ext cx="873251" cy="1008888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986784" y="1299972"/>
              <a:ext cx="838200" cy="100888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335779" y="1299972"/>
              <a:ext cx="1476755" cy="1008888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215128" y="1299972"/>
              <a:ext cx="824484" cy="1008888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550408" y="1299972"/>
              <a:ext cx="1374647" cy="100888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27647" y="1299972"/>
              <a:ext cx="792479" cy="1008888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522720" y="1299972"/>
              <a:ext cx="1479803" cy="1008888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405116" y="1299972"/>
              <a:ext cx="879348" cy="1008888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687056" y="1299972"/>
              <a:ext cx="809244" cy="1008888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766368" y="1404619"/>
            <a:ext cx="10119360" cy="44659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02590" marR="527050" indent="-390525">
              <a:lnSpc>
                <a:spcPct val="100200"/>
              </a:lnSpc>
              <a:spcBef>
                <a:spcPts val="90"/>
              </a:spcBef>
              <a:buClr>
                <a:srgbClr val="E0E1DC"/>
              </a:buClr>
              <a:buSzPct val="90277"/>
              <a:buFont typeface="Wingdings"/>
              <a:buChar char=""/>
              <a:tabLst>
                <a:tab pos="403860" algn="l"/>
                <a:tab pos="2526030" algn="l"/>
              </a:tabLst>
            </a:pPr>
            <a:r>
              <a:rPr sz="3600" b="1" i="1" dirty="0">
                <a:latin typeface="Constantia"/>
                <a:cs typeface="Constantia"/>
              </a:rPr>
              <a:t>There</a:t>
            </a:r>
            <a:r>
              <a:rPr sz="3600" b="1" i="1" spc="-10" dirty="0">
                <a:latin typeface="Constantia"/>
                <a:cs typeface="Constantia"/>
              </a:rPr>
              <a:t> </a:t>
            </a:r>
            <a:r>
              <a:rPr sz="3600" b="1" i="1" dirty="0">
                <a:latin typeface="Constantia"/>
                <a:cs typeface="Constantia"/>
              </a:rPr>
              <a:t>are</a:t>
            </a:r>
            <a:r>
              <a:rPr sz="3600" b="1" i="1" spc="-55" dirty="0">
                <a:latin typeface="Constantia"/>
                <a:cs typeface="Constantia"/>
              </a:rPr>
              <a:t> </a:t>
            </a:r>
            <a:r>
              <a:rPr sz="3600" b="1" i="1" dirty="0">
                <a:latin typeface="Constantia"/>
                <a:cs typeface="Constantia"/>
              </a:rPr>
              <a:t>many</a:t>
            </a:r>
            <a:r>
              <a:rPr sz="3600" b="1" i="1" spc="-30" dirty="0">
                <a:latin typeface="Constantia"/>
                <a:cs typeface="Constantia"/>
              </a:rPr>
              <a:t> </a:t>
            </a:r>
            <a:r>
              <a:rPr sz="3600" b="1" i="1" dirty="0">
                <a:latin typeface="Constantia"/>
                <a:cs typeface="Constantia"/>
              </a:rPr>
              <a:t>basic</a:t>
            </a:r>
            <a:r>
              <a:rPr sz="3600" b="1" i="1" spc="-30" dirty="0">
                <a:latin typeface="Constantia"/>
                <a:cs typeface="Constantia"/>
              </a:rPr>
              <a:t> </a:t>
            </a:r>
            <a:r>
              <a:rPr sz="3600" b="1" i="1" dirty="0">
                <a:latin typeface="Constantia"/>
                <a:cs typeface="Constantia"/>
              </a:rPr>
              <a:t>operations</a:t>
            </a:r>
            <a:r>
              <a:rPr sz="3600" b="1" i="1" spc="-20" dirty="0">
                <a:latin typeface="Constantia"/>
                <a:cs typeface="Constantia"/>
              </a:rPr>
              <a:t> </a:t>
            </a:r>
            <a:r>
              <a:rPr sz="3400" i="1" dirty="0">
                <a:latin typeface="Constantia"/>
                <a:cs typeface="Constantia"/>
              </a:rPr>
              <a:t>that</a:t>
            </a:r>
            <a:r>
              <a:rPr sz="3400" i="1" spc="-5" dirty="0">
                <a:latin typeface="Constantia"/>
                <a:cs typeface="Constantia"/>
              </a:rPr>
              <a:t> </a:t>
            </a:r>
            <a:r>
              <a:rPr sz="3400" i="1" dirty="0">
                <a:latin typeface="Constantia"/>
                <a:cs typeface="Constantia"/>
              </a:rPr>
              <a:t>can</a:t>
            </a:r>
            <a:r>
              <a:rPr sz="3400" i="1" spc="20" dirty="0">
                <a:latin typeface="Constantia"/>
                <a:cs typeface="Constantia"/>
              </a:rPr>
              <a:t> </a:t>
            </a:r>
            <a:r>
              <a:rPr sz="3400" i="1" spc="-25" dirty="0">
                <a:latin typeface="Constantia"/>
                <a:cs typeface="Constantia"/>
              </a:rPr>
              <a:t>be 	</a:t>
            </a:r>
            <a:r>
              <a:rPr sz="3400" i="1" spc="-10" dirty="0">
                <a:latin typeface="Constantia"/>
                <a:cs typeface="Constantia"/>
              </a:rPr>
              <a:t>performed</a:t>
            </a:r>
            <a:r>
              <a:rPr sz="3400" i="1" dirty="0">
                <a:latin typeface="Constantia"/>
                <a:cs typeface="Constantia"/>
              </a:rPr>
              <a:t>	on</a:t>
            </a:r>
            <a:r>
              <a:rPr sz="3400" i="1" spc="-80" dirty="0">
                <a:latin typeface="Constantia"/>
                <a:cs typeface="Constantia"/>
              </a:rPr>
              <a:t> </a:t>
            </a:r>
            <a:r>
              <a:rPr sz="3400" i="1" dirty="0">
                <a:latin typeface="Constantia"/>
                <a:cs typeface="Constantia"/>
              </a:rPr>
              <a:t>the</a:t>
            </a:r>
            <a:r>
              <a:rPr sz="3400" i="1" spc="-55" dirty="0">
                <a:latin typeface="Constantia"/>
                <a:cs typeface="Constantia"/>
              </a:rPr>
              <a:t> </a:t>
            </a:r>
            <a:r>
              <a:rPr sz="3400" i="1" spc="-10" dirty="0">
                <a:latin typeface="Constantia"/>
                <a:cs typeface="Constantia"/>
              </a:rPr>
              <a:t>ordered</a:t>
            </a:r>
            <a:r>
              <a:rPr sz="3400" i="1" spc="-80" dirty="0">
                <a:latin typeface="Constantia"/>
                <a:cs typeface="Constantia"/>
              </a:rPr>
              <a:t> </a:t>
            </a:r>
            <a:r>
              <a:rPr sz="3400" i="1" dirty="0">
                <a:latin typeface="Constantia"/>
                <a:cs typeface="Constantia"/>
              </a:rPr>
              <a:t>list</a:t>
            </a:r>
            <a:r>
              <a:rPr sz="3400" i="1" spc="-15" dirty="0">
                <a:latin typeface="Constantia"/>
                <a:cs typeface="Constantia"/>
              </a:rPr>
              <a:t> </a:t>
            </a:r>
            <a:r>
              <a:rPr sz="3400" i="1" spc="-10" dirty="0">
                <a:latin typeface="Constantia"/>
                <a:cs typeface="Constantia"/>
              </a:rPr>
              <a:t>asfollows:</a:t>
            </a:r>
            <a:endParaRPr sz="3400">
              <a:latin typeface="Constantia"/>
              <a:cs typeface="Constantia"/>
            </a:endParaRPr>
          </a:p>
          <a:p>
            <a:pPr>
              <a:lnSpc>
                <a:spcPct val="100000"/>
              </a:lnSpc>
              <a:spcBef>
                <a:spcPts val="3520"/>
              </a:spcBef>
              <a:buClr>
                <a:srgbClr val="E0E1DC"/>
              </a:buClr>
              <a:buFont typeface="Wingdings"/>
              <a:buChar char=""/>
            </a:pPr>
            <a:endParaRPr sz="3400">
              <a:latin typeface="Constantia"/>
              <a:cs typeface="Constantia"/>
            </a:endParaRPr>
          </a:p>
          <a:p>
            <a:pPr marL="2134235" lvl="1" indent="-571500">
              <a:lnSpc>
                <a:spcPct val="100000"/>
              </a:lnSpc>
              <a:buClr>
                <a:srgbClr val="E0E1DC"/>
              </a:buClr>
              <a:buSzPct val="93055"/>
              <a:buFont typeface="Wingdings"/>
              <a:buChar char=""/>
              <a:tabLst>
                <a:tab pos="2134235" algn="l"/>
              </a:tabLst>
            </a:pPr>
            <a:r>
              <a:rPr sz="3600" i="1" dirty="0">
                <a:latin typeface="Constantia"/>
                <a:cs typeface="Constantia"/>
              </a:rPr>
              <a:t>Finding</a:t>
            </a:r>
            <a:r>
              <a:rPr sz="3600" i="1" spc="-125" dirty="0">
                <a:latin typeface="Constantia"/>
                <a:cs typeface="Constantia"/>
              </a:rPr>
              <a:t> </a:t>
            </a:r>
            <a:r>
              <a:rPr sz="3600" i="1" dirty="0">
                <a:latin typeface="Constantia"/>
                <a:cs typeface="Constantia"/>
              </a:rPr>
              <a:t>the</a:t>
            </a:r>
            <a:r>
              <a:rPr sz="3600" i="1" spc="-40" dirty="0">
                <a:latin typeface="Constantia"/>
                <a:cs typeface="Constantia"/>
              </a:rPr>
              <a:t> </a:t>
            </a:r>
            <a:r>
              <a:rPr sz="3600" i="1" dirty="0">
                <a:latin typeface="Constantia"/>
                <a:cs typeface="Constantia"/>
              </a:rPr>
              <a:t>length</a:t>
            </a:r>
            <a:r>
              <a:rPr sz="3600" i="1" spc="65" dirty="0">
                <a:latin typeface="Constantia"/>
                <a:cs typeface="Constantia"/>
              </a:rPr>
              <a:t> </a:t>
            </a:r>
            <a:r>
              <a:rPr sz="3600" i="1" dirty="0">
                <a:latin typeface="Constantia"/>
                <a:cs typeface="Constantia"/>
              </a:rPr>
              <a:t>of</a:t>
            </a:r>
            <a:r>
              <a:rPr sz="3600" i="1" spc="-45" dirty="0">
                <a:latin typeface="Constantia"/>
                <a:cs typeface="Constantia"/>
              </a:rPr>
              <a:t> </a:t>
            </a:r>
            <a:r>
              <a:rPr sz="3600" i="1" spc="-25" dirty="0">
                <a:latin typeface="Constantia"/>
                <a:cs typeface="Constantia"/>
              </a:rPr>
              <a:t>the</a:t>
            </a:r>
            <a:r>
              <a:rPr sz="3600" i="1" spc="-280" dirty="0">
                <a:latin typeface="Constantia"/>
                <a:cs typeface="Constantia"/>
              </a:rPr>
              <a:t> </a:t>
            </a:r>
            <a:r>
              <a:rPr sz="3600" i="1" spc="-20" dirty="0">
                <a:latin typeface="Constantia"/>
                <a:cs typeface="Constantia"/>
              </a:rPr>
              <a:t>list</a:t>
            </a:r>
            <a:endParaRPr sz="3600">
              <a:latin typeface="Constantia"/>
              <a:cs typeface="Constantia"/>
            </a:endParaRPr>
          </a:p>
          <a:p>
            <a:pPr marL="2134235" marR="5080" lvl="1" indent="-571500">
              <a:lnSpc>
                <a:spcPct val="100000"/>
              </a:lnSpc>
              <a:spcBef>
                <a:spcPts val="795"/>
              </a:spcBef>
              <a:buClr>
                <a:srgbClr val="E0E1DC"/>
              </a:buClr>
              <a:buSzPct val="93055"/>
              <a:buFont typeface="Wingdings"/>
              <a:buChar char=""/>
              <a:tabLst>
                <a:tab pos="2134235" algn="l"/>
                <a:tab pos="3290570" algn="l"/>
              </a:tabLst>
            </a:pPr>
            <a:r>
              <a:rPr sz="3600" i="1" spc="-60" dirty="0">
                <a:latin typeface="Constantia"/>
                <a:cs typeface="Constantia"/>
              </a:rPr>
              <a:t>Traverse</a:t>
            </a:r>
            <a:r>
              <a:rPr sz="3600" i="1" spc="-125" dirty="0">
                <a:latin typeface="Constantia"/>
                <a:cs typeface="Constantia"/>
              </a:rPr>
              <a:t> </a:t>
            </a:r>
            <a:r>
              <a:rPr sz="3600" i="1" dirty="0">
                <a:latin typeface="Constantia"/>
                <a:cs typeface="Constantia"/>
              </a:rPr>
              <a:t>the</a:t>
            </a:r>
            <a:r>
              <a:rPr sz="3600" i="1" spc="-40" dirty="0">
                <a:latin typeface="Constantia"/>
                <a:cs typeface="Constantia"/>
              </a:rPr>
              <a:t> </a:t>
            </a:r>
            <a:r>
              <a:rPr sz="3600" i="1" dirty="0">
                <a:latin typeface="Constantia"/>
                <a:cs typeface="Constantia"/>
              </a:rPr>
              <a:t>list</a:t>
            </a:r>
            <a:r>
              <a:rPr sz="3600" i="1" spc="25" dirty="0">
                <a:latin typeface="Constantia"/>
                <a:cs typeface="Constantia"/>
              </a:rPr>
              <a:t> </a:t>
            </a:r>
            <a:r>
              <a:rPr sz="3600" i="1" dirty="0">
                <a:latin typeface="Constantia"/>
                <a:cs typeface="Constantia"/>
              </a:rPr>
              <a:t>from</a:t>
            </a:r>
            <a:r>
              <a:rPr sz="3600" i="1" spc="-70" dirty="0">
                <a:latin typeface="Constantia"/>
                <a:cs typeface="Constantia"/>
              </a:rPr>
              <a:t> </a:t>
            </a:r>
            <a:r>
              <a:rPr sz="3600" i="1" dirty="0">
                <a:latin typeface="Constantia"/>
                <a:cs typeface="Constantia"/>
              </a:rPr>
              <a:t>left</a:t>
            </a:r>
            <a:r>
              <a:rPr sz="3600" i="1" spc="45" dirty="0">
                <a:latin typeface="Constantia"/>
                <a:cs typeface="Constantia"/>
              </a:rPr>
              <a:t> </a:t>
            </a:r>
            <a:r>
              <a:rPr sz="3600" i="1" dirty="0">
                <a:latin typeface="Constantia"/>
                <a:cs typeface="Constantia"/>
              </a:rPr>
              <a:t>to</a:t>
            </a:r>
            <a:r>
              <a:rPr sz="3600" i="1" spc="-90" dirty="0">
                <a:latin typeface="Constantia"/>
                <a:cs typeface="Constantia"/>
              </a:rPr>
              <a:t> </a:t>
            </a:r>
            <a:r>
              <a:rPr sz="3600" i="1" dirty="0">
                <a:latin typeface="Constantia"/>
                <a:cs typeface="Constantia"/>
              </a:rPr>
              <a:t>right</a:t>
            </a:r>
            <a:r>
              <a:rPr sz="3600" i="1" spc="-50" dirty="0">
                <a:latin typeface="Constantia"/>
                <a:cs typeface="Constantia"/>
              </a:rPr>
              <a:t> </a:t>
            </a:r>
            <a:r>
              <a:rPr sz="3600" i="1" dirty="0">
                <a:latin typeface="Constantia"/>
                <a:cs typeface="Constantia"/>
              </a:rPr>
              <a:t>or</a:t>
            </a:r>
            <a:r>
              <a:rPr sz="3600" i="1" spc="-45" dirty="0">
                <a:latin typeface="Constantia"/>
                <a:cs typeface="Constantia"/>
              </a:rPr>
              <a:t> </a:t>
            </a:r>
            <a:r>
              <a:rPr sz="3600" i="1" spc="-20" dirty="0">
                <a:latin typeface="Constantia"/>
                <a:cs typeface="Constantia"/>
              </a:rPr>
              <a:t>from </a:t>
            </a:r>
            <a:r>
              <a:rPr sz="3600" i="1" spc="-10" dirty="0">
                <a:latin typeface="Constantia"/>
                <a:cs typeface="Constantia"/>
              </a:rPr>
              <a:t>right</a:t>
            </a:r>
            <a:r>
              <a:rPr sz="3600" i="1" dirty="0">
                <a:latin typeface="Constantia"/>
                <a:cs typeface="Constantia"/>
              </a:rPr>
              <a:t>	to</a:t>
            </a:r>
            <a:r>
              <a:rPr sz="3600" i="1" spc="-185" dirty="0">
                <a:latin typeface="Constantia"/>
                <a:cs typeface="Constantia"/>
              </a:rPr>
              <a:t> </a:t>
            </a:r>
            <a:r>
              <a:rPr sz="3600" i="1" spc="-20" dirty="0">
                <a:latin typeface="Constantia"/>
                <a:cs typeface="Constantia"/>
              </a:rPr>
              <a:t>left</a:t>
            </a:r>
            <a:endParaRPr sz="3600">
              <a:latin typeface="Constantia"/>
              <a:cs typeface="Constantia"/>
            </a:endParaRPr>
          </a:p>
          <a:p>
            <a:pPr marL="2134235" lvl="1" indent="-571500">
              <a:lnSpc>
                <a:spcPct val="100000"/>
              </a:lnSpc>
              <a:spcBef>
                <a:spcPts val="805"/>
              </a:spcBef>
              <a:buClr>
                <a:srgbClr val="E0E1DC"/>
              </a:buClr>
              <a:buSzPct val="93055"/>
              <a:buFont typeface="Wingdings"/>
              <a:buChar char=""/>
              <a:tabLst>
                <a:tab pos="2134235" algn="l"/>
              </a:tabLst>
            </a:pPr>
            <a:r>
              <a:rPr sz="3600" i="1" spc="-30" dirty="0">
                <a:latin typeface="Constantia"/>
                <a:cs typeface="Constantia"/>
              </a:rPr>
              <a:t>Access</a:t>
            </a:r>
            <a:r>
              <a:rPr sz="3600" i="1" spc="-85" dirty="0">
                <a:latin typeface="Constantia"/>
                <a:cs typeface="Constantia"/>
              </a:rPr>
              <a:t> </a:t>
            </a:r>
            <a:r>
              <a:rPr sz="3600" i="1" dirty="0">
                <a:latin typeface="Constantia"/>
                <a:cs typeface="Constantia"/>
              </a:rPr>
              <a:t>the</a:t>
            </a:r>
            <a:r>
              <a:rPr sz="3600" i="1" spc="-25" dirty="0">
                <a:latin typeface="Constantia"/>
                <a:cs typeface="Constantia"/>
              </a:rPr>
              <a:t> </a:t>
            </a:r>
            <a:r>
              <a:rPr sz="3600" i="1" dirty="0">
                <a:latin typeface="Constantia"/>
                <a:cs typeface="Constantia"/>
              </a:rPr>
              <a:t>ith</a:t>
            </a:r>
            <a:r>
              <a:rPr sz="3600" i="1" spc="20" dirty="0">
                <a:latin typeface="Constantia"/>
                <a:cs typeface="Constantia"/>
              </a:rPr>
              <a:t> </a:t>
            </a:r>
            <a:r>
              <a:rPr sz="3600" i="1" dirty="0">
                <a:latin typeface="Constantia"/>
                <a:cs typeface="Constantia"/>
              </a:rPr>
              <a:t>element</a:t>
            </a:r>
            <a:r>
              <a:rPr sz="3600" i="1" spc="75" dirty="0">
                <a:latin typeface="Constantia"/>
                <a:cs typeface="Constantia"/>
              </a:rPr>
              <a:t> </a:t>
            </a:r>
            <a:r>
              <a:rPr sz="3600" i="1" dirty="0">
                <a:latin typeface="Constantia"/>
                <a:cs typeface="Constantia"/>
              </a:rPr>
              <a:t>in</a:t>
            </a:r>
            <a:r>
              <a:rPr sz="3600" i="1" spc="80" dirty="0">
                <a:latin typeface="Constantia"/>
                <a:cs typeface="Constantia"/>
              </a:rPr>
              <a:t> </a:t>
            </a:r>
            <a:r>
              <a:rPr sz="3600" i="1" spc="-10" dirty="0">
                <a:latin typeface="Constantia"/>
                <a:cs typeface="Constantia"/>
              </a:rPr>
              <a:t>thelist</a:t>
            </a:r>
            <a:endParaRPr sz="3600">
              <a:latin typeface="Constantia"/>
              <a:cs typeface="Constantia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53</a:t>
            </a:fld>
            <a:endParaRPr spc="-25" dirty="0"/>
          </a:p>
        </p:txBody>
      </p:sp>
      <p:sp>
        <p:nvSpPr>
          <p:cNvPr id="22" name="object 22"/>
          <p:cNvSpPr txBox="1"/>
          <p:nvPr/>
        </p:nvSpPr>
        <p:spPr>
          <a:xfrm>
            <a:off x="10177398" y="5909310"/>
            <a:ext cx="1513205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84885" algn="l"/>
              </a:tabLst>
            </a:pPr>
            <a:r>
              <a:rPr sz="3400" i="1" spc="-25" dirty="0">
                <a:latin typeface="Constantia"/>
                <a:cs typeface="Constantia"/>
              </a:rPr>
              <a:t>the</a:t>
            </a:r>
            <a:r>
              <a:rPr sz="3400" i="1" dirty="0">
                <a:latin typeface="Constantia"/>
                <a:cs typeface="Constantia"/>
              </a:rPr>
              <a:t>	</a:t>
            </a:r>
            <a:r>
              <a:rPr sz="3400" i="1" spc="-25" dirty="0">
                <a:latin typeface="Constantia"/>
                <a:cs typeface="Constantia"/>
              </a:rPr>
              <a:t>ith</a:t>
            </a:r>
            <a:endParaRPr sz="3400">
              <a:latin typeface="Constantia"/>
              <a:cs typeface="Constant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316607" y="5850712"/>
            <a:ext cx="7485380" cy="23025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85140" marR="5080" indent="-473075">
              <a:lnSpc>
                <a:spcPct val="100000"/>
              </a:lnSpc>
              <a:spcBef>
                <a:spcPts val="95"/>
              </a:spcBef>
              <a:buClr>
                <a:srgbClr val="E0E1DC"/>
              </a:buClr>
              <a:buSzPct val="94117"/>
              <a:buFont typeface="Wingdings"/>
              <a:buChar char=""/>
              <a:tabLst>
                <a:tab pos="486409" algn="l"/>
                <a:tab pos="2212975" algn="l"/>
                <a:tab pos="4792345" algn="l"/>
                <a:tab pos="5767705" algn="l"/>
                <a:tab pos="7118350" algn="l"/>
              </a:tabLst>
            </a:pPr>
            <a:r>
              <a:rPr sz="3400" i="1" spc="-10" dirty="0">
                <a:latin typeface="Constantia"/>
                <a:cs typeface="Constantia"/>
              </a:rPr>
              <a:t>Update</a:t>
            </a:r>
            <a:r>
              <a:rPr sz="3400" i="1" dirty="0">
                <a:latin typeface="Constantia"/>
                <a:cs typeface="Constantia"/>
              </a:rPr>
              <a:t>	</a:t>
            </a:r>
            <a:r>
              <a:rPr sz="3400" i="1" spc="-10" dirty="0">
                <a:latin typeface="Constantia"/>
                <a:cs typeface="Constantia"/>
              </a:rPr>
              <a:t>(Overwrite)</a:t>
            </a:r>
            <a:r>
              <a:rPr sz="3400" i="1" dirty="0">
                <a:latin typeface="Constantia"/>
                <a:cs typeface="Constantia"/>
              </a:rPr>
              <a:t>	</a:t>
            </a:r>
            <a:r>
              <a:rPr sz="3400" i="1" spc="-25" dirty="0">
                <a:latin typeface="Constantia"/>
                <a:cs typeface="Constantia"/>
              </a:rPr>
              <a:t>the</a:t>
            </a:r>
            <a:r>
              <a:rPr sz="3400" i="1" dirty="0">
                <a:latin typeface="Constantia"/>
                <a:cs typeface="Constantia"/>
              </a:rPr>
              <a:t>	</a:t>
            </a:r>
            <a:r>
              <a:rPr sz="3400" i="1" spc="-10" dirty="0">
                <a:latin typeface="Constantia"/>
                <a:cs typeface="Constantia"/>
              </a:rPr>
              <a:t>value</a:t>
            </a:r>
            <a:r>
              <a:rPr sz="3400" i="1" dirty="0">
                <a:latin typeface="Constantia"/>
                <a:cs typeface="Constantia"/>
              </a:rPr>
              <a:t>	</a:t>
            </a:r>
            <a:r>
              <a:rPr sz="3400" i="1" spc="-25" dirty="0">
                <a:latin typeface="Constantia"/>
                <a:cs typeface="Constantia"/>
              </a:rPr>
              <a:t>of 	</a:t>
            </a:r>
            <a:r>
              <a:rPr sz="3400" i="1" spc="-10" dirty="0">
                <a:latin typeface="Constantia"/>
                <a:cs typeface="Constantia"/>
              </a:rPr>
              <a:t>position</a:t>
            </a:r>
            <a:endParaRPr sz="3400">
              <a:latin typeface="Constantia"/>
              <a:cs typeface="Constantia"/>
            </a:endParaRPr>
          </a:p>
          <a:p>
            <a:pPr marL="486409" indent="-473709">
              <a:lnSpc>
                <a:spcPct val="100000"/>
              </a:lnSpc>
              <a:spcBef>
                <a:spcPts val="805"/>
              </a:spcBef>
              <a:buClr>
                <a:srgbClr val="E0E1DC"/>
              </a:buClr>
              <a:buSzPct val="94117"/>
              <a:buFont typeface="Wingdings"/>
              <a:buChar char=""/>
              <a:tabLst>
                <a:tab pos="486409" algn="l"/>
              </a:tabLst>
            </a:pPr>
            <a:r>
              <a:rPr sz="3400" i="1" dirty="0">
                <a:latin typeface="Constantia"/>
                <a:cs typeface="Constantia"/>
              </a:rPr>
              <a:t>Insert</a:t>
            </a:r>
            <a:r>
              <a:rPr sz="3400" i="1" spc="-120" dirty="0">
                <a:latin typeface="Constantia"/>
                <a:cs typeface="Constantia"/>
              </a:rPr>
              <a:t> </a:t>
            </a:r>
            <a:r>
              <a:rPr sz="3400" i="1" dirty="0">
                <a:latin typeface="Constantia"/>
                <a:cs typeface="Constantia"/>
              </a:rPr>
              <a:t>an</a:t>
            </a:r>
            <a:r>
              <a:rPr sz="3400" i="1" spc="-130" dirty="0">
                <a:latin typeface="Constantia"/>
                <a:cs typeface="Constantia"/>
              </a:rPr>
              <a:t> </a:t>
            </a:r>
            <a:r>
              <a:rPr sz="3400" i="1" dirty="0">
                <a:latin typeface="Constantia"/>
                <a:cs typeface="Constantia"/>
              </a:rPr>
              <a:t>element</a:t>
            </a:r>
            <a:r>
              <a:rPr sz="3400" i="1" spc="-110" dirty="0">
                <a:latin typeface="Constantia"/>
                <a:cs typeface="Constantia"/>
              </a:rPr>
              <a:t> </a:t>
            </a:r>
            <a:r>
              <a:rPr sz="3400" i="1" dirty="0">
                <a:latin typeface="Constantia"/>
                <a:cs typeface="Constantia"/>
              </a:rPr>
              <a:t>at</a:t>
            </a:r>
            <a:r>
              <a:rPr sz="3400" i="1" spc="-114" dirty="0">
                <a:latin typeface="Constantia"/>
                <a:cs typeface="Constantia"/>
              </a:rPr>
              <a:t> </a:t>
            </a:r>
            <a:r>
              <a:rPr sz="3400" i="1" dirty="0">
                <a:latin typeface="Constantia"/>
                <a:cs typeface="Constantia"/>
              </a:rPr>
              <a:t>the</a:t>
            </a:r>
            <a:r>
              <a:rPr sz="3400" i="1" spc="-120" dirty="0">
                <a:latin typeface="Constantia"/>
                <a:cs typeface="Constantia"/>
              </a:rPr>
              <a:t> </a:t>
            </a:r>
            <a:r>
              <a:rPr sz="3400" i="1" dirty="0">
                <a:latin typeface="Constantia"/>
                <a:cs typeface="Constantia"/>
              </a:rPr>
              <a:t>ith</a:t>
            </a:r>
            <a:r>
              <a:rPr sz="3400" i="1" spc="-65" dirty="0">
                <a:latin typeface="Constantia"/>
                <a:cs typeface="Constantia"/>
              </a:rPr>
              <a:t> </a:t>
            </a:r>
            <a:r>
              <a:rPr sz="3400" i="1" spc="-10" dirty="0">
                <a:latin typeface="Constantia"/>
                <a:cs typeface="Constantia"/>
              </a:rPr>
              <a:t>location</a:t>
            </a:r>
            <a:endParaRPr sz="3400">
              <a:latin typeface="Constantia"/>
              <a:cs typeface="Constantia"/>
            </a:endParaRPr>
          </a:p>
          <a:p>
            <a:pPr marL="485775" indent="-473075">
              <a:lnSpc>
                <a:spcPct val="100000"/>
              </a:lnSpc>
              <a:spcBef>
                <a:spcPts val="810"/>
              </a:spcBef>
              <a:buClr>
                <a:srgbClr val="E0E1DC"/>
              </a:buClr>
              <a:buSzPct val="94117"/>
              <a:buFont typeface="Wingdings"/>
              <a:buChar char=""/>
              <a:tabLst>
                <a:tab pos="485775" algn="l"/>
              </a:tabLst>
            </a:pPr>
            <a:r>
              <a:rPr sz="3400" i="1" spc="-30" dirty="0">
                <a:latin typeface="Constantia"/>
                <a:cs typeface="Constantia"/>
              </a:rPr>
              <a:t>Delete</a:t>
            </a:r>
            <a:r>
              <a:rPr sz="3400" i="1" spc="-204" dirty="0">
                <a:latin typeface="Constantia"/>
                <a:cs typeface="Constantia"/>
              </a:rPr>
              <a:t> </a:t>
            </a:r>
            <a:r>
              <a:rPr sz="3400" i="1" dirty="0">
                <a:latin typeface="Constantia"/>
                <a:cs typeface="Constantia"/>
              </a:rPr>
              <a:t>an</a:t>
            </a:r>
            <a:r>
              <a:rPr sz="3400" i="1" spc="-110" dirty="0">
                <a:latin typeface="Constantia"/>
                <a:cs typeface="Constantia"/>
              </a:rPr>
              <a:t> </a:t>
            </a:r>
            <a:r>
              <a:rPr sz="3400" i="1" dirty="0">
                <a:latin typeface="Constantia"/>
                <a:cs typeface="Constantia"/>
              </a:rPr>
              <a:t>element</a:t>
            </a:r>
            <a:r>
              <a:rPr sz="3400" i="1" spc="-105" dirty="0">
                <a:latin typeface="Constantia"/>
                <a:cs typeface="Constantia"/>
              </a:rPr>
              <a:t> </a:t>
            </a:r>
            <a:r>
              <a:rPr sz="3400" i="1" dirty="0">
                <a:latin typeface="Constantia"/>
                <a:cs typeface="Constantia"/>
              </a:rPr>
              <a:t>at</a:t>
            </a:r>
            <a:r>
              <a:rPr sz="3400" i="1" spc="-105" dirty="0">
                <a:latin typeface="Constantia"/>
                <a:cs typeface="Constantia"/>
              </a:rPr>
              <a:t> </a:t>
            </a:r>
            <a:r>
              <a:rPr sz="3400" i="1" dirty="0">
                <a:latin typeface="Constantia"/>
                <a:cs typeface="Constantia"/>
              </a:rPr>
              <a:t>the</a:t>
            </a:r>
            <a:r>
              <a:rPr sz="3400" i="1" spc="-110" dirty="0">
                <a:latin typeface="Constantia"/>
                <a:cs typeface="Constantia"/>
              </a:rPr>
              <a:t> </a:t>
            </a:r>
            <a:r>
              <a:rPr sz="3400" i="1" dirty="0">
                <a:latin typeface="Constantia"/>
                <a:cs typeface="Constantia"/>
              </a:rPr>
              <a:t>ith</a:t>
            </a:r>
            <a:r>
              <a:rPr sz="3400" i="1" spc="-105" dirty="0">
                <a:latin typeface="Constantia"/>
                <a:cs typeface="Constantia"/>
              </a:rPr>
              <a:t> </a:t>
            </a:r>
            <a:r>
              <a:rPr sz="3400" i="1" spc="-10" dirty="0">
                <a:latin typeface="Constantia"/>
                <a:cs typeface="Constantia"/>
              </a:rPr>
              <a:t>position</a:t>
            </a:r>
            <a:endParaRPr sz="3400">
              <a:latin typeface="Constantia"/>
              <a:cs typeface="Constant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3004800" cy="1515110"/>
            <a:chOff x="0" y="0"/>
            <a:chExt cx="13004800" cy="15151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3759708" cy="151485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32532" y="0"/>
              <a:ext cx="4927092" cy="151485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04659" y="0"/>
              <a:ext cx="6199632" cy="1514855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86969" y="-7543"/>
            <a:ext cx="1256220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dirty="0"/>
              <a:t>SINGLE</a:t>
            </a:r>
            <a:r>
              <a:rPr sz="6000" spc="15" dirty="0"/>
              <a:t> </a:t>
            </a:r>
            <a:r>
              <a:rPr sz="6000" spc="-840" dirty="0"/>
              <a:t>V</a:t>
            </a:r>
            <a:r>
              <a:rPr sz="6000" spc="-70" dirty="0"/>
              <a:t>A</a:t>
            </a:r>
            <a:r>
              <a:rPr sz="6000" spc="-75" dirty="0"/>
              <a:t>R</a:t>
            </a:r>
            <a:r>
              <a:rPr sz="6000" spc="-70" dirty="0"/>
              <a:t>IA</a:t>
            </a:r>
            <a:r>
              <a:rPr sz="6000" spc="-75" dirty="0"/>
              <a:t>BL</a:t>
            </a:r>
            <a:r>
              <a:rPr sz="6000" spc="-20" dirty="0"/>
              <a:t>E</a:t>
            </a:r>
            <a:r>
              <a:rPr sz="6000" spc="-195" dirty="0"/>
              <a:t> </a:t>
            </a:r>
            <a:r>
              <a:rPr sz="6000" spc="-45" dirty="0"/>
              <a:t>P</a:t>
            </a:r>
            <a:r>
              <a:rPr sz="6000" spc="-35" dirty="0"/>
              <a:t>O</a:t>
            </a:r>
            <a:r>
              <a:rPr sz="6000" spc="-595" dirty="0"/>
              <a:t>L</a:t>
            </a:r>
            <a:r>
              <a:rPr sz="6000" spc="-50" dirty="0"/>
              <a:t>Y</a:t>
            </a:r>
            <a:r>
              <a:rPr sz="6000" spc="-35" dirty="0"/>
              <a:t>NO</a:t>
            </a:r>
            <a:r>
              <a:rPr sz="6000" spc="-40" dirty="0"/>
              <a:t>MI</a:t>
            </a:r>
            <a:r>
              <a:rPr sz="6000" spc="-55" dirty="0"/>
              <a:t>A</a:t>
            </a:r>
            <a:r>
              <a:rPr sz="6000" spc="20" dirty="0"/>
              <a:t>L</a:t>
            </a:r>
            <a:endParaRPr sz="600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54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83819" y="961084"/>
            <a:ext cx="12864465" cy="80276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1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polynomial</a:t>
            </a:r>
            <a:r>
              <a:rPr sz="2800" spc="1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p(x)</a:t>
            </a:r>
            <a:r>
              <a:rPr sz="2800" spc="1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1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1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expression</a:t>
            </a:r>
            <a:r>
              <a:rPr sz="2800" spc="1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1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variable</a:t>
            </a:r>
            <a:r>
              <a:rPr sz="2800" spc="1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x</a:t>
            </a:r>
            <a:r>
              <a:rPr sz="2800" spc="1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which</a:t>
            </a:r>
            <a:r>
              <a:rPr sz="2800" spc="1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114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1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114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form</a:t>
            </a:r>
            <a:r>
              <a:rPr sz="2800" spc="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(ax</a:t>
            </a:r>
            <a:r>
              <a:rPr sz="2775" baseline="25525" dirty="0">
                <a:latin typeface="Times New Roman"/>
                <a:cs typeface="Times New Roman"/>
              </a:rPr>
              <a:t>n</a:t>
            </a:r>
            <a:r>
              <a:rPr sz="2775" spc="517" baseline="255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+</a:t>
            </a:r>
            <a:r>
              <a:rPr sz="2800" spc="1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bx</a:t>
            </a:r>
            <a:r>
              <a:rPr sz="2775" baseline="25525" dirty="0">
                <a:latin typeface="Times New Roman"/>
                <a:cs typeface="Times New Roman"/>
              </a:rPr>
              <a:t>n-1</a:t>
            </a:r>
            <a:r>
              <a:rPr sz="2775" spc="502" baseline="255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+</a:t>
            </a:r>
            <a:r>
              <a:rPr sz="2800" spc="10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….</a:t>
            </a:r>
            <a:endParaRPr sz="2800">
              <a:latin typeface="Times New Roman"/>
              <a:cs typeface="Times New Roman"/>
            </a:endParaRPr>
          </a:p>
          <a:p>
            <a:pPr marL="38100" marR="33655">
              <a:lnSpc>
                <a:spcPct val="100000"/>
              </a:lnSpc>
            </a:pPr>
            <a:r>
              <a:rPr sz="2800" dirty="0">
                <a:latin typeface="Times New Roman"/>
                <a:cs typeface="Times New Roman"/>
              </a:rPr>
              <a:t>+</a:t>
            </a:r>
            <a:r>
              <a:rPr sz="2800" spc="1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jx+</a:t>
            </a:r>
            <a:r>
              <a:rPr sz="2800" spc="1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k),</a:t>
            </a:r>
            <a:r>
              <a:rPr sz="2800" spc="1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where</a:t>
            </a:r>
            <a:r>
              <a:rPr sz="2800" spc="1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a,</a:t>
            </a:r>
            <a:r>
              <a:rPr sz="2800" spc="1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b,</a:t>
            </a:r>
            <a:r>
              <a:rPr sz="2800" spc="1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</a:t>
            </a:r>
            <a:r>
              <a:rPr sz="2800" spc="1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….,</a:t>
            </a:r>
            <a:r>
              <a:rPr sz="2800" spc="1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k</a:t>
            </a:r>
            <a:r>
              <a:rPr sz="2800" spc="1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fall</a:t>
            </a:r>
            <a:r>
              <a:rPr sz="2800" spc="1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1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1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category</a:t>
            </a:r>
            <a:r>
              <a:rPr sz="2800" spc="1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1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real</a:t>
            </a:r>
            <a:r>
              <a:rPr sz="2800" spc="1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numbers</a:t>
            </a:r>
            <a:r>
              <a:rPr sz="2800" spc="1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1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'n'</a:t>
            </a:r>
            <a:r>
              <a:rPr sz="2800" spc="1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1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non</a:t>
            </a:r>
            <a:r>
              <a:rPr sz="2800" spc="1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negative </a:t>
            </a:r>
            <a:r>
              <a:rPr sz="2800" dirty="0">
                <a:latin typeface="Times New Roman"/>
                <a:cs typeface="Times New Roman"/>
              </a:rPr>
              <a:t>integer,</a:t>
            </a:r>
            <a:r>
              <a:rPr sz="2800" spc="1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which</a:t>
            </a:r>
            <a:r>
              <a:rPr sz="2800" spc="1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called</a:t>
            </a:r>
            <a:r>
              <a:rPr sz="2800" spc="1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1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degree</a:t>
            </a:r>
            <a:r>
              <a:rPr sz="2800" spc="1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11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polynomial.</a:t>
            </a:r>
            <a:endParaRPr sz="2800">
              <a:latin typeface="Times New Roman"/>
              <a:cs typeface="Times New Roman"/>
            </a:endParaRPr>
          </a:p>
          <a:p>
            <a:pPr marL="38100" marR="34290">
              <a:lnSpc>
                <a:spcPct val="100000"/>
              </a:lnSpc>
              <a:spcBef>
                <a:spcPts val="1405"/>
              </a:spcBef>
              <a:tabLst>
                <a:tab pos="667385" algn="l"/>
                <a:tab pos="2107565" algn="l"/>
                <a:tab pos="4234815" algn="l"/>
                <a:tab pos="4728845" algn="l"/>
                <a:tab pos="5360035" algn="l"/>
                <a:tab pos="7200900" algn="l"/>
                <a:tab pos="7633970" algn="l"/>
                <a:tab pos="8366759" algn="l"/>
                <a:tab pos="9218930" algn="l"/>
                <a:tab pos="10071100" algn="l"/>
                <a:tab pos="10543540" algn="l"/>
                <a:tab pos="11174730" algn="l"/>
              </a:tabLst>
            </a:pPr>
            <a:r>
              <a:rPr sz="2800" spc="-25" dirty="0">
                <a:latin typeface="Times New Roman"/>
                <a:cs typeface="Times New Roman"/>
              </a:rPr>
              <a:t>An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essential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characteristic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5" dirty="0">
                <a:latin typeface="Times New Roman"/>
                <a:cs typeface="Times New Roman"/>
              </a:rPr>
              <a:t>of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5" dirty="0">
                <a:latin typeface="Times New Roman"/>
                <a:cs typeface="Times New Roman"/>
              </a:rPr>
              <a:t>the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polynomial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5" dirty="0">
                <a:latin typeface="Times New Roman"/>
                <a:cs typeface="Times New Roman"/>
              </a:rPr>
              <a:t>is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0" dirty="0">
                <a:latin typeface="Times New Roman"/>
                <a:cs typeface="Times New Roman"/>
              </a:rPr>
              <a:t>that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0" dirty="0">
                <a:latin typeface="Times New Roman"/>
                <a:cs typeface="Times New Roman"/>
              </a:rPr>
              <a:t>each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0" dirty="0">
                <a:latin typeface="Times New Roman"/>
                <a:cs typeface="Times New Roman"/>
              </a:rPr>
              <a:t>term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5" dirty="0">
                <a:latin typeface="Times New Roman"/>
                <a:cs typeface="Times New Roman"/>
              </a:rPr>
              <a:t>in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5" dirty="0">
                <a:latin typeface="Times New Roman"/>
                <a:cs typeface="Times New Roman"/>
              </a:rPr>
              <a:t>the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polynomial </a:t>
            </a:r>
            <a:r>
              <a:rPr sz="2800" dirty="0">
                <a:latin typeface="Times New Roman"/>
                <a:cs typeface="Times New Roman"/>
              </a:rPr>
              <a:t>expression</a:t>
            </a:r>
            <a:r>
              <a:rPr sz="2800" spc="1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consists</a:t>
            </a:r>
            <a:r>
              <a:rPr sz="2800" spc="1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1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two</a:t>
            </a:r>
            <a:r>
              <a:rPr sz="2800" spc="1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parts:</a:t>
            </a:r>
            <a:endParaRPr sz="2800">
              <a:latin typeface="Times New Roman"/>
              <a:cs typeface="Times New Roman"/>
            </a:endParaRPr>
          </a:p>
          <a:p>
            <a:pPr marL="38100" marR="9781540" algn="just">
              <a:lnSpc>
                <a:spcPct val="141600"/>
              </a:lnSpc>
              <a:spcBef>
                <a:spcPts val="10"/>
              </a:spcBef>
            </a:pPr>
            <a:r>
              <a:rPr sz="2800" dirty="0">
                <a:latin typeface="Times New Roman"/>
                <a:cs typeface="Times New Roman"/>
              </a:rPr>
              <a:t>one</a:t>
            </a:r>
            <a:r>
              <a:rPr sz="2800" spc="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8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coefficient </a:t>
            </a:r>
            <a:r>
              <a:rPr sz="2800" dirty="0">
                <a:latin typeface="Times New Roman"/>
                <a:cs typeface="Times New Roman"/>
              </a:rPr>
              <a:t>other</a:t>
            </a:r>
            <a:r>
              <a:rPr sz="2800" spc="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9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exponent </a:t>
            </a:r>
            <a:r>
              <a:rPr sz="2800" b="1" spc="-10" dirty="0">
                <a:latin typeface="Times New Roman"/>
                <a:cs typeface="Times New Roman"/>
              </a:rPr>
              <a:t>Example:</a:t>
            </a:r>
            <a:endParaRPr sz="2800">
              <a:latin typeface="Times New Roman"/>
              <a:cs typeface="Times New Roman"/>
            </a:endParaRPr>
          </a:p>
          <a:p>
            <a:pPr marL="38100" algn="just">
              <a:lnSpc>
                <a:spcPct val="100000"/>
              </a:lnSpc>
              <a:spcBef>
                <a:spcPts val="1405"/>
              </a:spcBef>
            </a:pPr>
            <a:r>
              <a:rPr sz="2800" dirty="0">
                <a:latin typeface="Times New Roman"/>
                <a:cs typeface="Times New Roman"/>
              </a:rPr>
              <a:t>10x</a:t>
            </a:r>
            <a:r>
              <a:rPr sz="2775" baseline="25525" dirty="0">
                <a:latin typeface="Times New Roman"/>
                <a:cs typeface="Times New Roman"/>
              </a:rPr>
              <a:t>2</a:t>
            </a:r>
            <a:r>
              <a:rPr sz="2775" spc="465" baseline="255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+</a:t>
            </a:r>
            <a:r>
              <a:rPr sz="2800" spc="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26x,</a:t>
            </a:r>
            <a:r>
              <a:rPr sz="2800" spc="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here</a:t>
            </a:r>
            <a:r>
              <a:rPr sz="2800" spc="1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10</a:t>
            </a:r>
            <a:r>
              <a:rPr sz="2800" spc="1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1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26</a:t>
            </a:r>
            <a:r>
              <a:rPr sz="2800" spc="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are</a:t>
            </a:r>
            <a:r>
              <a:rPr sz="2800" spc="1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coefficients</a:t>
            </a:r>
            <a:r>
              <a:rPr sz="2800" spc="1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1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2,</a:t>
            </a:r>
            <a:r>
              <a:rPr sz="2800" spc="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1</a:t>
            </a:r>
            <a:r>
              <a:rPr sz="2800" spc="1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its</a:t>
            </a:r>
            <a:r>
              <a:rPr sz="2800" spc="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exponential</a:t>
            </a:r>
            <a:r>
              <a:rPr sz="2800" spc="1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value.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935"/>
              </a:spcBef>
            </a:pPr>
            <a:endParaRPr sz="2800">
              <a:latin typeface="Times New Roman"/>
              <a:cs typeface="Times New Roman"/>
            </a:endParaRPr>
          </a:p>
          <a:p>
            <a:pPr marL="495300" marR="30480" indent="-4572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495300" algn="l"/>
                <a:tab pos="1191260" algn="l"/>
                <a:tab pos="1934845" algn="l"/>
                <a:tab pos="2372360" algn="l"/>
                <a:tab pos="3171190" algn="l"/>
                <a:tab pos="4864735" algn="l"/>
                <a:tab pos="5521325" algn="l"/>
                <a:tab pos="6986270" algn="l"/>
                <a:tab pos="7364095" algn="l"/>
                <a:tab pos="8391525" algn="l"/>
                <a:tab pos="9455150" algn="l"/>
                <a:tab pos="10033000" algn="l"/>
                <a:tab pos="11726545" algn="l"/>
                <a:tab pos="12385040" algn="l"/>
              </a:tabLst>
            </a:pPr>
            <a:r>
              <a:rPr sz="2800" spc="-25" dirty="0">
                <a:latin typeface="Times New Roman"/>
                <a:cs typeface="Times New Roman"/>
              </a:rPr>
              <a:t>The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0" dirty="0">
                <a:latin typeface="Times New Roman"/>
                <a:cs typeface="Times New Roman"/>
              </a:rPr>
              <a:t>sign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5" dirty="0">
                <a:latin typeface="Times New Roman"/>
                <a:cs typeface="Times New Roman"/>
              </a:rPr>
              <a:t>of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0" dirty="0">
                <a:latin typeface="Times New Roman"/>
                <a:cs typeface="Times New Roman"/>
              </a:rPr>
              <a:t>each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coefficient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5" dirty="0">
                <a:latin typeface="Times New Roman"/>
                <a:cs typeface="Times New Roman"/>
              </a:rPr>
              <a:t>and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exponent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5" dirty="0">
                <a:latin typeface="Times New Roman"/>
                <a:cs typeface="Times New Roman"/>
              </a:rPr>
              <a:t>is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stored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within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5" dirty="0">
                <a:latin typeface="Times New Roman"/>
                <a:cs typeface="Times New Roman"/>
              </a:rPr>
              <a:t>the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coefficient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5" dirty="0">
                <a:latin typeface="Times New Roman"/>
                <a:cs typeface="Times New Roman"/>
              </a:rPr>
              <a:t>and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5" dirty="0">
                <a:latin typeface="Times New Roman"/>
                <a:cs typeface="Times New Roman"/>
              </a:rPr>
              <a:t>the </a:t>
            </a:r>
            <a:r>
              <a:rPr sz="2800" dirty="0">
                <a:latin typeface="Times New Roman"/>
                <a:cs typeface="Times New Roman"/>
              </a:rPr>
              <a:t>exponent</a:t>
            </a:r>
            <a:r>
              <a:rPr sz="2800" spc="15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itself</a:t>
            </a:r>
            <a:endParaRPr sz="2800">
              <a:latin typeface="Times New Roman"/>
              <a:cs typeface="Times New Roman"/>
            </a:endParaRPr>
          </a:p>
          <a:p>
            <a:pPr marL="494665" indent="-456565">
              <a:lnSpc>
                <a:spcPct val="100000"/>
              </a:lnSpc>
              <a:spcBef>
                <a:spcPts val="1400"/>
              </a:spcBef>
              <a:buFont typeface="Arial MT"/>
              <a:buChar char="•"/>
              <a:tabLst>
                <a:tab pos="494665" algn="l"/>
              </a:tabLst>
            </a:pPr>
            <a:r>
              <a:rPr sz="2800" dirty="0">
                <a:latin typeface="Times New Roman"/>
                <a:cs typeface="Times New Roman"/>
              </a:rPr>
              <a:t>Additional</a:t>
            </a:r>
            <a:r>
              <a:rPr sz="2800" spc="1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terms</a:t>
            </a:r>
            <a:r>
              <a:rPr sz="2800" spc="1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having</a:t>
            </a:r>
            <a:r>
              <a:rPr sz="2800" spc="1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equal</a:t>
            </a:r>
            <a:r>
              <a:rPr sz="2800" spc="1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exponent</a:t>
            </a:r>
            <a:r>
              <a:rPr sz="2800" spc="1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1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possible</a:t>
            </a:r>
            <a:r>
              <a:rPr sz="2800" spc="12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one</a:t>
            </a:r>
            <a:endParaRPr sz="2800">
              <a:latin typeface="Times New Roman"/>
              <a:cs typeface="Times New Roman"/>
            </a:endParaRPr>
          </a:p>
          <a:p>
            <a:pPr marL="495300" marR="34290" indent="-457200">
              <a:lnSpc>
                <a:spcPct val="100000"/>
              </a:lnSpc>
              <a:spcBef>
                <a:spcPts val="1395"/>
              </a:spcBef>
              <a:buFont typeface="Arial MT"/>
              <a:buChar char="•"/>
              <a:tabLst>
                <a:tab pos="495300" algn="l"/>
                <a:tab pos="6475730" algn="l"/>
                <a:tab pos="8829040" algn="l"/>
              </a:tabLst>
            </a:pP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4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storage</a:t>
            </a:r>
            <a:r>
              <a:rPr sz="2800" spc="409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allocation</a:t>
            </a:r>
            <a:r>
              <a:rPr sz="2800" spc="4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409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each</a:t>
            </a:r>
            <a:r>
              <a:rPr sz="2800" spc="4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term</a:t>
            </a:r>
            <a:r>
              <a:rPr sz="2800" spc="38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in</a:t>
            </a:r>
            <a:r>
              <a:rPr sz="2800" dirty="0">
                <a:latin typeface="Times New Roman"/>
                <a:cs typeface="Times New Roman"/>
              </a:rPr>
              <a:t>	the</a:t>
            </a:r>
            <a:r>
              <a:rPr sz="2800" spc="35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polynomial</a:t>
            </a:r>
            <a:r>
              <a:rPr sz="2800" dirty="0">
                <a:latin typeface="Times New Roman"/>
                <a:cs typeface="Times New Roman"/>
              </a:rPr>
              <a:t>	must</a:t>
            </a:r>
            <a:r>
              <a:rPr sz="2800" spc="3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</a:t>
            </a:r>
            <a:r>
              <a:rPr sz="2800" spc="3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done</a:t>
            </a:r>
            <a:r>
              <a:rPr sz="2800" spc="3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36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ascending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114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descending</a:t>
            </a:r>
            <a:r>
              <a:rPr sz="2800" spc="1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order</a:t>
            </a:r>
            <a:r>
              <a:rPr sz="2800" spc="1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1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their</a:t>
            </a:r>
            <a:r>
              <a:rPr sz="2800" spc="13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exponent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3004800" cy="1515110"/>
            <a:chOff x="0" y="0"/>
            <a:chExt cx="13004800" cy="15151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3759708" cy="151485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32532" y="0"/>
              <a:ext cx="4927092" cy="151485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04659" y="0"/>
              <a:ext cx="6199632" cy="1514855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86969" y="-7543"/>
            <a:ext cx="1256220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dirty="0"/>
              <a:t>SINGLE</a:t>
            </a:r>
            <a:r>
              <a:rPr sz="6000" spc="15" dirty="0"/>
              <a:t> </a:t>
            </a:r>
            <a:r>
              <a:rPr sz="6000" spc="-840" dirty="0"/>
              <a:t>V</a:t>
            </a:r>
            <a:r>
              <a:rPr sz="6000" spc="-70" dirty="0"/>
              <a:t>A</a:t>
            </a:r>
            <a:r>
              <a:rPr sz="6000" spc="-75" dirty="0"/>
              <a:t>R</a:t>
            </a:r>
            <a:r>
              <a:rPr sz="6000" spc="-70" dirty="0"/>
              <a:t>IA</a:t>
            </a:r>
            <a:r>
              <a:rPr sz="6000" spc="-75" dirty="0"/>
              <a:t>BL</a:t>
            </a:r>
            <a:r>
              <a:rPr sz="6000" spc="-20" dirty="0"/>
              <a:t>E</a:t>
            </a:r>
            <a:r>
              <a:rPr sz="6000" spc="-195" dirty="0"/>
              <a:t> </a:t>
            </a:r>
            <a:r>
              <a:rPr sz="6000" spc="-45" dirty="0"/>
              <a:t>P</a:t>
            </a:r>
            <a:r>
              <a:rPr sz="6000" spc="-35" dirty="0"/>
              <a:t>O</a:t>
            </a:r>
            <a:r>
              <a:rPr sz="6000" spc="-595" dirty="0"/>
              <a:t>L</a:t>
            </a:r>
            <a:r>
              <a:rPr sz="6000" spc="-50" dirty="0"/>
              <a:t>Y</a:t>
            </a:r>
            <a:r>
              <a:rPr sz="6000" spc="-35" dirty="0"/>
              <a:t>NO</a:t>
            </a:r>
            <a:r>
              <a:rPr sz="6000" spc="-40" dirty="0"/>
              <a:t>MI</a:t>
            </a:r>
            <a:r>
              <a:rPr sz="6000" spc="-55" dirty="0"/>
              <a:t>A</a:t>
            </a:r>
            <a:r>
              <a:rPr sz="6000" spc="20" dirty="0"/>
              <a:t>L</a:t>
            </a:r>
            <a:endParaRPr sz="6000"/>
          </a:p>
        </p:txBody>
      </p:sp>
      <p:sp>
        <p:nvSpPr>
          <p:cNvPr id="7" name="object 7"/>
          <p:cNvSpPr txBox="1"/>
          <p:nvPr/>
        </p:nvSpPr>
        <p:spPr>
          <a:xfrm>
            <a:off x="109220" y="782074"/>
            <a:ext cx="12813030" cy="4152265"/>
          </a:xfrm>
          <a:prstGeom prst="rect">
            <a:avLst/>
          </a:prstGeom>
        </p:spPr>
        <p:txBody>
          <a:bodyPr vert="horz" wrap="square" lIns="0" tIns="1911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505"/>
              </a:spcBef>
            </a:pPr>
            <a:r>
              <a:rPr sz="2800" b="1" dirty="0">
                <a:latin typeface="Times New Roman"/>
                <a:cs typeface="Times New Roman"/>
              </a:rPr>
              <a:t>Representation</a:t>
            </a:r>
            <a:r>
              <a:rPr sz="2800" b="1" spc="22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of</a:t>
            </a:r>
            <a:r>
              <a:rPr sz="2800" b="1" spc="114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polynomial</a:t>
            </a:r>
            <a:r>
              <a:rPr sz="2800" b="1" spc="17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using</a:t>
            </a:r>
            <a:r>
              <a:rPr sz="2800" b="1" spc="12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Array</a:t>
            </a:r>
            <a:r>
              <a:rPr sz="2800" b="1" spc="160" dirty="0">
                <a:latin typeface="Times New Roman"/>
                <a:cs typeface="Times New Roman"/>
              </a:rPr>
              <a:t> </a:t>
            </a:r>
            <a:r>
              <a:rPr sz="2800" b="1" spc="-50" dirty="0">
                <a:latin typeface="Times New Roman"/>
                <a:cs typeface="Times New Roman"/>
              </a:rPr>
              <a:t>:</a:t>
            </a:r>
            <a:endParaRPr sz="28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  <a:spcBef>
                <a:spcPts val="1405"/>
              </a:spcBef>
            </a:pPr>
            <a:r>
              <a:rPr sz="2800" dirty="0">
                <a:latin typeface="Times New Roman"/>
                <a:cs typeface="Times New Roman"/>
              </a:rPr>
              <a:t>There</a:t>
            </a:r>
            <a:r>
              <a:rPr sz="2800" spc="26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may</a:t>
            </a:r>
            <a:r>
              <a:rPr sz="2800" spc="26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arise</a:t>
            </a:r>
            <a:r>
              <a:rPr sz="2800" spc="26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some</a:t>
            </a:r>
            <a:r>
              <a:rPr sz="2800" spc="254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situation</a:t>
            </a:r>
            <a:r>
              <a:rPr sz="2800" spc="27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where</a:t>
            </a:r>
            <a:r>
              <a:rPr sz="2800" spc="254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you</a:t>
            </a:r>
            <a:r>
              <a:rPr sz="2800" spc="254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need</a:t>
            </a:r>
            <a:r>
              <a:rPr sz="2800" spc="26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254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evaluate</a:t>
            </a:r>
            <a:r>
              <a:rPr sz="2800" spc="27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many</a:t>
            </a:r>
            <a:r>
              <a:rPr sz="2800" spc="260" dirty="0">
                <a:latin typeface="Times New Roman"/>
                <a:cs typeface="Times New Roman"/>
              </a:rPr>
              <a:t>  </a:t>
            </a:r>
            <a:r>
              <a:rPr sz="2800" spc="-10" dirty="0">
                <a:latin typeface="Times New Roman"/>
                <a:cs typeface="Times New Roman"/>
              </a:rPr>
              <a:t>polynomial </a:t>
            </a:r>
            <a:r>
              <a:rPr sz="2800" dirty="0">
                <a:latin typeface="Times New Roman"/>
                <a:cs typeface="Times New Roman"/>
              </a:rPr>
              <a:t>expressions</a:t>
            </a:r>
            <a:r>
              <a:rPr sz="2800" spc="3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3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perform</a:t>
            </a:r>
            <a:r>
              <a:rPr sz="2800" spc="3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basic</a:t>
            </a:r>
            <a:r>
              <a:rPr sz="2800" spc="3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arithmetic</a:t>
            </a:r>
            <a:r>
              <a:rPr sz="2800" spc="3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operations</a:t>
            </a:r>
            <a:r>
              <a:rPr sz="2800" spc="3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like</a:t>
            </a:r>
            <a:r>
              <a:rPr sz="2800" spc="3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addition</a:t>
            </a:r>
            <a:r>
              <a:rPr sz="2800" spc="3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3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subtraction</a:t>
            </a:r>
            <a:r>
              <a:rPr sz="2800" spc="37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with </a:t>
            </a:r>
            <a:r>
              <a:rPr sz="2800" dirty="0">
                <a:latin typeface="Times New Roman"/>
                <a:cs typeface="Times New Roman"/>
              </a:rPr>
              <a:t>those</a:t>
            </a:r>
            <a:r>
              <a:rPr sz="2800" spc="1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numbers.</a:t>
            </a:r>
            <a:r>
              <a:rPr sz="2800" spc="1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1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this,</a:t>
            </a:r>
            <a:r>
              <a:rPr sz="2800" spc="1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you</a:t>
            </a:r>
            <a:r>
              <a:rPr sz="2800" spc="1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will</a:t>
            </a:r>
            <a:r>
              <a:rPr sz="2800" spc="1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have</a:t>
            </a:r>
            <a:r>
              <a:rPr sz="2800" spc="1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1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get</a:t>
            </a:r>
            <a:r>
              <a:rPr sz="2800" spc="1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1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way</a:t>
            </a:r>
            <a:r>
              <a:rPr sz="2800" spc="1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1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represent</a:t>
            </a:r>
            <a:r>
              <a:rPr sz="2800" spc="1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those</a:t>
            </a:r>
            <a:r>
              <a:rPr sz="2800" spc="1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polynomials.</a:t>
            </a:r>
            <a:r>
              <a:rPr sz="2800" spc="13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The </a:t>
            </a:r>
            <a:r>
              <a:rPr sz="2800" dirty="0">
                <a:latin typeface="Times New Roman"/>
                <a:cs typeface="Times New Roman"/>
              </a:rPr>
              <a:t>simple</a:t>
            </a:r>
            <a:r>
              <a:rPr sz="2800" spc="1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way</a:t>
            </a:r>
            <a:r>
              <a:rPr sz="2800" spc="1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1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1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represent</a:t>
            </a:r>
            <a:r>
              <a:rPr sz="2800" spc="2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1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polynomial</a:t>
            </a:r>
            <a:r>
              <a:rPr sz="2800" spc="2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with</a:t>
            </a:r>
            <a:r>
              <a:rPr sz="2800" spc="1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degree</a:t>
            </a:r>
            <a:r>
              <a:rPr sz="2800" spc="1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'n'</a:t>
            </a:r>
            <a:r>
              <a:rPr sz="2800" spc="1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1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store</a:t>
            </a:r>
            <a:r>
              <a:rPr sz="2800" spc="1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1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coefficient</a:t>
            </a:r>
            <a:r>
              <a:rPr sz="2800" spc="2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17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n+1 </a:t>
            </a:r>
            <a:r>
              <a:rPr sz="2800" dirty="0">
                <a:latin typeface="Times New Roman"/>
                <a:cs typeface="Times New Roman"/>
              </a:rPr>
              <a:t>terms</a:t>
            </a:r>
            <a:r>
              <a:rPr sz="2800" spc="1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1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polynomial</a:t>
            </a:r>
            <a:r>
              <a:rPr sz="2800" spc="1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array.</a:t>
            </a:r>
            <a:r>
              <a:rPr sz="2800" spc="114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So</a:t>
            </a:r>
            <a:r>
              <a:rPr sz="2800" spc="1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every</a:t>
            </a:r>
            <a:r>
              <a:rPr sz="2800" spc="1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array</a:t>
            </a:r>
            <a:r>
              <a:rPr sz="2800" spc="1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element</a:t>
            </a:r>
            <a:r>
              <a:rPr sz="2800" spc="1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will</a:t>
            </a:r>
            <a:r>
              <a:rPr sz="2800" spc="1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consist</a:t>
            </a:r>
            <a:r>
              <a:rPr sz="2800" spc="1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1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two</a:t>
            </a:r>
            <a:r>
              <a:rPr sz="2800" spc="1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values:</a:t>
            </a:r>
            <a:endParaRPr sz="2800">
              <a:latin typeface="Times New Roman"/>
              <a:cs typeface="Times New Roman"/>
            </a:endParaRPr>
          </a:p>
          <a:p>
            <a:pPr marL="467995" indent="-455295" algn="just">
              <a:lnSpc>
                <a:spcPct val="100000"/>
              </a:lnSpc>
              <a:spcBef>
                <a:spcPts val="1405"/>
              </a:spcBef>
              <a:buFont typeface="Arial MT"/>
              <a:buChar char="•"/>
              <a:tabLst>
                <a:tab pos="467995" algn="l"/>
              </a:tabLst>
            </a:pPr>
            <a:r>
              <a:rPr sz="2800" dirty="0">
                <a:latin typeface="Times New Roman"/>
                <a:cs typeface="Times New Roman"/>
              </a:rPr>
              <a:t>Coefficient</a:t>
            </a:r>
            <a:r>
              <a:rPr sz="2800" spc="26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and</a:t>
            </a:r>
            <a:endParaRPr sz="2800">
              <a:latin typeface="Times New Roman"/>
              <a:cs typeface="Times New Roman"/>
            </a:endParaRPr>
          </a:p>
          <a:p>
            <a:pPr marL="467995" indent="-455295" algn="just">
              <a:lnSpc>
                <a:spcPct val="100000"/>
              </a:lnSpc>
              <a:spcBef>
                <a:spcPts val="1395"/>
              </a:spcBef>
              <a:buFont typeface="Arial MT"/>
              <a:buChar char="•"/>
              <a:tabLst>
                <a:tab pos="467995" algn="l"/>
              </a:tabLst>
            </a:pPr>
            <a:r>
              <a:rPr sz="2800" spc="-10" dirty="0">
                <a:latin typeface="Times New Roman"/>
                <a:cs typeface="Times New Roman"/>
              </a:rPr>
              <a:t>Exponent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073400" y="3809998"/>
            <a:ext cx="9930892" cy="5943600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55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" y="0"/>
            <a:ext cx="12728448" cy="151485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73385" rIns="0" bIns="0" rtlCol="0">
            <a:spAutoFit/>
          </a:bodyPr>
          <a:lstStyle/>
          <a:p>
            <a:pPr marL="504190">
              <a:lnSpc>
                <a:spcPct val="100000"/>
              </a:lnSpc>
              <a:spcBef>
                <a:spcPts val="100"/>
              </a:spcBef>
            </a:pPr>
            <a:r>
              <a:rPr sz="6000" dirty="0"/>
              <a:t>Polynomial Addition using </a:t>
            </a:r>
            <a:r>
              <a:rPr sz="6000" spc="-10" dirty="0"/>
              <a:t>Array</a:t>
            </a:r>
            <a:endParaRPr sz="6000"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5575" y="990597"/>
            <a:ext cx="12848717" cy="86868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56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32587"/>
            <a:ext cx="13004800" cy="2184400"/>
            <a:chOff x="0" y="132587"/>
            <a:chExt cx="13004800" cy="21844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32587"/>
              <a:ext cx="4184904" cy="218389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80360" y="132587"/>
              <a:ext cx="5006340" cy="218389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01612" y="132587"/>
              <a:ext cx="6202680" cy="2183892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55909" rIns="0" bIns="0" rtlCol="0">
            <a:spAutoFit/>
          </a:bodyPr>
          <a:lstStyle/>
          <a:p>
            <a:pPr marL="406400">
              <a:lnSpc>
                <a:spcPct val="100000"/>
              </a:lnSpc>
              <a:spcBef>
                <a:spcPts val="105"/>
              </a:spcBef>
            </a:pPr>
            <a:r>
              <a:rPr dirty="0"/>
              <a:t>Single</a:t>
            </a:r>
            <a:r>
              <a:rPr spc="-55" dirty="0"/>
              <a:t> </a:t>
            </a:r>
            <a:r>
              <a:rPr spc="-905" dirty="0"/>
              <a:t>V</a:t>
            </a:r>
            <a:r>
              <a:rPr spc="-50" dirty="0"/>
              <a:t>a</a:t>
            </a:r>
            <a:r>
              <a:rPr spc="-55" dirty="0"/>
              <a:t>r</a:t>
            </a:r>
            <a:r>
              <a:rPr spc="-50" dirty="0"/>
              <a:t>ia</a:t>
            </a:r>
            <a:r>
              <a:rPr spc="-55" dirty="0"/>
              <a:t>b</a:t>
            </a:r>
            <a:r>
              <a:rPr spc="-50" dirty="0"/>
              <a:t>l</a:t>
            </a:r>
            <a:r>
              <a:rPr dirty="0"/>
              <a:t>e</a:t>
            </a:r>
            <a:r>
              <a:rPr spc="-265" dirty="0"/>
              <a:t> </a:t>
            </a:r>
            <a:r>
              <a:rPr spc="-10" dirty="0"/>
              <a:t>Polynomial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57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2956051" y="3272118"/>
            <a:ext cx="7522845" cy="3126105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589915" indent="-577215">
              <a:lnSpc>
                <a:spcPct val="100000"/>
              </a:lnSpc>
              <a:spcBef>
                <a:spcPts val="905"/>
              </a:spcBef>
              <a:buClr>
                <a:srgbClr val="E0E1DC"/>
              </a:buClr>
              <a:buSzPct val="94117"/>
              <a:buFont typeface="Wingdings"/>
              <a:buChar char=""/>
              <a:tabLst>
                <a:tab pos="589915" algn="l"/>
              </a:tabLst>
            </a:pPr>
            <a:r>
              <a:rPr sz="3400" b="1" i="1" spc="-20" dirty="0">
                <a:latin typeface="Constantia"/>
                <a:cs typeface="Constantia"/>
              </a:rPr>
              <a:t>Representation</a:t>
            </a:r>
            <a:r>
              <a:rPr sz="3400" b="1" i="1" spc="-50" dirty="0">
                <a:latin typeface="Constantia"/>
                <a:cs typeface="Constantia"/>
              </a:rPr>
              <a:t> </a:t>
            </a:r>
            <a:r>
              <a:rPr sz="3400" b="1" i="1" spc="-20" dirty="0">
                <a:latin typeface="Constantia"/>
                <a:cs typeface="Constantia"/>
              </a:rPr>
              <a:t>Using</a:t>
            </a:r>
            <a:r>
              <a:rPr sz="3400" b="1" i="1" spc="-155" dirty="0">
                <a:latin typeface="Constantia"/>
                <a:cs typeface="Constantia"/>
              </a:rPr>
              <a:t> </a:t>
            </a:r>
            <a:r>
              <a:rPr sz="3400" b="1" i="1" spc="-10" dirty="0">
                <a:latin typeface="Constantia"/>
                <a:cs typeface="Constantia"/>
              </a:rPr>
              <a:t>Arrays</a:t>
            </a:r>
            <a:endParaRPr sz="3400">
              <a:latin typeface="Constantia"/>
              <a:cs typeface="Constantia"/>
            </a:endParaRPr>
          </a:p>
          <a:p>
            <a:pPr marL="589915" indent="-577215">
              <a:lnSpc>
                <a:spcPct val="100000"/>
              </a:lnSpc>
              <a:spcBef>
                <a:spcPts val="805"/>
              </a:spcBef>
              <a:buSzPct val="94117"/>
              <a:buFont typeface="Wingdings"/>
              <a:buChar char=""/>
              <a:tabLst>
                <a:tab pos="589915" algn="l"/>
              </a:tabLst>
            </a:pPr>
            <a:r>
              <a:rPr sz="3400" b="1" i="1" spc="-10" dirty="0">
                <a:latin typeface="Constantia"/>
                <a:cs typeface="Constantia"/>
              </a:rPr>
              <a:t>Array</a:t>
            </a:r>
            <a:r>
              <a:rPr sz="3400" b="1" i="1" spc="-125" dirty="0">
                <a:latin typeface="Constantia"/>
                <a:cs typeface="Constantia"/>
              </a:rPr>
              <a:t> </a:t>
            </a:r>
            <a:r>
              <a:rPr sz="3400" b="1" i="1" dirty="0">
                <a:latin typeface="Constantia"/>
                <a:cs typeface="Constantia"/>
              </a:rPr>
              <a:t>of</a:t>
            </a:r>
            <a:r>
              <a:rPr sz="3400" b="1" i="1" spc="-75" dirty="0">
                <a:latin typeface="Constantia"/>
                <a:cs typeface="Constantia"/>
              </a:rPr>
              <a:t> </a:t>
            </a:r>
            <a:r>
              <a:rPr sz="3400" b="1" i="1" spc="-10" dirty="0">
                <a:latin typeface="Constantia"/>
                <a:cs typeface="Constantia"/>
              </a:rPr>
              <a:t>Structures</a:t>
            </a:r>
            <a:endParaRPr sz="3400">
              <a:latin typeface="Constantia"/>
              <a:cs typeface="Constantia"/>
            </a:endParaRPr>
          </a:p>
          <a:p>
            <a:pPr marL="589915" indent="-577215">
              <a:lnSpc>
                <a:spcPct val="100000"/>
              </a:lnSpc>
              <a:spcBef>
                <a:spcPts val="805"/>
              </a:spcBef>
              <a:buClr>
                <a:srgbClr val="E0E1DC"/>
              </a:buClr>
              <a:buSzPct val="94117"/>
              <a:buFont typeface="Wingdings"/>
              <a:buChar char=""/>
              <a:tabLst>
                <a:tab pos="589915" algn="l"/>
              </a:tabLst>
            </a:pPr>
            <a:r>
              <a:rPr sz="3400" b="1" i="1" spc="-20" dirty="0">
                <a:latin typeface="Constantia"/>
                <a:cs typeface="Constantia"/>
              </a:rPr>
              <a:t>Polynomial</a:t>
            </a:r>
            <a:r>
              <a:rPr sz="3400" b="1" i="1" spc="-114" dirty="0">
                <a:latin typeface="Constantia"/>
                <a:cs typeface="Constantia"/>
              </a:rPr>
              <a:t> </a:t>
            </a:r>
            <a:r>
              <a:rPr sz="3400" b="1" i="1" spc="-10" dirty="0">
                <a:latin typeface="Constantia"/>
                <a:cs typeface="Constantia"/>
              </a:rPr>
              <a:t>Evaluation</a:t>
            </a:r>
            <a:endParaRPr sz="3400">
              <a:latin typeface="Constantia"/>
              <a:cs typeface="Constantia"/>
            </a:endParaRPr>
          </a:p>
          <a:p>
            <a:pPr marL="589915" indent="-577215">
              <a:lnSpc>
                <a:spcPct val="100000"/>
              </a:lnSpc>
              <a:spcBef>
                <a:spcPts val="790"/>
              </a:spcBef>
              <a:buSzPct val="94117"/>
              <a:buFont typeface="Wingdings"/>
              <a:buChar char=""/>
              <a:tabLst>
                <a:tab pos="589915" algn="l"/>
              </a:tabLst>
            </a:pPr>
            <a:r>
              <a:rPr sz="3400" b="1" i="1" spc="-25" dirty="0">
                <a:latin typeface="Constantia"/>
                <a:cs typeface="Constantia"/>
              </a:rPr>
              <a:t>Polynomial</a:t>
            </a:r>
            <a:r>
              <a:rPr sz="3400" b="1" i="1" spc="-114" dirty="0">
                <a:latin typeface="Constantia"/>
                <a:cs typeface="Constantia"/>
              </a:rPr>
              <a:t> </a:t>
            </a:r>
            <a:r>
              <a:rPr sz="3400" b="1" i="1" spc="-10" dirty="0">
                <a:latin typeface="Constantia"/>
                <a:cs typeface="Constantia"/>
              </a:rPr>
              <a:t>Addition</a:t>
            </a:r>
            <a:endParaRPr sz="3400">
              <a:latin typeface="Constantia"/>
              <a:cs typeface="Constantia"/>
            </a:endParaRPr>
          </a:p>
          <a:p>
            <a:pPr marL="589915" indent="-577215">
              <a:lnSpc>
                <a:spcPct val="100000"/>
              </a:lnSpc>
              <a:spcBef>
                <a:spcPts val="805"/>
              </a:spcBef>
              <a:buClr>
                <a:srgbClr val="E0E1DC"/>
              </a:buClr>
              <a:buSzPct val="94117"/>
              <a:buFont typeface="Wingdings"/>
              <a:buChar char=""/>
              <a:tabLst>
                <a:tab pos="589915" algn="l"/>
              </a:tabLst>
            </a:pPr>
            <a:r>
              <a:rPr sz="3400" b="1" i="1" spc="-10" dirty="0">
                <a:latin typeface="Constantia"/>
                <a:cs typeface="Constantia"/>
              </a:rPr>
              <a:t>Multiplication</a:t>
            </a:r>
            <a:r>
              <a:rPr sz="3400" b="1" i="1" spc="-90" dirty="0">
                <a:latin typeface="Constantia"/>
                <a:cs typeface="Constantia"/>
              </a:rPr>
              <a:t> </a:t>
            </a:r>
            <a:r>
              <a:rPr sz="3400" b="1" i="1" dirty="0">
                <a:latin typeface="Constantia"/>
                <a:cs typeface="Constantia"/>
              </a:rPr>
              <a:t>of </a:t>
            </a:r>
            <a:r>
              <a:rPr sz="3400" b="1" i="1" spc="-100" dirty="0">
                <a:latin typeface="Constantia"/>
                <a:cs typeface="Constantia"/>
              </a:rPr>
              <a:t>Two</a:t>
            </a:r>
            <a:r>
              <a:rPr sz="3400" b="1" i="1" spc="-315" dirty="0">
                <a:latin typeface="Constantia"/>
                <a:cs typeface="Constantia"/>
              </a:rPr>
              <a:t> </a:t>
            </a:r>
            <a:r>
              <a:rPr sz="3400" b="1" i="1" spc="-10" dirty="0">
                <a:latin typeface="Constantia"/>
                <a:cs typeface="Constantia"/>
              </a:rPr>
              <a:t>Polynomials</a:t>
            </a:r>
            <a:endParaRPr sz="3400">
              <a:latin typeface="Constantia"/>
              <a:cs typeface="Constant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3004800" cy="2915920"/>
            <a:chOff x="0" y="0"/>
            <a:chExt cx="13004800" cy="29159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6216396" cy="174193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49595" y="0"/>
              <a:ext cx="7854696" cy="174193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06595" y="731519"/>
              <a:ext cx="5202936" cy="2183892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01523" y="-200456"/>
            <a:ext cx="12178665" cy="2373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257040" marR="5080" indent="-4244975">
              <a:lnSpc>
                <a:spcPct val="100000"/>
              </a:lnSpc>
              <a:spcBef>
                <a:spcPts val="105"/>
              </a:spcBef>
            </a:pPr>
            <a:r>
              <a:rPr dirty="0"/>
              <a:t>Polynomial</a:t>
            </a:r>
            <a:r>
              <a:rPr spc="-210" dirty="0"/>
              <a:t> </a:t>
            </a:r>
            <a:r>
              <a:rPr spc="-10" dirty="0"/>
              <a:t>Representation </a:t>
            </a:r>
            <a:r>
              <a:rPr dirty="0"/>
              <a:t>on</a:t>
            </a:r>
            <a:r>
              <a:rPr spc="-35" dirty="0"/>
              <a:t> </a:t>
            </a:r>
            <a:r>
              <a:rPr spc="-10" dirty="0"/>
              <a:t>array</a:t>
            </a: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2225037"/>
            <a:ext cx="12908153" cy="7528559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58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3004800" cy="1908175"/>
            <a:chOff x="0" y="0"/>
            <a:chExt cx="13004800" cy="19081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6178296" cy="190804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11496" y="0"/>
              <a:ext cx="7892796" cy="1908048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48112" rIns="0" bIns="0" rtlCol="0">
            <a:spAutoFit/>
          </a:bodyPr>
          <a:lstStyle/>
          <a:p>
            <a:pPr marL="370840">
              <a:lnSpc>
                <a:spcPct val="100000"/>
              </a:lnSpc>
              <a:spcBef>
                <a:spcPts val="105"/>
              </a:spcBef>
            </a:pPr>
            <a:r>
              <a:rPr dirty="0"/>
              <a:t>Polynomial</a:t>
            </a:r>
            <a:r>
              <a:rPr spc="-210" dirty="0"/>
              <a:t> </a:t>
            </a:r>
            <a:r>
              <a:rPr spc="-10" dirty="0"/>
              <a:t>Representaiton</a:t>
            </a: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12" y="1523997"/>
            <a:ext cx="12344400" cy="8229600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59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6368" y="1396364"/>
            <a:ext cx="11015980" cy="50673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03860" marR="5080" indent="-391795">
              <a:lnSpc>
                <a:spcPct val="100000"/>
              </a:lnSpc>
              <a:spcBef>
                <a:spcPts val="95"/>
              </a:spcBef>
              <a:buClr>
                <a:srgbClr val="E0E1DC"/>
              </a:buClr>
              <a:buSzPct val="91250"/>
              <a:buFont typeface="Wingdings"/>
              <a:buChar char=""/>
              <a:tabLst>
                <a:tab pos="403860" algn="l"/>
                <a:tab pos="441325" algn="l"/>
              </a:tabLst>
            </a:pPr>
            <a:r>
              <a:rPr sz="4000" i="1" spc="-30" dirty="0">
                <a:latin typeface="Constantia"/>
                <a:cs typeface="Constantia"/>
              </a:rPr>
              <a:t>	Polynomial</a:t>
            </a:r>
            <a:r>
              <a:rPr sz="4000" i="1" spc="-160" dirty="0">
                <a:latin typeface="Constantia"/>
                <a:cs typeface="Constantia"/>
              </a:rPr>
              <a:t> </a:t>
            </a:r>
            <a:r>
              <a:rPr sz="4000" i="1" dirty="0">
                <a:latin typeface="Constantia"/>
                <a:cs typeface="Constantia"/>
              </a:rPr>
              <a:t>as</a:t>
            </a:r>
            <a:r>
              <a:rPr sz="4000" i="1" spc="-195" dirty="0">
                <a:latin typeface="Constantia"/>
                <a:cs typeface="Constantia"/>
              </a:rPr>
              <a:t> </a:t>
            </a:r>
            <a:r>
              <a:rPr sz="4000" i="1" dirty="0">
                <a:latin typeface="Constantia"/>
                <a:cs typeface="Constantia"/>
              </a:rPr>
              <a:t>an</a:t>
            </a:r>
            <a:r>
              <a:rPr sz="4000" i="1" spc="-125" dirty="0">
                <a:latin typeface="Constantia"/>
                <a:cs typeface="Constantia"/>
              </a:rPr>
              <a:t> </a:t>
            </a:r>
            <a:r>
              <a:rPr sz="4000" i="1" spc="-105" dirty="0">
                <a:latin typeface="Constantia"/>
                <a:cs typeface="Constantia"/>
              </a:rPr>
              <a:t>ADT,</a:t>
            </a:r>
            <a:r>
              <a:rPr sz="4000" i="1" spc="-145" dirty="0">
                <a:latin typeface="Constantia"/>
                <a:cs typeface="Constantia"/>
              </a:rPr>
              <a:t> </a:t>
            </a:r>
            <a:r>
              <a:rPr sz="4000" i="1" dirty="0">
                <a:latin typeface="Constantia"/>
                <a:cs typeface="Constantia"/>
              </a:rPr>
              <a:t>the</a:t>
            </a:r>
            <a:r>
              <a:rPr sz="4000" i="1" spc="-140" dirty="0">
                <a:latin typeface="Constantia"/>
                <a:cs typeface="Constantia"/>
              </a:rPr>
              <a:t> </a:t>
            </a:r>
            <a:r>
              <a:rPr sz="4000" i="1" spc="-20" dirty="0">
                <a:latin typeface="Constantia"/>
                <a:cs typeface="Constantia"/>
              </a:rPr>
              <a:t>basic</a:t>
            </a:r>
            <a:r>
              <a:rPr sz="4000" i="1" spc="-215" dirty="0">
                <a:latin typeface="Constantia"/>
                <a:cs typeface="Constantia"/>
              </a:rPr>
              <a:t> </a:t>
            </a:r>
            <a:r>
              <a:rPr sz="4000" i="1" spc="-25" dirty="0">
                <a:latin typeface="Constantia"/>
                <a:cs typeface="Constantia"/>
              </a:rPr>
              <a:t>operations</a:t>
            </a:r>
            <a:r>
              <a:rPr sz="4000" i="1" spc="-204" dirty="0">
                <a:latin typeface="Constantia"/>
                <a:cs typeface="Constantia"/>
              </a:rPr>
              <a:t> </a:t>
            </a:r>
            <a:r>
              <a:rPr sz="4000" i="1" spc="-35" dirty="0">
                <a:latin typeface="Constantia"/>
                <a:cs typeface="Constantia"/>
              </a:rPr>
              <a:t>are</a:t>
            </a:r>
            <a:r>
              <a:rPr sz="4000" i="1" spc="-235" dirty="0">
                <a:latin typeface="Constantia"/>
                <a:cs typeface="Constantia"/>
              </a:rPr>
              <a:t> </a:t>
            </a:r>
            <a:r>
              <a:rPr sz="4000" i="1" spc="-25" dirty="0">
                <a:latin typeface="Constantia"/>
                <a:cs typeface="Constantia"/>
              </a:rPr>
              <a:t>as </a:t>
            </a:r>
            <a:r>
              <a:rPr sz="4000" i="1" spc="-10" dirty="0">
                <a:latin typeface="Constantia"/>
                <a:cs typeface="Constantia"/>
              </a:rPr>
              <a:t>follows:</a:t>
            </a:r>
            <a:endParaRPr sz="4000">
              <a:latin typeface="Constantia"/>
              <a:cs typeface="Constantia"/>
            </a:endParaRPr>
          </a:p>
          <a:p>
            <a:pPr>
              <a:lnSpc>
                <a:spcPct val="100000"/>
              </a:lnSpc>
              <a:spcBef>
                <a:spcPts val="1625"/>
              </a:spcBef>
              <a:buClr>
                <a:srgbClr val="E0E1DC"/>
              </a:buClr>
              <a:buFont typeface="Wingdings"/>
              <a:buChar char=""/>
            </a:pPr>
            <a:endParaRPr sz="4000">
              <a:latin typeface="Constantia"/>
              <a:cs typeface="Constantia"/>
            </a:endParaRPr>
          </a:p>
          <a:p>
            <a:pPr marL="2286000" lvl="1" indent="-392430">
              <a:lnSpc>
                <a:spcPct val="100000"/>
              </a:lnSpc>
              <a:buSzPct val="94117"/>
              <a:buFont typeface="Wingdings"/>
              <a:buChar char=""/>
              <a:tabLst>
                <a:tab pos="2286000" algn="l"/>
              </a:tabLst>
            </a:pPr>
            <a:r>
              <a:rPr sz="3400" i="1" dirty="0">
                <a:latin typeface="Constantia"/>
                <a:cs typeface="Constantia"/>
              </a:rPr>
              <a:t>Creation</a:t>
            </a:r>
            <a:r>
              <a:rPr sz="3400" i="1" spc="-75" dirty="0">
                <a:latin typeface="Constantia"/>
                <a:cs typeface="Constantia"/>
              </a:rPr>
              <a:t> </a:t>
            </a:r>
            <a:r>
              <a:rPr sz="3400" i="1" dirty="0">
                <a:latin typeface="Constantia"/>
                <a:cs typeface="Constantia"/>
              </a:rPr>
              <a:t>of</a:t>
            </a:r>
            <a:r>
              <a:rPr sz="3400" i="1" spc="-20" dirty="0">
                <a:latin typeface="Constantia"/>
                <a:cs typeface="Constantia"/>
              </a:rPr>
              <a:t> </a:t>
            </a:r>
            <a:r>
              <a:rPr sz="3400" i="1" spc="-25" dirty="0">
                <a:latin typeface="Constantia"/>
                <a:cs typeface="Constantia"/>
              </a:rPr>
              <a:t>a</a:t>
            </a:r>
            <a:r>
              <a:rPr sz="3400" i="1" spc="-265" dirty="0">
                <a:latin typeface="Constantia"/>
                <a:cs typeface="Constantia"/>
              </a:rPr>
              <a:t> </a:t>
            </a:r>
            <a:r>
              <a:rPr sz="3400" i="1" spc="-10" dirty="0">
                <a:latin typeface="Constantia"/>
                <a:cs typeface="Constantia"/>
              </a:rPr>
              <a:t>polynomial</a:t>
            </a:r>
            <a:endParaRPr sz="3400">
              <a:latin typeface="Constantia"/>
              <a:cs typeface="Constantia"/>
            </a:endParaRPr>
          </a:p>
          <a:p>
            <a:pPr marL="2286000" lvl="1" indent="-392430">
              <a:lnSpc>
                <a:spcPct val="100000"/>
              </a:lnSpc>
              <a:spcBef>
                <a:spcPts val="795"/>
              </a:spcBef>
              <a:buClr>
                <a:srgbClr val="E0E1DC"/>
              </a:buClr>
              <a:buSzPct val="94117"/>
              <a:buFont typeface="Wingdings"/>
              <a:buChar char=""/>
              <a:tabLst>
                <a:tab pos="2286000" algn="l"/>
              </a:tabLst>
            </a:pPr>
            <a:r>
              <a:rPr sz="3400" i="1" spc="-10" dirty="0">
                <a:latin typeface="Constantia"/>
                <a:cs typeface="Constantia"/>
              </a:rPr>
              <a:t>Addition</a:t>
            </a:r>
            <a:r>
              <a:rPr sz="3400" i="1" spc="-114" dirty="0">
                <a:latin typeface="Constantia"/>
                <a:cs typeface="Constantia"/>
              </a:rPr>
              <a:t> </a:t>
            </a:r>
            <a:r>
              <a:rPr sz="3400" i="1" dirty="0">
                <a:latin typeface="Constantia"/>
                <a:cs typeface="Constantia"/>
              </a:rPr>
              <a:t>of</a:t>
            </a:r>
            <a:r>
              <a:rPr sz="3400" i="1" spc="20" dirty="0">
                <a:latin typeface="Constantia"/>
                <a:cs typeface="Constantia"/>
              </a:rPr>
              <a:t> </a:t>
            </a:r>
            <a:r>
              <a:rPr sz="3400" i="1" spc="-35" dirty="0">
                <a:latin typeface="Constantia"/>
                <a:cs typeface="Constantia"/>
              </a:rPr>
              <a:t>two</a:t>
            </a:r>
            <a:r>
              <a:rPr sz="3400" i="1" spc="-280" dirty="0">
                <a:latin typeface="Constantia"/>
                <a:cs typeface="Constantia"/>
              </a:rPr>
              <a:t> </a:t>
            </a:r>
            <a:r>
              <a:rPr sz="3400" i="1" spc="-10" dirty="0">
                <a:latin typeface="Constantia"/>
                <a:cs typeface="Constantia"/>
              </a:rPr>
              <a:t>polynomials</a:t>
            </a:r>
            <a:endParaRPr sz="3400">
              <a:latin typeface="Constantia"/>
              <a:cs typeface="Constantia"/>
            </a:endParaRPr>
          </a:p>
          <a:p>
            <a:pPr marL="2286000" lvl="1" indent="-392430">
              <a:lnSpc>
                <a:spcPct val="100000"/>
              </a:lnSpc>
              <a:spcBef>
                <a:spcPts val="800"/>
              </a:spcBef>
              <a:buSzPct val="94117"/>
              <a:buFont typeface="Wingdings"/>
              <a:buChar char=""/>
              <a:tabLst>
                <a:tab pos="2286000" algn="l"/>
              </a:tabLst>
            </a:pPr>
            <a:r>
              <a:rPr sz="3400" i="1" dirty="0">
                <a:latin typeface="Constantia"/>
                <a:cs typeface="Constantia"/>
              </a:rPr>
              <a:t>Subtraction</a:t>
            </a:r>
            <a:r>
              <a:rPr sz="3400" i="1" spc="-80" dirty="0">
                <a:latin typeface="Constantia"/>
                <a:cs typeface="Constantia"/>
              </a:rPr>
              <a:t> </a:t>
            </a:r>
            <a:r>
              <a:rPr sz="3400" i="1" dirty="0">
                <a:latin typeface="Constantia"/>
                <a:cs typeface="Constantia"/>
              </a:rPr>
              <a:t>of</a:t>
            </a:r>
            <a:r>
              <a:rPr sz="3400" i="1" spc="-15" dirty="0">
                <a:latin typeface="Constantia"/>
                <a:cs typeface="Constantia"/>
              </a:rPr>
              <a:t> </a:t>
            </a:r>
            <a:r>
              <a:rPr sz="3400" i="1" spc="-45" dirty="0">
                <a:latin typeface="Constantia"/>
                <a:cs typeface="Constantia"/>
              </a:rPr>
              <a:t>two</a:t>
            </a:r>
            <a:r>
              <a:rPr sz="3400" i="1" spc="-270" dirty="0">
                <a:latin typeface="Constantia"/>
                <a:cs typeface="Constantia"/>
              </a:rPr>
              <a:t> </a:t>
            </a:r>
            <a:r>
              <a:rPr sz="3400" i="1" spc="-10" dirty="0">
                <a:latin typeface="Constantia"/>
                <a:cs typeface="Constantia"/>
              </a:rPr>
              <a:t>polynomials</a:t>
            </a:r>
            <a:endParaRPr sz="3400">
              <a:latin typeface="Constantia"/>
              <a:cs typeface="Constantia"/>
            </a:endParaRPr>
          </a:p>
          <a:p>
            <a:pPr marL="2286000" lvl="1" indent="-392430">
              <a:lnSpc>
                <a:spcPct val="100000"/>
              </a:lnSpc>
              <a:spcBef>
                <a:spcPts val="805"/>
              </a:spcBef>
              <a:buClr>
                <a:srgbClr val="E0E1DC"/>
              </a:buClr>
              <a:buSzPct val="94117"/>
              <a:buFont typeface="Wingdings"/>
              <a:buChar char=""/>
              <a:tabLst>
                <a:tab pos="2286000" algn="l"/>
              </a:tabLst>
            </a:pPr>
            <a:r>
              <a:rPr sz="3400" i="1" spc="-10" dirty="0">
                <a:latin typeface="Constantia"/>
                <a:cs typeface="Constantia"/>
              </a:rPr>
              <a:t>Multiplication</a:t>
            </a:r>
            <a:r>
              <a:rPr sz="3400" i="1" spc="-55" dirty="0">
                <a:latin typeface="Constantia"/>
                <a:cs typeface="Constantia"/>
              </a:rPr>
              <a:t> </a:t>
            </a:r>
            <a:r>
              <a:rPr sz="3400" i="1" dirty="0">
                <a:latin typeface="Constantia"/>
                <a:cs typeface="Constantia"/>
              </a:rPr>
              <a:t>of</a:t>
            </a:r>
            <a:r>
              <a:rPr sz="3400" i="1" spc="5" dirty="0">
                <a:latin typeface="Constantia"/>
                <a:cs typeface="Constantia"/>
              </a:rPr>
              <a:t> </a:t>
            </a:r>
            <a:r>
              <a:rPr sz="3400" i="1" spc="-45" dirty="0">
                <a:latin typeface="Constantia"/>
                <a:cs typeface="Constantia"/>
              </a:rPr>
              <a:t>two</a:t>
            </a:r>
            <a:r>
              <a:rPr sz="3400" i="1" spc="-305" dirty="0">
                <a:latin typeface="Constantia"/>
                <a:cs typeface="Constantia"/>
              </a:rPr>
              <a:t> </a:t>
            </a:r>
            <a:r>
              <a:rPr sz="3400" i="1" spc="-10" dirty="0">
                <a:latin typeface="Constantia"/>
                <a:cs typeface="Constantia"/>
              </a:rPr>
              <a:t>polynomials</a:t>
            </a:r>
            <a:endParaRPr sz="3400">
              <a:latin typeface="Constantia"/>
              <a:cs typeface="Constantia"/>
            </a:endParaRPr>
          </a:p>
          <a:p>
            <a:pPr marL="2286000" lvl="1" indent="-392430">
              <a:lnSpc>
                <a:spcPct val="100000"/>
              </a:lnSpc>
              <a:spcBef>
                <a:spcPts val="795"/>
              </a:spcBef>
              <a:buSzPct val="94117"/>
              <a:buFont typeface="Wingdings"/>
              <a:buChar char=""/>
              <a:tabLst>
                <a:tab pos="2286000" algn="l"/>
              </a:tabLst>
            </a:pPr>
            <a:r>
              <a:rPr sz="3400" i="1" spc="-25" dirty="0">
                <a:latin typeface="Constantia"/>
                <a:cs typeface="Constantia"/>
              </a:rPr>
              <a:t>Polynomial</a:t>
            </a:r>
            <a:r>
              <a:rPr sz="3400" i="1" spc="-145" dirty="0">
                <a:latin typeface="Constantia"/>
                <a:cs typeface="Constantia"/>
              </a:rPr>
              <a:t> </a:t>
            </a:r>
            <a:r>
              <a:rPr sz="3400" i="1" spc="-10" dirty="0">
                <a:latin typeface="Constantia"/>
                <a:cs typeface="Constantia"/>
              </a:rPr>
              <a:t>evaluation</a:t>
            </a:r>
            <a:endParaRPr sz="3400">
              <a:latin typeface="Constantia"/>
              <a:cs typeface="Constant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60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8723" y="0"/>
            <a:ext cx="12193905" cy="2118360"/>
            <a:chOff x="458723" y="0"/>
            <a:chExt cx="12193905" cy="21183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8723" y="0"/>
              <a:ext cx="6272783" cy="211835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78195" y="0"/>
              <a:ext cx="2593848" cy="211835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18732" y="0"/>
              <a:ext cx="3573779" cy="211835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057131" y="0"/>
              <a:ext cx="3595116" cy="2118359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122375" y="105231"/>
            <a:ext cx="10875645" cy="1245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0" spc="-10" dirty="0">
                <a:latin typeface="Calibri"/>
                <a:cs typeface="Calibri"/>
              </a:rPr>
              <a:t>Polynomial</a:t>
            </a:r>
            <a:r>
              <a:rPr sz="8000" spc="-215" dirty="0">
                <a:latin typeface="Calibri"/>
                <a:cs typeface="Calibri"/>
              </a:rPr>
              <a:t> </a:t>
            </a:r>
            <a:r>
              <a:rPr sz="8000" dirty="0">
                <a:latin typeface="Calibri"/>
                <a:cs typeface="Calibri"/>
              </a:rPr>
              <a:t>by</a:t>
            </a:r>
            <a:r>
              <a:rPr sz="8000" spc="-200" dirty="0">
                <a:latin typeface="Calibri"/>
                <a:cs typeface="Calibri"/>
              </a:rPr>
              <a:t> </a:t>
            </a:r>
            <a:r>
              <a:rPr sz="8000" dirty="0">
                <a:latin typeface="Calibri"/>
                <a:cs typeface="Calibri"/>
              </a:rPr>
              <a:t>using</a:t>
            </a:r>
            <a:r>
              <a:rPr sz="8000" spc="-240" dirty="0">
                <a:latin typeface="Calibri"/>
                <a:cs typeface="Calibri"/>
              </a:rPr>
              <a:t> </a:t>
            </a:r>
            <a:r>
              <a:rPr sz="8000" spc="-80" dirty="0">
                <a:latin typeface="Calibri"/>
                <a:cs typeface="Calibri"/>
              </a:rPr>
              <a:t>Array</a:t>
            </a:r>
            <a:endParaRPr sz="80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07695" y="1453857"/>
            <a:ext cx="12865735" cy="7379334"/>
            <a:chOff x="107695" y="1453857"/>
            <a:chExt cx="12865735" cy="7379334"/>
          </a:xfrm>
        </p:grpSpPr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5000" y="2438400"/>
              <a:ext cx="10989056" cy="518236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35000" y="1828799"/>
              <a:ext cx="11887200" cy="647700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30200" y="1676361"/>
              <a:ext cx="12420600" cy="6934200"/>
            </a:xfrm>
            <a:custGeom>
              <a:avLst/>
              <a:gdLst/>
              <a:ahLst/>
              <a:cxnLst/>
              <a:rect l="l" t="t" r="r" b="b"/>
              <a:pathLst>
                <a:path w="12420600" h="6934200">
                  <a:moveTo>
                    <a:pt x="0" y="6933946"/>
                  </a:moveTo>
                  <a:lnTo>
                    <a:pt x="12420346" y="6933946"/>
                  </a:lnTo>
                  <a:lnTo>
                    <a:pt x="12420346" y="0"/>
                  </a:lnTo>
                  <a:lnTo>
                    <a:pt x="0" y="0"/>
                  </a:lnTo>
                  <a:lnTo>
                    <a:pt x="0" y="6933946"/>
                  </a:lnTo>
                  <a:close/>
                </a:path>
              </a:pathLst>
            </a:custGeom>
            <a:ln w="445007">
              <a:solidFill>
                <a:srgbClr val="49734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61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13004" y="601980"/>
            <a:ext cx="12195175" cy="6979920"/>
            <a:chOff x="413004" y="601980"/>
            <a:chExt cx="12195175" cy="69799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2551" y="2984627"/>
              <a:ext cx="11097387" cy="459714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08811" y="3359658"/>
              <a:ext cx="9103360" cy="303441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092403" y="3043047"/>
              <a:ext cx="9736455" cy="3667760"/>
            </a:xfrm>
            <a:custGeom>
              <a:avLst/>
              <a:gdLst/>
              <a:ahLst/>
              <a:cxnLst/>
              <a:rect l="l" t="t" r="r" b="b"/>
              <a:pathLst>
                <a:path w="9736455" h="3667759">
                  <a:moveTo>
                    <a:pt x="0" y="3667379"/>
                  </a:moveTo>
                  <a:lnTo>
                    <a:pt x="9736201" y="3667379"/>
                  </a:lnTo>
                  <a:lnTo>
                    <a:pt x="9736201" y="0"/>
                  </a:lnTo>
                  <a:lnTo>
                    <a:pt x="0" y="0"/>
                  </a:lnTo>
                  <a:lnTo>
                    <a:pt x="0" y="3667379"/>
                  </a:lnTo>
                  <a:close/>
                </a:path>
              </a:pathLst>
            </a:custGeom>
            <a:ln w="445008">
              <a:solidFill>
                <a:srgbClr val="49734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3004" y="601980"/>
              <a:ext cx="7514844" cy="226771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74536" y="601980"/>
              <a:ext cx="3573779" cy="226771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012935" y="601980"/>
              <a:ext cx="3595116" cy="2267711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077264" y="856944"/>
            <a:ext cx="10876280" cy="1245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0" dirty="0">
                <a:latin typeface="Calibri"/>
                <a:cs typeface="Calibri"/>
              </a:rPr>
              <a:t>Polynomial</a:t>
            </a:r>
            <a:r>
              <a:rPr sz="8000" spc="-235" dirty="0">
                <a:latin typeface="Calibri"/>
                <a:cs typeface="Calibri"/>
              </a:rPr>
              <a:t> </a:t>
            </a:r>
            <a:r>
              <a:rPr sz="8000" dirty="0">
                <a:latin typeface="Calibri"/>
                <a:cs typeface="Calibri"/>
              </a:rPr>
              <a:t>by</a:t>
            </a:r>
            <a:r>
              <a:rPr sz="8000" spc="-235" dirty="0">
                <a:latin typeface="Calibri"/>
                <a:cs typeface="Calibri"/>
              </a:rPr>
              <a:t> </a:t>
            </a:r>
            <a:r>
              <a:rPr sz="8000" dirty="0">
                <a:latin typeface="Calibri"/>
                <a:cs typeface="Calibri"/>
              </a:rPr>
              <a:t>using</a:t>
            </a:r>
            <a:r>
              <a:rPr sz="8000" spc="-280" dirty="0">
                <a:latin typeface="Calibri"/>
                <a:cs typeface="Calibri"/>
              </a:rPr>
              <a:t> </a:t>
            </a:r>
            <a:r>
              <a:rPr sz="8000" spc="-80" dirty="0">
                <a:latin typeface="Calibri"/>
                <a:cs typeface="Calibri"/>
              </a:rPr>
              <a:t>Array</a:t>
            </a:r>
            <a:endParaRPr sz="8000">
              <a:latin typeface="Calibri"/>
              <a:cs typeface="Calibri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62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44524" y="0"/>
            <a:ext cx="10572115" cy="2871470"/>
            <a:chOff x="1144524" y="0"/>
            <a:chExt cx="10572115" cy="28714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4524" y="0"/>
              <a:ext cx="8072628" cy="169773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12607" y="0"/>
              <a:ext cx="3803904" cy="169773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02380" y="687323"/>
              <a:ext cx="5256276" cy="2183892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784985" y="-244601"/>
            <a:ext cx="9295130" cy="2373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70810" marR="5080" indent="-2658745">
              <a:lnSpc>
                <a:spcPct val="100000"/>
              </a:lnSpc>
              <a:spcBef>
                <a:spcPts val="100"/>
              </a:spcBef>
            </a:pPr>
            <a:r>
              <a:rPr dirty="0"/>
              <a:t>Polynomial</a:t>
            </a:r>
            <a:r>
              <a:rPr spc="-145" dirty="0"/>
              <a:t> </a:t>
            </a:r>
            <a:r>
              <a:rPr dirty="0"/>
              <a:t>by</a:t>
            </a:r>
            <a:r>
              <a:rPr spc="-105" dirty="0"/>
              <a:t> </a:t>
            </a:r>
            <a:r>
              <a:rPr spc="-10" dirty="0"/>
              <a:t>using structure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819302" y="3320669"/>
            <a:ext cx="11205845" cy="4695190"/>
            <a:chOff x="819302" y="3320669"/>
            <a:chExt cx="11205845" cy="4695190"/>
          </a:xfrm>
        </p:grpSpPr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19302" y="3320669"/>
              <a:ext cx="11205845" cy="469468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10487" y="4419600"/>
              <a:ext cx="9211691" cy="314286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194231" y="3962400"/>
              <a:ext cx="9845040" cy="3775710"/>
            </a:xfrm>
            <a:custGeom>
              <a:avLst/>
              <a:gdLst/>
              <a:ahLst/>
              <a:cxnLst/>
              <a:rect l="l" t="t" r="r" b="b"/>
              <a:pathLst>
                <a:path w="9845040" h="3775709">
                  <a:moveTo>
                    <a:pt x="0" y="3775710"/>
                  </a:moveTo>
                  <a:lnTo>
                    <a:pt x="9844659" y="3775710"/>
                  </a:lnTo>
                  <a:lnTo>
                    <a:pt x="9844659" y="0"/>
                  </a:lnTo>
                  <a:lnTo>
                    <a:pt x="0" y="0"/>
                  </a:lnTo>
                  <a:lnTo>
                    <a:pt x="0" y="3775710"/>
                  </a:lnTo>
                  <a:close/>
                </a:path>
              </a:pathLst>
            </a:custGeom>
            <a:ln w="445008">
              <a:solidFill>
                <a:srgbClr val="49734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527175" y="2164791"/>
            <a:ext cx="9117965" cy="1061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-1905">
              <a:lnSpc>
                <a:spcPct val="100000"/>
              </a:lnSpc>
              <a:spcBef>
                <a:spcPts val="95"/>
              </a:spcBef>
              <a:buClr>
                <a:srgbClr val="E0E1DC"/>
              </a:buClr>
              <a:buSzPct val="97058"/>
              <a:buFont typeface="Wingdings"/>
              <a:buChar char=""/>
              <a:tabLst>
                <a:tab pos="396240" algn="l"/>
              </a:tabLst>
            </a:pPr>
            <a:r>
              <a:rPr sz="3400" i="1" dirty="0">
                <a:latin typeface="Constantia"/>
                <a:cs typeface="Constantia"/>
              </a:rPr>
              <a:t>	Let</a:t>
            </a:r>
            <a:r>
              <a:rPr sz="3400" i="1" spc="-200" dirty="0">
                <a:latin typeface="Constantia"/>
                <a:cs typeface="Constantia"/>
              </a:rPr>
              <a:t> </a:t>
            </a:r>
            <a:r>
              <a:rPr sz="3400" i="1" dirty="0">
                <a:latin typeface="Constantia"/>
                <a:cs typeface="Constantia"/>
              </a:rPr>
              <a:t>us</a:t>
            </a:r>
            <a:r>
              <a:rPr sz="3400" i="1" spc="-200" dirty="0">
                <a:latin typeface="Constantia"/>
                <a:cs typeface="Constantia"/>
              </a:rPr>
              <a:t> </a:t>
            </a:r>
            <a:r>
              <a:rPr sz="3400" i="1" spc="-20" dirty="0">
                <a:latin typeface="Constantia"/>
                <a:cs typeface="Constantia"/>
              </a:rPr>
              <a:t>go</a:t>
            </a:r>
            <a:r>
              <a:rPr sz="3400" i="1" spc="-180" dirty="0">
                <a:latin typeface="Constantia"/>
                <a:cs typeface="Constantia"/>
              </a:rPr>
              <a:t> </a:t>
            </a:r>
            <a:r>
              <a:rPr sz="3400" i="1" spc="-25" dirty="0">
                <a:latin typeface="Constantia"/>
                <a:cs typeface="Constantia"/>
              </a:rPr>
              <a:t>for</a:t>
            </a:r>
            <a:r>
              <a:rPr sz="3400" i="1" spc="-200" dirty="0">
                <a:latin typeface="Constantia"/>
                <a:cs typeface="Constantia"/>
              </a:rPr>
              <a:t> </a:t>
            </a:r>
            <a:r>
              <a:rPr sz="3400" i="1" spc="-10" dirty="0">
                <a:latin typeface="Constantia"/>
                <a:cs typeface="Constantia"/>
              </a:rPr>
              <a:t>structure</a:t>
            </a:r>
            <a:r>
              <a:rPr sz="3400" i="1" spc="-190" dirty="0">
                <a:latin typeface="Constantia"/>
                <a:cs typeface="Constantia"/>
              </a:rPr>
              <a:t> </a:t>
            </a:r>
            <a:r>
              <a:rPr sz="3400" i="1" spc="-10" dirty="0">
                <a:latin typeface="Constantia"/>
                <a:cs typeface="Constantia"/>
              </a:rPr>
              <a:t>having</a:t>
            </a:r>
            <a:r>
              <a:rPr sz="3400" i="1" spc="-114" dirty="0">
                <a:latin typeface="Constantia"/>
                <a:cs typeface="Constantia"/>
              </a:rPr>
              <a:t> </a:t>
            </a:r>
            <a:r>
              <a:rPr sz="3400" i="1" spc="-35" dirty="0">
                <a:latin typeface="Constantia"/>
                <a:cs typeface="Constantia"/>
              </a:rPr>
              <a:t>two</a:t>
            </a:r>
            <a:r>
              <a:rPr sz="3400" i="1" spc="-220" dirty="0">
                <a:latin typeface="Constantia"/>
                <a:cs typeface="Constantia"/>
              </a:rPr>
              <a:t> </a:t>
            </a:r>
            <a:r>
              <a:rPr sz="3400" i="1" dirty="0">
                <a:latin typeface="Constantia"/>
                <a:cs typeface="Constantia"/>
              </a:rPr>
              <a:t>data</a:t>
            </a:r>
            <a:r>
              <a:rPr sz="3400" i="1" spc="-135" dirty="0">
                <a:latin typeface="Constantia"/>
                <a:cs typeface="Constantia"/>
              </a:rPr>
              <a:t> </a:t>
            </a:r>
            <a:r>
              <a:rPr sz="3400" i="1" spc="-10" dirty="0">
                <a:latin typeface="Constantia"/>
                <a:cs typeface="Constantia"/>
              </a:rPr>
              <a:t>members </a:t>
            </a:r>
            <a:r>
              <a:rPr sz="3400" i="1" dirty="0">
                <a:latin typeface="Constantia"/>
                <a:cs typeface="Constantia"/>
              </a:rPr>
              <a:t>coefficient</a:t>
            </a:r>
            <a:r>
              <a:rPr sz="3400" i="1" spc="-75" dirty="0">
                <a:latin typeface="Constantia"/>
                <a:cs typeface="Constantia"/>
              </a:rPr>
              <a:t> </a:t>
            </a:r>
            <a:r>
              <a:rPr sz="3400" i="1" dirty="0">
                <a:latin typeface="Constantia"/>
                <a:cs typeface="Constantia"/>
              </a:rPr>
              <a:t>and</a:t>
            </a:r>
            <a:r>
              <a:rPr sz="3400" i="1" spc="-35" dirty="0">
                <a:latin typeface="Constantia"/>
                <a:cs typeface="Constantia"/>
              </a:rPr>
              <a:t> </a:t>
            </a:r>
            <a:r>
              <a:rPr sz="3400" i="1" dirty="0">
                <a:latin typeface="Constantia"/>
                <a:cs typeface="Constantia"/>
              </a:rPr>
              <a:t>exponent</a:t>
            </a:r>
            <a:r>
              <a:rPr sz="3400" i="1" spc="-90" dirty="0">
                <a:latin typeface="Constantia"/>
                <a:cs typeface="Constantia"/>
              </a:rPr>
              <a:t> </a:t>
            </a:r>
            <a:r>
              <a:rPr sz="3400" i="1" dirty="0">
                <a:latin typeface="Constantia"/>
                <a:cs typeface="Constantia"/>
              </a:rPr>
              <a:t>and</a:t>
            </a:r>
            <a:r>
              <a:rPr sz="3400" i="1" spc="-50" dirty="0">
                <a:latin typeface="Constantia"/>
                <a:cs typeface="Constantia"/>
              </a:rPr>
              <a:t> </a:t>
            </a:r>
            <a:r>
              <a:rPr sz="3400" i="1" spc="-10" dirty="0">
                <a:latin typeface="Constantia"/>
                <a:cs typeface="Constantia"/>
              </a:rPr>
              <a:t>itsarray.</a:t>
            </a:r>
            <a:endParaRPr sz="3400">
              <a:latin typeface="Constantia"/>
              <a:cs typeface="Constanti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63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3004800" cy="1774189"/>
            <a:chOff x="0" y="0"/>
            <a:chExt cx="13004800" cy="1774189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8278368" cy="177393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056119" y="0"/>
              <a:ext cx="5948172" cy="1773935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7190" rIns="0" bIns="0" rtlCol="0">
            <a:spAutoFit/>
          </a:bodyPr>
          <a:lstStyle/>
          <a:p>
            <a:pPr marL="534670">
              <a:lnSpc>
                <a:spcPct val="100000"/>
              </a:lnSpc>
              <a:spcBef>
                <a:spcPts val="100"/>
              </a:spcBef>
            </a:pPr>
            <a:r>
              <a:rPr sz="7200" dirty="0"/>
              <a:t>Addition</a:t>
            </a:r>
            <a:r>
              <a:rPr sz="7200" spc="-190" dirty="0"/>
              <a:t> </a:t>
            </a:r>
            <a:r>
              <a:rPr sz="7200" dirty="0"/>
              <a:t>of</a:t>
            </a:r>
            <a:r>
              <a:rPr sz="7200" spc="-175" dirty="0"/>
              <a:t> </a:t>
            </a:r>
            <a:r>
              <a:rPr sz="7200" spc="-625" dirty="0"/>
              <a:t>T</a:t>
            </a:r>
            <a:r>
              <a:rPr sz="7200" spc="45" dirty="0"/>
              <a:t>w</a:t>
            </a:r>
            <a:r>
              <a:rPr sz="7200" spc="55" dirty="0"/>
              <a:t>o</a:t>
            </a:r>
            <a:r>
              <a:rPr sz="7200" spc="-180" dirty="0"/>
              <a:t> </a:t>
            </a:r>
            <a:r>
              <a:rPr sz="7200" spc="-10" dirty="0"/>
              <a:t>Polynomial</a:t>
            </a:r>
            <a:endParaRPr sz="7200"/>
          </a:p>
          <a:p>
            <a:pPr marL="189865" marR="5080">
              <a:lnSpc>
                <a:spcPct val="150000"/>
              </a:lnSpc>
              <a:spcBef>
                <a:spcPts val="445"/>
              </a:spcBef>
            </a:pPr>
            <a:r>
              <a:rPr sz="3600" b="0" dirty="0">
                <a:solidFill>
                  <a:srgbClr val="000000"/>
                </a:solidFill>
                <a:latin typeface="Times New Roman"/>
                <a:cs typeface="Times New Roman"/>
              </a:rPr>
              <a:t>Given</a:t>
            </a:r>
            <a:r>
              <a:rPr sz="3600" b="0" spc="9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600" b="0" dirty="0">
                <a:solidFill>
                  <a:srgbClr val="000000"/>
                </a:solidFill>
                <a:latin typeface="Times New Roman"/>
                <a:cs typeface="Times New Roman"/>
              </a:rPr>
              <a:t>two</a:t>
            </a:r>
            <a:r>
              <a:rPr sz="3600" b="0" spc="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600" b="0" dirty="0">
                <a:solidFill>
                  <a:srgbClr val="000000"/>
                </a:solidFill>
                <a:latin typeface="Times New Roman"/>
                <a:cs typeface="Times New Roman"/>
              </a:rPr>
              <a:t>polynomials</a:t>
            </a:r>
            <a:r>
              <a:rPr sz="3600" b="0" spc="1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600" b="0" dirty="0">
                <a:solidFill>
                  <a:srgbClr val="000000"/>
                </a:solidFill>
                <a:latin typeface="Times New Roman"/>
                <a:cs typeface="Times New Roman"/>
              </a:rPr>
              <a:t>represented</a:t>
            </a:r>
            <a:r>
              <a:rPr sz="3600" b="0" spc="1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600" b="0" dirty="0">
                <a:solidFill>
                  <a:srgbClr val="000000"/>
                </a:solidFill>
                <a:latin typeface="Times New Roman"/>
                <a:cs typeface="Times New Roman"/>
              </a:rPr>
              <a:t>by</a:t>
            </a:r>
            <a:r>
              <a:rPr sz="3600" b="0" spc="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600" b="0" dirty="0">
                <a:solidFill>
                  <a:srgbClr val="000000"/>
                </a:solidFill>
                <a:latin typeface="Times New Roman"/>
                <a:cs typeface="Times New Roman"/>
              </a:rPr>
              <a:t>two</a:t>
            </a:r>
            <a:r>
              <a:rPr sz="3600" b="0" spc="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600" b="0" dirty="0">
                <a:solidFill>
                  <a:srgbClr val="000000"/>
                </a:solidFill>
                <a:latin typeface="Times New Roman"/>
                <a:cs typeface="Times New Roman"/>
              </a:rPr>
              <a:t>arrays,</a:t>
            </a:r>
            <a:r>
              <a:rPr sz="3600" b="0" spc="10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600" b="0" dirty="0">
                <a:solidFill>
                  <a:srgbClr val="000000"/>
                </a:solidFill>
                <a:latin typeface="Times New Roman"/>
                <a:cs typeface="Times New Roman"/>
              </a:rPr>
              <a:t>write</a:t>
            </a:r>
            <a:r>
              <a:rPr sz="3600" b="0" spc="9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600" b="0" dirty="0">
                <a:solidFill>
                  <a:srgbClr val="000000"/>
                </a:solidFill>
                <a:latin typeface="Times New Roman"/>
                <a:cs typeface="Times New Roman"/>
              </a:rPr>
              <a:t>a</a:t>
            </a:r>
            <a:r>
              <a:rPr sz="3600" b="0" spc="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600" b="0" spc="-10" dirty="0">
                <a:solidFill>
                  <a:srgbClr val="000000"/>
                </a:solidFill>
                <a:latin typeface="Times New Roman"/>
                <a:cs typeface="Times New Roman"/>
              </a:rPr>
              <a:t>function </a:t>
            </a:r>
            <a:r>
              <a:rPr sz="3600" b="0" dirty="0">
                <a:solidFill>
                  <a:srgbClr val="000000"/>
                </a:solidFill>
                <a:latin typeface="Times New Roman"/>
                <a:cs typeface="Times New Roman"/>
              </a:rPr>
              <a:t>that</a:t>
            </a:r>
            <a:r>
              <a:rPr sz="3600" b="0" spc="9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600" b="0" dirty="0">
                <a:solidFill>
                  <a:srgbClr val="000000"/>
                </a:solidFill>
                <a:latin typeface="Times New Roman"/>
                <a:cs typeface="Times New Roman"/>
              </a:rPr>
              <a:t>adds</a:t>
            </a:r>
            <a:r>
              <a:rPr sz="3600" b="0" spc="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600" b="0" dirty="0">
                <a:solidFill>
                  <a:srgbClr val="000000"/>
                </a:solidFill>
                <a:latin typeface="Times New Roman"/>
                <a:cs typeface="Times New Roman"/>
              </a:rPr>
              <a:t>given</a:t>
            </a:r>
            <a:r>
              <a:rPr sz="3600" b="0" spc="10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600" b="0" dirty="0">
                <a:solidFill>
                  <a:srgbClr val="000000"/>
                </a:solidFill>
                <a:latin typeface="Times New Roman"/>
                <a:cs typeface="Times New Roman"/>
              </a:rPr>
              <a:t>two</a:t>
            </a:r>
            <a:r>
              <a:rPr sz="3600" b="0" spc="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600" b="0" spc="-10" dirty="0">
                <a:solidFill>
                  <a:srgbClr val="000000"/>
                </a:solidFill>
                <a:latin typeface="Times New Roman"/>
                <a:cs typeface="Times New Roman"/>
              </a:rPr>
              <a:t>polynomials.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64</a:t>
            </a:fld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183286" y="3422650"/>
            <a:ext cx="10945495" cy="5887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10" dirty="0">
                <a:latin typeface="Times New Roman"/>
                <a:cs typeface="Times New Roman"/>
              </a:rPr>
              <a:t>Example:</a:t>
            </a: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3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1513840" algn="l"/>
              </a:tabLst>
            </a:pPr>
            <a:r>
              <a:rPr sz="3600" b="1" spc="-10" dirty="0">
                <a:latin typeface="Times New Roman"/>
                <a:cs typeface="Times New Roman"/>
              </a:rPr>
              <a:t>Input:</a:t>
            </a:r>
            <a:r>
              <a:rPr sz="3600" b="1" dirty="0">
                <a:latin typeface="Times New Roman"/>
                <a:cs typeface="Times New Roman"/>
              </a:rPr>
              <a:t>	</a:t>
            </a:r>
            <a:r>
              <a:rPr sz="3600" dirty="0">
                <a:latin typeface="Times New Roman"/>
                <a:cs typeface="Times New Roman"/>
              </a:rPr>
              <a:t>A[]</a:t>
            </a:r>
            <a:r>
              <a:rPr sz="3600" spc="7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=</a:t>
            </a:r>
            <a:r>
              <a:rPr sz="3600" spc="7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{5,</a:t>
            </a:r>
            <a:r>
              <a:rPr sz="3600" spc="7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0,</a:t>
            </a:r>
            <a:r>
              <a:rPr sz="3600" spc="7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10,</a:t>
            </a:r>
            <a:r>
              <a:rPr sz="3600" spc="75" dirty="0">
                <a:latin typeface="Times New Roman"/>
                <a:cs typeface="Times New Roman"/>
              </a:rPr>
              <a:t> </a:t>
            </a:r>
            <a:r>
              <a:rPr sz="3600" spc="-25" dirty="0">
                <a:latin typeface="Times New Roman"/>
                <a:cs typeface="Times New Roman"/>
              </a:rPr>
              <a:t>6}</a:t>
            </a:r>
            <a:endParaRPr sz="3600">
              <a:latin typeface="Times New Roman"/>
              <a:cs typeface="Times New Roman"/>
            </a:endParaRPr>
          </a:p>
          <a:p>
            <a:pPr marL="956310">
              <a:lnSpc>
                <a:spcPct val="100000"/>
              </a:lnSpc>
              <a:spcBef>
                <a:spcPts val="2270"/>
              </a:spcBef>
            </a:pPr>
            <a:r>
              <a:rPr sz="3600" dirty="0">
                <a:latin typeface="Times New Roman"/>
                <a:cs typeface="Times New Roman"/>
              </a:rPr>
              <a:t>B[]</a:t>
            </a:r>
            <a:r>
              <a:rPr sz="3600" spc="6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=</a:t>
            </a:r>
            <a:r>
              <a:rPr sz="3600" spc="5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{1,</a:t>
            </a:r>
            <a:r>
              <a:rPr sz="3600" spc="8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2,</a:t>
            </a:r>
            <a:r>
              <a:rPr sz="3600" spc="70" dirty="0">
                <a:latin typeface="Times New Roman"/>
                <a:cs typeface="Times New Roman"/>
              </a:rPr>
              <a:t> </a:t>
            </a:r>
            <a:r>
              <a:rPr sz="3600" spc="-25" dirty="0">
                <a:latin typeface="Times New Roman"/>
                <a:cs typeface="Times New Roman"/>
              </a:rPr>
              <a:t>4}</a:t>
            </a:r>
            <a:endParaRPr sz="3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255"/>
              </a:spcBef>
            </a:pPr>
            <a:r>
              <a:rPr sz="3600" b="1" dirty="0">
                <a:latin typeface="Times New Roman"/>
                <a:cs typeface="Times New Roman"/>
              </a:rPr>
              <a:t>Output:</a:t>
            </a:r>
            <a:r>
              <a:rPr sz="3600" b="1" spc="13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sum[]</a:t>
            </a:r>
            <a:r>
              <a:rPr sz="3600" spc="9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=</a:t>
            </a:r>
            <a:r>
              <a:rPr sz="3600" spc="7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{6,</a:t>
            </a:r>
            <a:r>
              <a:rPr sz="3600" spc="10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2,</a:t>
            </a:r>
            <a:r>
              <a:rPr sz="3600" spc="9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14,</a:t>
            </a:r>
            <a:r>
              <a:rPr sz="3600" spc="90" dirty="0">
                <a:latin typeface="Times New Roman"/>
                <a:cs typeface="Times New Roman"/>
              </a:rPr>
              <a:t> </a:t>
            </a:r>
            <a:r>
              <a:rPr sz="3600" spc="-25" dirty="0">
                <a:latin typeface="Times New Roman"/>
                <a:cs typeface="Times New Roman"/>
              </a:rPr>
              <a:t>6}</a:t>
            </a:r>
            <a:endParaRPr sz="3600">
              <a:latin typeface="Times New Roman"/>
              <a:cs typeface="Times New Roman"/>
            </a:endParaRPr>
          </a:p>
          <a:p>
            <a:pPr marL="12700" marR="5080">
              <a:lnSpc>
                <a:spcPct val="152300"/>
              </a:lnSpc>
              <a:spcBef>
                <a:spcPts val="285"/>
              </a:spcBef>
            </a:pPr>
            <a:r>
              <a:rPr sz="3600" dirty="0">
                <a:latin typeface="Times New Roman"/>
                <a:cs typeface="Times New Roman"/>
              </a:rPr>
              <a:t>The</a:t>
            </a:r>
            <a:r>
              <a:rPr sz="3600" spc="9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first</a:t>
            </a:r>
            <a:r>
              <a:rPr sz="3600" spc="9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input</a:t>
            </a:r>
            <a:r>
              <a:rPr sz="3600" spc="10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array</a:t>
            </a:r>
            <a:r>
              <a:rPr sz="3600" spc="10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represents</a:t>
            </a:r>
            <a:r>
              <a:rPr sz="3600" spc="12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"5</a:t>
            </a:r>
            <a:r>
              <a:rPr sz="3600" spc="9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+</a:t>
            </a:r>
            <a:r>
              <a:rPr sz="3600" spc="6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0x^1</a:t>
            </a:r>
            <a:r>
              <a:rPr sz="3600" spc="9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+</a:t>
            </a:r>
            <a:r>
              <a:rPr sz="3600" spc="6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10x^2</a:t>
            </a:r>
            <a:r>
              <a:rPr sz="3600" spc="9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+</a:t>
            </a:r>
            <a:r>
              <a:rPr sz="3600" spc="70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6x^3" </a:t>
            </a:r>
            <a:r>
              <a:rPr sz="3600" dirty="0">
                <a:latin typeface="Times New Roman"/>
                <a:cs typeface="Times New Roman"/>
              </a:rPr>
              <a:t>The</a:t>
            </a:r>
            <a:r>
              <a:rPr sz="3600" spc="8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second</a:t>
            </a:r>
            <a:r>
              <a:rPr sz="3600" spc="10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array</a:t>
            </a:r>
            <a:r>
              <a:rPr sz="3600" spc="8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represents</a:t>
            </a:r>
            <a:r>
              <a:rPr sz="3600" spc="13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"1</a:t>
            </a:r>
            <a:r>
              <a:rPr sz="3600" spc="9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+</a:t>
            </a:r>
            <a:r>
              <a:rPr sz="3600" spc="6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2x^1</a:t>
            </a:r>
            <a:r>
              <a:rPr sz="3600" spc="7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+</a:t>
            </a:r>
            <a:r>
              <a:rPr sz="3600" spc="80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4x^2"</a:t>
            </a:r>
            <a:endParaRPr sz="3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255"/>
              </a:spcBef>
            </a:pPr>
            <a:r>
              <a:rPr sz="3600" dirty="0">
                <a:latin typeface="Times New Roman"/>
                <a:cs typeface="Times New Roman"/>
              </a:rPr>
              <a:t>And</a:t>
            </a:r>
            <a:r>
              <a:rPr sz="3600" spc="70" dirty="0">
                <a:latin typeface="Times New Roman"/>
                <a:cs typeface="Times New Roman"/>
              </a:rPr>
              <a:t> </a:t>
            </a:r>
            <a:r>
              <a:rPr sz="3600" b="1" dirty="0">
                <a:latin typeface="Times New Roman"/>
                <a:cs typeface="Times New Roman"/>
              </a:rPr>
              <a:t>Output</a:t>
            </a:r>
            <a:r>
              <a:rPr sz="3600" b="1" spc="114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is</a:t>
            </a:r>
            <a:r>
              <a:rPr sz="3600" spc="8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"6</a:t>
            </a:r>
            <a:r>
              <a:rPr sz="3600" spc="8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+</a:t>
            </a:r>
            <a:r>
              <a:rPr sz="3600" spc="6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2x^1</a:t>
            </a:r>
            <a:r>
              <a:rPr sz="3600" spc="7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+</a:t>
            </a:r>
            <a:r>
              <a:rPr sz="3600" spc="7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14x^2</a:t>
            </a:r>
            <a:r>
              <a:rPr sz="3600" spc="7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+</a:t>
            </a:r>
            <a:r>
              <a:rPr sz="3600" spc="75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6x^3"</a:t>
            </a:r>
            <a:endParaRPr sz="36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3004800" cy="1774189"/>
            <a:chOff x="0" y="0"/>
            <a:chExt cx="13004800" cy="177418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8278368" cy="177393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56119" y="0"/>
              <a:ext cx="5948172" cy="1773935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28319" y="-43738"/>
            <a:ext cx="1196784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dirty="0"/>
              <a:t>Addition</a:t>
            </a:r>
            <a:r>
              <a:rPr sz="7200" spc="-190" dirty="0"/>
              <a:t> </a:t>
            </a:r>
            <a:r>
              <a:rPr sz="7200" dirty="0"/>
              <a:t>of</a:t>
            </a:r>
            <a:r>
              <a:rPr sz="7200" spc="-175" dirty="0"/>
              <a:t> </a:t>
            </a:r>
            <a:r>
              <a:rPr sz="7200" spc="-625" dirty="0"/>
              <a:t>T</a:t>
            </a:r>
            <a:r>
              <a:rPr sz="7200" spc="45" dirty="0"/>
              <a:t>w</a:t>
            </a:r>
            <a:r>
              <a:rPr sz="7200" spc="55" dirty="0"/>
              <a:t>o</a:t>
            </a:r>
            <a:r>
              <a:rPr sz="7200" spc="-180" dirty="0"/>
              <a:t> </a:t>
            </a:r>
            <a:r>
              <a:rPr sz="7200" spc="-10" dirty="0"/>
              <a:t>Polynomial</a:t>
            </a:r>
            <a:endParaRPr sz="7200"/>
          </a:p>
        </p:txBody>
      </p:sp>
      <p:sp>
        <p:nvSpPr>
          <p:cNvPr id="6" name="object 6"/>
          <p:cNvSpPr txBox="1"/>
          <p:nvPr/>
        </p:nvSpPr>
        <p:spPr>
          <a:xfrm>
            <a:off x="183286" y="805921"/>
            <a:ext cx="12246610" cy="77958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3600" b="1" dirty="0">
                <a:latin typeface="Times New Roman"/>
                <a:cs typeface="Times New Roman"/>
              </a:rPr>
              <a:t>Example:</a:t>
            </a:r>
            <a:r>
              <a:rPr sz="3600" b="1" spc="18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Perform</a:t>
            </a:r>
            <a:r>
              <a:rPr sz="3600" spc="15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addition</a:t>
            </a:r>
            <a:r>
              <a:rPr sz="3600" spc="18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between</a:t>
            </a:r>
            <a:r>
              <a:rPr sz="3600" spc="15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polynomials</a:t>
            </a:r>
            <a:r>
              <a:rPr sz="3600" spc="195" dirty="0">
                <a:latin typeface="Times New Roman"/>
                <a:cs typeface="Times New Roman"/>
              </a:rPr>
              <a:t> </a:t>
            </a:r>
            <a:r>
              <a:rPr sz="3600" spc="50" dirty="0">
                <a:latin typeface="Times New Roman"/>
                <a:cs typeface="Times New Roman"/>
              </a:rPr>
              <a:t>3x3-</a:t>
            </a:r>
            <a:r>
              <a:rPr sz="3600" dirty="0">
                <a:latin typeface="Times New Roman"/>
                <a:cs typeface="Times New Roman"/>
              </a:rPr>
              <a:t>2x2+1</a:t>
            </a:r>
            <a:r>
              <a:rPr sz="3600" spc="155" dirty="0">
                <a:latin typeface="Times New Roman"/>
                <a:cs typeface="Times New Roman"/>
              </a:rPr>
              <a:t> </a:t>
            </a:r>
            <a:r>
              <a:rPr sz="3600" spc="-25" dirty="0">
                <a:latin typeface="Times New Roman"/>
                <a:cs typeface="Times New Roman"/>
              </a:rPr>
              <a:t>and </a:t>
            </a:r>
            <a:r>
              <a:rPr sz="3600" dirty="0">
                <a:latin typeface="Times New Roman"/>
                <a:cs typeface="Times New Roman"/>
              </a:rPr>
              <a:t>4x3+7x2-</a:t>
            </a:r>
            <a:r>
              <a:rPr sz="3600" spc="-20" dirty="0">
                <a:latin typeface="Times New Roman"/>
                <a:cs typeface="Times New Roman"/>
              </a:rPr>
              <a:t>x+9.</a:t>
            </a:r>
            <a:endParaRPr sz="3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260"/>
              </a:spcBef>
            </a:pPr>
            <a:r>
              <a:rPr sz="3600" b="1" spc="-10" dirty="0">
                <a:latin typeface="Times New Roman"/>
                <a:cs typeface="Times New Roman"/>
              </a:rPr>
              <a:t>Solution:</a:t>
            </a:r>
            <a:endParaRPr sz="3600">
              <a:latin typeface="Times New Roman"/>
              <a:cs typeface="Times New Roman"/>
            </a:endParaRPr>
          </a:p>
          <a:p>
            <a:pPr marL="12700" marR="420370">
              <a:lnSpc>
                <a:spcPct val="150000"/>
              </a:lnSpc>
              <a:spcBef>
                <a:spcPts val="110"/>
              </a:spcBef>
            </a:pPr>
            <a:r>
              <a:rPr sz="3600" b="1" dirty="0">
                <a:latin typeface="Times New Roman"/>
                <a:cs typeface="Times New Roman"/>
              </a:rPr>
              <a:t>Step</a:t>
            </a:r>
            <a:r>
              <a:rPr sz="3600" b="1" spc="114" dirty="0">
                <a:latin typeface="Times New Roman"/>
                <a:cs typeface="Times New Roman"/>
              </a:rPr>
              <a:t> </a:t>
            </a:r>
            <a:r>
              <a:rPr sz="3600" b="1" dirty="0">
                <a:latin typeface="Times New Roman"/>
                <a:cs typeface="Times New Roman"/>
              </a:rPr>
              <a:t>1&amp;2:</a:t>
            </a:r>
            <a:r>
              <a:rPr sz="3600" b="1" spc="114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Arrange</a:t>
            </a:r>
            <a:r>
              <a:rPr sz="3600" spc="12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polynomial</a:t>
            </a:r>
            <a:r>
              <a:rPr sz="3600" spc="13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one</a:t>
            </a:r>
            <a:r>
              <a:rPr sz="3600" spc="10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above</a:t>
            </a:r>
            <a:r>
              <a:rPr sz="3600" spc="114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the</a:t>
            </a:r>
            <a:r>
              <a:rPr sz="3600" spc="10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other</a:t>
            </a:r>
            <a:r>
              <a:rPr sz="3600" spc="10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in</a:t>
            </a:r>
            <a:r>
              <a:rPr sz="3600" spc="105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standard </a:t>
            </a:r>
            <a:r>
              <a:rPr sz="3600" dirty="0">
                <a:latin typeface="Times New Roman"/>
                <a:cs typeface="Times New Roman"/>
              </a:rPr>
              <a:t>form</a:t>
            </a:r>
            <a:r>
              <a:rPr sz="3600" spc="9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and</a:t>
            </a:r>
            <a:r>
              <a:rPr sz="3600" spc="10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perform</a:t>
            </a:r>
            <a:r>
              <a:rPr sz="3600" spc="114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calculations.</a:t>
            </a:r>
            <a:endParaRPr sz="3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255"/>
              </a:spcBef>
            </a:pPr>
            <a:r>
              <a:rPr sz="3600" dirty="0">
                <a:latin typeface="Times New Roman"/>
                <a:cs typeface="Times New Roman"/>
              </a:rPr>
              <a:t>3x3-</a:t>
            </a:r>
            <a:r>
              <a:rPr sz="3600" spc="-10" dirty="0">
                <a:latin typeface="Times New Roman"/>
                <a:cs typeface="Times New Roman"/>
              </a:rPr>
              <a:t>2x2+0x+1</a:t>
            </a:r>
            <a:endParaRPr sz="3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260"/>
              </a:spcBef>
            </a:pPr>
            <a:r>
              <a:rPr sz="3600" dirty="0">
                <a:latin typeface="Times New Roman"/>
                <a:cs typeface="Times New Roman"/>
              </a:rPr>
              <a:t>4x3+7x2-</a:t>
            </a:r>
            <a:r>
              <a:rPr sz="3600" spc="-20" dirty="0">
                <a:latin typeface="Times New Roman"/>
                <a:cs typeface="Times New Roman"/>
              </a:rPr>
              <a:t>1x+9</a:t>
            </a:r>
            <a:endParaRPr sz="3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265"/>
              </a:spcBef>
            </a:pPr>
            <a:r>
              <a:rPr sz="3600" dirty="0">
                <a:latin typeface="Times New Roman"/>
                <a:cs typeface="Times New Roman"/>
              </a:rPr>
              <a:t>(3+4)x3+(-2+7)x2+(0-</a:t>
            </a:r>
            <a:r>
              <a:rPr sz="3600" spc="-10" dirty="0">
                <a:latin typeface="Times New Roman"/>
                <a:cs typeface="Times New Roman"/>
              </a:rPr>
              <a:t>1)x+1+9</a:t>
            </a: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75"/>
              </a:spcBef>
            </a:pPr>
            <a:endParaRPr sz="3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3600" b="1" dirty="0">
                <a:latin typeface="Times New Roman"/>
                <a:cs typeface="Times New Roman"/>
              </a:rPr>
              <a:t>Polynomial</a:t>
            </a:r>
            <a:r>
              <a:rPr sz="3600" b="1" spc="215" dirty="0">
                <a:latin typeface="Times New Roman"/>
                <a:cs typeface="Times New Roman"/>
              </a:rPr>
              <a:t> </a:t>
            </a:r>
            <a:r>
              <a:rPr sz="3600" b="1" dirty="0">
                <a:latin typeface="Times New Roman"/>
                <a:cs typeface="Times New Roman"/>
              </a:rPr>
              <a:t>Addition</a:t>
            </a:r>
            <a:r>
              <a:rPr sz="3600" b="1" spc="180" dirty="0">
                <a:latin typeface="Times New Roman"/>
                <a:cs typeface="Times New Roman"/>
              </a:rPr>
              <a:t> </a:t>
            </a:r>
            <a:r>
              <a:rPr sz="3600" b="1" dirty="0">
                <a:latin typeface="Times New Roman"/>
                <a:cs typeface="Times New Roman"/>
              </a:rPr>
              <a:t>:</a:t>
            </a:r>
            <a:r>
              <a:rPr sz="3600" b="1" spc="26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7x3+5x2-</a:t>
            </a:r>
            <a:r>
              <a:rPr sz="3600" spc="-20" dirty="0">
                <a:latin typeface="Times New Roman"/>
                <a:cs typeface="Times New Roman"/>
              </a:rPr>
              <a:t>x+10</a:t>
            </a:r>
            <a:endParaRPr sz="3600">
              <a:latin typeface="Times New Roman"/>
              <a:cs typeface="Times New Roman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35636" y="6745223"/>
            <a:ext cx="6105525" cy="113030"/>
            <a:chOff x="135636" y="6745223"/>
            <a:chExt cx="6105525" cy="11303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5636" y="6745223"/>
              <a:ext cx="6105144" cy="11277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77800" y="6781799"/>
              <a:ext cx="6019800" cy="0"/>
            </a:xfrm>
            <a:custGeom>
              <a:avLst/>
              <a:gdLst/>
              <a:ahLst/>
              <a:cxnLst/>
              <a:rect l="l" t="t" r="r" b="b"/>
              <a:pathLst>
                <a:path w="6019800">
                  <a:moveTo>
                    <a:pt x="0" y="0"/>
                  </a:moveTo>
                  <a:lnTo>
                    <a:pt x="60198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65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3004800" cy="1725295"/>
            <a:chOff x="0" y="0"/>
            <a:chExt cx="13004800" cy="172529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5753100" cy="172516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35652" y="0"/>
              <a:ext cx="3971544" cy="172516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682483" y="0"/>
              <a:ext cx="5321808" cy="1725168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56108" y="53797"/>
            <a:ext cx="12313920" cy="1031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dirty="0"/>
              <a:t>Substraction</a:t>
            </a:r>
            <a:r>
              <a:rPr sz="6600" spc="-229" dirty="0"/>
              <a:t> </a:t>
            </a:r>
            <a:r>
              <a:rPr sz="6600" dirty="0"/>
              <a:t>of</a:t>
            </a:r>
            <a:r>
              <a:rPr sz="6600" spc="-204" dirty="0"/>
              <a:t> </a:t>
            </a:r>
            <a:r>
              <a:rPr sz="6600" spc="-605" dirty="0"/>
              <a:t>T</a:t>
            </a:r>
            <a:r>
              <a:rPr sz="6600" spc="15" dirty="0"/>
              <a:t>w</a:t>
            </a:r>
            <a:r>
              <a:rPr sz="6600" spc="25" dirty="0"/>
              <a:t>o</a:t>
            </a:r>
            <a:r>
              <a:rPr sz="6600" spc="-220" dirty="0"/>
              <a:t> </a:t>
            </a:r>
            <a:r>
              <a:rPr sz="6600" spc="-10" dirty="0"/>
              <a:t>Polynomial</a:t>
            </a:r>
            <a:endParaRPr sz="6600"/>
          </a:p>
        </p:txBody>
      </p:sp>
      <p:sp>
        <p:nvSpPr>
          <p:cNvPr id="7" name="object 7"/>
          <p:cNvSpPr txBox="1"/>
          <p:nvPr/>
        </p:nvSpPr>
        <p:spPr>
          <a:xfrm>
            <a:off x="183286" y="805921"/>
            <a:ext cx="11964035" cy="834453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3600" b="1" dirty="0">
                <a:latin typeface="Times New Roman"/>
                <a:cs typeface="Times New Roman"/>
              </a:rPr>
              <a:t>Example</a:t>
            </a:r>
            <a:r>
              <a:rPr sz="3600" b="1" spc="165" dirty="0">
                <a:latin typeface="Times New Roman"/>
                <a:cs typeface="Times New Roman"/>
              </a:rPr>
              <a:t> </a:t>
            </a:r>
            <a:r>
              <a:rPr sz="3600" b="1" dirty="0">
                <a:latin typeface="Times New Roman"/>
                <a:cs typeface="Times New Roman"/>
              </a:rPr>
              <a:t>:</a:t>
            </a:r>
            <a:r>
              <a:rPr sz="3600" b="1" spc="12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Perform</a:t>
            </a:r>
            <a:r>
              <a:rPr sz="3600" spc="14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Subtraction</a:t>
            </a:r>
            <a:r>
              <a:rPr sz="3600" spc="16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between</a:t>
            </a:r>
            <a:r>
              <a:rPr sz="3600" spc="16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polynomials</a:t>
            </a:r>
            <a:r>
              <a:rPr sz="3600" spc="170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5x3+5y2- </a:t>
            </a:r>
            <a:r>
              <a:rPr sz="3600" dirty="0">
                <a:latin typeface="Times New Roman"/>
                <a:cs typeface="Times New Roman"/>
              </a:rPr>
              <a:t>2z2+1</a:t>
            </a:r>
            <a:r>
              <a:rPr sz="3600" spc="17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and</a:t>
            </a:r>
            <a:r>
              <a:rPr sz="3600" spc="17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4x3+y2-</a:t>
            </a:r>
            <a:r>
              <a:rPr sz="3600" spc="-20" dirty="0">
                <a:latin typeface="Times New Roman"/>
                <a:cs typeface="Times New Roman"/>
              </a:rPr>
              <a:t>x+2.</a:t>
            </a:r>
            <a:endParaRPr sz="3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260"/>
              </a:spcBef>
            </a:pPr>
            <a:r>
              <a:rPr sz="3600" b="1" spc="-10" dirty="0">
                <a:latin typeface="Times New Roman"/>
                <a:cs typeface="Times New Roman"/>
              </a:rPr>
              <a:t>Solution:</a:t>
            </a:r>
            <a:endParaRPr sz="3600">
              <a:latin typeface="Times New Roman"/>
              <a:cs typeface="Times New Roman"/>
            </a:endParaRPr>
          </a:p>
          <a:p>
            <a:pPr marL="12700" marR="445134">
              <a:lnSpc>
                <a:spcPct val="150000"/>
              </a:lnSpc>
              <a:spcBef>
                <a:spcPts val="110"/>
              </a:spcBef>
            </a:pPr>
            <a:r>
              <a:rPr sz="3600" dirty="0">
                <a:latin typeface="Times New Roman"/>
                <a:cs typeface="Times New Roman"/>
              </a:rPr>
              <a:t>Arrange</a:t>
            </a:r>
            <a:r>
              <a:rPr sz="3600" spc="14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polynomial</a:t>
            </a:r>
            <a:r>
              <a:rPr sz="3600" spc="13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one</a:t>
            </a:r>
            <a:r>
              <a:rPr sz="3600" spc="1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above</a:t>
            </a:r>
            <a:r>
              <a:rPr sz="3600" spc="12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the</a:t>
            </a:r>
            <a:r>
              <a:rPr sz="3600" spc="10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other</a:t>
            </a:r>
            <a:r>
              <a:rPr sz="3600" spc="10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in</a:t>
            </a:r>
            <a:r>
              <a:rPr sz="3600" spc="10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standard</a:t>
            </a:r>
            <a:r>
              <a:rPr sz="3600" spc="12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form</a:t>
            </a:r>
            <a:r>
              <a:rPr sz="3600" spc="105" dirty="0">
                <a:latin typeface="Times New Roman"/>
                <a:cs typeface="Times New Roman"/>
              </a:rPr>
              <a:t> </a:t>
            </a:r>
            <a:r>
              <a:rPr sz="3600" spc="-25" dirty="0">
                <a:latin typeface="Times New Roman"/>
                <a:cs typeface="Times New Roman"/>
              </a:rPr>
              <a:t>and </a:t>
            </a:r>
            <a:r>
              <a:rPr sz="3600" dirty="0">
                <a:latin typeface="Times New Roman"/>
                <a:cs typeface="Times New Roman"/>
              </a:rPr>
              <a:t>perform</a:t>
            </a:r>
            <a:r>
              <a:rPr sz="3600" spc="135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subtraction</a:t>
            </a:r>
            <a:r>
              <a:rPr sz="3600" b="1" spc="-10" dirty="0">
                <a:latin typeface="Times New Roman"/>
                <a:cs typeface="Times New Roman"/>
              </a:rPr>
              <a:t>.</a:t>
            </a:r>
            <a:endParaRPr sz="3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255"/>
              </a:spcBef>
            </a:pPr>
            <a:r>
              <a:rPr sz="3600" dirty="0">
                <a:latin typeface="Times New Roman"/>
                <a:cs typeface="Times New Roman"/>
              </a:rPr>
              <a:t>5x3+5y2-</a:t>
            </a:r>
            <a:r>
              <a:rPr sz="3600" spc="-10" dirty="0">
                <a:latin typeface="Times New Roman"/>
                <a:cs typeface="Times New Roman"/>
              </a:rPr>
              <a:t>2z2+0x+1</a:t>
            </a:r>
            <a:endParaRPr sz="3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260"/>
              </a:spcBef>
            </a:pPr>
            <a:r>
              <a:rPr sz="3600" dirty="0">
                <a:latin typeface="Times New Roman"/>
                <a:cs typeface="Times New Roman"/>
              </a:rPr>
              <a:t>4x3+1y2+0z2-</a:t>
            </a:r>
            <a:r>
              <a:rPr sz="3600" spc="-20" dirty="0">
                <a:latin typeface="Times New Roman"/>
                <a:cs typeface="Times New Roman"/>
              </a:rPr>
              <a:t>1x+2</a:t>
            </a:r>
            <a:endParaRPr sz="3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265"/>
              </a:spcBef>
            </a:pPr>
            <a:r>
              <a:rPr sz="3600" b="1" dirty="0">
                <a:latin typeface="Times New Roman"/>
                <a:cs typeface="Times New Roman"/>
              </a:rPr>
              <a:t>(5-4)x3+(5-1)y2+(-2-0)z2+(0+1)x+(1-</a:t>
            </a:r>
            <a:r>
              <a:rPr sz="3600" b="1" spc="-25" dirty="0">
                <a:latin typeface="Times New Roman"/>
                <a:cs typeface="Times New Roman"/>
              </a:rPr>
              <a:t>2)</a:t>
            </a: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5"/>
              </a:spcBef>
            </a:pPr>
            <a:endParaRPr sz="3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3600" b="1" dirty="0">
                <a:latin typeface="Times New Roman"/>
                <a:cs typeface="Times New Roman"/>
              </a:rPr>
              <a:t>Polynomial</a:t>
            </a:r>
            <a:r>
              <a:rPr sz="3600" b="1" spc="295" dirty="0">
                <a:latin typeface="Times New Roman"/>
                <a:cs typeface="Times New Roman"/>
              </a:rPr>
              <a:t> </a:t>
            </a:r>
            <a:r>
              <a:rPr sz="3600" b="1" dirty="0">
                <a:latin typeface="Times New Roman"/>
                <a:cs typeface="Times New Roman"/>
              </a:rPr>
              <a:t>Substraction</a:t>
            </a:r>
            <a:r>
              <a:rPr sz="3600" b="1" spc="290" dirty="0">
                <a:latin typeface="Times New Roman"/>
                <a:cs typeface="Times New Roman"/>
              </a:rPr>
              <a:t> </a:t>
            </a:r>
            <a:r>
              <a:rPr sz="3600" b="1" dirty="0">
                <a:latin typeface="Times New Roman"/>
                <a:cs typeface="Times New Roman"/>
              </a:rPr>
              <a:t>:</a:t>
            </a:r>
            <a:r>
              <a:rPr sz="3600" b="1" spc="22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x3+4y2-2z2+x-</a:t>
            </a:r>
            <a:r>
              <a:rPr sz="3600" spc="-50" dirty="0">
                <a:latin typeface="Times New Roman"/>
                <a:cs typeface="Times New Roman"/>
              </a:rPr>
              <a:t>1</a:t>
            </a:r>
            <a:endParaRPr sz="3600">
              <a:latin typeface="Times New Roman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35636" y="6745223"/>
            <a:ext cx="6105525" cy="113030"/>
            <a:chOff x="135636" y="6745223"/>
            <a:chExt cx="6105525" cy="113030"/>
          </a:xfrm>
        </p:grpSpPr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5636" y="6745223"/>
              <a:ext cx="6105144" cy="11277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77800" y="6781799"/>
              <a:ext cx="6019800" cy="0"/>
            </a:xfrm>
            <a:custGeom>
              <a:avLst/>
              <a:gdLst/>
              <a:ahLst/>
              <a:cxnLst/>
              <a:rect l="l" t="t" r="r" b="b"/>
              <a:pathLst>
                <a:path w="6019800">
                  <a:moveTo>
                    <a:pt x="0" y="0"/>
                  </a:moveTo>
                  <a:lnTo>
                    <a:pt x="60198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66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88592" y="0"/>
            <a:ext cx="9189720" cy="1929764"/>
            <a:chOff x="1688592" y="0"/>
            <a:chExt cx="9189720" cy="1929764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88592" y="0"/>
              <a:ext cx="5001767" cy="192938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14416" y="0"/>
              <a:ext cx="5263895" cy="1929383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327910" y="-11811"/>
            <a:ext cx="7924165" cy="1199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95" dirty="0"/>
              <a:t>S</a:t>
            </a:r>
            <a:r>
              <a:rPr spc="-670" dirty="0"/>
              <a:t>P</a:t>
            </a:r>
            <a:r>
              <a:rPr spc="-95" dirty="0"/>
              <a:t>A</a:t>
            </a:r>
            <a:r>
              <a:rPr spc="-100" dirty="0"/>
              <a:t>R</a:t>
            </a:r>
            <a:r>
              <a:rPr spc="-95" dirty="0"/>
              <a:t>S</a:t>
            </a:r>
            <a:r>
              <a:rPr spc="5" dirty="0"/>
              <a:t>E</a:t>
            </a:r>
            <a:r>
              <a:rPr spc="-300" dirty="0"/>
              <a:t> </a:t>
            </a:r>
            <a:r>
              <a:rPr spc="-75" dirty="0"/>
              <a:t>M</a:t>
            </a:r>
            <a:r>
              <a:rPr spc="-790" dirty="0"/>
              <a:t>A</a:t>
            </a:r>
            <a:r>
              <a:rPr spc="-85" dirty="0"/>
              <a:t>TR</a:t>
            </a:r>
            <a:r>
              <a:rPr spc="-80" dirty="0"/>
              <a:t>I</a:t>
            </a:r>
            <a:r>
              <a:rPr spc="20" dirty="0"/>
              <a:t>X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2178030" y="9154464"/>
            <a:ext cx="2724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i="1" spc="-85" dirty="0">
                <a:solidFill>
                  <a:srgbClr val="585858"/>
                </a:solidFill>
                <a:latin typeface="Verdana"/>
                <a:cs typeface="Verdana"/>
              </a:rPr>
              <a:t>67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87" y="1363472"/>
            <a:ext cx="12833985" cy="792543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-1270" algn="just">
              <a:lnSpc>
                <a:spcPct val="100000"/>
              </a:lnSpc>
              <a:spcBef>
                <a:spcPts val="95"/>
              </a:spcBef>
              <a:buClr>
                <a:srgbClr val="E0E1DC"/>
              </a:buClr>
              <a:buSzPct val="92647"/>
              <a:buFont typeface="Wingdings"/>
              <a:buChar char=""/>
              <a:tabLst>
                <a:tab pos="381000" algn="l"/>
              </a:tabLst>
            </a:pPr>
            <a:r>
              <a:rPr sz="3400" dirty="0">
                <a:latin typeface="Times New Roman"/>
                <a:cs typeface="Times New Roman"/>
              </a:rPr>
              <a:t>	A</a:t>
            </a:r>
            <a:r>
              <a:rPr sz="3400" spc="72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matrix</a:t>
            </a:r>
            <a:r>
              <a:rPr sz="3400" spc="76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is</a:t>
            </a:r>
            <a:r>
              <a:rPr sz="3400" spc="72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a</a:t>
            </a:r>
            <a:r>
              <a:rPr sz="3400" spc="75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two-dimensional</a:t>
            </a:r>
            <a:r>
              <a:rPr sz="3400" spc="79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data</a:t>
            </a:r>
            <a:r>
              <a:rPr sz="3400" spc="74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object</a:t>
            </a:r>
            <a:r>
              <a:rPr sz="3400" spc="77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made</a:t>
            </a:r>
            <a:r>
              <a:rPr sz="3400" spc="75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of</a:t>
            </a:r>
            <a:r>
              <a:rPr sz="3400" spc="74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m</a:t>
            </a:r>
            <a:r>
              <a:rPr sz="3400" spc="74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rows</a:t>
            </a:r>
            <a:r>
              <a:rPr sz="3400" spc="75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and</a:t>
            </a:r>
            <a:r>
              <a:rPr sz="3400" spc="740" dirty="0">
                <a:latin typeface="Times New Roman"/>
                <a:cs typeface="Times New Roman"/>
              </a:rPr>
              <a:t> </a:t>
            </a:r>
            <a:r>
              <a:rPr sz="3400" spc="-50" dirty="0">
                <a:latin typeface="Times New Roman"/>
                <a:cs typeface="Times New Roman"/>
              </a:rPr>
              <a:t>n </a:t>
            </a:r>
            <a:r>
              <a:rPr sz="3400" dirty="0">
                <a:latin typeface="Times New Roman"/>
                <a:cs typeface="Times New Roman"/>
              </a:rPr>
              <a:t>columns,</a:t>
            </a:r>
            <a:r>
              <a:rPr sz="3400" spc="19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therefore</a:t>
            </a:r>
            <a:r>
              <a:rPr sz="3400" spc="21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having</a:t>
            </a:r>
            <a:r>
              <a:rPr sz="3400" spc="19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total</a:t>
            </a:r>
            <a:r>
              <a:rPr sz="3400" spc="204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m</a:t>
            </a:r>
            <a:r>
              <a:rPr sz="3400" spc="17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x</a:t>
            </a:r>
            <a:r>
              <a:rPr sz="3400" spc="17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n</a:t>
            </a:r>
            <a:r>
              <a:rPr sz="3400" spc="18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values.</a:t>
            </a:r>
            <a:r>
              <a:rPr sz="3400" spc="19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If</a:t>
            </a:r>
            <a:r>
              <a:rPr sz="3400" spc="19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most</a:t>
            </a:r>
            <a:r>
              <a:rPr sz="3400" spc="18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of</a:t>
            </a:r>
            <a:r>
              <a:rPr sz="3400" spc="19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the</a:t>
            </a:r>
            <a:r>
              <a:rPr sz="3400" spc="19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elements</a:t>
            </a:r>
            <a:r>
              <a:rPr sz="3400" spc="185" dirty="0">
                <a:latin typeface="Times New Roman"/>
                <a:cs typeface="Times New Roman"/>
              </a:rPr>
              <a:t> </a:t>
            </a:r>
            <a:r>
              <a:rPr sz="3400" spc="-25" dirty="0">
                <a:latin typeface="Times New Roman"/>
                <a:cs typeface="Times New Roman"/>
              </a:rPr>
              <a:t>of </a:t>
            </a:r>
            <a:r>
              <a:rPr sz="3400" dirty="0">
                <a:latin typeface="Times New Roman"/>
                <a:cs typeface="Times New Roman"/>
              </a:rPr>
              <a:t>the</a:t>
            </a:r>
            <a:r>
              <a:rPr sz="3400" spc="7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matrix</a:t>
            </a:r>
            <a:r>
              <a:rPr sz="3400" spc="13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have</a:t>
            </a:r>
            <a:r>
              <a:rPr sz="3400" spc="8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0</a:t>
            </a:r>
            <a:r>
              <a:rPr sz="3400" spc="6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value,</a:t>
            </a:r>
            <a:r>
              <a:rPr sz="3400" spc="11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then</a:t>
            </a:r>
            <a:r>
              <a:rPr sz="3400" spc="8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it</a:t>
            </a:r>
            <a:r>
              <a:rPr sz="3400" spc="7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is</a:t>
            </a:r>
            <a:r>
              <a:rPr sz="3400" spc="6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called</a:t>
            </a:r>
            <a:r>
              <a:rPr sz="3400" spc="8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a</a:t>
            </a:r>
            <a:r>
              <a:rPr sz="3400" spc="7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sparse</a:t>
            </a:r>
            <a:r>
              <a:rPr sz="3400" spc="120" dirty="0">
                <a:latin typeface="Times New Roman"/>
                <a:cs typeface="Times New Roman"/>
              </a:rPr>
              <a:t> </a:t>
            </a:r>
            <a:r>
              <a:rPr sz="3400" spc="-10" dirty="0">
                <a:latin typeface="Times New Roman"/>
                <a:cs typeface="Times New Roman"/>
              </a:rPr>
              <a:t>matrix.</a:t>
            </a:r>
            <a:endParaRPr sz="3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65"/>
              </a:spcBef>
            </a:pPr>
            <a:endParaRPr sz="3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3400" b="1" dirty="0">
                <a:latin typeface="Times New Roman"/>
                <a:cs typeface="Times New Roman"/>
              </a:rPr>
              <a:t>Why</a:t>
            </a:r>
            <a:r>
              <a:rPr sz="3400" b="1" spc="75" dirty="0">
                <a:latin typeface="Times New Roman"/>
                <a:cs typeface="Times New Roman"/>
              </a:rPr>
              <a:t> </a:t>
            </a:r>
            <a:r>
              <a:rPr sz="3400" b="1" dirty="0">
                <a:latin typeface="Times New Roman"/>
                <a:cs typeface="Times New Roman"/>
              </a:rPr>
              <a:t>to</a:t>
            </a:r>
            <a:r>
              <a:rPr sz="3400" b="1" spc="90" dirty="0">
                <a:latin typeface="Times New Roman"/>
                <a:cs typeface="Times New Roman"/>
              </a:rPr>
              <a:t> </a:t>
            </a:r>
            <a:r>
              <a:rPr sz="3400" b="1" dirty="0">
                <a:latin typeface="Times New Roman"/>
                <a:cs typeface="Times New Roman"/>
              </a:rPr>
              <a:t>use</a:t>
            </a:r>
            <a:r>
              <a:rPr sz="3400" b="1" spc="90" dirty="0">
                <a:latin typeface="Times New Roman"/>
                <a:cs typeface="Times New Roman"/>
              </a:rPr>
              <a:t> </a:t>
            </a:r>
            <a:r>
              <a:rPr sz="3400" b="1" dirty="0">
                <a:latin typeface="Times New Roman"/>
                <a:cs typeface="Times New Roman"/>
              </a:rPr>
              <a:t>Sparse</a:t>
            </a:r>
            <a:r>
              <a:rPr sz="3400" b="1" spc="114" dirty="0">
                <a:latin typeface="Times New Roman"/>
                <a:cs typeface="Times New Roman"/>
              </a:rPr>
              <a:t> </a:t>
            </a:r>
            <a:r>
              <a:rPr sz="3400" b="1" dirty="0">
                <a:latin typeface="Times New Roman"/>
                <a:cs typeface="Times New Roman"/>
              </a:rPr>
              <a:t>Matrix</a:t>
            </a:r>
            <a:r>
              <a:rPr sz="3400" b="1" spc="120" dirty="0">
                <a:latin typeface="Times New Roman"/>
                <a:cs typeface="Times New Roman"/>
              </a:rPr>
              <a:t> </a:t>
            </a:r>
            <a:r>
              <a:rPr sz="3400" b="1" dirty="0">
                <a:latin typeface="Times New Roman"/>
                <a:cs typeface="Times New Roman"/>
              </a:rPr>
              <a:t>instead</a:t>
            </a:r>
            <a:r>
              <a:rPr sz="3400" b="1" spc="120" dirty="0">
                <a:latin typeface="Times New Roman"/>
                <a:cs typeface="Times New Roman"/>
              </a:rPr>
              <a:t> </a:t>
            </a:r>
            <a:r>
              <a:rPr sz="3400" b="1" dirty="0">
                <a:latin typeface="Times New Roman"/>
                <a:cs typeface="Times New Roman"/>
              </a:rPr>
              <a:t>of</a:t>
            </a:r>
            <a:r>
              <a:rPr sz="3400" b="1" spc="65" dirty="0">
                <a:latin typeface="Times New Roman"/>
                <a:cs typeface="Times New Roman"/>
              </a:rPr>
              <a:t> </a:t>
            </a:r>
            <a:r>
              <a:rPr sz="3400" b="1" dirty="0">
                <a:latin typeface="Times New Roman"/>
                <a:cs typeface="Times New Roman"/>
              </a:rPr>
              <a:t>simple</a:t>
            </a:r>
            <a:r>
              <a:rPr sz="3400" b="1" spc="130" dirty="0">
                <a:latin typeface="Times New Roman"/>
                <a:cs typeface="Times New Roman"/>
              </a:rPr>
              <a:t> </a:t>
            </a:r>
            <a:r>
              <a:rPr sz="3400" b="1" dirty="0">
                <a:latin typeface="Times New Roman"/>
                <a:cs typeface="Times New Roman"/>
              </a:rPr>
              <a:t>matrix</a:t>
            </a:r>
            <a:r>
              <a:rPr sz="3400" b="1" spc="120" dirty="0">
                <a:latin typeface="Times New Roman"/>
                <a:cs typeface="Times New Roman"/>
              </a:rPr>
              <a:t> </a:t>
            </a:r>
            <a:r>
              <a:rPr sz="3400" b="1" spc="-50" dirty="0">
                <a:latin typeface="Times New Roman"/>
                <a:cs typeface="Times New Roman"/>
              </a:rPr>
              <a:t>?</a:t>
            </a:r>
            <a:endParaRPr sz="3400">
              <a:latin typeface="Times New Roman"/>
              <a:cs typeface="Times New Roman"/>
            </a:endParaRPr>
          </a:p>
          <a:p>
            <a:pPr marL="12700" marR="13335">
              <a:lnSpc>
                <a:spcPct val="100000"/>
              </a:lnSpc>
              <a:spcBef>
                <a:spcPts val="110"/>
              </a:spcBef>
            </a:pPr>
            <a:r>
              <a:rPr sz="3400" b="1" dirty="0">
                <a:latin typeface="Times New Roman"/>
                <a:cs typeface="Times New Roman"/>
              </a:rPr>
              <a:t>Storage:</a:t>
            </a:r>
            <a:r>
              <a:rPr sz="3400" b="1" spc="34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There</a:t>
            </a:r>
            <a:r>
              <a:rPr sz="3400" spc="37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are</a:t>
            </a:r>
            <a:r>
              <a:rPr sz="3400" spc="35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lesser</a:t>
            </a:r>
            <a:r>
              <a:rPr sz="3400" spc="36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non-zero</a:t>
            </a:r>
            <a:r>
              <a:rPr sz="3400" spc="36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elements</a:t>
            </a:r>
            <a:r>
              <a:rPr sz="3400" spc="37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than</a:t>
            </a:r>
            <a:r>
              <a:rPr sz="3400" spc="36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zeros</a:t>
            </a:r>
            <a:r>
              <a:rPr sz="3400" spc="38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and</a:t>
            </a:r>
            <a:r>
              <a:rPr sz="3400" spc="36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thus</a:t>
            </a:r>
            <a:r>
              <a:rPr sz="3400" spc="370" dirty="0">
                <a:latin typeface="Times New Roman"/>
                <a:cs typeface="Times New Roman"/>
              </a:rPr>
              <a:t> </a:t>
            </a:r>
            <a:r>
              <a:rPr sz="3400" spc="-10" dirty="0">
                <a:latin typeface="Times New Roman"/>
                <a:cs typeface="Times New Roman"/>
              </a:rPr>
              <a:t>lesser </a:t>
            </a:r>
            <a:r>
              <a:rPr sz="3400" dirty="0">
                <a:latin typeface="Times New Roman"/>
                <a:cs typeface="Times New Roman"/>
              </a:rPr>
              <a:t>memory</a:t>
            </a:r>
            <a:r>
              <a:rPr sz="3400" spc="12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can</a:t>
            </a:r>
            <a:r>
              <a:rPr sz="3400" spc="7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be</a:t>
            </a:r>
            <a:r>
              <a:rPr sz="3400" spc="5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used</a:t>
            </a:r>
            <a:r>
              <a:rPr sz="3400" spc="8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to</a:t>
            </a:r>
            <a:r>
              <a:rPr sz="3400" spc="6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store</a:t>
            </a:r>
            <a:r>
              <a:rPr sz="3400" spc="10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only</a:t>
            </a:r>
            <a:r>
              <a:rPr sz="3400" spc="8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those</a:t>
            </a:r>
            <a:r>
              <a:rPr sz="3400" spc="90" dirty="0">
                <a:latin typeface="Times New Roman"/>
                <a:cs typeface="Times New Roman"/>
              </a:rPr>
              <a:t> </a:t>
            </a:r>
            <a:r>
              <a:rPr sz="3400" spc="-10" dirty="0">
                <a:latin typeface="Times New Roman"/>
                <a:cs typeface="Times New Roman"/>
              </a:rPr>
              <a:t>elements.</a:t>
            </a:r>
            <a:endParaRPr sz="3400">
              <a:latin typeface="Times New Roman"/>
              <a:cs typeface="Times New Roman"/>
            </a:endParaRPr>
          </a:p>
          <a:p>
            <a:pPr marL="12700" marR="13335">
              <a:lnSpc>
                <a:spcPct val="100000"/>
              </a:lnSpc>
              <a:spcBef>
                <a:spcPts val="95"/>
              </a:spcBef>
            </a:pPr>
            <a:r>
              <a:rPr sz="3400" b="1" dirty="0">
                <a:latin typeface="Times New Roman"/>
                <a:cs typeface="Times New Roman"/>
              </a:rPr>
              <a:t>Computing</a:t>
            </a:r>
            <a:r>
              <a:rPr sz="3400" b="1" spc="325" dirty="0">
                <a:latin typeface="Times New Roman"/>
                <a:cs typeface="Times New Roman"/>
              </a:rPr>
              <a:t> </a:t>
            </a:r>
            <a:r>
              <a:rPr sz="3400" b="1" dirty="0">
                <a:latin typeface="Times New Roman"/>
                <a:cs typeface="Times New Roman"/>
              </a:rPr>
              <a:t>time:</a:t>
            </a:r>
            <a:r>
              <a:rPr sz="3400" b="1" spc="27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Computing</a:t>
            </a:r>
            <a:r>
              <a:rPr sz="3400" spc="32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time</a:t>
            </a:r>
            <a:r>
              <a:rPr sz="3400" spc="29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can</a:t>
            </a:r>
            <a:r>
              <a:rPr sz="3400" spc="30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be</a:t>
            </a:r>
            <a:r>
              <a:rPr sz="3400" spc="28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saved</a:t>
            </a:r>
            <a:r>
              <a:rPr sz="3400" spc="31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by</a:t>
            </a:r>
            <a:r>
              <a:rPr sz="3400" spc="28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logically</a:t>
            </a:r>
            <a:r>
              <a:rPr sz="3400" spc="320" dirty="0">
                <a:latin typeface="Times New Roman"/>
                <a:cs typeface="Times New Roman"/>
              </a:rPr>
              <a:t> </a:t>
            </a:r>
            <a:r>
              <a:rPr sz="3400" spc="-10" dirty="0">
                <a:latin typeface="Times New Roman"/>
                <a:cs typeface="Times New Roman"/>
              </a:rPr>
              <a:t>designing </a:t>
            </a:r>
            <a:r>
              <a:rPr sz="3400" dirty="0">
                <a:latin typeface="Times New Roman"/>
                <a:cs typeface="Times New Roman"/>
              </a:rPr>
              <a:t>a</a:t>
            </a:r>
            <a:r>
              <a:rPr sz="3400" spc="7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data</a:t>
            </a:r>
            <a:r>
              <a:rPr sz="3400" spc="8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structure</a:t>
            </a:r>
            <a:r>
              <a:rPr sz="3400" spc="16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traversing</a:t>
            </a:r>
            <a:r>
              <a:rPr sz="3400" spc="16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only</a:t>
            </a:r>
            <a:r>
              <a:rPr sz="3400" spc="7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non-zero</a:t>
            </a:r>
            <a:r>
              <a:rPr sz="3400" spc="130" dirty="0">
                <a:latin typeface="Times New Roman"/>
                <a:cs typeface="Times New Roman"/>
              </a:rPr>
              <a:t> </a:t>
            </a:r>
            <a:r>
              <a:rPr sz="3400" spc="-10" dirty="0">
                <a:latin typeface="Times New Roman"/>
                <a:cs typeface="Times New Roman"/>
              </a:rPr>
              <a:t>elements.</a:t>
            </a:r>
            <a:endParaRPr sz="3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75"/>
              </a:spcBef>
            </a:pPr>
            <a:endParaRPr sz="3400">
              <a:latin typeface="Times New Roman"/>
              <a:cs typeface="Times New Roman"/>
            </a:endParaRPr>
          </a:p>
          <a:p>
            <a:pPr marR="9309735" algn="ctr">
              <a:lnSpc>
                <a:spcPct val="100000"/>
              </a:lnSpc>
            </a:pPr>
            <a:r>
              <a:rPr sz="3400" b="1" dirty="0">
                <a:latin typeface="Times New Roman"/>
                <a:cs typeface="Times New Roman"/>
              </a:rPr>
              <a:t>Example:</a:t>
            </a:r>
            <a:r>
              <a:rPr sz="3400" b="1" spc="110" dirty="0">
                <a:latin typeface="Times New Roman"/>
                <a:cs typeface="Times New Roman"/>
              </a:rPr>
              <a:t> </a:t>
            </a:r>
            <a:r>
              <a:rPr sz="3400" b="1" dirty="0">
                <a:latin typeface="Times New Roman"/>
                <a:cs typeface="Times New Roman"/>
              </a:rPr>
              <a:t>Matrix</a:t>
            </a:r>
            <a:r>
              <a:rPr sz="3400" b="1" spc="155" dirty="0">
                <a:latin typeface="Times New Roman"/>
                <a:cs typeface="Times New Roman"/>
              </a:rPr>
              <a:t> </a:t>
            </a:r>
            <a:r>
              <a:rPr sz="3400" b="1" spc="-50" dirty="0">
                <a:latin typeface="Times New Roman"/>
                <a:cs typeface="Times New Roman"/>
              </a:rPr>
              <a:t>:</a:t>
            </a:r>
            <a:endParaRPr sz="34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3400" dirty="0">
                <a:latin typeface="Times New Roman"/>
                <a:cs typeface="Times New Roman"/>
              </a:rPr>
              <a:t>|0</a:t>
            </a:r>
            <a:r>
              <a:rPr sz="3400" spc="4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0</a:t>
            </a:r>
            <a:r>
              <a:rPr sz="3400" spc="3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3</a:t>
            </a:r>
            <a:r>
              <a:rPr sz="3400" spc="3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0</a:t>
            </a:r>
            <a:r>
              <a:rPr sz="3400" spc="55" dirty="0">
                <a:latin typeface="Times New Roman"/>
                <a:cs typeface="Times New Roman"/>
              </a:rPr>
              <a:t> </a:t>
            </a:r>
            <a:r>
              <a:rPr sz="3400" spc="-25" dirty="0">
                <a:latin typeface="Times New Roman"/>
                <a:cs typeface="Times New Roman"/>
              </a:rPr>
              <a:t>4|</a:t>
            </a:r>
            <a:endParaRPr sz="34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3400" dirty="0">
                <a:latin typeface="Times New Roman"/>
                <a:cs typeface="Times New Roman"/>
              </a:rPr>
              <a:t>|0</a:t>
            </a:r>
            <a:r>
              <a:rPr sz="3400" spc="4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0</a:t>
            </a:r>
            <a:r>
              <a:rPr sz="3400" spc="3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5</a:t>
            </a:r>
            <a:r>
              <a:rPr sz="3400" spc="3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7</a:t>
            </a:r>
            <a:r>
              <a:rPr sz="3400" spc="55" dirty="0">
                <a:latin typeface="Times New Roman"/>
                <a:cs typeface="Times New Roman"/>
              </a:rPr>
              <a:t> </a:t>
            </a:r>
            <a:r>
              <a:rPr sz="3400" spc="-25" dirty="0">
                <a:latin typeface="Times New Roman"/>
                <a:cs typeface="Times New Roman"/>
              </a:rPr>
              <a:t>0|</a:t>
            </a:r>
            <a:endParaRPr sz="34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sz="3400" dirty="0">
                <a:latin typeface="Times New Roman"/>
                <a:cs typeface="Times New Roman"/>
              </a:rPr>
              <a:t>|0</a:t>
            </a:r>
            <a:r>
              <a:rPr sz="3400" spc="4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0</a:t>
            </a:r>
            <a:r>
              <a:rPr sz="3400" spc="3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0</a:t>
            </a:r>
            <a:r>
              <a:rPr sz="3400" spc="3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0</a:t>
            </a:r>
            <a:r>
              <a:rPr sz="3400" spc="55" dirty="0">
                <a:latin typeface="Times New Roman"/>
                <a:cs typeface="Times New Roman"/>
              </a:rPr>
              <a:t> </a:t>
            </a:r>
            <a:r>
              <a:rPr sz="3400" spc="-25" dirty="0">
                <a:latin typeface="Times New Roman"/>
                <a:cs typeface="Times New Roman"/>
              </a:rPr>
              <a:t>0|</a:t>
            </a:r>
            <a:endParaRPr sz="34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3400" dirty="0">
                <a:latin typeface="Times New Roman"/>
                <a:cs typeface="Times New Roman"/>
              </a:rPr>
              <a:t>|0</a:t>
            </a:r>
            <a:r>
              <a:rPr sz="3400" spc="4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2</a:t>
            </a:r>
            <a:r>
              <a:rPr sz="3400" spc="3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6</a:t>
            </a:r>
            <a:r>
              <a:rPr sz="3400" spc="3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0</a:t>
            </a:r>
            <a:r>
              <a:rPr sz="3400" spc="55" dirty="0">
                <a:latin typeface="Times New Roman"/>
                <a:cs typeface="Times New Roman"/>
              </a:rPr>
              <a:t> </a:t>
            </a:r>
            <a:r>
              <a:rPr sz="3400" spc="-25" dirty="0">
                <a:latin typeface="Times New Roman"/>
                <a:cs typeface="Times New Roman"/>
              </a:rPr>
              <a:t>0|</a:t>
            </a:r>
            <a:endParaRPr sz="3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88592" y="0"/>
            <a:ext cx="9189720" cy="1929764"/>
            <a:chOff x="1688592" y="0"/>
            <a:chExt cx="9189720" cy="1929764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88592" y="0"/>
              <a:ext cx="5001767" cy="192938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14416" y="0"/>
              <a:ext cx="5263895" cy="1929383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327910" y="-11811"/>
            <a:ext cx="7924165" cy="1199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95" dirty="0"/>
              <a:t>S</a:t>
            </a:r>
            <a:r>
              <a:rPr spc="-670" dirty="0"/>
              <a:t>P</a:t>
            </a:r>
            <a:r>
              <a:rPr spc="-95" dirty="0"/>
              <a:t>A</a:t>
            </a:r>
            <a:r>
              <a:rPr spc="-100" dirty="0"/>
              <a:t>R</a:t>
            </a:r>
            <a:r>
              <a:rPr spc="-95" dirty="0"/>
              <a:t>S</a:t>
            </a:r>
            <a:r>
              <a:rPr spc="5" dirty="0"/>
              <a:t>E</a:t>
            </a:r>
            <a:r>
              <a:rPr spc="-300" dirty="0"/>
              <a:t> </a:t>
            </a:r>
            <a:r>
              <a:rPr spc="-75" dirty="0"/>
              <a:t>M</a:t>
            </a:r>
            <a:r>
              <a:rPr spc="-790" dirty="0"/>
              <a:t>A</a:t>
            </a:r>
            <a:r>
              <a:rPr spc="-85" dirty="0"/>
              <a:t>TR</a:t>
            </a:r>
            <a:r>
              <a:rPr spc="-80" dirty="0"/>
              <a:t>I</a:t>
            </a:r>
            <a:r>
              <a:rPr spc="20" dirty="0"/>
              <a:t>X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587" y="1363472"/>
            <a:ext cx="12833985" cy="81876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-1270" algn="just">
              <a:lnSpc>
                <a:spcPct val="100000"/>
              </a:lnSpc>
              <a:spcBef>
                <a:spcPts val="95"/>
              </a:spcBef>
              <a:buClr>
                <a:srgbClr val="E0E1DC"/>
              </a:buClr>
              <a:buSzPct val="92647"/>
              <a:buFont typeface="Wingdings"/>
              <a:buChar char=""/>
              <a:tabLst>
                <a:tab pos="381000" algn="l"/>
              </a:tabLst>
            </a:pPr>
            <a:r>
              <a:rPr sz="3400" dirty="0">
                <a:latin typeface="Times New Roman"/>
                <a:cs typeface="Times New Roman"/>
              </a:rPr>
              <a:t>	Representing</a:t>
            </a:r>
            <a:r>
              <a:rPr sz="3400" spc="18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a</a:t>
            </a:r>
            <a:r>
              <a:rPr sz="3400" spc="15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sparse</a:t>
            </a:r>
            <a:r>
              <a:rPr sz="3400" spc="17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matrix</a:t>
            </a:r>
            <a:r>
              <a:rPr sz="3400" spc="16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by</a:t>
            </a:r>
            <a:r>
              <a:rPr sz="3400" spc="15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a</a:t>
            </a:r>
            <a:r>
              <a:rPr sz="3400" spc="13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2D</a:t>
            </a:r>
            <a:r>
              <a:rPr sz="3400" spc="13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array</a:t>
            </a:r>
            <a:r>
              <a:rPr sz="3400" spc="15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leads</a:t>
            </a:r>
            <a:r>
              <a:rPr sz="3400" spc="16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to</a:t>
            </a:r>
            <a:r>
              <a:rPr sz="3400" spc="14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wastage</a:t>
            </a:r>
            <a:r>
              <a:rPr sz="3400" spc="16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of</a:t>
            </a:r>
            <a:r>
              <a:rPr sz="3400" spc="14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lots</a:t>
            </a:r>
            <a:r>
              <a:rPr sz="3400" spc="140" dirty="0">
                <a:latin typeface="Times New Roman"/>
                <a:cs typeface="Times New Roman"/>
              </a:rPr>
              <a:t> </a:t>
            </a:r>
            <a:r>
              <a:rPr sz="3400" spc="-25" dirty="0">
                <a:latin typeface="Times New Roman"/>
                <a:cs typeface="Times New Roman"/>
              </a:rPr>
              <a:t>of </a:t>
            </a:r>
            <a:r>
              <a:rPr sz="3400" dirty="0">
                <a:latin typeface="Times New Roman"/>
                <a:cs typeface="Times New Roman"/>
              </a:rPr>
              <a:t>memory</a:t>
            </a:r>
            <a:r>
              <a:rPr sz="3400" spc="34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as</a:t>
            </a:r>
            <a:r>
              <a:rPr sz="3400" spc="31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zeroes</a:t>
            </a:r>
            <a:r>
              <a:rPr sz="3400" spc="33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in</a:t>
            </a:r>
            <a:r>
              <a:rPr sz="3400" spc="33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the</a:t>
            </a:r>
            <a:r>
              <a:rPr sz="3400" spc="35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matrix</a:t>
            </a:r>
            <a:r>
              <a:rPr sz="3400" spc="34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are</a:t>
            </a:r>
            <a:r>
              <a:rPr sz="3400" spc="32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of</a:t>
            </a:r>
            <a:r>
              <a:rPr sz="3400" spc="32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no</a:t>
            </a:r>
            <a:r>
              <a:rPr sz="3400" spc="32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use</a:t>
            </a:r>
            <a:r>
              <a:rPr sz="3400" spc="32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in</a:t>
            </a:r>
            <a:r>
              <a:rPr sz="3400" spc="34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most</a:t>
            </a:r>
            <a:r>
              <a:rPr sz="3400" spc="32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of</a:t>
            </a:r>
            <a:r>
              <a:rPr sz="3400" spc="32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the</a:t>
            </a:r>
            <a:r>
              <a:rPr sz="3400" spc="33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cases.</a:t>
            </a:r>
            <a:r>
              <a:rPr sz="3400" spc="330" dirty="0">
                <a:latin typeface="Times New Roman"/>
                <a:cs typeface="Times New Roman"/>
              </a:rPr>
              <a:t> </a:t>
            </a:r>
            <a:r>
              <a:rPr sz="3400" spc="-25" dirty="0">
                <a:latin typeface="Times New Roman"/>
                <a:cs typeface="Times New Roman"/>
              </a:rPr>
              <a:t>So, </a:t>
            </a:r>
            <a:r>
              <a:rPr sz="3400" dirty="0">
                <a:latin typeface="Times New Roman"/>
                <a:cs typeface="Times New Roman"/>
              </a:rPr>
              <a:t>instead</a:t>
            </a:r>
            <a:r>
              <a:rPr sz="3400" spc="71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of</a:t>
            </a:r>
            <a:r>
              <a:rPr sz="3400" spc="67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storing</a:t>
            </a:r>
            <a:r>
              <a:rPr sz="3400" spc="69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zeroes</a:t>
            </a:r>
            <a:r>
              <a:rPr sz="3400" spc="70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with</a:t>
            </a:r>
            <a:r>
              <a:rPr sz="3400" spc="67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non-zero</a:t>
            </a:r>
            <a:r>
              <a:rPr sz="3400" spc="69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elements,</a:t>
            </a:r>
            <a:r>
              <a:rPr sz="3400" spc="71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we</a:t>
            </a:r>
            <a:r>
              <a:rPr sz="3400" spc="67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only</a:t>
            </a:r>
            <a:r>
              <a:rPr sz="3400" spc="69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store</a:t>
            </a:r>
            <a:r>
              <a:rPr sz="3400" spc="680" dirty="0">
                <a:latin typeface="Times New Roman"/>
                <a:cs typeface="Times New Roman"/>
              </a:rPr>
              <a:t> </a:t>
            </a:r>
            <a:r>
              <a:rPr sz="3400" spc="-20" dirty="0">
                <a:latin typeface="Times New Roman"/>
                <a:cs typeface="Times New Roman"/>
              </a:rPr>
              <a:t>non- </a:t>
            </a:r>
            <a:r>
              <a:rPr sz="3400" dirty="0">
                <a:latin typeface="Times New Roman"/>
                <a:cs typeface="Times New Roman"/>
              </a:rPr>
              <a:t>zero</a:t>
            </a:r>
            <a:r>
              <a:rPr sz="3400" spc="210" dirty="0">
                <a:latin typeface="Times New Roman"/>
                <a:cs typeface="Times New Roman"/>
              </a:rPr>
              <a:t>  </a:t>
            </a:r>
            <a:r>
              <a:rPr sz="3400" dirty="0">
                <a:latin typeface="Times New Roman"/>
                <a:cs typeface="Times New Roman"/>
              </a:rPr>
              <a:t>elements.</a:t>
            </a:r>
            <a:r>
              <a:rPr sz="3400" spc="204" dirty="0">
                <a:latin typeface="Times New Roman"/>
                <a:cs typeface="Times New Roman"/>
              </a:rPr>
              <a:t>  </a:t>
            </a:r>
            <a:r>
              <a:rPr sz="3400" dirty="0">
                <a:latin typeface="Times New Roman"/>
                <a:cs typeface="Times New Roman"/>
              </a:rPr>
              <a:t>This</a:t>
            </a:r>
            <a:r>
              <a:rPr sz="3400" spc="220" dirty="0">
                <a:latin typeface="Times New Roman"/>
                <a:cs typeface="Times New Roman"/>
              </a:rPr>
              <a:t>  </a:t>
            </a:r>
            <a:r>
              <a:rPr sz="3400" dirty="0">
                <a:latin typeface="Times New Roman"/>
                <a:cs typeface="Times New Roman"/>
              </a:rPr>
              <a:t>means</a:t>
            </a:r>
            <a:r>
              <a:rPr sz="3400" spc="215" dirty="0">
                <a:latin typeface="Times New Roman"/>
                <a:cs typeface="Times New Roman"/>
              </a:rPr>
              <a:t>  </a:t>
            </a:r>
            <a:r>
              <a:rPr sz="3400" dirty="0">
                <a:latin typeface="Times New Roman"/>
                <a:cs typeface="Times New Roman"/>
              </a:rPr>
              <a:t>storing</a:t>
            </a:r>
            <a:r>
              <a:rPr sz="3400" spc="215" dirty="0">
                <a:latin typeface="Times New Roman"/>
                <a:cs typeface="Times New Roman"/>
              </a:rPr>
              <a:t>  </a:t>
            </a:r>
            <a:r>
              <a:rPr sz="3400" dirty="0">
                <a:latin typeface="Times New Roman"/>
                <a:cs typeface="Times New Roman"/>
              </a:rPr>
              <a:t>non-zero</a:t>
            </a:r>
            <a:r>
              <a:rPr sz="3400" spc="210" dirty="0">
                <a:latin typeface="Times New Roman"/>
                <a:cs typeface="Times New Roman"/>
              </a:rPr>
              <a:t>  </a:t>
            </a:r>
            <a:r>
              <a:rPr sz="3400" dirty="0">
                <a:latin typeface="Times New Roman"/>
                <a:cs typeface="Times New Roman"/>
              </a:rPr>
              <a:t>elements</a:t>
            </a:r>
            <a:r>
              <a:rPr sz="3400" spc="220" dirty="0">
                <a:latin typeface="Times New Roman"/>
                <a:cs typeface="Times New Roman"/>
              </a:rPr>
              <a:t>  </a:t>
            </a:r>
            <a:r>
              <a:rPr sz="3400" dirty="0">
                <a:latin typeface="Times New Roman"/>
                <a:cs typeface="Times New Roman"/>
              </a:rPr>
              <a:t>with</a:t>
            </a:r>
            <a:r>
              <a:rPr sz="3400" spc="215" dirty="0">
                <a:latin typeface="Times New Roman"/>
                <a:cs typeface="Times New Roman"/>
              </a:rPr>
              <a:t>  </a:t>
            </a:r>
            <a:r>
              <a:rPr sz="3400" spc="-10" dirty="0">
                <a:latin typeface="Times New Roman"/>
                <a:cs typeface="Times New Roman"/>
              </a:rPr>
              <a:t>triples- </a:t>
            </a:r>
            <a:r>
              <a:rPr sz="3400" dirty="0">
                <a:latin typeface="Times New Roman"/>
                <a:cs typeface="Times New Roman"/>
              </a:rPr>
              <a:t>(Row,</a:t>
            </a:r>
            <a:r>
              <a:rPr sz="3400" spc="12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Column,</a:t>
            </a:r>
            <a:r>
              <a:rPr sz="3400" spc="135" dirty="0">
                <a:latin typeface="Times New Roman"/>
                <a:cs typeface="Times New Roman"/>
              </a:rPr>
              <a:t> </a:t>
            </a:r>
            <a:r>
              <a:rPr sz="3400" spc="-10" dirty="0">
                <a:latin typeface="Times New Roman"/>
                <a:cs typeface="Times New Roman"/>
              </a:rPr>
              <a:t>value).</a:t>
            </a:r>
            <a:endParaRPr sz="3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65"/>
              </a:spcBef>
            </a:pPr>
            <a:endParaRPr sz="3400">
              <a:latin typeface="Times New Roman"/>
              <a:cs typeface="Times New Roman"/>
            </a:endParaRPr>
          </a:p>
          <a:p>
            <a:pPr marL="12700" marR="12065">
              <a:lnSpc>
                <a:spcPct val="100000"/>
              </a:lnSpc>
            </a:pPr>
            <a:r>
              <a:rPr sz="3400" dirty="0">
                <a:latin typeface="Times New Roman"/>
                <a:cs typeface="Times New Roman"/>
              </a:rPr>
              <a:t>Sparse</a:t>
            </a:r>
            <a:r>
              <a:rPr sz="3400" spc="229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Matrix</a:t>
            </a:r>
            <a:r>
              <a:rPr sz="3400" spc="24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Representations</a:t>
            </a:r>
            <a:r>
              <a:rPr sz="3400" spc="27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can</a:t>
            </a:r>
            <a:r>
              <a:rPr sz="3400" spc="21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be</a:t>
            </a:r>
            <a:r>
              <a:rPr sz="3400" spc="204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done</a:t>
            </a:r>
            <a:r>
              <a:rPr sz="3400" spc="22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in</a:t>
            </a:r>
            <a:r>
              <a:rPr sz="3400" spc="22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many</a:t>
            </a:r>
            <a:r>
              <a:rPr sz="3400" spc="22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ways</a:t>
            </a:r>
            <a:r>
              <a:rPr sz="3400" spc="23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following</a:t>
            </a:r>
            <a:r>
              <a:rPr sz="3400" spc="240" dirty="0">
                <a:latin typeface="Times New Roman"/>
                <a:cs typeface="Times New Roman"/>
              </a:rPr>
              <a:t> </a:t>
            </a:r>
            <a:r>
              <a:rPr sz="3400" spc="-25" dirty="0">
                <a:latin typeface="Times New Roman"/>
                <a:cs typeface="Times New Roman"/>
              </a:rPr>
              <a:t>are </a:t>
            </a:r>
            <a:r>
              <a:rPr sz="3400" dirty="0">
                <a:latin typeface="Times New Roman"/>
                <a:cs typeface="Times New Roman"/>
              </a:rPr>
              <a:t>two</a:t>
            </a:r>
            <a:r>
              <a:rPr sz="3400" spc="6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common</a:t>
            </a:r>
            <a:r>
              <a:rPr sz="3400" spc="110" dirty="0">
                <a:latin typeface="Times New Roman"/>
                <a:cs typeface="Times New Roman"/>
              </a:rPr>
              <a:t> </a:t>
            </a:r>
            <a:r>
              <a:rPr sz="3400" spc="-10" dirty="0">
                <a:latin typeface="Times New Roman"/>
                <a:cs typeface="Times New Roman"/>
              </a:rPr>
              <a:t>representations:</a:t>
            </a:r>
            <a:endParaRPr sz="3400">
              <a:latin typeface="Times New Roman"/>
              <a:cs typeface="Times New Roman"/>
            </a:endParaRPr>
          </a:p>
          <a:p>
            <a:pPr marL="12700" marR="8118475">
              <a:lnSpc>
                <a:spcPct val="102400"/>
              </a:lnSpc>
              <a:spcBef>
                <a:spcPts val="15"/>
              </a:spcBef>
            </a:pPr>
            <a:r>
              <a:rPr sz="3400" b="1" dirty="0">
                <a:latin typeface="Times New Roman"/>
                <a:cs typeface="Times New Roman"/>
              </a:rPr>
              <a:t>Array</a:t>
            </a:r>
            <a:r>
              <a:rPr sz="3400" b="1" spc="85" dirty="0">
                <a:latin typeface="Times New Roman"/>
                <a:cs typeface="Times New Roman"/>
              </a:rPr>
              <a:t> </a:t>
            </a:r>
            <a:r>
              <a:rPr sz="3400" b="1" spc="-10" dirty="0">
                <a:latin typeface="Times New Roman"/>
                <a:cs typeface="Times New Roman"/>
              </a:rPr>
              <a:t>representation </a:t>
            </a:r>
            <a:r>
              <a:rPr sz="3400" b="1" dirty="0">
                <a:latin typeface="Times New Roman"/>
                <a:cs typeface="Times New Roman"/>
              </a:rPr>
              <a:t>Method</a:t>
            </a:r>
            <a:r>
              <a:rPr sz="3400" b="1" spc="125" dirty="0">
                <a:latin typeface="Times New Roman"/>
                <a:cs typeface="Times New Roman"/>
              </a:rPr>
              <a:t> </a:t>
            </a:r>
            <a:r>
              <a:rPr sz="3400" b="1" dirty="0">
                <a:latin typeface="Times New Roman"/>
                <a:cs typeface="Times New Roman"/>
              </a:rPr>
              <a:t>1:</a:t>
            </a:r>
            <a:r>
              <a:rPr sz="3400" b="1" spc="70" dirty="0">
                <a:latin typeface="Times New Roman"/>
                <a:cs typeface="Times New Roman"/>
              </a:rPr>
              <a:t> </a:t>
            </a:r>
            <a:r>
              <a:rPr sz="3400" b="1" dirty="0">
                <a:latin typeface="Times New Roman"/>
                <a:cs typeface="Times New Roman"/>
              </a:rPr>
              <a:t>Using</a:t>
            </a:r>
            <a:r>
              <a:rPr sz="3400" b="1" spc="120" dirty="0">
                <a:latin typeface="Times New Roman"/>
                <a:cs typeface="Times New Roman"/>
              </a:rPr>
              <a:t> </a:t>
            </a:r>
            <a:r>
              <a:rPr sz="3400" b="1" spc="-10" dirty="0">
                <a:latin typeface="Times New Roman"/>
                <a:cs typeface="Times New Roman"/>
              </a:rPr>
              <a:t>Arrays:</a:t>
            </a:r>
            <a:endParaRPr sz="3400">
              <a:latin typeface="Times New Roman"/>
              <a:cs typeface="Times New Roman"/>
            </a:endParaRPr>
          </a:p>
          <a:p>
            <a:pPr marL="12700" marR="13335">
              <a:lnSpc>
                <a:spcPct val="100000"/>
              </a:lnSpc>
              <a:spcBef>
                <a:spcPts val="2365"/>
              </a:spcBef>
              <a:tabLst>
                <a:tab pos="708660" algn="l"/>
                <a:tab pos="1780539" algn="l"/>
                <a:tab pos="2239010" algn="l"/>
                <a:tab pos="3209925" algn="l"/>
                <a:tab pos="3717290" algn="l"/>
                <a:tab pos="5499100" algn="l"/>
                <a:tab pos="5859145" algn="l"/>
                <a:tab pos="7125334" algn="l"/>
                <a:tab pos="8441055" algn="l"/>
                <a:tab pos="8948420" algn="l"/>
                <a:tab pos="10186035" algn="l"/>
                <a:tab pos="11233150" algn="l"/>
                <a:tab pos="11936095" algn="l"/>
              </a:tabLst>
            </a:pPr>
            <a:r>
              <a:rPr sz="3400" spc="-25" dirty="0">
                <a:latin typeface="Times New Roman"/>
                <a:cs typeface="Times New Roman"/>
              </a:rPr>
              <a:t>2D</a:t>
            </a:r>
            <a:r>
              <a:rPr sz="3400" dirty="0">
                <a:latin typeface="Times New Roman"/>
                <a:cs typeface="Times New Roman"/>
              </a:rPr>
              <a:t>	</a:t>
            </a:r>
            <a:r>
              <a:rPr sz="3400" spc="-20" dirty="0">
                <a:latin typeface="Times New Roman"/>
                <a:cs typeface="Times New Roman"/>
              </a:rPr>
              <a:t>array</a:t>
            </a:r>
            <a:r>
              <a:rPr sz="3400" dirty="0">
                <a:latin typeface="Times New Roman"/>
                <a:cs typeface="Times New Roman"/>
              </a:rPr>
              <a:t>	</a:t>
            </a:r>
            <a:r>
              <a:rPr sz="3400" spc="-25" dirty="0">
                <a:latin typeface="Times New Roman"/>
                <a:cs typeface="Times New Roman"/>
              </a:rPr>
              <a:t>is</a:t>
            </a:r>
            <a:r>
              <a:rPr sz="3400" dirty="0">
                <a:latin typeface="Times New Roman"/>
                <a:cs typeface="Times New Roman"/>
              </a:rPr>
              <a:t>	</a:t>
            </a:r>
            <a:r>
              <a:rPr sz="3400" spc="-20" dirty="0">
                <a:latin typeface="Times New Roman"/>
                <a:cs typeface="Times New Roman"/>
              </a:rPr>
              <a:t>used</a:t>
            </a:r>
            <a:r>
              <a:rPr sz="3400" dirty="0">
                <a:latin typeface="Times New Roman"/>
                <a:cs typeface="Times New Roman"/>
              </a:rPr>
              <a:t>	</a:t>
            </a:r>
            <a:r>
              <a:rPr sz="3400" spc="-25" dirty="0">
                <a:latin typeface="Times New Roman"/>
                <a:cs typeface="Times New Roman"/>
              </a:rPr>
              <a:t>to</a:t>
            </a:r>
            <a:r>
              <a:rPr sz="3400" dirty="0">
                <a:latin typeface="Times New Roman"/>
                <a:cs typeface="Times New Roman"/>
              </a:rPr>
              <a:t>	</a:t>
            </a:r>
            <a:r>
              <a:rPr sz="3400" spc="-10" dirty="0">
                <a:latin typeface="Times New Roman"/>
                <a:cs typeface="Times New Roman"/>
              </a:rPr>
              <a:t>represent</a:t>
            </a:r>
            <a:r>
              <a:rPr sz="3400" dirty="0">
                <a:latin typeface="Times New Roman"/>
                <a:cs typeface="Times New Roman"/>
              </a:rPr>
              <a:t>	</a:t>
            </a:r>
            <a:r>
              <a:rPr sz="3400" spc="-50" dirty="0">
                <a:latin typeface="Times New Roman"/>
                <a:cs typeface="Times New Roman"/>
              </a:rPr>
              <a:t>a</a:t>
            </a:r>
            <a:r>
              <a:rPr sz="3400" dirty="0">
                <a:latin typeface="Times New Roman"/>
                <a:cs typeface="Times New Roman"/>
              </a:rPr>
              <a:t>	</a:t>
            </a:r>
            <a:r>
              <a:rPr sz="3400" spc="-10" dirty="0">
                <a:latin typeface="Times New Roman"/>
                <a:cs typeface="Times New Roman"/>
              </a:rPr>
              <a:t>sparse</a:t>
            </a:r>
            <a:r>
              <a:rPr sz="3400" dirty="0">
                <a:latin typeface="Times New Roman"/>
                <a:cs typeface="Times New Roman"/>
              </a:rPr>
              <a:t>	</a:t>
            </a:r>
            <a:r>
              <a:rPr sz="3400" spc="-10" dirty="0">
                <a:latin typeface="Times New Roman"/>
                <a:cs typeface="Times New Roman"/>
              </a:rPr>
              <a:t>matrix</a:t>
            </a:r>
            <a:r>
              <a:rPr sz="3400" dirty="0">
                <a:latin typeface="Times New Roman"/>
                <a:cs typeface="Times New Roman"/>
              </a:rPr>
              <a:t>	</a:t>
            </a:r>
            <a:r>
              <a:rPr sz="3400" spc="-25" dirty="0">
                <a:latin typeface="Times New Roman"/>
                <a:cs typeface="Times New Roman"/>
              </a:rPr>
              <a:t>in</a:t>
            </a:r>
            <a:r>
              <a:rPr sz="3400" dirty="0">
                <a:latin typeface="Times New Roman"/>
                <a:cs typeface="Times New Roman"/>
              </a:rPr>
              <a:t>	</a:t>
            </a:r>
            <a:r>
              <a:rPr sz="3400" spc="-10" dirty="0">
                <a:latin typeface="Times New Roman"/>
                <a:cs typeface="Times New Roman"/>
              </a:rPr>
              <a:t>which</a:t>
            </a:r>
            <a:r>
              <a:rPr sz="3400" dirty="0">
                <a:latin typeface="Times New Roman"/>
                <a:cs typeface="Times New Roman"/>
              </a:rPr>
              <a:t>	</a:t>
            </a:r>
            <a:r>
              <a:rPr sz="3400" spc="-10" dirty="0">
                <a:latin typeface="Times New Roman"/>
                <a:cs typeface="Times New Roman"/>
              </a:rPr>
              <a:t>there</a:t>
            </a:r>
            <a:r>
              <a:rPr sz="3400" dirty="0">
                <a:latin typeface="Times New Roman"/>
                <a:cs typeface="Times New Roman"/>
              </a:rPr>
              <a:t>	</a:t>
            </a:r>
            <a:r>
              <a:rPr sz="3400" spc="-25" dirty="0">
                <a:latin typeface="Times New Roman"/>
                <a:cs typeface="Times New Roman"/>
              </a:rPr>
              <a:t>are</a:t>
            </a:r>
            <a:r>
              <a:rPr sz="3400" dirty="0">
                <a:latin typeface="Times New Roman"/>
                <a:cs typeface="Times New Roman"/>
              </a:rPr>
              <a:t>	</a:t>
            </a:r>
            <a:r>
              <a:rPr sz="3400" spc="-10" dirty="0">
                <a:latin typeface="Times New Roman"/>
                <a:cs typeface="Times New Roman"/>
              </a:rPr>
              <a:t>three </a:t>
            </a:r>
            <a:r>
              <a:rPr sz="3400" dirty="0">
                <a:latin typeface="Times New Roman"/>
                <a:cs typeface="Times New Roman"/>
              </a:rPr>
              <a:t>rows</a:t>
            </a:r>
            <a:r>
              <a:rPr sz="3400" spc="8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named</a:t>
            </a:r>
            <a:r>
              <a:rPr sz="3400" spc="90" dirty="0">
                <a:latin typeface="Times New Roman"/>
                <a:cs typeface="Times New Roman"/>
              </a:rPr>
              <a:t> </a:t>
            </a:r>
            <a:r>
              <a:rPr sz="3400" spc="-25" dirty="0">
                <a:latin typeface="Times New Roman"/>
                <a:cs typeface="Times New Roman"/>
              </a:rPr>
              <a:t>as</a:t>
            </a:r>
            <a:endParaRPr sz="3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 b="1" dirty="0">
                <a:latin typeface="Times New Roman"/>
                <a:cs typeface="Times New Roman"/>
              </a:rPr>
              <a:t>Row:</a:t>
            </a:r>
            <a:r>
              <a:rPr sz="3400" b="1" spc="8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Index</a:t>
            </a:r>
            <a:r>
              <a:rPr sz="3400" spc="11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of</a:t>
            </a:r>
            <a:r>
              <a:rPr sz="3400" spc="7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row,</a:t>
            </a:r>
            <a:r>
              <a:rPr sz="3400" spc="10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where</a:t>
            </a:r>
            <a:r>
              <a:rPr sz="3400" spc="12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non-zero</a:t>
            </a:r>
            <a:r>
              <a:rPr sz="3400" spc="12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element</a:t>
            </a:r>
            <a:r>
              <a:rPr sz="3400" spc="13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is</a:t>
            </a:r>
            <a:r>
              <a:rPr sz="3400" spc="85" dirty="0">
                <a:latin typeface="Times New Roman"/>
                <a:cs typeface="Times New Roman"/>
              </a:rPr>
              <a:t> </a:t>
            </a:r>
            <a:r>
              <a:rPr sz="3400" spc="-10" dirty="0">
                <a:latin typeface="Times New Roman"/>
                <a:cs typeface="Times New Roman"/>
              </a:rPr>
              <a:t>located</a:t>
            </a:r>
            <a:endParaRPr sz="3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b="1" dirty="0">
                <a:latin typeface="Times New Roman"/>
                <a:cs typeface="Times New Roman"/>
              </a:rPr>
              <a:t>Column:</a:t>
            </a:r>
            <a:r>
              <a:rPr sz="3400" b="1" spc="114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Index</a:t>
            </a:r>
            <a:r>
              <a:rPr sz="3400" spc="11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of</a:t>
            </a:r>
            <a:r>
              <a:rPr sz="3400" spc="7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column,</a:t>
            </a:r>
            <a:r>
              <a:rPr sz="3400" spc="13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where</a:t>
            </a:r>
            <a:r>
              <a:rPr sz="3400" spc="11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non-zero</a:t>
            </a:r>
            <a:r>
              <a:rPr sz="3400" spc="13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element</a:t>
            </a:r>
            <a:r>
              <a:rPr sz="3400" spc="15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is</a:t>
            </a:r>
            <a:r>
              <a:rPr sz="3400" spc="80" dirty="0">
                <a:latin typeface="Times New Roman"/>
                <a:cs typeface="Times New Roman"/>
              </a:rPr>
              <a:t> </a:t>
            </a:r>
            <a:r>
              <a:rPr sz="3400" spc="-10" dirty="0">
                <a:latin typeface="Times New Roman"/>
                <a:cs typeface="Times New Roman"/>
              </a:rPr>
              <a:t>located</a:t>
            </a:r>
            <a:endParaRPr sz="3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400" b="1" dirty="0">
                <a:latin typeface="Times New Roman"/>
                <a:cs typeface="Times New Roman"/>
              </a:rPr>
              <a:t>Value</a:t>
            </a:r>
            <a:r>
              <a:rPr sz="3400" dirty="0">
                <a:latin typeface="Times New Roman"/>
                <a:cs typeface="Times New Roman"/>
              </a:rPr>
              <a:t>:</a:t>
            </a:r>
            <a:r>
              <a:rPr sz="3400" spc="9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Value</a:t>
            </a:r>
            <a:r>
              <a:rPr sz="3400" spc="10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of</a:t>
            </a:r>
            <a:r>
              <a:rPr sz="3400" spc="6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the</a:t>
            </a:r>
            <a:r>
              <a:rPr sz="3400" spc="7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non</a:t>
            </a:r>
            <a:r>
              <a:rPr sz="3400" spc="6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zero</a:t>
            </a:r>
            <a:r>
              <a:rPr sz="3400" spc="9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element</a:t>
            </a:r>
            <a:r>
              <a:rPr sz="3400" spc="13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located</a:t>
            </a:r>
            <a:r>
              <a:rPr sz="3400" spc="11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at</a:t>
            </a:r>
            <a:r>
              <a:rPr sz="3400" spc="7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index</a:t>
            </a:r>
            <a:r>
              <a:rPr sz="3400" spc="8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–</a:t>
            </a:r>
            <a:r>
              <a:rPr sz="3400" spc="55" dirty="0">
                <a:latin typeface="Times New Roman"/>
                <a:cs typeface="Times New Roman"/>
              </a:rPr>
              <a:t> </a:t>
            </a:r>
            <a:r>
              <a:rPr sz="3400" spc="-10" dirty="0">
                <a:latin typeface="Times New Roman"/>
                <a:cs typeface="Times New Roman"/>
              </a:rPr>
              <a:t>(row,column)</a:t>
            </a:r>
            <a:endParaRPr sz="3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88592" y="0"/>
            <a:ext cx="9189720" cy="1929764"/>
            <a:chOff x="1688592" y="0"/>
            <a:chExt cx="9189720" cy="1929764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88592" y="0"/>
              <a:ext cx="5001767" cy="192938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14416" y="0"/>
              <a:ext cx="5263895" cy="1929383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587" y="-468229"/>
            <a:ext cx="10246360" cy="2905760"/>
          </a:xfrm>
          <a:prstGeom prst="rect">
            <a:avLst/>
          </a:prstGeom>
        </p:spPr>
        <p:txBody>
          <a:bodyPr vert="horz" wrap="square" lIns="0" tIns="469265" rIns="0" bIns="0" rtlCol="0">
            <a:spAutoFit/>
          </a:bodyPr>
          <a:lstStyle/>
          <a:p>
            <a:pPr marL="2334895">
              <a:lnSpc>
                <a:spcPct val="100000"/>
              </a:lnSpc>
              <a:spcBef>
                <a:spcPts val="3695"/>
              </a:spcBef>
            </a:pPr>
            <a:r>
              <a:rPr spc="-95" dirty="0"/>
              <a:t>S</a:t>
            </a:r>
            <a:r>
              <a:rPr spc="-670" dirty="0"/>
              <a:t>P</a:t>
            </a:r>
            <a:r>
              <a:rPr spc="-95" dirty="0"/>
              <a:t>A</a:t>
            </a:r>
            <a:r>
              <a:rPr spc="-100" dirty="0"/>
              <a:t>R</a:t>
            </a:r>
            <a:r>
              <a:rPr spc="-95" dirty="0"/>
              <a:t>S</a:t>
            </a:r>
            <a:r>
              <a:rPr spc="5" dirty="0"/>
              <a:t>E</a:t>
            </a:r>
            <a:r>
              <a:rPr spc="-300" dirty="0"/>
              <a:t> </a:t>
            </a:r>
            <a:r>
              <a:rPr spc="-75" dirty="0"/>
              <a:t>M</a:t>
            </a:r>
            <a:r>
              <a:rPr spc="-790" dirty="0"/>
              <a:t>A</a:t>
            </a:r>
            <a:r>
              <a:rPr spc="-85" dirty="0"/>
              <a:t>TR</a:t>
            </a:r>
            <a:r>
              <a:rPr spc="-80" dirty="0"/>
              <a:t>I</a:t>
            </a:r>
            <a:r>
              <a:rPr spc="20" dirty="0"/>
              <a:t>X</a:t>
            </a:r>
          </a:p>
          <a:p>
            <a:pPr marL="12700" marR="5530215">
              <a:lnSpc>
                <a:spcPct val="102400"/>
              </a:lnSpc>
              <a:spcBef>
                <a:spcPts val="1485"/>
              </a:spcBef>
            </a:pPr>
            <a:r>
              <a:rPr sz="3400" dirty="0">
                <a:solidFill>
                  <a:srgbClr val="000000"/>
                </a:solidFill>
                <a:latin typeface="Times New Roman"/>
                <a:cs typeface="Times New Roman"/>
              </a:rPr>
              <a:t>Array</a:t>
            </a:r>
            <a:r>
              <a:rPr sz="3400" spc="9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400" spc="-10" dirty="0">
                <a:solidFill>
                  <a:srgbClr val="000000"/>
                </a:solidFill>
                <a:latin typeface="Times New Roman"/>
                <a:cs typeface="Times New Roman"/>
              </a:rPr>
              <a:t>representation </a:t>
            </a:r>
            <a:r>
              <a:rPr sz="3400" dirty="0">
                <a:solidFill>
                  <a:srgbClr val="000000"/>
                </a:solidFill>
                <a:latin typeface="Times New Roman"/>
                <a:cs typeface="Times New Roman"/>
              </a:rPr>
              <a:t>Method</a:t>
            </a:r>
            <a:r>
              <a:rPr sz="3400" spc="11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400" dirty="0">
                <a:solidFill>
                  <a:srgbClr val="000000"/>
                </a:solidFill>
                <a:latin typeface="Times New Roman"/>
                <a:cs typeface="Times New Roman"/>
              </a:rPr>
              <a:t>1:</a:t>
            </a:r>
            <a:r>
              <a:rPr sz="3400" spc="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400" dirty="0">
                <a:solidFill>
                  <a:srgbClr val="000000"/>
                </a:solidFill>
                <a:latin typeface="Times New Roman"/>
                <a:cs typeface="Times New Roman"/>
              </a:rPr>
              <a:t>Using</a:t>
            </a:r>
            <a:r>
              <a:rPr sz="3400" spc="1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400" spc="-10" dirty="0">
                <a:solidFill>
                  <a:srgbClr val="000000"/>
                </a:solidFill>
                <a:latin typeface="Times New Roman"/>
                <a:cs typeface="Times New Roman"/>
              </a:rPr>
              <a:t>Arrays:</a:t>
            </a:r>
            <a:endParaRPr sz="34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2438400"/>
            <a:ext cx="12652579" cy="455231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8739" y="7337297"/>
            <a:ext cx="12543155" cy="19107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07950">
              <a:lnSpc>
                <a:spcPct val="100000"/>
              </a:lnSpc>
              <a:spcBef>
                <a:spcPts val="95"/>
              </a:spcBef>
              <a:tabLst>
                <a:tab pos="3010535" algn="l"/>
              </a:tabLst>
            </a:pPr>
            <a:r>
              <a:rPr sz="2800" b="1" dirty="0">
                <a:latin typeface="Times New Roman"/>
                <a:cs typeface="Times New Roman"/>
              </a:rPr>
              <a:t>Time</a:t>
            </a:r>
            <a:r>
              <a:rPr sz="2800" b="1" spc="9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Complexity:</a:t>
            </a:r>
            <a:r>
              <a:rPr sz="2800" b="1" dirty="0">
                <a:latin typeface="Times New Roman"/>
                <a:cs typeface="Times New Roman"/>
              </a:rPr>
              <a:t>	</a:t>
            </a:r>
            <a:r>
              <a:rPr sz="2800" dirty="0">
                <a:latin typeface="Times New Roman"/>
                <a:cs typeface="Times New Roman"/>
              </a:rPr>
              <a:t>O(NM),</a:t>
            </a:r>
            <a:r>
              <a:rPr sz="2800" spc="1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where</a:t>
            </a:r>
            <a:r>
              <a:rPr sz="2800" spc="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</a:t>
            </a:r>
            <a:r>
              <a:rPr sz="2800" spc="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number</a:t>
            </a:r>
            <a:r>
              <a:rPr sz="2800" spc="1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rows</a:t>
            </a:r>
            <a:r>
              <a:rPr sz="2800" spc="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sparse</a:t>
            </a:r>
            <a:r>
              <a:rPr sz="2800" spc="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matrix,</a:t>
            </a:r>
            <a:r>
              <a:rPr sz="2800" spc="10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and </a:t>
            </a:r>
            <a:r>
              <a:rPr sz="2800" dirty="0">
                <a:latin typeface="Times New Roman"/>
                <a:cs typeface="Times New Roman"/>
              </a:rPr>
              <a:t>M</a:t>
            </a:r>
            <a:r>
              <a:rPr sz="2800" spc="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number</a:t>
            </a:r>
            <a:r>
              <a:rPr sz="2800" spc="1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columns</a:t>
            </a:r>
            <a:r>
              <a:rPr sz="2800" spc="1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sparse</a:t>
            </a:r>
            <a:r>
              <a:rPr sz="2800" spc="9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matrix.</a:t>
            </a:r>
            <a:endParaRPr sz="28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1405"/>
              </a:spcBef>
            </a:pPr>
            <a:r>
              <a:rPr sz="2800" b="1" dirty="0">
                <a:latin typeface="Times New Roman"/>
                <a:cs typeface="Times New Roman"/>
              </a:rPr>
              <a:t>Auxiliary</a:t>
            </a:r>
            <a:r>
              <a:rPr sz="2800" b="1" spc="114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Space:</a:t>
            </a:r>
            <a:r>
              <a:rPr sz="2800" b="1" spc="1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O(NM),</a:t>
            </a:r>
            <a:r>
              <a:rPr sz="2800" spc="1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where</a:t>
            </a:r>
            <a:r>
              <a:rPr sz="2800" spc="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</a:t>
            </a:r>
            <a:r>
              <a:rPr sz="2800" spc="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number</a:t>
            </a:r>
            <a:r>
              <a:rPr sz="2800" spc="1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rows</a:t>
            </a:r>
            <a:r>
              <a:rPr sz="2800" spc="1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sparse</a:t>
            </a:r>
            <a:r>
              <a:rPr sz="2800" spc="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matrix,</a:t>
            </a:r>
            <a:r>
              <a:rPr sz="2800" spc="1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90" dirty="0">
                <a:latin typeface="Times New Roman"/>
                <a:cs typeface="Times New Roman"/>
              </a:rPr>
              <a:t> </a:t>
            </a:r>
            <a:r>
              <a:rPr sz="2800" spc="-50" dirty="0">
                <a:latin typeface="Times New Roman"/>
                <a:cs typeface="Times New Roman"/>
              </a:rPr>
              <a:t>M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number</a:t>
            </a:r>
            <a:r>
              <a:rPr sz="2800" spc="114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columns</a:t>
            </a:r>
            <a:r>
              <a:rPr sz="2800" spc="1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sparse</a:t>
            </a:r>
            <a:r>
              <a:rPr sz="2800" spc="9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matrix.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36053" y="1953641"/>
            <a:ext cx="11314430" cy="5771515"/>
            <a:chOff x="1036053" y="1953641"/>
            <a:chExt cx="11314430" cy="57715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36053" y="2217420"/>
              <a:ext cx="11314176" cy="550748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42389" y="2492629"/>
              <a:ext cx="9320149" cy="404444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525905" y="2176145"/>
              <a:ext cx="9952990" cy="4677410"/>
            </a:xfrm>
            <a:custGeom>
              <a:avLst/>
              <a:gdLst/>
              <a:ahLst/>
              <a:cxnLst/>
              <a:rect l="l" t="t" r="r" b="b"/>
              <a:pathLst>
                <a:path w="9952990" h="4677409">
                  <a:moveTo>
                    <a:pt x="0" y="4677409"/>
                  </a:moveTo>
                  <a:lnTo>
                    <a:pt x="9952990" y="4677409"/>
                  </a:lnTo>
                  <a:lnTo>
                    <a:pt x="9952990" y="0"/>
                  </a:lnTo>
                  <a:lnTo>
                    <a:pt x="0" y="0"/>
                  </a:lnTo>
                  <a:lnTo>
                    <a:pt x="0" y="4677409"/>
                  </a:lnTo>
                  <a:close/>
                </a:path>
              </a:pathLst>
            </a:custGeom>
            <a:ln w="445007">
              <a:solidFill>
                <a:srgbClr val="49734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224276" y="7685278"/>
            <a:ext cx="626935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i="1" dirty="0">
                <a:solidFill>
                  <a:srgbClr val="000000"/>
                </a:solidFill>
                <a:latin typeface="Constantia"/>
                <a:cs typeface="Constantia"/>
              </a:rPr>
              <a:t>Sparse</a:t>
            </a:r>
            <a:r>
              <a:rPr sz="4800" i="1" spc="-40" dirty="0">
                <a:solidFill>
                  <a:srgbClr val="000000"/>
                </a:solidFill>
                <a:latin typeface="Constantia"/>
                <a:cs typeface="Constantia"/>
              </a:rPr>
              <a:t> </a:t>
            </a:r>
            <a:r>
              <a:rPr sz="4800" i="1" dirty="0">
                <a:solidFill>
                  <a:srgbClr val="000000"/>
                </a:solidFill>
                <a:latin typeface="Constantia"/>
                <a:cs typeface="Constantia"/>
              </a:rPr>
              <a:t>Logical</a:t>
            </a:r>
            <a:r>
              <a:rPr sz="4800" i="1" spc="-90" dirty="0">
                <a:solidFill>
                  <a:srgbClr val="000000"/>
                </a:solidFill>
                <a:latin typeface="Constantia"/>
                <a:cs typeface="Constantia"/>
              </a:rPr>
              <a:t> </a:t>
            </a:r>
            <a:r>
              <a:rPr sz="4800" i="1" spc="-10" dirty="0">
                <a:solidFill>
                  <a:srgbClr val="000000"/>
                </a:solidFill>
                <a:latin typeface="Constantia"/>
                <a:cs typeface="Constantia"/>
              </a:rPr>
              <a:t>Matrix</a:t>
            </a:r>
            <a:endParaRPr sz="4800">
              <a:latin typeface="Constantia"/>
              <a:cs typeface="Constanti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70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6450" y="2598800"/>
            <a:ext cx="5423027" cy="3688969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433489" y="2275839"/>
            <a:ext cx="6069330" cy="4335145"/>
            <a:chOff x="433489" y="2275839"/>
            <a:chExt cx="6069330" cy="4335145"/>
          </a:xfrm>
        </p:grpSpPr>
        <p:sp>
          <p:nvSpPr>
            <p:cNvPr id="4" name="object 4"/>
            <p:cNvSpPr/>
            <p:nvPr/>
          </p:nvSpPr>
          <p:spPr>
            <a:xfrm>
              <a:off x="433489" y="2275839"/>
              <a:ext cx="6069330" cy="4335145"/>
            </a:xfrm>
            <a:custGeom>
              <a:avLst/>
              <a:gdLst/>
              <a:ahLst/>
              <a:cxnLst/>
              <a:rect l="l" t="t" r="r" b="b"/>
              <a:pathLst>
                <a:path w="6069330" h="4335145">
                  <a:moveTo>
                    <a:pt x="6068949" y="0"/>
                  </a:moveTo>
                  <a:lnTo>
                    <a:pt x="5873839" y="0"/>
                  </a:lnTo>
                  <a:lnTo>
                    <a:pt x="5873839" y="195072"/>
                  </a:lnTo>
                  <a:lnTo>
                    <a:pt x="5873839" y="4139819"/>
                  </a:lnTo>
                  <a:lnTo>
                    <a:pt x="195072" y="4139819"/>
                  </a:lnTo>
                  <a:lnTo>
                    <a:pt x="195072" y="195072"/>
                  </a:lnTo>
                  <a:lnTo>
                    <a:pt x="5873839" y="195072"/>
                  </a:lnTo>
                  <a:lnTo>
                    <a:pt x="5873839" y="0"/>
                  </a:lnTo>
                  <a:lnTo>
                    <a:pt x="0" y="0"/>
                  </a:lnTo>
                  <a:lnTo>
                    <a:pt x="0" y="195072"/>
                  </a:lnTo>
                  <a:lnTo>
                    <a:pt x="0" y="4139819"/>
                  </a:lnTo>
                  <a:lnTo>
                    <a:pt x="0" y="4334891"/>
                  </a:lnTo>
                  <a:lnTo>
                    <a:pt x="6068949" y="4334891"/>
                  </a:lnTo>
                  <a:lnTo>
                    <a:pt x="6068949" y="4139819"/>
                  </a:lnTo>
                  <a:lnTo>
                    <a:pt x="6068911" y="195072"/>
                  </a:lnTo>
                  <a:lnTo>
                    <a:pt x="6068949" y="0"/>
                  </a:lnTo>
                  <a:close/>
                </a:path>
              </a:pathLst>
            </a:custGeom>
            <a:solidFill>
              <a:srgbClr val="4973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93585" y="6318123"/>
              <a:ext cx="5549265" cy="0"/>
            </a:xfrm>
            <a:custGeom>
              <a:avLst/>
              <a:gdLst/>
              <a:ahLst/>
              <a:cxnLst/>
              <a:rect l="l" t="t" r="r" b="b"/>
              <a:pathLst>
                <a:path w="5549265">
                  <a:moveTo>
                    <a:pt x="0" y="0"/>
                  </a:moveTo>
                  <a:lnTo>
                    <a:pt x="5548718" y="0"/>
                  </a:lnTo>
                </a:path>
              </a:pathLst>
            </a:custGeom>
            <a:ln w="45718">
              <a:solidFill>
                <a:srgbClr val="49734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93585" y="2568447"/>
              <a:ext cx="5549265" cy="3717290"/>
            </a:xfrm>
            <a:custGeom>
              <a:avLst/>
              <a:gdLst/>
              <a:ahLst/>
              <a:cxnLst/>
              <a:rect l="l" t="t" r="r" b="b"/>
              <a:pathLst>
                <a:path w="5549265" h="3717290">
                  <a:moveTo>
                    <a:pt x="32512" y="32511"/>
                  </a:moveTo>
                  <a:lnTo>
                    <a:pt x="32512" y="3717163"/>
                  </a:lnTo>
                </a:path>
                <a:path w="5549265" h="3717290">
                  <a:moveTo>
                    <a:pt x="0" y="0"/>
                  </a:moveTo>
                  <a:lnTo>
                    <a:pt x="5548718" y="0"/>
                  </a:lnTo>
                </a:path>
                <a:path w="5549265" h="3717290">
                  <a:moveTo>
                    <a:pt x="5516206" y="32511"/>
                  </a:moveTo>
                  <a:lnTo>
                    <a:pt x="5516206" y="3717163"/>
                  </a:lnTo>
                </a:path>
              </a:pathLst>
            </a:custGeom>
            <a:ln w="45720">
              <a:solidFill>
                <a:srgbClr val="49734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58811" y="2490342"/>
            <a:ext cx="5314569" cy="3797427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6935851" y="2167508"/>
            <a:ext cx="5960745" cy="4443730"/>
            <a:chOff x="6935851" y="2167508"/>
            <a:chExt cx="5960745" cy="4443730"/>
          </a:xfrm>
        </p:grpSpPr>
        <p:sp>
          <p:nvSpPr>
            <p:cNvPr id="9" name="object 9"/>
            <p:cNvSpPr/>
            <p:nvPr/>
          </p:nvSpPr>
          <p:spPr>
            <a:xfrm>
              <a:off x="6935851" y="2167508"/>
              <a:ext cx="5960745" cy="4443730"/>
            </a:xfrm>
            <a:custGeom>
              <a:avLst/>
              <a:gdLst/>
              <a:ahLst/>
              <a:cxnLst/>
              <a:rect l="l" t="t" r="r" b="b"/>
              <a:pathLst>
                <a:path w="5960745" h="4443730">
                  <a:moveTo>
                    <a:pt x="5960618" y="195072"/>
                  </a:moveTo>
                  <a:lnTo>
                    <a:pt x="5960491" y="195072"/>
                  </a:lnTo>
                  <a:lnTo>
                    <a:pt x="5960491" y="0"/>
                  </a:lnTo>
                  <a:lnTo>
                    <a:pt x="5765546" y="0"/>
                  </a:lnTo>
                  <a:lnTo>
                    <a:pt x="5765546" y="195072"/>
                  </a:lnTo>
                  <a:lnTo>
                    <a:pt x="5765546" y="4248150"/>
                  </a:lnTo>
                  <a:lnTo>
                    <a:pt x="195072" y="4248150"/>
                  </a:lnTo>
                  <a:lnTo>
                    <a:pt x="195072" y="195072"/>
                  </a:lnTo>
                  <a:lnTo>
                    <a:pt x="5765546" y="195072"/>
                  </a:lnTo>
                  <a:lnTo>
                    <a:pt x="5765546" y="0"/>
                  </a:lnTo>
                  <a:lnTo>
                    <a:pt x="0" y="0"/>
                  </a:lnTo>
                  <a:lnTo>
                    <a:pt x="0" y="194945"/>
                  </a:lnTo>
                  <a:lnTo>
                    <a:pt x="0" y="195072"/>
                  </a:lnTo>
                  <a:lnTo>
                    <a:pt x="0" y="4248150"/>
                  </a:lnTo>
                  <a:lnTo>
                    <a:pt x="0" y="4443222"/>
                  </a:lnTo>
                  <a:lnTo>
                    <a:pt x="5960491" y="4443222"/>
                  </a:lnTo>
                  <a:lnTo>
                    <a:pt x="5960491" y="4248150"/>
                  </a:lnTo>
                  <a:lnTo>
                    <a:pt x="5960618" y="4248150"/>
                  </a:lnTo>
                  <a:lnTo>
                    <a:pt x="5960618" y="195072"/>
                  </a:lnTo>
                  <a:close/>
                </a:path>
              </a:pathLst>
            </a:custGeom>
            <a:solidFill>
              <a:srgbClr val="4973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195947" y="6318123"/>
              <a:ext cx="5440680" cy="0"/>
            </a:xfrm>
            <a:custGeom>
              <a:avLst/>
              <a:gdLst/>
              <a:ahLst/>
              <a:cxnLst/>
              <a:rect l="l" t="t" r="r" b="b"/>
              <a:pathLst>
                <a:path w="5440680">
                  <a:moveTo>
                    <a:pt x="0" y="0"/>
                  </a:moveTo>
                  <a:lnTo>
                    <a:pt x="5440426" y="0"/>
                  </a:lnTo>
                </a:path>
              </a:pathLst>
            </a:custGeom>
            <a:ln w="45718">
              <a:solidFill>
                <a:srgbClr val="49734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195947" y="2460116"/>
              <a:ext cx="5440680" cy="3825875"/>
            </a:xfrm>
            <a:custGeom>
              <a:avLst/>
              <a:gdLst/>
              <a:ahLst/>
              <a:cxnLst/>
              <a:rect l="l" t="t" r="r" b="b"/>
              <a:pathLst>
                <a:path w="5440680" h="3825875">
                  <a:moveTo>
                    <a:pt x="32511" y="32511"/>
                  </a:moveTo>
                  <a:lnTo>
                    <a:pt x="32511" y="3825493"/>
                  </a:lnTo>
                </a:path>
                <a:path w="5440680" h="3825875">
                  <a:moveTo>
                    <a:pt x="0" y="0"/>
                  </a:moveTo>
                  <a:lnTo>
                    <a:pt x="5440426" y="0"/>
                  </a:lnTo>
                </a:path>
                <a:path w="5440680" h="3825875">
                  <a:moveTo>
                    <a:pt x="5407913" y="32511"/>
                  </a:moveTo>
                  <a:lnTo>
                    <a:pt x="5407913" y="3825493"/>
                  </a:lnTo>
                </a:path>
              </a:pathLst>
            </a:custGeom>
            <a:ln w="45720">
              <a:solidFill>
                <a:srgbClr val="49734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669542" y="7513446"/>
            <a:ext cx="959866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i="1" dirty="0">
                <a:solidFill>
                  <a:srgbClr val="000000"/>
                </a:solidFill>
                <a:latin typeface="Constantia"/>
                <a:cs typeface="Constantia"/>
              </a:rPr>
              <a:t>Sparse</a:t>
            </a:r>
            <a:r>
              <a:rPr sz="4400" i="1" spc="-155" dirty="0">
                <a:solidFill>
                  <a:srgbClr val="000000"/>
                </a:solidFill>
                <a:latin typeface="Constantia"/>
                <a:cs typeface="Constantia"/>
              </a:rPr>
              <a:t> </a:t>
            </a:r>
            <a:r>
              <a:rPr sz="4400" i="1" dirty="0">
                <a:solidFill>
                  <a:srgbClr val="000000"/>
                </a:solidFill>
                <a:latin typeface="Constantia"/>
                <a:cs typeface="Constantia"/>
              </a:rPr>
              <a:t>matrix</a:t>
            </a:r>
            <a:r>
              <a:rPr sz="4400" i="1" spc="-70" dirty="0">
                <a:solidFill>
                  <a:srgbClr val="000000"/>
                </a:solidFill>
                <a:latin typeface="Constantia"/>
                <a:cs typeface="Constantia"/>
              </a:rPr>
              <a:t> </a:t>
            </a:r>
            <a:r>
              <a:rPr sz="4400" i="1" dirty="0">
                <a:solidFill>
                  <a:srgbClr val="000000"/>
                </a:solidFill>
                <a:latin typeface="Constantia"/>
                <a:cs typeface="Constantia"/>
              </a:rPr>
              <a:t>and</a:t>
            </a:r>
            <a:r>
              <a:rPr sz="4400" i="1" spc="-30" dirty="0">
                <a:solidFill>
                  <a:srgbClr val="000000"/>
                </a:solidFill>
                <a:latin typeface="Constantia"/>
                <a:cs typeface="Constantia"/>
              </a:rPr>
              <a:t> </a:t>
            </a:r>
            <a:r>
              <a:rPr sz="4400" i="1" spc="-10" dirty="0">
                <a:solidFill>
                  <a:srgbClr val="000000"/>
                </a:solidFill>
                <a:latin typeface="Constantia"/>
                <a:cs typeface="Constantia"/>
              </a:rPr>
              <a:t>its</a:t>
            </a:r>
            <a:r>
              <a:rPr sz="4400" i="1" spc="-365" dirty="0">
                <a:solidFill>
                  <a:srgbClr val="000000"/>
                </a:solidFill>
                <a:latin typeface="Constantia"/>
                <a:cs typeface="Constantia"/>
              </a:rPr>
              <a:t> </a:t>
            </a:r>
            <a:r>
              <a:rPr sz="4400" i="1" spc="-10" dirty="0">
                <a:solidFill>
                  <a:srgbClr val="000000"/>
                </a:solidFill>
                <a:latin typeface="Constantia"/>
                <a:cs typeface="Constantia"/>
              </a:rPr>
              <a:t>representation</a:t>
            </a:r>
            <a:endParaRPr sz="4400">
              <a:latin typeface="Constantia"/>
              <a:cs typeface="Constanti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71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92964"/>
            <a:ext cx="13004800" cy="2184400"/>
            <a:chOff x="0" y="92964"/>
            <a:chExt cx="13004800" cy="21844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92964"/>
              <a:ext cx="5708904" cy="218389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04359" y="92964"/>
              <a:ext cx="2743199" cy="218389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43015" y="92964"/>
              <a:ext cx="4283964" cy="218389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047988" y="92964"/>
              <a:ext cx="3956304" cy="2183892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16285" rIns="0" bIns="0" rtlCol="0">
            <a:spAutoFit/>
          </a:bodyPr>
          <a:lstStyle/>
          <a:p>
            <a:pPr marL="335280">
              <a:lnSpc>
                <a:spcPct val="100000"/>
              </a:lnSpc>
              <a:spcBef>
                <a:spcPts val="105"/>
              </a:spcBef>
            </a:pPr>
            <a:r>
              <a:rPr spc="-625" dirty="0"/>
              <a:t>T</a:t>
            </a:r>
            <a:r>
              <a:rPr spc="-50" dirty="0"/>
              <a:t>ransp</a:t>
            </a:r>
            <a:r>
              <a:rPr spc="-55" dirty="0"/>
              <a:t>o</a:t>
            </a:r>
            <a:r>
              <a:rPr spc="-50" dirty="0"/>
              <a:t>s</a:t>
            </a:r>
            <a:r>
              <a:rPr spc="15" dirty="0"/>
              <a:t>e</a:t>
            </a:r>
            <a:r>
              <a:rPr spc="-210" dirty="0"/>
              <a:t> </a:t>
            </a:r>
            <a:r>
              <a:rPr dirty="0"/>
              <a:t>Of</a:t>
            </a:r>
            <a:r>
              <a:rPr spc="-114" dirty="0"/>
              <a:t> </a:t>
            </a:r>
            <a:r>
              <a:rPr dirty="0"/>
              <a:t>Sparse</a:t>
            </a:r>
            <a:r>
              <a:rPr spc="-250" dirty="0"/>
              <a:t> </a:t>
            </a:r>
            <a:r>
              <a:rPr spc="-10" dirty="0"/>
              <a:t>Matrix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72</a:t>
            </a:fld>
            <a:endParaRPr spc="-25" dirty="0"/>
          </a:p>
        </p:txBody>
      </p:sp>
      <p:sp>
        <p:nvSpPr>
          <p:cNvPr id="8" name="object 8"/>
          <p:cNvSpPr txBox="1"/>
          <p:nvPr/>
        </p:nvSpPr>
        <p:spPr>
          <a:xfrm>
            <a:off x="1200403" y="2786846"/>
            <a:ext cx="4168775" cy="1497965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441959" indent="-429259">
              <a:lnSpc>
                <a:spcPct val="100000"/>
              </a:lnSpc>
              <a:spcBef>
                <a:spcPts val="1100"/>
              </a:spcBef>
              <a:buClr>
                <a:srgbClr val="E0E1DC"/>
              </a:buClr>
              <a:buSzPct val="91250"/>
              <a:buFont typeface="Wingdings"/>
              <a:buChar char=""/>
              <a:tabLst>
                <a:tab pos="441959" algn="l"/>
              </a:tabLst>
            </a:pPr>
            <a:r>
              <a:rPr sz="4000" i="1" spc="-30" dirty="0">
                <a:latin typeface="Constantia"/>
                <a:cs typeface="Constantia"/>
              </a:rPr>
              <a:t>Simple</a:t>
            </a:r>
            <a:r>
              <a:rPr sz="4000" i="1" spc="-229" dirty="0">
                <a:latin typeface="Constantia"/>
                <a:cs typeface="Constantia"/>
              </a:rPr>
              <a:t> </a:t>
            </a:r>
            <a:r>
              <a:rPr sz="4000" i="1" spc="-35" dirty="0">
                <a:latin typeface="Constantia"/>
                <a:cs typeface="Constantia"/>
              </a:rPr>
              <a:t>Transpose</a:t>
            </a:r>
            <a:endParaRPr sz="4000">
              <a:latin typeface="Constantia"/>
              <a:cs typeface="Constantia"/>
            </a:endParaRPr>
          </a:p>
          <a:p>
            <a:pPr marL="441959" indent="-429259">
              <a:lnSpc>
                <a:spcPct val="100000"/>
              </a:lnSpc>
              <a:spcBef>
                <a:spcPts val="994"/>
              </a:spcBef>
              <a:buClr>
                <a:srgbClr val="E0E1DC"/>
              </a:buClr>
              <a:buSzPct val="91250"/>
              <a:buFont typeface="Wingdings"/>
              <a:buChar char=""/>
              <a:tabLst>
                <a:tab pos="441959" algn="l"/>
              </a:tabLst>
            </a:pPr>
            <a:r>
              <a:rPr sz="4000" i="1" spc="-50" dirty="0">
                <a:latin typeface="Constantia"/>
                <a:cs typeface="Constantia"/>
              </a:rPr>
              <a:t>Fast</a:t>
            </a:r>
            <a:r>
              <a:rPr sz="4000" i="1" spc="-225" dirty="0">
                <a:latin typeface="Constantia"/>
                <a:cs typeface="Constantia"/>
              </a:rPr>
              <a:t> </a:t>
            </a:r>
            <a:r>
              <a:rPr sz="4000" i="1" spc="-10" dirty="0">
                <a:latin typeface="Constantia"/>
                <a:cs typeface="Constantia"/>
              </a:rPr>
              <a:t>Transpose</a:t>
            </a:r>
            <a:endParaRPr sz="4000">
              <a:latin typeface="Constantia"/>
              <a:cs typeface="Constant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92964"/>
            <a:ext cx="13004800" cy="2184400"/>
            <a:chOff x="0" y="92964"/>
            <a:chExt cx="13004800" cy="21844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92964"/>
              <a:ext cx="5708904" cy="218389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04359" y="92964"/>
              <a:ext cx="2743199" cy="218389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43015" y="92964"/>
              <a:ext cx="4283964" cy="218389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047988" y="92964"/>
              <a:ext cx="3956304" cy="2183892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28675" y="334720"/>
            <a:ext cx="12367895" cy="1200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625" dirty="0"/>
              <a:t>T</a:t>
            </a:r>
            <a:r>
              <a:rPr spc="-50" dirty="0"/>
              <a:t>ransp</a:t>
            </a:r>
            <a:r>
              <a:rPr spc="-55" dirty="0"/>
              <a:t>o</a:t>
            </a:r>
            <a:r>
              <a:rPr spc="-50" dirty="0"/>
              <a:t>s</a:t>
            </a:r>
            <a:r>
              <a:rPr spc="15" dirty="0"/>
              <a:t>e</a:t>
            </a:r>
            <a:r>
              <a:rPr spc="-210" dirty="0"/>
              <a:t> </a:t>
            </a:r>
            <a:r>
              <a:rPr dirty="0"/>
              <a:t>Of</a:t>
            </a:r>
            <a:r>
              <a:rPr spc="-114" dirty="0"/>
              <a:t> </a:t>
            </a:r>
            <a:r>
              <a:rPr dirty="0"/>
              <a:t>Sparse</a:t>
            </a:r>
            <a:r>
              <a:rPr spc="-250" dirty="0"/>
              <a:t> </a:t>
            </a:r>
            <a:r>
              <a:rPr spc="-10" dirty="0"/>
              <a:t>Matrix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2178030" y="9154464"/>
            <a:ext cx="2724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i="1" spc="-85" dirty="0">
                <a:solidFill>
                  <a:srgbClr val="585858"/>
                </a:solidFill>
                <a:latin typeface="Verdana"/>
                <a:cs typeface="Verdana"/>
              </a:rPr>
              <a:t>73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43738" y="1487989"/>
            <a:ext cx="12698095" cy="3684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 marR="17780" algn="just">
              <a:lnSpc>
                <a:spcPct val="150000"/>
              </a:lnSpc>
              <a:spcBef>
                <a:spcPts val="100"/>
              </a:spcBef>
            </a:pPr>
            <a:r>
              <a:rPr sz="3200" b="1" dirty="0">
                <a:latin typeface="Times New Roman"/>
                <a:cs typeface="Times New Roman"/>
              </a:rPr>
              <a:t>The</a:t>
            </a:r>
            <a:r>
              <a:rPr sz="3200" b="1" spc="80" dirty="0">
                <a:latin typeface="Times New Roman"/>
                <a:cs typeface="Times New Roman"/>
              </a:rPr>
              <a:t>  </a:t>
            </a:r>
            <a:r>
              <a:rPr sz="3200" b="1" dirty="0">
                <a:latin typeface="Times New Roman"/>
                <a:cs typeface="Times New Roman"/>
              </a:rPr>
              <a:t>transpose</a:t>
            </a:r>
            <a:r>
              <a:rPr sz="3200" b="1" spc="95" dirty="0">
                <a:latin typeface="Times New Roman"/>
                <a:cs typeface="Times New Roman"/>
              </a:rPr>
              <a:t>  </a:t>
            </a:r>
            <a:r>
              <a:rPr sz="3200" b="1" dirty="0">
                <a:latin typeface="Times New Roman"/>
                <a:cs typeface="Times New Roman"/>
              </a:rPr>
              <a:t>of</a:t>
            </a:r>
            <a:r>
              <a:rPr sz="3200" b="1" spc="75" dirty="0">
                <a:latin typeface="Times New Roman"/>
                <a:cs typeface="Times New Roman"/>
              </a:rPr>
              <a:t>  </a:t>
            </a:r>
            <a:r>
              <a:rPr sz="3200" b="1" dirty="0">
                <a:latin typeface="Times New Roman"/>
                <a:cs typeface="Times New Roman"/>
              </a:rPr>
              <a:t>a</a:t>
            </a:r>
            <a:r>
              <a:rPr sz="3200" b="1" spc="75" dirty="0">
                <a:latin typeface="Times New Roman"/>
                <a:cs typeface="Times New Roman"/>
              </a:rPr>
              <a:t>  </a:t>
            </a:r>
            <a:r>
              <a:rPr sz="3200" b="1" dirty="0">
                <a:latin typeface="Times New Roman"/>
                <a:cs typeface="Times New Roman"/>
              </a:rPr>
              <a:t>matrix</a:t>
            </a:r>
            <a:r>
              <a:rPr sz="3200" b="1" spc="80" dirty="0">
                <a:latin typeface="Times New Roman"/>
                <a:cs typeface="Times New Roman"/>
              </a:rPr>
              <a:t>  </a:t>
            </a:r>
            <a:r>
              <a:rPr sz="3200" b="1" dirty="0">
                <a:latin typeface="Times New Roman"/>
                <a:cs typeface="Times New Roman"/>
              </a:rPr>
              <a:t>is</a:t>
            </a:r>
            <a:r>
              <a:rPr sz="3200" b="1" spc="80" dirty="0">
                <a:latin typeface="Times New Roman"/>
                <a:cs typeface="Times New Roman"/>
              </a:rPr>
              <a:t>  </a:t>
            </a:r>
            <a:r>
              <a:rPr sz="3200" b="1" dirty="0">
                <a:latin typeface="Times New Roman"/>
                <a:cs typeface="Times New Roman"/>
              </a:rPr>
              <a:t>found</a:t>
            </a:r>
            <a:r>
              <a:rPr sz="3200" b="1" spc="75" dirty="0">
                <a:latin typeface="Times New Roman"/>
                <a:cs typeface="Times New Roman"/>
              </a:rPr>
              <a:t>  </a:t>
            </a:r>
            <a:r>
              <a:rPr sz="3200" b="1" dirty="0">
                <a:latin typeface="Times New Roman"/>
                <a:cs typeface="Times New Roman"/>
              </a:rPr>
              <a:t>by</a:t>
            </a:r>
            <a:r>
              <a:rPr sz="3200" b="1" spc="80" dirty="0">
                <a:latin typeface="Times New Roman"/>
                <a:cs typeface="Times New Roman"/>
              </a:rPr>
              <a:t>  </a:t>
            </a:r>
            <a:r>
              <a:rPr sz="3200" b="1" dirty="0">
                <a:latin typeface="Times New Roman"/>
                <a:cs typeface="Times New Roman"/>
              </a:rPr>
              <a:t>interchanging</a:t>
            </a:r>
            <a:r>
              <a:rPr sz="3200" b="1" spc="85" dirty="0">
                <a:latin typeface="Times New Roman"/>
                <a:cs typeface="Times New Roman"/>
              </a:rPr>
              <a:t>  </a:t>
            </a:r>
            <a:r>
              <a:rPr sz="3200" b="1" dirty="0">
                <a:latin typeface="Times New Roman"/>
                <a:cs typeface="Times New Roman"/>
              </a:rPr>
              <a:t>its</a:t>
            </a:r>
            <a:r>
              <a:rPr sz="3200" b="1" spc="80" dirty="0">
                <a:latin typeface="Times New Roman"/>
                <a:cs typeface="Times New Roman"/>
              </a:rPr>
              <a:t>  </a:t>
            </a:r>
            <a:r>
              <a:rPr sz="3200" b="1" dirty="0">
                <a:latin typeface="Times New Roman"/>
                <a:cs typeface="Times New Roman"/>
              </a:rPr>
              <a:t>rows</a:t>
            </a:r>
            <a:r>
              <a:rPr sz="3200" b="1" spc="80" dirty="0">
                <a:latin typeface="Times New Roman"/>
                <a:cs typeface="Times New Roman"/>
              </a:rPr>
              <a:t>  </a:t>
            </a:r>
            <a:r>
              <a:rPr sz="3200" b="1" spc="-20" dirty="0">
                <a:latin typeface="Times New Roman"/>
                <a:cs typeface="Times New Roman"/>
              </a:rPr>
              <a:t>into </a:t>
            </a:r>
            <a:r>
              <a:rPr sz="3200" b="1" dirty="0">
                <a:latin typeface="Times New Roman"/>
                <a:cs typeface="Times New Roman"/>
              </a:rPr>
              <a:t>columns</a:t>
            </a:r>
            <a:r>
              <a:rPr sz="3200" b="1" spc="29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or</a:t>
            </a:r>
            <a:r>
              <a:rPr sz="3200" b="1" spc="28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columns</a:t>
            </a:r>
            <a:r>
              <a:rPr sz="3200" b="1" spc="28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into</a:t>
            </a:r>
            <a:r>
              <a:rPr sz="3200" b="1" spc="29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rows.</a:t>
            </a:r>
            <a:r>
              <a:rPr sz="3200" b="1" spc="2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2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transpose</a:t>
            </a:r>
            <a:r>
              <a:rPr sz="3200" spc="2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2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2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matrix</a:t>
            </a:r>
            <a:r>
              <a:rPr sz="3200" spc="2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</a:t>
            </a:r>
            <a:r>
              <a:rPr sz="3200" spc="2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denoted</a:t>
            </a:r>
            <a:r>
              <a:rPr sz="3200" spc="295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by </a:t>
            </a:r>
            <a:r>
              <a:rPr sz="3200" dirty="0">
                <a:latin typeface="Times New Roman"/>
                <a:cs typeface="Times New Roman"/>
              </a:rPr>
              <a:t>using</a:t>
            </a:r>
            <a:r>
              <a:rPr sz="3200" spc="3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3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letter</a:t>
            </a:r>
            <a:r>
              <a:rPr sz="3200" spc="3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“T”</a:t>
            </a:r>
            <a:r>
              <a:rPr sz="3200" spc="3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3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3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superscript</a:t>
            </a:r>
            <a:r>
              <a:rPr sz="3200" spc="3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3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3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given</a:t>
            </a:r>
            <a:r>
              <a:rPr sz="3200" spc="3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matrix.</a:t>
            </a:r>
            <a:r>
              <a:rPr sz="3200" spc="3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For</a:t>
            </a:r>
            <a:r>
              <a:rPr sz="3200" spc="3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example,</a:t>
            </a:r>
            <a:r>
              <a:rPr sz="3200" spc="395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if </a:t>
            </a:r>
            <a:r>
              <a:rPr sz="3200" dirty="0">
                <a:latin typeface="Times New Roman"/>
                <a:cs typeface="Times New Roman"/>
              </a:rPr>
              <a:t>“A”</a:t>
            </a:r>
            <a:r>
              <a:rPr sz="3200" spc="3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</a:t>
            </a:r>
            <a:r>
              <a:rPr sz="3200" spc="3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3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given</a:t>
            </a:r>
            <a:r>
              <a:rPr sz="3200" spc="3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matrix,</a:t>
            </a:r>
            <a:r>
              <a:rPr sz="3200" spc="3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then</a:t>
            </a:r>
            <a:r>
              <a:rPr sz="3200" spc="3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3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transpose</a:t>
            </a:r>
            <a:r>
              <a:rPr sz="3200" spc="3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3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3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matrix</a:t>
            </a:r>
            <a:r>
              <a:rPr sz="3200" spc="3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</a:t>
            </a:r>
            <a:r>
              <a:rPr sz="3200" spc="3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represented</a:t>
            </a:r>
            <a:r>
              <a:rPr sz="3200" spc="355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by </a:t>
            </a:r>
            <a:r>
              <a:rPr sz="3200" dirty="0">
                <a:latin typeface="Times New Roman"/>
                <a:cs typeface="Times New Roman"/>
              </a:rPr>
              <a:t>A’</a:t>
            </a:r>
            <a:r>
              <a:rPr sz="3200" spc="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or</a:t>
            </a:r>
            <a:r>
              <a:rPr sz="3200" spc="65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A</a:t>
            </a:r>
            <a:r>
              <a:rPr sz="3150" spc="-37" baseline="25132" dirty="0">
                <a:latin typeface="Times New Roman"/>
                <a:cs typeface="Times New Roman"/>
              </a:rPr>
              <a:t>T</a:t>
            </a:r>
            <a:r>
              <a:rPr sz="3200" spc="-25" dirty="0">
                <a:latin typeface="Times New Roman"/>
                <a:cs typeface="Times New Roman"/>
              </a:rPr>
              <a:t>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6438" y="6476491"/>
            <a:ext cx="1024826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latin typeface="Times New Roman"/>
                <a:cs typeface="Times New Roman"/>
              </a:rPr>
              <a:t>The</a:t>
            </a:r>
            <a:r>
              <a:rPr sz="3200" b="1" spc="16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following</a:t>
            </a:r>
            <a:r>
              <a:rPr sz="3200" b="1" spc="15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statement</a:t>
            </a:r>
            <a:r>
              <a:rPr sz="3200" b="1" spc="15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generalizes</a:t>
            </a:r>
            <a:r>
              <a:rPr sz="3200" b="1" spc="16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the</a:t>
            </a:r>
            <a:r>
              <a:rPr sz="3200" b="1" spc="16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matrix</a:t>
            </a:r>
            <a:r>
              <a:rPr sz="3200" b="1" spc="140" dirty="0">
                <a:latin typeface="Times New Roman"/>
                <a:cs typeface="Times New Roman"/>
              </a:rPr>
              <a:t> </a:t>
            </a:r>
            <a:r>
              <a:rPr sz="3200" b="1" spc="-10" dirty="0">
                <a:latin typeface="Times New Roman"/>
                <a:cs typeface="Times New Roman"/>
              </a:rPr>
              <a:t>transpose: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56438" y="8296452"/>
            <a:ext cx="1267269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00125" algn="l"/>
                <a:tab pos="2862580" algn="l"/>
                <a:tab pos="3368675" algn="l"/>
                <a:tab pos="3713479" algn="l"/>
                <a:tab pos="4999355" algn="l"/>
                <a:tab pos="5436870" algn="l"/>
                <a:tab pos="6842125" algn="l"/>
                <a:tab pos="7348220" algn="l"/>
                <a:tab pos="7989570" algn="l"/>
                <a:tab pos="9277985" algn="l"/>
                <a:tab pos="10450195" algn="l"/>
                <a:tab pos="10887075" algn="l"/>
                <a:tab pos="12244070" algn="l"/>
              </a:tabLst>
            </a:pPr>
            <a:r>
              <a:rPr sz="3200" spc="-20" dirty="0">
                <a:latin typeface="Times New Roman"/>
                <a:cs typeface="Times New Roman"/>
              </a:rPr>
              <a:t>Thus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10" dirty="0">
                <a:latin typeface="Times New Roman"/>
                <a:cs typeface="Times New Roman"/>
              </a:rPr>
              <a:t>Transpose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25" dirty="0">
                <a:latin typeface="Times New Roman"/>
                <a:cs typeface="Times New Roman"/>
              </a:rPr>
              <a:t>of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50" dirty="0">
                <a:latin typeface="Times New Roman"/>
                <a:cs typeface="Times New Roman"/>
              </a:rPr>
              <a:t>a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10" dirty="0">
                <a:latin typeface="Times New Roman"/>
                <a:cs typeface="Times New Roman"/>
              </a:rPr>
              <a:t>Matrix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25" dirty="0">
                <a:latin typeface="Times New Roman"/>
                <a:cs typeface="Times New Roman"/>
              </a:rPr>
              <a:t>is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10" dirty="0">
                <a:latin typeface="Times New Roman"/>
                <a:cs typeface="Times New Roman"/>
              </a:rPr>
              <a:t>defined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25" dirty="0">
                <a:latin typeface="Times New Roman"/>
                <a:cs typeface="Times New Roman"/>
              </a:rPr>
              <a:t>as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25" dirty="0">
                <a:latin typeface="Times New Roman"/>
                <a:cs typeface="Times New Roman"/>
              </a:rPr>
              <a:t>“A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10" dirty="0">
                <a:latin typeface="Times New Roman"/>
                <a:cs typeface="Times New Roman"/>
              </a:rPr>
              <a:t>Matrix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10" dirty="0">
                <a:latin typeface="Times New Roman"/>
                <a:cs typeface="Times New Roman"/>
              </a:rPr>
              <a:t>which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25" dirty="0">
                <a:latin typeface="Times New Roman"/>
                <a:cs typeface="Times New Roman"/>
              </a:rPr>
              <a:t>is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10" dirty="0">
                <a:latin typeface="Times New Roman"/>
                <a:cs typeface="Times New Roman"/>
              </a:rPr>
              <a:t>formed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25" dirty="0">
                <a:latin typeface="Times New Roman"/>
                <a:cs typeface="Times New Roman"/>
              </a:rPr>
              <a:t>by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1038" y="9028277"/>
            <a:ext cx="1133475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200" spc="5" dirty="0">
                <a:latin typeface="Times New Roman"/>
                <a:cs typeface="Times New Roman"/>
              </a:rPr>
              <a:t>t</a:t>
            </a:r>
            <a:r>
              <a:rPr sz="3200" spc="15" dirty="0">
                <a:latin typeface="Times New Roman"/>
                <a:cs typeface="Times New Roman"/>
              </a:rPr>
              <a:t>urn</a:t>
            </a:r>
            <a:r>
              <a:rPr sz="3200" spc="-390" dirty="0">
                <a:latin typeface="Times New Roman"/>
                <a:cs typeface="Times New Roman"/>
              </a:rPr>
              <a:t>i</a:t>
            </a:r>
            <a:r>
              <a:rPr sz="2550" i="1" spc="-952" baseline="16339" dirty="0">
                <a:solidFill>
                  <a:srgbClr val="585858"/>
                </a:solidFill>
                <a:latin typeface="Verdana"/>
                <a:cs typeface="Verdana"/>
              </a:rPr>
              <a:t>P</a:t>
            </a:r>
            <a:r>
              <a:rPr sz="3200" spc="-980" dirty="0">
                <a:latin typeface="Times New Roman"/>
                <a:cs typeface="Times New Roman"/>
              </a:rPr>
              <a:t>n</a:t>
            </a:r>
            <a:r>
              <a:rPr sz="2550" i="1" spc="-89" baseline="16339" dirty="0">
                <a:solidFill>
                  <a:srgbClr val="585858"/>
                </a:solidFill>
                <a:latin typeface="Verdana"/>
                <a:cs typeface="Verdana"/>
              </a:rPr>
              <a:t>R</a:t>
            </a:r>
            <a:r>
              <a:rPr sz="3200" spc="-1560" dirty="0">
                <a:latin typeface="Times New Roman"/>
                <a:cs typeface="Times New Roman"/>
              </a:rPr>
              <a:t>g</a:t>
            </a:r>
            <a:r>
              <a:rPr sz="2550" i="1" spc="7" baseline="16339" dirty="0">
                <a:solidFill>
                  <a:srgbClr val="585858"/>
                </a:solidFill>
                <a:latin typeface="Verdana"/>
                <a:cs typeface="Verdana"/>
              </a:rPr>
              <a:t>O</a:t>
            </a:r>
            <a:r>
              <a:rPr sz="2550" i="1" spc="15" baseline="16339" dirty="0">
                <a:solidFill>
                  <a:srgbClr val="585858"/>
                </a:solidFill>
                <a:latin typeface="Verdana"/>
                <a:cs typeface="Verdana"/>
              </a:rPr>
              <a:t>F</a:t>
            </a:r>
            <a:r>
              <a:rPr sz="2550" i="1" spc="-839" baseline="16339" dirty="0">
                <a:solidFill>
                  <a:srgbClr val="585858"/>
                </a:solidFill>
                <a:latin typeface="Verdana"/>
                <a:cs typeface="Verdana"/>
              </a:rPr>
              <a:t>.</a:t>
            </a:r>
            <a:r>
              <a:rPr sz="3200" spc="-475" dirty="0">
                <a:latin typeface="Times New Roman"/>
                <a:cs typeface="Times New Roman"/>
              </a:rPr>
              <a:t>a</a:t>
            </a:r>
            <a:r>
              <a:rPr sz="2550" i="1" spc="-1095" baseline="16339" dirty="0">
                <a:solidFill>
                  <a:srgbClr val="585858"/>
                </a:solidFill>
                <a:latin typeface="Verdana"/>
                <a:cs typeface="Verdana"/>
              </a:rPr>
              <a:t>A</a:t>
            </a:r>
            <a:r>
              <a:rPr sz="3200" spc="-110" dirty="0">
                <a:latin typeface="Times New Roman"/>
                <a:cs typeface="Times New Roman"/>
              </a:rPr>
              <a:t>l</a:t>
            </a:r>
            <a:r>
              <a:rPr sz="2550" i="1" spc="-1777" baseline="16339" dirty="0">
                <a:solidFill>
                  <a:srgbClr val="585858"/>
                </a:solidFill>
                <a:latin typeface="Verdana"/>
                <a:cs typeface="Verdana"/>
              </a:rPr>
              <a:t>N</a:t>
            </a:r>
            <a:r>
              <a:rPr sz="3200" spc="-10" dirty="0">
                <a:latin typeface="Times New Roman"/>
                <a:cs typeface="Times New Roman"/>
              </a:rPr>
              <a:t>l</a:t>
            </a:r>
            <a:r>
              <a:rPr sz="3200" spc="-505" dirty="0">
                <a:latin typeface="Times New Roman"/>
                <a:cs typeface="Times New Roman"/>
              </a:rPr>
              <a:t> </a:t>
            </a:r>
            <a:r>
              <a:rPr sz="2550" i="1" spc="-960" baseline="16339" dirty="0">
                <a:solidFill>
                  <a:srgbClr val="585858"/>
                </a:solidFill>
                <a:latin typeface="Verdana"/>
                <a:cs typeface="Verdana"/>
              </a:rPr>
              <a:t>A</a:t>
            </a:r>
            <a:r>
              <a:rPr sz="3200" spc="-210" dirty="0">
                <a:latin typeface="Times New Roman"/>
                <a:cs typeface="Times New Roman"/>
              </a:rPr>
              <a:t>t</a:t>
            </a:r>
            <a:r>
              <a:rPr sz="2550" i="1" spc="-1635" baseline="16339" dirty="0">
                <a:solidFill>
                  <a:srgbClr val="585858"/>
                </a:solidFill>
                <a:latin typeface="Verdana"/>
                <a:cs typeface="Verdana"/>
              </a:rPr>
              <a:t>N</a:t>
            </a:r>
            <a:r>
              <a:rPr sz="3200" spc="-550" dirty="0">
                <a:latin typeface="Times New Roman"/>
                <a:cs typeface="Times New Roman"/>
              </a:rPr>
              <a:t>h</a:t>
            </a:r>
            <a:r>
              <a:rPr sz="2550" i="1" spc="-1125" baseline="16339" dirty="0">
                <a:solidFill>
                  <a:srgbClr val="585858"/>
                </a:solidFill>
                <a:latin typeface="Verdana"/>
                <a:cs typeface="Verdana"/>
              </a:rPr>
              <a:t>D</a:t>
            </a:r>
            <a:r>
              <a:rPr sz="3200" spc="-195" dirty="0">
                <a:latin typeface="Times New Roman"/>
                <a:cs typeface="Times New Roman"/>
              </a:rPr>
              <a:t>e</a:t>
            </a:r>
            <a:r>
              <a:rPr sz="2550" i="1" spc="-630" baseline="16339" dirty="0">
                <a:solidFill>
                  <a:srgbClr val="585858"/>
                </a:solidFill>
                <a:latin typeface="Verdana"/>
                <a:cs typeface="Verdana"/>
              </a:rPr>
              <a:t>G</a:t>
            </a:r>
            <a:r>
              <a:rPr sz="3200" spc="-610" dirty="0">
                <a:latin typeface="Times New Roman"/>
                <a:cs typeface="Times New Roman"/>
              </a:rPr>
              <a:t>r</a:t>
            </a:r>
            <a:r>
              <a:rPr sz="2550" i="1" spc="-930" baseline="16339" dirty="0">
                <a:solidFill>
                  <a:srgbClr val="585858"/>
                </a:solidFill>
                <a:latin typeface="Verdana"/>
                <a:cs typeface="Verdana"/>
              </a:rPr>
              <a:t>H</a:t>
            </a:r>
            <a:r>
              <a:rPr sz="3200" spc="-1050" dirty="0">
                <a:latin typeface="Times New Roman"/>
                <a:cs typeface="Times New Roman"/>
              </a:rPr>
              <a:t>o</a:t>
            </a:r>
            <a:r>
              <a:rPr sz="2550" i="1" spc="-307" baseline="16339" dirty="0">
                <a:solidFill>
                  <a:srgbClr val="585858"/>
                </a:solidFill>
                <a:latin typeface="Verdana"/>
                <a:cs typeface="Verdana"/>
              </a:rPr>
              <a:t>A</a:t>
            </a:r>
            <a:r>
              <a:rPr sz="3200" spc="-2110" dirty="0">
                <a:latin typeface="Times New Roman"/>
                <a:cs typeface="Times New Roman"/>
              </a:rPr>
              <a:t>w</a:t>
            </a:r>
            <a:r>
              <a:rPr sz="2550" i="1" spc="7" baseline="16339" dirty="0">
                <a:solidFill>
                  <a:srgbClr val="585858"/>
                </a:solidFill>
                <a:latin typeface="Verdana"/>
                <a:cs typeface="Verdana"/>
              </a:rPr>
              <a:t>R</a:t>
            </a:r>
            <a:r>
              <a:rPr sz="2550" i="1" spc="-120" baseline="16339" dirty="0">
                <a:solidFill>
                  <a:srgbClr val="585858"/>
                </a:solidFill>
                <a:latin typeface="Verdana"/>
                <a:cs typeface="Verdana"/>
              </a:rPr>
              <a:t>U</a:t>
            </a:r>
            <a:r>
              <a:rPr sz="3200" spc="-15" dirty="0">
                <a:latin typeface="Times New Roman"/>
                <a:cs typeface="Times New Roman"/>
              </a:rPr>
              <a:t>s</a:t>
            </a:r>
            <a:r>
              <a:rPr sz="3200" spc="1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10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1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given</a:t>
            </a:r>
            <a:r>
              <a:rPr sz="3200" spc="1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matrix</a:t>
            </a:r>
            <a:r>
              <a:rPr sz="3200" spc="1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into</a:t>
            </a:r>
            <a:r>
              <a:rPr sz="3200" spc="1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columns</a:t>
            </a:r>
            <a:r>
              <a:rPr sz="3200" spc="1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1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vice-</a:t>
            </a:r>
            <a:r>
              <a:rPr sz="3200" spc="-10" dirty="0">
                <a:latin typeface="Times New Roman"/>
                <a:cs typeface="Times New Roman"/>
              </a:rPr>
              <a:t>versa.”</a:t>
            </a:r>
            <a:endParaRPr sz="3200">
              <a:latin typeface="Times New Roman"/>
              <a:cs typeface="Times New Roman"/>
            </a:endParaRPr>
          </a:p>
        </p:txBody>
      </p:sp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20800" y="6553251"/>
            <a:ext cx="10134600" cy="113367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92964"/>
            <a:ext cx="13004800" cy="2184400"/>
            <a:chOff x="0" y="92964"/>
            <a:chExt cx="13004800" cy="21844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92964"/>
              <a:ext cx="5708904" cy="218389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04359" y="92964"/>
              <a:ext cx="2743199" cy="218389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43015" y="92964"/>
              <a:ext cx="4283964" cy="218389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047988" y="92964"/>
              <a:ext cx="3956304" cy="2183892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28675" y="334720"/>
            <a:ext cx="12367895" cy="1200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625" dirty="0"/>
              <a:t>T</a:t>
            </a:r>
            <a:r>
              <a:rPr spc="-50" dirty="0"/>
              <a:t>ransp</a:t>
            </a:r>
            <a:r>
              <a:rPr spc="-55" dirty="0"/>
              <a:t>o</a:t>
            </a:r>
            <a:r>
              <a:rPr spc="-50" dirty="0"/>
              <a:t>s</a:t>
            </a:r>
            <a:r>
              <a:rPr spc="15" dirty="0"/>
              <a:t>e</a:t>
            </a:r>
            <a:r>
              <a:rPr spc="-210" dirty="0"/>
              <a:t> </a:t>
            </a:r>
            <a:r>
              <a:rPr dirty="0"/>
              <a:t>Of</a:t>
            </a:r>
            <a:r>
              <a:rPr spc="-114" dirty="0"/>
              <a:t> </a:t>
            </a:r>
            <a:r>
              <a:rPr dirty="0"/>
              <a:t>Sparse</a:t>
            </a:r>
            <a:r>
              <a:rPr spc="-250" dirty="0"/>
              <a:t> </a:t>
            </a:r>
            <a:r>
              <a:rPr spc="-10" dirty="0"/>
              <a:t>Matrix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56438" y="1927606"/>
            <a:ext cx="12670790" cy="5082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latin typeface="Times New Roman"/>
                <a:cs typeface="Times New Roman"/>
              </a:rPr>
              <a:t>How</a:t>
            </a:r>
            <a:r>
              <a:rPr sz="3200" b="1" spc="8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to</a:t>
            </a:r>
            <a:r>
              <a:rPr sz="3200" b="1" spc="9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Find</a:t>
            </a:r>
            <a:r>
              <a:rPr sz="3200" b="1" spc="10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the</a:t>
            </a:r>
            <a:r>
              <a:rPr sz="3200" b="1" spc="9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Transpose</a:t>
            </a:r>
            <a:r>
              <a:rPr sz="3200" b="1" spc="11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of</a:t>
            </a:r>
            <a:r>
              <a:rPr sz="3200" b="1" spc="9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a</a:t>
            </a:r>
            <a:r>
              <a:rPr sz="3200" b="1" spc="85" dirty="0">
                <a:latin typeface="Times New Roman"/>
                <a:cs typeface="Times New Roman"/>
              </a:rPr>
              <a:t> </a:t>
            </a:r>
            <a:r>
              <a:rPr sz="3200" b="1" spc="-10" dirty="0">
                <a:latin typeface="Times New Roman"/>
                <a:cs typeface="Times New Roman"/>
              </a:rPr>
              <a:t>Matrix?</a:t>
            </a:r>
            <a:endParaRPr sz="32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50000"/>
              </a:lnSpc>
              <a:spcBef>
                <a:spcPts val="1410"/>
              </a:spcBef>
            </a:pPr>
            <a:r>
              <a:rPr sz="3200" dirty="0">
                <a:latin typeface="Times New Roman"/>
                <a:cs typeface="Times New Roman"/>
              </a:rPr>
              <a:t>Consider</a:t>
            </a:r>
            <a:r>
              <a:rPr sz="3200" spc="1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</a:t>
            </a:r>
            <a:r>
              <a:rPr sz="3200" spc="1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example,</a:t>
            </a:r>
            <a:r>
              <a:rPr sz="3200" spc="11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if</a:t>
            </a:r>
            <a:r>
              <a:rPr sz="3200" spc="10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1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matrix</a:t>
            </a:r>
            <a:r>
              <a:rPr sz="3200" spc="11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</a:t>
            </a:r>
            <a:r>
              <a:rPr sz="3200" spc="11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1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2</a:t>
            </a:r>
            <a:r>
              <a:rPr sz="3200" dirty="0">
                <a:latin typeface="Arial MT"/>
                <a:cs typeface="Arial MT"/>
              </a:rPr>
              <a:t>×</a:t>
            </a:r>
            <a:r>
              <a:rPr sz="3200" dirty="0">
                <a:latin typeface="Times New Roman"/>
                <a:cs typeface="Times New Roman"/>
              </a:rPr>
              <a:t>3</a:t>
            </a:r>
            <a:r>
              <a:rPr sz="3200" spc="1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matrix.</a:t>
            </a:r>
            <a:r>
              <a:rPr sz="3200" spc="10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It</a:t>
            </a:r>
            <a:r>
              <a:rPr sz="3200" spc="11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means</a:t>
            </a:r>
            <a:r>
              <a:rPr sz="3200" spc="1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it</a:t>
            </a:r>
            <a:r>
              <a:rPr sz="3200" spc="1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has</a:t>
            </a:r>
            <a:r>
              <a:rPr sz="3200" spc="10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2</a:t>
            </a:r>
            <a:r>
              <a:rPr sz="3200" spc="1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rows</a:t>
            </a:r>
            <a:r>
              <a:rPr sz="3200" spc="105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and </a:t>
            </a:r>
            <a:r>
              <a:rPr sz="3200" dirty="0">
                <a:latin typeface="Times New Roman"/>
                <a:cs typeface="Times New Roman"/>
              </a:rPr>
              <a:t>3</a:t>
            </a:r>
            <a:r>
              <a:rPr sz="3200" spc="1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columns.</a:t>
            </a:r>
            <a:r>
              <a:rPr sz="3200" spc="1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While</a:t>
            </a:r>
            <a:r>
              <a:rPr sz="3200" spc="1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finding</a:t>
            </a:r>
            <a:r>
              <a:rPr sz="3200" spc="1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1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transpose</a:t>
            </a:r>
            <a:r>
              <a:rPr sz="3200" spc="1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1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1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matrix,</a:t>
            </a:r>
            <a:r>
              <a:rPr sz="3200" spc="1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1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elements</a:t>
            </a:r>
            <a:r>
              <a:rPr sz="3200" spc="1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1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16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first </a:t>
            </a:r>
            <a:r>
              <a:rPr sz="3200" dirty="0">
                <a:latin typeface="Times New Roman"/>
                <a:cs typeface="Times New Roman"/>
              </a:rPr>
              <a:t>row</a:t>
            </a:r>
            <a:r>
              <a:rPr sz="3200" spc="3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3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39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given</a:t>
            </a:r>
            <a:r>
              <a:rPr sz="3200" spc="3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matrix</a:t>
            </a:r>
            <a:r>
              <a:rPr sz="3200" spc="40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are</a:t>
            </a:r>
            <a:r>
              <a:rPr sz="3200" spc="40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written</a:t>
            </a:r>
            <a:r>
              <a:rPr sz="3200" spc="40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3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40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first</a:t>
            </a:r>
            <a:r>
              <a:rPr sz="3200" spc="39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column</a:t>
            </a:r>
            <a:r>
              <a:rPr sz="3200" spc="40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3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39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new</a:t>
            </a:r>
            <a:r>
              <a:rPr sz="3200" spc="38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matrix. </a:t>
            </a:r>
            <a:r>
              <a:rPr sz="3200" dirty="0">
                <a:latin typeface="Times New Roman"/>
                <a:cs typeface="Times New Roman"/>
              </a:rPr>
              <a:t>Similarly,</a:t>
            </a:r>
            <a:r>
              <a:rPr sz="3200" spc="2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2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elements</a:t>
            </a:r>
            <a:r>
              <a:rPr sz="3200" spc="2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2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2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second</a:t>
            </a:r>
            <a:r>
              <a:rPr sz="3200" spc="2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row</a:t>
            </a:r>
            <a:r>
              <a:rPr sz="3200" spc="2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20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2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given</a:t>
            </a:r>
            <a:r>
              <a:rPr sz="3200" spc="2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matrix</a:t>
            </a:r>
            <a:r>
              <a:rPr sz="3200" spc="2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are</a:t>
            </a:r>
            <a:r>
              <a:rPr sz="3200" spc="2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written</a:t>
            </a:r>
            <a:r>
              <a:rPr sz="3200" spc="225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in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40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second</a:t>
            </a:r>
            <a:r>
              <a:rPr sz="3200" spc="40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column</a:t>
            </a:r>
            <a:r>
              <a:rPr sz="3200" spc="4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39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409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new</a:t>
            </a:r>
            <a:r>
              <a:rPr sz="3200" spc="39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matrix.</a:t>
            </a:r>
            <a:r>
              <a:rPr sz="3200" spc="40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Hence,</a:t>
            </a:r>
            <a:r>
              <a:rPr sz="3200" spc="40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40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order</a:t>
            </a:r>
            <a:r>
              <a:rPr sz="3200" spc="40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3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40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new</a:t>
            </a:r>
            <a:r>
              <a:rPr sz="3200" spc="39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matrix </a:t>
            </a:r>
            <a:r>
              <a:rPr sz="3200" dirty="0">
                <a:latin typeface="Times New Roman"/>
                <a:cs typeface="Times New Roman"/>
              </a:rPr>
              <a:t>becomes</a:t>
            </a:r>
            <a:r>
              <a:rPr sz="3200" spc="9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3</a:t>
            </a:r>
            <a:r>
              <a:rPr sz="3200" dirty="0">
                <a:latin typeface="Arial MT"/>
                <a:cs typeface="Arial MT"/>
              </a:rPr>
              <a:t>×</a:t>
            </a:r>
            <a:r>
              <a:rPr sz="3200" dirty="0">
                <a:latin typeface="Times New Roman"/>
                <a:cs typeface="Times New Roman"/>
              </a:rPr>
              <a:t>2,</a:t>
            </a:r>
            <a:r>
              <a:rPr sz="3200" spc="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as</a:t>
            </a:r>
            <a:r>
              <a:rPr sz="3200" spc="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it</a:t>
            </a:r>
            <a:r>
              <a:rPr sz="3200" spc="9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has</a:t>
            </a:r>
            <a:r>
              <a:rPr sz="3200" spc="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3</a:t>
            </a:r>
            <a:r>
              <a:rPr sz="3200" spc="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rows</a:t>
            </a:r>
            <a:r>
              <a:rPr sz="3200" spc="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2</a:t>
            </a:r>
            <a:r>
              <a:rPr sz="3200" spc="9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columns.</a:t>
            </a:r>
            <a:endParaRPr sz="3200">
              <a:latin typeface="Times New Roman"/>
              <a:cs typeface="Times New Roman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241548" y="7130668"/>
            <a:ext cx="8747252" cy="2470531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74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92964"/>
            <a:ext cx="13004800" cy="2184400"/>
            <a:chOff x="0" y="92964"/>
            <a:chExt cx="13004800" cy="21844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92964"/>
              <a:ext cx="5708904" cy="218389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04359" y="92964"/>
              <a:ext cx="2743199" cy="218389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43015" y="92964"/>
              <a:ext cx="4283964" cy="218389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047988" y="92964"/>
              <a:ext cx="3956304" cy="2183892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16285" rIns="0" bIns="0" rtlCol="0">
            <a:spAutoFit/>
          </a:bodyPr>
          <a:lstStyle/>
          <a:p>
            <a:pPr marL="335280">
              <a:lnSpc>
                <a:spcPct val="100000"/>
              </a:lnSpc>
              <a:spcBef>
                <a:spcPts val="105"/>
              </a:spcBef>
            </a:pPr>
            <a:r>
              <a:rPr spc="-625" dirty="0"/>
              <a:t>T</a:t>
            </a:r>
            <a:r>
              <a:rPr spc="-50" dirty="0"/>
              <a:t>ransp</a:t>
            </a:r>
            <a:r>
              <a:rPr spc="-55" dirty="0"/>
              <a:t>o</a:t>
            </a:r>
            <a:r>
              <a:rPr spc="-50" dirty="0"/>
              <a:t>s</a:t>
            </a:r>
            <a:r>
              <a:rPr spc="15" dirty="0"/>
              <a:t>e</a:t>
            </a:r>
            <a:r>
              <a:rPr spc="-210" dirty="0"/>
              <a:t> </a:t>
            </a:r>
            <a:r>
              <a:rPr dirty="0"/>
              <a:t>Of</a:t>
            </a:r>
            <a:r>
              <a:rPr spc="-114" dirty="0"/>
              <a:t> </a:t>
            </a:r>
            <a:r>
              <a:rPr dirty="0"/>
              <a:t>Sparse</a:t>
            </a:r>
            <a:r>
              <a:rPr spc="-250" dirty="0"/>
              <a:t> </a:t>
            </a:r>
            <a:r>
              <a:rPr spc="-10" dirty="0"/>
              <a:t>Matrix</a:t>
            </a:r>
          </a:p>
        </p:txBody>
      </p: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30200" y="1600200"/>
            <a:ext cx="12344400" cy="7467600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75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36053" y="2387092"/>
            <a:ext cx="10555605" cy="5411470"/>
            <a:chOff x="1036053" y="2387092"/>
            <a:chExt cx="10555605" cy="54114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36053" y="2616200"/>
              <a:ext cx="10555605" cy="518236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42389" y="2926080"/>
              <a:ext cx="8561451" cy="368465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525905" y="2609596"/>
              <a:ext cx="9194800" cy="4318000"/>
            </a:xfrm>
            <a:custGeom>
              <a:avLst/>
              <a:gdLst/>
              <a:ahLst/>
              <a:cxnLst/>
              <a:rect l="l" t="t" r="r" b="b"/>
              <a:pathLst>
                <a:path w="9194800" h="4318000">
                  <a:moveTo>
                    <a:pt x="0" y="4317619"/>
                  </a:moveTo>
                  <a:lnTo>
                    <a:pt x="9194419" y="4317619"/>
                  </a:lnTo>
                  <a:lnTo>
                    <a:pt x="9194419" y="0"/>
                  </a:lnTo>
                  <a:lnTo>
                    <a:pt x="0" y="0"/>
                  </a:lnTo>
                  <a:lnTo>
                    <a:pt x="0" y="4317619"/>
                  </a:lnTo>
                  <a:close/>
                </a:path>
              </a:pathLst>
            </a:custGeom>
            <a:ln w="445008">
              <a:solidFill>
                <a:srgbClr val="49734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911352" y="1178052"/>
            <a:ext cx="11235055" cy="1152525"/>
            <a:chOff x="911352" y="1178052"/>
            <a:chExt cx="11235055" cy="1152525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11352" y="1178052"/>
              <a:ext cx="4431792" cy="115214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48199" y="1178052"/>
              <a:ext cx="3034283" cy="115214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987540" y="1178052"/>
              <a:ext cx="2988563" cy="115214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81159" y="1178052"/>
              <a:ext cx="1566672" cy="115214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219944" y="1178052"/>
              <a:ext cx="1926336" cy="1152144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84584" rIns="0" bIns="0" rtlCol="0">
            <a:spAutoFit/>
          </a:bodyPr>
          <a:lstStyle/>
          <a:p>
            <a:pPr marL="1253490">
              <a:lnSpc>
                <a:spcPct val="100000"/>
              </a:lnSpc>
              <a:spcBef>
                <a:spcPts val="95"/>
              </a:spcBef>
            </a:pPr>
            <a:r>
              <a:rPr sz="4000" b="0" spc="-35" dirty="0">
                <a:latin typeface="Constantia"/>
                <a:cs typeface="Constantia"/>
              </a:rPr>
              <a:t>Time</a:t>
            </a:r>
            <a:r>
              <a:rPr sz="4000" b="0" spc="-225" dirty="0">
                <a:latin typeface="Constantia"/>
                <a:cs typeface="Constantia"/>
              </a:rPr>
              <a:t> </a:t>
            </a:r>
            <a:r>
              <a:rPr sz="4000" b="0" spc="-45" dirty="0">
                <a:latin typeface="Constantia"/>
                <a:cs typeface="Constantia"/>
              </a:rPr>
              <a:t>complexity</a:t>
            </a:r>
            <a:r>
              <a:rPr sz="4000" b="0" spc="-235" dirty="0">
                <a:latin typeface="Constantia"/>
                <a:cs typeface="Constantia"/>
              </a:rPr>
              <a:t> </a:t>
            </a:r>
            <a:r>
              <a:rPr sz="4000" b="0" dirty="0">
                <a:latin typeface="Constantia"/>
                <a:cs typeface="Constantia"/>
              </a:rPr>
              <a:t>of</a:t>
            </a:r>
            <a:r>
              <a:rPr sz="4000" b="0" spc="-5" dirty="0">
                <a:latin typeface="Constantia"/>
                <a:cs typeface="Constantia"/>
              </a:rPr>
              <a:t> </a:t>
            </a:r>
            <a:r>
              <a:rPr sz="4000" b="0" dirty="0">
                <a:latin typeface="Constantia"/>
                <a:cs typeface="Constantia"/>
              </a:rPr>
              <a:t>manual</a:t>
            </a:r>
            <a:r>
              <a:rPr sz="4000" b="0" spc="-60" dirty="0">
                <a:latin typeface="Constantia"/>
                <a:cs typeface="Constantia"/>
              </a:rPr>
              <a:t> </a:t>
            </a:r>
            <a:r>
              <a:rPr sz="4000" b="0" spc="-25" dirty="0">
                <a:latin typeface="Constantia"/>
                <a:cs typeface="Constantia"/>
              </a:rPr>
              <a:t>technique</a:t>
            </a:r>
            <a:r>
              <a:rPr sz="4000" b="0" spc="-175" dirty="0">
                <a:latin typeface="Constantia"/>
                <a:cs typeface="Constantia"/>
              </a:rPr>
              <a:t> </a:t>
            </a:r>
            <a:r>
              <a:rPr sz="4000" b="0" dirty="0">
                <a:latin typeface="Constantia"/>
                <a:cs typeface="Constantia"/>
              </a:rPr>
              <a:t>is</a:t>
            </a:r>
            <a:r>
              <a:rPr sz="4000" b="0" spc="-110" dirty="0">
                <a:latin typeface="Constantia"/>
                <a:cs typeface="Constantia"/>
              </a:rPr>
              <a:t> </a:t>
            </a:r>
            <a:r>
              <a:rPr sz="4000" b="0" dirty="0">
                <a:latin typeface="Constantia"/>
                <a:cs typeface="Constantia"/>
              </a:rPr>
              <a:t>O</a:t>
            </a:r>
            <a:r>
              <a:rPr sz="4000" b="0" spc="-480" dirty="0">
                <a:latin typeface="Constantia"/>
                <a:cs typeface="Constantia"/>
              </a:rPr>
              <a:t> </a:t>
            </a:r>
            <a:r>
              <a:rPr sz="4000" b="0" spc="-10" dirty="0">
                <a:latin typeface="Constantia"/>
                <a:cs typeface="Constantia"/>
              </a:rPr>
              <a:t>(mn).</a:t>
            </a:r>
            <a:endParaRPr sz="4000">
              <a:latin typeface="Constantia"/>
              <a:cs typeface="Constanti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76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70103"/>
            <a:ext cx="13004800" cy="2490470"/>
            <a:chOff x="0" y="70103"/>
            <a:chExt cx="13004800" cy="24904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70103"/>
              <a:ext cx="8161020" cy="249021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34200" y="70103"/>
              <a:ext cx="6070092" cy="2490216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0560" rIns="0" bIns="0" rtlCol="0">
            <a:spAutoFit/>
          </a:bodyPr>
          <a:lstStyle/>
          <a:p>
            <a:pPr marL="451484">
              <a:lnSpc>
                <a:spcPct val="100000"/>
              </a:lnSpc>
              <a:spcBef>
                <a:spcPts val="95"/>
              </a:spcBef>
            </a:pPr>
            <a:r>
              <a:rPr sz="8800" dirty="0"/>
              <a:t>Sparse</a:t>
            </a:r>
            <a:r>
              <a:rPr sz="8800" spc="-315" dirty="0"/>
              <a:t> </a:t>
            </a:r>
            <a:r>
              <a:rPr sz="8800" dirty="0"/>
              <a:t>matrix</a:t>
            </a:r>
            <a:r>
              <a:rPr sz="8800" spc="-430" dirty="0"/>
              <a:t> </a:t>
            </a:r>
            <a:r>
              <a:rPr sz="8800" spc="-10" dirty="0"/>
              <a:t>transpose</a:t>
            </a:r>
            <a:endParaRPr sz="8800"/>
          </a:p>
        </p:txBody>
      </p:sp>
      <p:grpSp>
        <p:nvGrpSpPr>
          <p:cNvPr id="6" name="object 6"/>
          <p:cNvGrpSpPr/>
          <p:nvPr/>
        </p:nvGrpSpPr>
        <p:grpSpPr>
          <a:xfrm>
            <a:off x="602551" y="3037332"/>
            <a:ext cx="11964670" cy="5520055"/>
            <a:chOff x="602551" y="3037332"/>
            <a:chExt cx="11964670" cy="5520055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2551" y="3277260"/>
              <a:ext cx="11964416" cy="527989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08811" y="3576320"/>
              <a:ext cx="9970389" cy="379310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092403" y="3259836"/>
              <a:ext cx="10603230" cy="4425950"/>
            </a:xfrm>
            <a:custGeom>
              <a:avLst/>
              <a:gdLst/>
              <a:ahLst/>
              <a:cxnLst/>
              <a:rect l="l" t="t" r="r" b="b"/>
              <a:pathLst>
                <a:path w="10603230" h="4425950">
                  <a:moveTo>
                    <a:pt x="0" y="4425950"/>
                  </a:moveTo>
                  <a:lnTo>
                    <a:pt x="10603230" y="4425950"/>
                  </a:lnTo>
                  <a:lnTo>
                    <a:pt x="10603230" y="0"/>
                  </a:lnTo>
                  <a:lnTo>
                    <a:pt x="0" y="0"/>
                  </a:lnTo>
                  <a:lnTo>
                    <a:pt x="0" y="4425950"/>
                  </a:lnTo>
                  <a:close/>
                </a:path>
              </a:pathLst>
            </a:custGeom>
            <a:ln w="445008">
              <a:solidFill>
                <a:srgbClr val="49734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77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4560" y="3239223"/>
            <a:ext cx="11717655" cy="3302635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436880" indent="-398780">
              <a:lnSpc>
                <a:spcPct val="100000"/>
              </a:lnSpc>
              <a:spcBef>
                <a:spcPts val="1000"/>
              </a:spcBef>
              <a:buClr>
                <a:srgbClr val="E0E1DC"/>
              </a:buClr>
              <a:buSzPct val="90540"/>
              <a:buFont typeface="Wingdings"/>
              <a:buChar char=""/>
              <a:tabLst>
                <a:tab pos="436880" algn="l"/>
              </a:tabLst>
            </a:pPr>
            <a:r>
              <a:rPr sz="3700" i="1" dirty="0">
                <a:latin typeface="Constantia"/>
                <a:cs typeface="Constantia"/>
              </a:rPr>
              <a:t>Time</a:t>
            </a:r>
            <a:r>
              <a:rPr sz="3700" i="1" spc="-25" dirty="0">
                <a:latin typeface="Constantia"/>
                <a:cs typeface="Constantia"/>
              </a:rPr>
              <a:t> </a:t>
            </a:r>
            <a:r>
              <a:rPr sz="3700" i="1" spc="-10" dirty="0">
                <a:latin typeface="Constantia"/>
                <a:cs typeface="Constantia"/>
              </a:rPr>
              <a:t>complexity</a:t>
            </a:r>
            <a:r>
              <a:rPr sz="3700" i="1" spc="-75" dirty="0">
                <a:latin typeface="Constantia"/>
                <a:cs typeface="Constantia"/>
              </a:rPr>
              <a:t> </a:t>
            </a:r>
            <a:r>
              <a:rPr sz="3700" i="1" dirty="0">
                <a:latin typeface="Constantia"/>
                <a:cs typeface="Constantia"/>
              </a:rPr>
              <a:t>will</a:t>
            </a:r>
            <a:r>
              <a:rPr sz="3700" i="1" spc="50" dirty="0">
                <a:latin typeface="Constantia"/>
                <a:cs typeface="Constantia"/>
              </a:rPr>
              <a:t> </a:t>
            </a:r>
            <a:r>
              <a:rPr sz="3700" i="1" dirty="0">
                <a:latin typeface="Constantia"/>
                <a:cs typeface="Constantia"/>
              </a:rPr>
              <a:t>be</a:t>
            </a:r>
            <a:r>
              <a:rPr sz="3700" i="1" spc="-55" dirty="0">
                <a:latin typeface="Constantia"/>
                <a:cs typeface="Constantia"/>
              </a:rPr>
              <a:t> </a:t>
            </a:r>
            <a:r>
              <a:rPr sz="3700" i="1" dirty="0">
                <a:latin typeface="Constantia"/>
                <a:cs typeface="Constantia"/>
              </a:rPr>
              <a:t>O</a:t>
            </a:r>
            <a:r>
              <a:rPr sz="3700" i="1" spc="20" dirty="0">
                <a:latin typeface="Constantia"/>
                <a:cs typeface="Constantia"/>
              </a:rPr>
              <a:t> </a:t>
            </a:r>
            <a:r>
              <a:rPr sz="3700" i="1" spc="70" dirty="0">
                <a:latin typeface="Constantia"/>
                <a:cs typeface="Constantia"/>
              </a:rPr>
              <a:t>(n</a:t>
            </a:r>
            <a:r>
              <a:rPr sz="3700" b="1" i="1" spc="70" dirty="0">
                <a:latin typeface="Constantia"/>
                <a:cs typeface="Constantia"/>
              </a:rPr>
              <a:t>.</a:t>
            </a:r>
            <a:r>
              <a:rPr sz="3700" b="1" i="1" spc="15" dirty="0">
                <a:latin typeface="Constantia"/>
                <a:cs typeface="Constantia"/>
              </a:rPr>
              <a:t> </a:t>
            </a:r>
            <a:r>
              <a:rPr sz="3700" b="1" i="1" spc="-35" dirty="0">
                <a:latin typeface="Constantia"/>
                <a:cs typeface="Constantia"/>
              </a:rPr>
              <a:t>T)</a:t>
            </a:r>
            <a:endParaRPr sz="3700">
              <a:latin typeface="Constantia"/>
              <a:cs typeface="Constantia"/>
            </a:endParaRPr>
          </a:p>
          <a:p>
            <a:pPr marL="2752090">
              <a:lnSpc>
                <a:spcPct val="100000"/>
              </a:lnSpc>
              <a:spcBef>
                <a:spcPts val="900"/>
              </a:spcBef>
            </a:pPr>
            <a:r>
              <a:rPr sz="3700" b="1" i="1" dirty="0">
                <a:latin typeface="Constantia"/>
                <a:cs typeface="Constantia"/>
              </a:rPr>
              <a:t>=</a:t>
            </a:r>
            <a:r>
              <a:rPr sz="3700" b="1" i="1" spc="20" dirty="0">
                <a:latin typeface="Constantia"/>
                <a:cs typeface="Constantia"/>
              </a:rPr>
              <a:t> </a:t>
            </a:r>
            <a:r>
              <a:rPr sz="3700" b="1" i="1" dirty="0">
                <a:latin typeface="Constantia"/>
                <a:cs typeface="Constantia"/>
              </a:rPr>
              <a:t>O</a:t>
            </a:r>
            <a:r>
              <a:rPr sz="3700" b="1" i="1" spc="45" dirty="0">
                <a:latin typeface="Constantia"/>
                <a:cs typeface="Constantia"/>
              </a:rPr>
              <a:t> </a:t>
            </a:r>
            <a:r>
              <a:rPr sz="3700" b="1" i="1" dirty="0">
                <a:latin typeface="Constantia"/>
                <a:cs typeface="Constantia"/>
              </a:rPr>
              <a:t>(n</a:t>
            </a:r>
            <a:r>
              <a:rPr sz="3700" b="1" i="1" spc="45" dirty="0">
                <a:latin typeface="Constantia"/>
                <a:cs typeface="Constantia"/>
              </a:rPr>
              <a:t> </a:t>
            </a:r>
            <a:r>
              <a:rPr sz="3700" b="1" i="1" dirty="0">
                <a:latin typeface="Constantia"/>
                <a:cs typeface="Constantia"/>
              </a:rPr>
              <a:t>.</a:t>
            </a:r>
            <a:r>
              <a:rPr sz="3700" b="1" i="1" spc="-35" dirty="0">
                <a:latin typeface="Constantia"/>
                <a:cs typeface="Constantia"/>
              </a:rPr>
              <a:t> </a:t>
            </a:r>
            <a:r>
              <a:rPr sz="3700" b="1" i="1" spc="-25" dirty="0">
                <a:latin typeface="Constantia"/>
                <a:cs typeface="Constantia"/>
              </a:rPr>
              <a:t>mn)</a:t>
            </a:r>
            <a:endParaRPr sz="3700">
              <a:latin typeface="Constantia"/>
              <a:cs typeface="Constantia"/>
            </a:endParaRPr>
          </a:p>
          <a:p>
            <a:pPr marL="2752090">
              <a:lnSpc>
                <a:spcPct val="100000"/>
              </a:lnSpc>
              <a:spcBef>
                <a:spcPts val="900"/>
              </a:spcBef>
            </a:pPr>
            <a:r>
              <a:rPr sz="3700" b="1" i="1" dirty="0">
                <a:latin typeface="Constantia"/>
                <a:cs typeface="Constantia"/>
              </a:rPr>
              <a:t>=</a:t>
            </a:r>
            <a:r>
              <a:rPr sz="3700" b="1" i="1" spc="20" dirty="0">
                <a:latin typeface="Constantia"/>
                <a:cs typeface="Constantia"/>
              </a:rPr>
              <a:t> </a:t>
            </a:r>
            <a:r>
              <a:rPr sz="3700" b="1" i="1" dirty="0">
                <a:latin typeface="Constantia"/>
                <a:cs typeface="Constantia"/>
              </a:rPr>
              <a:t>O</a:t>
            </a:r>
            <a:r>
              <a:rPr sz="3700" b="1" i="1" spc="15" dirty="0">
                <a:latin typeface="Constantia"/>
                <a:cs typeface="Constantia"/>
              </a:rPr>
              <a:t> </a:t>
            </a:r>
            <a:r>
              <a:rPr sz="3700" b="1" i="1" spc="-10" dirty="0">
                <a:latin typeface="Constantia"/>
                <a:cs typeface="Constantia"/>
              </a:rPr>
              <a:t>(mn</a:t>
            </a:r>
            <a:r>
              <a:rPr sz="5100" i="1" spc="-15" baseline="20424" dirty="0">
                <a:latin typeface="Constantia"/>
                <a:cs typeface="Constantia"/>
              </a:rPr>
              <a:t>2</a:t>
            </a:r>
            <a:r>
              <a:rPr sz="3700" b="1" i="1" spc="-10" dirty="0">
                <a:latin typeface="Constantia"/>
                <a:cs typeface="Constantia"/>
              </a:rPr>
              <a:t>)</a:t>
            </a:r>
            <a:endParaRPr sz="3700">
              <a:latin typeface="Constantia"/>
              <a:cs typeface="Constantia"/>
            </a:endParaRPr>
          </a:p>
          <a:p>
            <a:pPr marL="427990" marR="30480" indent="-390525">
              <a:lnSpc>
                <a:spcPct val="100000"/>
              </a:lnSpc>
              <a:spcBef>
                <a:spcPts val="905"/>
              </a:spcBef>
            </a:pPr>
            <a:r>
              <a:rPr sz="3700" b="1" i="1" dirty="0">
                <a:latin typeface="Constantia"/>
                <a:cs typeface="Constantia"/>
              </a:rPr>
              <a:t>which</a:t>
            </a:r>
            <a:r>
              <a:rPr sz="3700" b="1" i="1" spc="-110" dirty="0">
                <a:latin typeface="Constantia"/>
                <a:cs typeface="Constantia"/>
              </a:rPr>
              <a:t> </a:t>
            </a:r>
            <a:r>
              <a:rPr sz="3700" b="1" i="1" dirty="0">
                <a:latin typeface="Constantia"/>
                <a:cs typeface="Constantia"/>
              </a:rPr>
              <a:t>is</a:t>
            </a:r>
            <a:r>
              <a:rPr sz="3700" b="1" i="1" spc="-120" dirty="0">
                <a:latin typeface="Constantia"/>
                <a:cs typeface="Constantia"/>
              </a:rPr>
              <a:t> </a:t>
            </a:r>
            <a:r>
              <a:rPr sz="3700" b="1" i="1" spc="-30" dirty="0">
                <a:latin typeface="Constantia"/>
                <a:cs typeface="Constantia"/>
              </a:rPr>
              <a:t>worst</a:t>
            </a:r>
            <a:r>
              <a:rPr sz="3700" b="1" i="1" spc="-185" dirty="0">
                <a:latin typeface="Constantia"/>
                <a:cs typeface="Constantia"/>
              </a:rPr>
              <a:t> </a:t>
            </a:r>
            <a:r>
              <a:rPr sz="3700" b="1" i="1" dirty="0">
                <a:latin typeface="Constantia"/>
                <a:cs typeface="Constantia"/>
              </a:rPr>
              <a:t>than</a:t>
            </a:r>
            <a:r>
              <a:rPr sz="3700" b="1" i="1" spc="-25" dirty="0">
                <a:latin typeface="Constantia"/>
                <a:cs typeface="Constantia"/>
              </a:rPr>
              <a:t> </a:t>
            </a:r>
            <a:r>
              <a:rPr sz="3700" i="1" spc="-20" dirty="0">
                <a:latin typeface="Constantia"/>
                <a:cs typeface="Constantia"/>
              </a:rPr>
              <a:t>the</a:t>
            </a:r>
            <a:r>
              <a:rPr sz="3700" i="1" spc="-200" dirty="0">
                <a:latin typeface="Constantia"/>
                <a:cs typeface="Constantia"/>
              </a:rPr>
              <a:t> </a:t>
            </a:r>
            <a:r>
              <a:rPr sz="3700" i="1" spc="-30" dirty="0">
                <a:latin typeface="Constantia"/>
                <a:cs typeface="Constantia"/>
              </a:rPr>
              <a:t>conventional</a:t>
            </a:r>
            <a:r>
              <a:rPr sz="3700" i="1" spc="-100" dirty="0">
                <a:latin typeface="Constantia"/>
                <a:cs typeface="Constantia"/>
              </a:rPr>
              <a:t> </a:t>
            </a:r>
            <a:r>
              <a:rPr sz="3700" i="1" spc="-35" dirty="0">
                <a:latin typeface="Constantia"/>
                <a:cs typeface="Constantia"/>
              </a:rPr>
              <a:t>transpose</a:t>
            </a:r>
            <a:r>
              <a:rPr sz="3700" i="1" spc="-235" dirty="0">
                <a:latin typeface="Constantia"/>
                <a:cs typeface="Constantia"/>
              </a:rPr>
              <a:t> </a:t>
            </a:r>
            <a:r>
              <a:rPr sz="3700" i="1" dirty="0">
                <a:latin typeface="Constantia"/>
                <a:cs typeface="Constantia"/>
              </a:rPr>
              <a:t>with</a:t>
            </a:r>
            <a:r>
              <a:rPr sz="3700" i="1" spc="-75" dirty="0">
                <a:latin typeface="Constantia"/>
                <a:cs typeface="Constantia"/>
              </a:rPr>
              <a:t> </a:t>
            </a:r>
            <a:r>
              <a:rPr sz="3700" i="1" spc="-20" dirty="0">
                <a:latin typeface="Constantia"/>
                <a:cs typeface="Constantia"/>
              </a:rPr>
              <a:t>time </a:t>
            </a:r>
            <a:r>
              <a:rPr sz="3700" i="1" spc="-10" dirty="0">
                <a:latin typeface="Constantia"/>
                <a:cs typeface="Constantia"/>
              </a:rPr>
              <a:t>complexity</a:t>
            </a:r>
            <a:r>
              <a:rPr sz="3700" i="1" spc="-135" dirty="0">
                <a:latin typeface="Constantia"/>
                <a:cs typeface="Constantia"/>
              </a:rPr>
              <a:t> </a:t>
            </a:r>
            <a:r>
              <a:rPr sz="3700" i="1" dirty="0">
                <a:latin typeface="Constantia"/>
                <a:cs typeface="Constantia"/>
              </a:rPr>
              <a:t>O</a:t>
            </a:r>
            <a:r>
              <a:rPr sz="3700" i="1" spc="-210" dirty="0">
                <a:latin typeface="Constantia"/>
                <a:cs typeface="Constantia"/>
              </a:rPr>
              <a:t> </a:t>
            </a:r>
            <a:r>
              <a:rPr sz="3700" i="1" spc="-20" dirty="0">
                <a:latin typeface="Constantia"/>
                <a:cs typeface="Constantia"/>
              </a:rPr>
              <a:t>(mn)</a:t>
            </a:r>
            <a:endParaRPr sz="3700">
              <a:latin typeface="Constantia"/>
              <a:cs typeface="Constanti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719328"/>
            <a:ext cx="13004800" cy="1935480"/>
            <a:chOff x="0" y="719328"/>
            <a:chExt cx="13004800" cy="193548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719328"/>
              <a:ext cx="9262871" cy="193548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18931" y="719328"/>
              <a:ext cx="4785359" cy="193548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18570" rIns="0" bIns="0" rtlCol="0">
            <a:spAutoFit/>
          </a:bodyPr>
          <a:lstStyle/>
          <a:p>
            <a:pPr marL="108585">
              <a:lnSpc>
                <a:spcPct val="100000"/>
              </a:lnSpc>
              <a:spcBef>
                <a:spcPts val="100"/>
              </a:spcBef>
            </a:pPr>
            <a:r>
              <a:rPr sz="6800" dirty="0">
                <a:latin typeface="Constantia"/>
                <a:cs typeface="Constantia"/>
              </a:rPr>
              <a:t>Simple</a:t>
            </a:r>
            <a:r>
              <a:rPr sz="6800" spc="-310" dirty="0">
                <a:latin typeface="Constantia"/>
                <a:cs typeface="Constantia"/>
              </a:rPr>
              <a:t> </a:t>
            </a:r>
            <a:r>
              <a:rPr sz="6800" dirty="0">
                <a:latin typeface="Constantia"/>
                <a:cs typeface="Constantia"/>
              </a:rPr>
              <a:t>Sparse</a:t>
            </a:r>
            <a:r>
              <a:rPr sz="6800" spc="-265" dirty="0">
                <a:latin typeface="Constantia"/>
                <a:cs typeface="Constantia"/>
              </a:rPr>
              <a:t> </a:t>
            </a:r>
            <a:r>
              <a:rPr sz="6800" spc="-10" dirty="0">
                <a:latin typeface="Constantia"/>
                <a:cs typeface="Constantia"/>
              </a:rPr>
              <a:t>matrix</a:t>
            </a:r>
            <a:r>
              <a:rPr sz="6800" spc="-875" dirty="0">
                <a:latin typeface="Constantia"/>
                <a:cs typeface="Constantia"/>
              </a:rPr>
              <a:t> </a:t>
            </a:r>
            <a:r>
              <a:rPr sz="6800" spc="-10" dirty="0">
                <a:latin typeface="Constantia"/>
                <a:cs typeface="Constantia"/>
              </a:rPr>
              <a:t>transpose</a:t>
            </a:r>
            <a:endParaRPr sz="6800">
              <a:latin typeface="Constantia"/>
              <a:cs typeface="Constanti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78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" y="0"/>
            <a:ext cx="13004290" cy="162458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14655" y="103123"/>
            <a:ext cx="1251204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20" dirty="0">
                <a:latin typeface="Constantia"/>
                <a:cs typeface="Constantia"/>
              </a:rPr>
              <a:t>Python</a:t>
            </a:r>
            <a:r>
              <a:rPr sz="6000" spc="-310" dirty="0">
                <a:latin typeface="Constantia"/>
                <a:cs typeface="Constantia"/>
              </a:rPr>
              <a:t> </a:t>
            </a:r>
            <a:r>
              <a:rPr sz="6000" spc="-30" dirty="0">
                <a:latin typeface="Constantia"/>
                <a:cs typeface="Constantia"/>
              </a:rPr>
              <a:t>code</a:t>
            </a:r>
            <a:r>
              <a:rPr sz="6000" spc="-260" dirty="0">
                <a:latin typeface="Constantia"/>
                <a:cs typeface="Constantia"/>
              </a:rPr>
              <a:t> </a:t>
            </a:r>
            <a:r>
              <a:rPr sz="6000" dirty="0">
                <a:latin typeface="Constantia"/>
                <a:cs typeface="Constantia"/>
              </a:rPr>
              <a:t>to</a:t>
            </a:r>
            <a:r>
              <a:rPr sz="6000" spc="-265" dirty="0">
                <a:latin typeface="Constantia"/>
                <a:cs typeface="Constantia"/>
              </a:rPr>
              <a:t> </a:t>
            </a:r>
            <a:r>
              <a:rPr sz="6000" spc="-25" dirty="0">
                <a:latin typeface="Constantia"/>
                <a:cs typeface="Constantia"/>
              </a:rPr>
              <a:t>transpose</a:t>
            </a:r>
            <a:r>
              <a:rPr sz="6000" spc="-335" dirty="0">
                <a:latin typeface="Constantia"/>
                <a:cs typeface="Constantia"/>
              </a:rPr>
              <a:t> </a:t>
            </a:r>
            <a:r>
              <a:rPr sz="6000" dirty="0">
                <a:latin typeface="Constantia"/>
                <a:cs typeface="Constantia"/>
              </a:rPr>
              <a:t>of</a:t>
            </a:r>
            <a:r>
              <a:rPr sz="6000" spc="30" dirty="0">
                <a:latin typeface="Constantia"/>
                <a:cs typeface="Constantia"/>
              </a:rPr>
              <a:t> </a:t>
            </a:r>
            <a:r>
              <a:rPr sz="6000" spc="-10" dirty="0">
                <a:latin typeface="Constantia"/>
                <a:cs typeface="Constantia"/>
              </a:rPr>
              <a:t>matrix</a:t>
            </a:r>
            <a:endParaRPr sz="6000">
              <a:latin typeface="Constantia"/>
              <a:cs typeface="Constant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178030" y="9154464"/>
            <a:ext cx="2724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i="1" spc="-85" dirty="0">
                <a:solidFill>
                  <a:srgbClr val="585858"/>
                </a:solidFill>
                <a:latin typeface="Verdana"/>
                <a:cs typeface="Verdana"/>
              </a:rPr>
              <a:t>79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739" y="908964"/>
            <a:ext cx="8100695" cy="7892415"/>
          </a:xfrm>
          <a:prstGeom prst="rect">
            <a:avLst/>
          </a:prstGeom>
        </p:spPr>
        <p:txBody>
          <a:bodyPr vert="horz" wrap="square" lIns="0" tIns="1911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5"/>
              </a:spcBef>
            </a:pPr>
            <a:r>
              <a:rPr sz="2800" b="1" dirty="0">
                <a:latin typeface="Times New Roman"/>
                <a:cs typeface="Times New Roman"/>
              </a:rPr>
              <a:t>#</a:t>
            </a:r>
            <a:r>
              <a:rPr sz="2800" b="1" spc="8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Program</a:t>
            </a:r>
            <a:r>
              <a:rPr sz="2800" b="1" spc="10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to</a:t>
            </a:r>
            <a:r>
              <a:rPr sz="2800" b="1" spc="9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transpose</a:t>
            </a:r>
            <a:r>
              <a:rPr sz="2800" b="1" spc="10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a</a:t>
            </a:r>
            <a:r>
              <a:rPr sz="2800" b="1" spc="7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matrix</a:t>
            </a:r>
            <a:r>
              <a:rPr sz="2800" b="1" spc="11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using</a:t>
            </a:r>
            <a:r>
              <a:rPr sz="2800" b="1" spc="9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a</a:t>
            </a:r>
            <a:r>
              <a:rPr sz="2800" b="1" spc="7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nested</a:t>
            </a:r>
            <a:r>
              <a:rPr sz="2800" b="1" spc="114" dirty="0">
                <a:latin typeface="Times New Roman"/>
                <a:cs typeface="Times New Roman"/>
              </a:rPr>
              <a:t> </a:t>
            </a:r>
            <a:r>
              <a:rPr sz="2800" b="1" spc="-20" dirty="0">
                <a:latin typeface="Times New Roman"/>
                <a:cs typeface="Times New Roman"/>
              </a:rPr>
              <a:t>loop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00"/>
              </a:spcBef>
            </a:pPr>
            <a:r>
              <a:rPr sz="2800" dirty="0">
                <a:latin typeface="Times New Roman"/>
                <a:cs typeface="Times New Roman"/>
              </a:rPr>
              <a:t>X</a:t>
            </a:r>
            <a:r>
              <a:rPr sz="2800" spc="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=</a:t>
            </a:r>
            <a:r>
              <a:rPr sz="2800" spc="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[[12,7],</a:t>
            </a:r>
            <a:endParaRPr sz="2800">
              <a:latin typeface="Times New Roman"/>
              <a:cs typeface="Times New Roman"/>
            </a:endParaRPr>
          </a:p>
          <a:p>
            <a:pPr marL="382905">
              <a:lnSpc>
                <a:spcPct val="100000"/>
              </a:lnSpc>
              <a:spcBef>
                <a:spcPts val="1410"/>
              </a:spcBef>
            </a:pPr>
            <a:r>
              <a:rPr sz="2800" dirty="0">
                <a:latin typeface="Times New Roman"/>
                <a:cs typeface="Times New Roman"/>
              </a:rPr>
              <a:t>[4</a:t>
            </a:r>
            <a:r>
              <a:rPr sz="2800" spc="5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,5],</a:t>
            </a:r>
            <a:endParaRPr sz="2800">
              <a:latin typeface="Times New Roman"/>
              <a:cs typeface="Times New Roman"/>
            </a:endParaRPr>
          </a:p>
          <a:p>
            <a:pPr marL="382905">
              <a:lnSpc>
                <a:spcPct val="100000"/>
              </a:lnSpc>
              <a:spcBef>
                <a:spcPts val="1390"/>
              </a:spcBef>
            </a:pPr>
            <a:r>
              <a:rPr sz="2800" dirty="0">
                <a:latin typeface="Times New Roman"/>
                <a:cs typeface="Times New Roman"/>
              </a:rPr>
              <a:t>[3</a:t>
            </a:r>
            <a:r>
              <a:rPr sz="2800" spc="5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,8]]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930"/>
              </a:spcBef>
            </a:pPr>
            <a:r>
              <a:rPr sz="2800" dirty="0">
                <a:latin typeface="Times New Roman"/>
                <a:cs typeface="Times New Roman"/>
              </a:rPr>
              <a:t>result</a:t>
            </a:r>
            <a:r>
              <a:rPr sz="2800" spc="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=</a:t>
            </a:r>
            <a:r>
              <a:rPr sz="2800" spc="10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[[0,0,0],</a:t>
            </a:r>
            <a:endParaRPr sz="2800">
              <a:latin typeface="Times New Roman"/>
              <a:cs typeface="Times New Roman"/>
            </a:endParaRPr>
          </a:p>
          <a:p>
            <a:pPr marL="844550">
              <a:lnSpc>
                <a:spcPct val="100000"/>
              </a:lnSpc>
              <a:spcBef>
                <a:spcPts val="1395"/>
              </a:spcBef>
            </a:pPr>
            <a:r>
              <a:rPr sz="2800" spc="-10" dirty="0">
                <a:latin typeface="Times New Roman"/>
                <a:cs typeface="Times New Roman"/>
              </a:rPr>
              <a:t>[0,0,0]]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165"/>
              </a:spcBef>
            </a:pPr>
            <a:r>
              <a:rPr sz="2800" b="1" dirty="0">
                <a:latin typeface="Times New Roman"/>
                <a:cs typeface="Times New Roman"/>
              </a:rPr>
              <a:t>#</a:t>
            </a:r>
            <a:r>
              <a:rPr sz="2800" b="1" spc="10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iterate</a:t>
            </a:r>
            <a:r>
              <a:rPr sz="2800" b="1" spc="11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through</a:t>
            </a:r>
            <a:r>
              <a:rPr sz="2800" b="1" spc="125" dirty="0">
                <a:latin typeface="Times New Roman"/>
                <a:cs typeface="Times New Roman"/>
              </a:rPr>
              <a:t> </a:t>
            </a:r>
            <a:r>
              <a:rPr sz="2800" b="1" spc="-20" dirty="0">
                <a:latin typeface="Times New Roman"/>
                <a:cs typeface="Times New Roman"/>
              </a:rPr>
              <a:t>rows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</a:t>
            </a:r>
            <a:r>
              <a:rPr sz="2800" spc="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6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range(len(X)):</a:t>
            </a:r>
            <a:endParaRPr sz="2800">
              <a:latin typeface="Times New Roman"/>
              <a:cs typeface="Times New Roman"/>
            </a:endParaRPr>
          </a:p>
          <a:p>
            <a:pPr marL="289560">
              <a:lnSpc>
                <a:spcPct val="100000"/>
              </a:lnSpc>
              <a:spcBef>
                <a:spcPts val="1405"/>
              </a:spcBef>
            </a:pPr>
            <a:r>
              <a:rPr sz="2800" b="1" dirty="0">
                <a:latin typeface="Times New Roman"/>
                <a:cs typeface="Times New Roman"/>
              </a:rPr>
              <a:t>#</a:t>
            </a:r>
            <a:r>
              <a:rPr sz="2800" b="1" spc="9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iterate</a:t>
            </a:r>
            <a:r>
              <a:rPr sz="2800" b="1" spc="10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through</a:t>
            </a:r>
            <a:r>
              <a:rPr sz="2800" b="1" spc="114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columns</a:t>
            </a:r>
            <a:endParaRPr sz="2800">
              <a:latin typeface="Times New Roman"/>
              <a:cs typeface="Times New Roman"/>
            </a:endParaRPr>
          </a:p>
          <a:p>
            <a:pPr marL="289560">
              <a:lnSpc>
                <a:spcPct val="100000"/>
              </a:lnSpc>
              <a:spcBef>
                <a:spcPts val="1405"/>
              </a:spcBef>
            </a:pP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j</a:t>
            </a:r>
            <a:r>
              <a:rPr sz="2800" spc="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6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range(len(X[0])):</a:t>
            </a:r>
            <a:endParaRPr sz="2800">
              <a:latin typeface="Times New Roman"/>
              <a:cs typeface="Times New Roman"/>
            </a:endParaRPr>
          </a:p>
          <a:p>
            <a:pPr marL="660400">
              <a:lnSpc>
                <a:spcPct val="100000"/>
              </a:lnSpc>
              <a:spcBef>
                <a:spcPts val="1390"/>
              </a:spcBef>
            </a:pPr>
            <a:r>
              <a:rPr sz="2800" dirty="0">
                <a:latin typeface="Times New Roman"/>
                <a:cs typeface="Times New Roman"/>
              </a:rPr>
              <a:t>result[j][i]</a:t>
            </a:r>
            <a:r>
              <a:rPr sz="2800" spc="2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=</a:t>
            </a:r>
            <a:r>
              <a:rPr sz="2800" spc="1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X[i][j]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930"/>
              </a:spcBef>
            </a:pP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</a:t>
            </a:r>
            <a:r>
              <a:rPr sz="2800" spc="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5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result: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6108" y="8952992"/>
            <a:ext cx="10744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Times New Roman"/>
                <a:cs typeface="Times New Roman"/>
              </a:rPr>
              <a:t>print(r)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70760" y="0"/>
            <a:ext cx="8602980" cy="162458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771648" y="103123"/>
            <a:ext cx="760222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50" dirty="0">
                <a:latin typeface="Constantia"/>
                <a:cs typeface="Constantia"/>
              </a:rPr>
              <a:t>Advantages</a:t>
            </a:r>
            <a:r>
              <a:rPr sz="6000" spc="-270" dirty="0">
                <a:latin typeface="Constantia"/>
                <a:cs typeface="Constantia"/>
              </a:rPr>
              <a:t> </a:t>
            </a:r>
            <a:r>
              <a:rPr sz="6000" dirty="0">
                <a:latin typeface="Constantia"/>
                <a:cs typeface="Constantia"/>
              </a:rPr>
              <a:t>of</a:t>
            </a:r>
            <a:r>
              <a:rPr sz="6000" spc="105" dirty="0">
                <a:latin typeface="Constantia"/>
                <a:cs typeface="Constantia"/>
              </a:rPr>
              <a:t> </a:t>
            </a:r>
            <a:r>
              <a:rPr sz="6000" spc="-10" dirty="0">
                <a:latin typeface="Constantia"/>
                <a:cs typeface="Constantia"/>
              </a:rPr>
              <a:t>matrix</a:t>
            </a:r>
            <a:endParaRPr sz="6000">
              <a:latin typeface="Constantia"/>
              <a:cs typeface="Constanti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80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78739" y="904392"/>
            <a:ext cx="12709525" cy="6936740"/>
          </a:xfrm>
          <a:prstGeom prst="rect">
            <a:avLst/>
          </a:prstGeom>
        </p:spPr>
        <p:txBody>
          <a:bodyPr vert="horz" wrap="square" lIns="0" tIns="191135" rIns="0" bIns="0" rtlCol="0">
            <a:spAutoFit/>
          </a:bodyPr>
          <a:lstStyle/>
          <a:p>
            <a:pPr marL="527050" indent="-514350">
              <a:lnSpc>
                <a:spcPct val="100000"/>
              </a:lnSpc>
              <a:spcBef>
                <a:spcPts val="1505"/>
              </a:spcBef>
              <a:buAutoNum type="arabicPeriod"/>
              <a:tabLst>
                <a:tab pos="527050" algn="l"/>
              </a:tabLst>
            </a:pPr>
            <a:r>
              <a:rPr sz="4000" dirty="0">
                <a:latin typeface="Times New Roman"/>
                <a:cs typeface="Times New Roman"/>
              </a:rPr>
              <a:t>It</a:t>
            </a:r>
            <a:r>
              <a:rPr sz="4000" spc="4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helps</a:t>
            </a:r>
            <a:r>
              <a:rPr sz="4000" spc="5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in</a:t>
            </a:r>
            <a:r>
              <a:rPr sz="4000" spc="4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2D</a:t>
            </a:r>
            <a:r>
              <a:rPr sz="4000" spc="35" dirty="0">
                <a:latin typeface="Times New Roman"/>
                <a:cs typeface="Times New Roman"/>
              </a:rPr>
              <a:t> </a:t>
            </a:r>
            <a:r>
              <a:rPr sz="4000" spc="-10" dirty="0">
                <a:latin typeface="Times New Roman"/>
                <a:cs typeface="Times New Roman"/>
              </a:rPr>
              <a:t>Visualization.</a:t>
            </a:r>
            <a:endParaRPr sz="4000">
              <a:latin typeface="Times New Roman"/>
              <a:cs typeface="Times New Roman"/>
            </a:endParaRPr>
          </a:p>
          <a:p>
            <a:pPr marL="526415" marR="5080" indent="-514350">
              <a:lnSpc>
                <a:spcPct val="100000"/>
              </a:lnSpc>
              <a:spcBef>
                <a:spcPts val="1400"/>
              </a:spcBef>
              <a:buAutoNum type="arabicPeriod"/>
              <a:tabLst>
                <a:tab pos="527685" algn="l"/>
              </a:tabLst>
            </a:pPr>
            <a:r>
              <a:rPr sz="4000" dirty="0">
                <a:latin typeface="Times New Roman"/>
                <a:cs typeface="Times New Roman"/>
              </a:rPr>
              <a:t>It</a:t>
            </a:r>
            <a:r>
              <a:rPr sz="4000" spc="4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stores</a:t>
            </a:r>
            <a:r>
              <a:rPr sz="4000" spc="7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multiple</a:t>
            </a:r>
            <a:r>
              <a:rPr sz="4000" spc="5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elements</a:t>
            </a:r>
            <a:r>
              <a:rPr sz="4000" spc="7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of</a:t>
            </a:r>
            <a:r>
              <a:rPr sz="4000" spc="4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the</a:t>
            </a:r>
            <a:r>
              <a:rPr sz="4000" spc="4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same</a:t>
            </a:r>
            <a:r>
              <a:rPr sz="4000" spc="6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type</a:t>
            </a:r>
            <a:r>
              <a:rPr sz="4000" spc="4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using</a:t>
            </a:r>
            <a:r>
              <a:rPr sz="4000" spc="5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the</a:t>
            </a:r>
            <a:r>
              <a:rPr sz="4000" spc="45" dirty="0">
                <a:latin typeface="Times New Roman"/>
                <a:cs typeface="Times New Roman"/>
              </a:rPr>
              <a:t> </a:t>
            </a:r>
            <a:r>
              <a:rPr sz="4000" spc="-20" dirty="0">
                <a:latin typeface="Times New Roman"/>
                <a:cs typeface="Times New Roman"/>
              </a:rPr>
              <a:t>same 	</a:t>
            </a:r>
            <a:r>
              <a:rPr sz="4000" spc="-10" dirty="0">
                <a:latin typeface="Times New Roman"/>
                <a:cs typeface="Times New Roman"/>
              </a:rPr>
              <a:t>name.</a:t>
            </a:r>
            <a:endParaRPr sz="400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1395"/>
              </a:spcBef>
              <a:buAutoNum type="arabicPeriod"/>
              <a:tabLst>
                <a:tab pos="527050" algn="l"/>
              </a:tabLst>
            </a:pPr>
            <a:r>
              <a:rPr sz="4000" dirty="0">
                <a:latin typeface="Times New Roman"/>
                <a:cs typeface="Times New Roman"/>
              </a:rPr>
              <a:t>Elements</a:t>
            </a:r>
            <a:r>
              <a:rPr sz="4000" spc="6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can</a:t>
            </a:r>
            <a:r>
              <a:rPr sz="4000" spc="4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be</a:t>
            </a:r>
            <a:r>
              <a:rPr sz="4000" spc="4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accessed</a:t>
            </a:r>
            <a:r>
              <a:rPr sz="4000" spc="7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using</a:t>
            </a:r>
            <a:r>
              <a:rPr sz="4000" spc="4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an</a:t>
            </a:r>
            <a:r>
              <a:rPr sz="4000" spc="45" dirty="0">
                <a:latin typeface="Times New Roman"/>
                <a:cs typeface="Times New Roman"/>
              </a:rPr>
              <a:t> </a:t>
            </a:r>
            <a:r>
              <a:rPr sz="4000" spc="-10" dirty="0">
                <a:latin typeface="Times New Roman"/>
                <a:cs typeface="Times New Roman"/>
              </a:rPr>
              <a:t>index.</a:t>
            </a:r>
            <a:endParaRPr sz="400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1410"/>
              </a:spcBef>
              <a:buAutoNum type="arabicPeriod"/>
              <a:tabLst>
                <a:tab pos="527050" algn="l"/>
              </a:tabLst>
            </a:pPr>
            <a:r>
              <a:rPr sz="4000" dirty="0">
                <a:latin typeface="Times New Roman"/>
                <a:cs typeface="Times New Roman"/>
              </a:rPr>
              <a:t>It</a:t>
            </a:r>
            <a:r>
              <a:rPr sz="4000" spc="4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enables</a:t>
            </a:r>
            <a:r>
              <a:rPr sz="4000" spc="6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access</a:t>
            </a:r>
            <a:r>
              <a:rPr sz="4000" spc="5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to</a:t>
            </a:r>
            <a:r>
              <a:rPr sz="4000" spc="4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items</a:t>
            </a:r>
            <a:r>
              <a:rPr sz="4000" spc="6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at</a:t>
            </a:r>
            <a:r>
              <a:rPr sz="4000" spc="45" dirty="0">
                <a:latin typeface="Times New Roman"/>
                <a:cs typeface="Times New Roman"/>
              </a:rPr>
              <a:t> </a:t>
            </a:r>
            <a:r>
              <a:rPr sz="4000" spc="-10" dirty="0">
                <a:latin typeface="Times New Roman"/>
                <a:cs typeface="Times New Roman"/>
              </a:rPr>
              <a:t>random.</a:t>
            </a:r>
            <a:endParaRPr sz="400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1400"/>
              </a:spcBef>
              <a:buAutoNum type="arabicPeriod"/>
              <a:tabLst>
                <a:tab pos="527050" algn="l"/>
              </a:tabLst>
            </a:pPr>
            <a:r>
              <a:rPr sz="4000" dirty="0">
                <a:latin typeface="Times New Roman"/>
                <a:cs typeface="Times New Roman"/>
              </a:rPr>
              <a:t>Any</a:t>
            </a:r>
            <a:r>
              <a:rPr sz="4000" spc="5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form</a:t>
            </a:r>
            <a:r>
              <a:rPr sz="4000" spc="6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of</a:t>
            </a:r>
            <a:r>
              <a:rPr sz="4000" spc="3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data</a:t>
            </a:r>
            <a:r>
              <a:rPr sz="4000" spc="3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with</a:t>
            </a:r>
            <a:r>
              <a:rPr sz="4000" spc="5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a</a:t>
            </a:r>
            <a:r>
              <a:rPr sz="4000" spc="3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fixed</a:t>
            </a:r>
            <a:r>
              <a:rPr sz="4000" spc="5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size</a:t>
            </a:r>
            <a:r>
              <a:rPr sz="4000" spc="3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can</a:t>
            </a:r>
            <a:r>
              <a:rPr sz="4000" spc="5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be</a:t>
            </a:r>
            <a:r>
              <a:rPr sz="4000" spc="25" dirty="0">
                <a:latin typeface="Times New Roman"/>
                <a:cs typeface="Times New Roman"/>
              </a:rPr>
              <a:t> </a:t>
            </a:r>
            <a:r>
              <a:rPr sz="4000" spc="-10" dirty="0">
                <a:latin typeface="Times New Roman"/>
                <a:cs typeface="Times New Roman"/>
              </a:rPr>
              <a:t>stored.</a:t>
            </a:r>
            <a:endParaRPr sz="400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1395"/>
              </a:spcBef>
              <a:buAutoNum type="arabicPeriod"/>
              <a:tabLst>
                <a:tab pos="527050" algn="l"/>
              </a:tabLst>
            </a:pPr>
            <a:r>
              <a:rPr sz="4000" dirty="0">
                <a:latin typeface="Times New Roman"/>
                <a:cs typeface="Times New Roman"/>
              </a:rPr>
              <a:t>It</a:t>
            </a:r>
            <a:r>
              <a:rPr sz="4000" spc="4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is</a:t>
            </a:r>
            <a:r>
              <a:rPr sz="4000" spc="5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easy</a:t>
            </a:r>
            <a:r>
              <a:rPr sz="4000" spc="4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to</a:t>
            </a:r>
            <a:r>
              <a:rPr sz="4000" spc="45" dirty="0">
                <a:latin typeface="Times New Roman"/>
                <a:cs typeface="Times New Roman"/>
              </a:rPr>
              <a:t> </a:t>
            </a:r>
            <a:r>
              <a:rPr sz="4000" spc="-10" dirty="0">
                <a:latin typeface="Times New Roman"/>
                <a:cs typeface="Times New Roman"/>
              </a:rPr>
              <a:t>implement.</a:t>
            </a:r>
            <a:endParaRPr sz="4000">
              <a:latin typeface="Times New Roman"/>
              <a:cs typeface="Times New Roman"/>
            </a:endParaRPr>
          </a:p>
          <a:p>
            <a:pPr marL="526415" indent="-513715">
              <a:lnSpc>
                <a:spcPct val="100000"/>
              </a:lnSpc>
              <a:spcBef>
                <a:spcPts val="1405"/>
              </a:spcBef>
              <a:buAutoNum type="arabicPeriod"/>
              <a:tabLst>
                <a:tab pos="526415" algn="l"/>
              </a:tabLst>
            </a:pPr>
            <a:r>
              <a:rPr sz="4000" dirty="0">
                <a:latin typeface="Times New Roman"/>
                <a:cs typeface="Times New Roman"/>
              </a:rPr>
              <a:t>It</a:t>
            </a:r>
            <a:r>
              <a:rPr sz="4000" spc="4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is</a:t>
            </a:r>
            <a:r>
              <a:rPr sz="4000" spc="5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the</a:t>
            </a:r>
            <a:r>
              <a:rPr sz="4000" spc="4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simplest</a:t>
            </a:r>
            <a:r>
              <a:rPr sz="4000" spc="7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2D</a:t>
            </a:r>
            <a:r>
              <a:rPr sz="4000" spc="3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data</a:t>
            </a:r>
            <a:r>
              <a:rPr sz="4000" spc="40" dirty="0">
                <a:latin typeface="Times New Roman"/>
                <a:cs typeface="Times New Roman"/>
              </a:rPr>
              <a:t> </a:t>
            </a:r>
            <a:r>
              <a:rPr sz="4000" spc="-10" dirty="0">
                <a:latin typeface="Times New Roman"/>
                <a:cs typeface="Times New Roman"/>
              </a:rPr>
              <a:t>structure.</a:t>
            </a:r>
            <a:endParaRPr sz="400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1405"/>
              </a:spcBef>
              <a:buAutoNum type="arabicPeriod"/>
              <a:tabLst>
                <a:tab pos="527050" algn="l"/>
              </a:tabLst>
            </a:pPr>
            <a:r>
              <a:rPr sz="4000" dirty="0">
                <a:latin typeface="Times New Roman"/>
                <a:cs typeface="Times New Roman"/>
              </a:rPr>
              <a:t>It</a:t>
            </a:r>
            <a:r>
              <a:rPr sz="4000" spc="4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is</a:t>
            </a:r>
            <a:r>
              <a:rPr sz="4000" spc="5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used</a:t>
            </a:r>
            <a:r>
              <a:rPr sz="4000" spc="4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by</a:t>
            </a:r>
            <a:r>
              <a:rPr sz="4000" spc="4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all</a:t>
            </a:r>
            <a:r>
              <a:rPr sz="4000" spc="4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programming</a:t>
            </a:r>
            <a:r>
              <a:rPr sz="4000" spc="85" dirty="0">
                <a:latin typeface="Times New Roman"/>
                <a:cs typeface="Times New Roman"/>
              </a:rPr>
              <a:t> </a:t>
            </a:r>
            <a:r>
              <a:rPr sz="4000" spc="-10" dirty="0">
                <a:latin typeface="Times New Roman"/>
                <a:cs typeface="Times New Roman"/>
              </a:rPr>
              <a:t>languages.</a:t>
            </a:r>
            <a:endParaRPr sz="40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19072" y="0"/>
            <a:ext cx="9706356" cy="162458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19705" y="103123"/>
            <a:ext cx="870585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40" dirty="0">
                <a:latin typeface="Constantia"/>
                <a:cs typeface="Constantia"/>
              </a:rPr>
              <a:t>Disadvantages</a:t>
            </a:r>
            <a:r>
              <a:rPr sz="6000" spc="-240" dirty="0">
                <a:latin typeface="Constantia"/>
                <a:cs typeface="Constantia"/>
              </a:rPr>
              <a:t> </a:t>
            </a:r>
            <a:r>
              <a:rPr sz="6000" dirty="0">
                <a:latin typeface="Constantia"/>
                <a:cs typeface="Constantia"/>
              </a:rPr>
              <a:t>of</a:t>
            </a:r>
            <a:r>
              <a:rPr sz="6000" spc="110" dirty="0">
                <a:latin typeface="Constantia"/>
                <a:cs typeface="Constantia"/>
              </a:rPr>
              <a:t> </a:t>
            </a:r>
            <a:r>
              <a:rPr sz="6000" spc="-10" dirty="0">
                <a:latin typeface="Constantia"/>
                <a:cs typeface="Constantia"/>
              </a:rPr>
              <a:t>matrix</a:t>
            </a:r>
            <a:endParaRPr sz="6000">
              <a:latin typeface="Constantia"/>
              <a:cs typeface="Constanti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81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78739" y="904392"/>
            <a:ext cx="12797790" cy="7189470"/>
          </a:xfrm>
          <a:prstGeom prst="rect">
            <a:avLst/>
          </a:prstGeom>
        </p:spPr>
        <p:txBody>
          <a:bodyPr vert="horz" wrap="square" lIns="0" tIns="191135" rIns="0" bIns="0" rtlCol="0">
            <a:spAutoFit/>
          </a:bodyPr>
          <a:lstStyle/>
          <a:p>
            <a:pPr marL="527050" indent="-514350">
              <a:lnSpc>
                <a:spcPct val="100000"/>
              </a:lnSpc>
              <a:spcBef>
                <a:spcPts val="1505"/>
              </a:spcBef>
              <a:buAutoNum type="arabicPeriod"/>
              <a:tabLst>
                <a:tab pos="527050" algn="l"/>
              </a:tabLst>
            </a:pPr>
            <a:r>
              <a:rPr sz="4000" dirty="0">
                <a:latin typeface="Times New Roman"/>
                <a:cs typeface="Times New Roman"/>
              </a:rPr>
              <a:t>The</a:t>
            </a:r>
            <a:r>
              <a:rPr sz="4000" spc="3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matrix’s</a:t>
            </a:r>
            <a:r>
              <a:rPr sz="4000" spc="8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size</a:t>
            </a:r>
            <a:r>
              <a:rPr sz="4000" spc="4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must</a:t>
            </a:r>
            <a:r>
              <a:rPr sz="4000" spc="5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be</a:t>
            </a:r>
            <a:r>
              <a:rPr sz="4000" spc="3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known</a:t>
            </a:r>
            <a:r>
              <a:rPr sz="4000" spc="45" dirty="0">
                <a:latin typeface="Times New Roman"/>
                <a:cs typeface="Times New Roman"/>
              </a:rPr>
              <a:t> </a:t>
            </a:r>
            <a:r>
              <a:rPr sz="4000" spc="-10" dirty="0">
                <a:latin typeface="Times New Roman"/>
                <a:cs typeface="Times New Roman"/>
              </a:rPr>
              <a:t>beforehand.</a:t>
            </a:r>
            <a:endParaRPr sz="400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1400"/>
              </a:spcBef>
              <a:buAutoNum type="arabicPeriod"/>
              <a:tabLst>
                <a:tab pos="527050" algn="l"/>
              </a:tabLst>
            </a:pPr>
            <a:r>
              <a:rPr sz="4000" dirty="0">
                <a:latin typeface="Times New Roman"/>
                <a:cs typeface="Times New Roman"/>
              </a:rPr>
              <a:t>It</a:t>
            </a:r>
            <a:r>
              <a:rPr sz="4000" spc="4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is</a:t>
            </a:r>
            <a:r>
              <a:rPr sz="4000" spc="5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of</a:t>
            </a:r>
            <a:r>
              <a:rPr sz="4000" spc="4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fixed</a:t>
            </a:r>
            <a:r>
              <a:rPr sz="4000" spc="6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size</a:t>
            </a:r>
            <a:r>
              <a:rPr sz="4000" spc="5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and</a:t>
            </a:r>
            <a:r>
              <a:rPr sz="4000" spc="4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its</a:t>
            </a:r>
            <a:r>
              <a:rPr sz="4000" spc="4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size</a:t>
            </a:r>
            <a:r>
              <a:rPr sz="4000" spc="5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can’t</a:t>
            </a:r>
            <a:r>
              <a:rPr sz="4000" spc="5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be</a:t>
            </a:r>
            <a:r>
              <a:rPr sz="4000" spc="4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modified</a:t>
            </a:r>
            <a:r>
              <a:rPr sz="4000" spc="60" dirty="0">
                <a:latin typeface="Times New Roman"/>
                <a:cs typeface="Times New Roman"/>
              </a:rPr>
              <a:t> </a:t>
            </a:r>
            <a:r>
              <a:rPr sz="4000" spc="-10" dirty="0">
                <a:latin typeface="Times New Roman"/>
                <a:cs typeface="Times New Roman"/>
              </a:rPr>
              <a:t>further.</a:t>
            </a:r>
            <a:endParaRPr sz="4000">
              <a:latin typeface="Times New Roman"/>
              <a:cs typeface="Times New Roman"/>
            </a:endParaRPr>
          </a:p>
          <a:p>
            <a:pPr marL="525780" marR="1216025" indent="-513715">
              <a:lnSpc>
                <a:spcPct val="100000"/>
              </a:lnSpc>
              <a:spcBef>
                <a:spcPts val="1395"/>
              </a:spcBef>
              <a:buAutoNum type="arabicPeriod"/>
              <a:tabLst>
                <a:tab pos="527685" algn="l"/>
              </a:tabLst>
            </a:pPr>
            <a:r>
              <a:rPr sz="4000" dirty="0">
                <a:latin typeface="Times New Roman"/>
                <a:cs typeface="Times New Roman"/>
              </a:rPr>
              <a:t>Insertion</a:t>
            </a:r>
            <a:r>
              <a:rPr sz="4000" spc="7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and</a:t>
            </a:r>
            <a:r>
              <a:rPr sz="4000" spc="5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deletion</a:t>
            </a:r>
            <a:r>
              <a:rPr sz="4000" spc="5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operations</a:t>
            </a:r>
            <a:r>
              <a:rPr sz="4000" spc="7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are</a:t>
            </a:r>
            <a:r>
              <a:rPr sz="4000" spc="6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costly</a:t>
            </a:r>
            <a:r>
              <a:rPr sz="4000" spc="5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if</a:t>
            </a:r>
            <a:r>
              <a:rPr sz="4000" spc="60" dirty="0">
                <a:latin typeface="Times New Roman"/>
                <a:cs typeface="Times New Roman"/>
              </a:rPr>
              <a:t> </a:t>
            </a:r>
            <a:r>
              <a:rPr sz="4000" spc="-10" dirty="0">
                <a:latin typeface="Times New Roman"/>
                <a:cs typeface="Times New Roman"/>
              </a:rPr>
              <a:t>shifting 	occurs.</a:t>
            </a:r>
            <a:endParaRPr sz="4000">
              <a:latin typeface="Times New Roman"/>
              <a:cs typeface="Times New Roman"/>
            </a:endParaRPr>
          </a:p>
          <a:p>
            <a:pPr marL="526415" marR="337820" indent="-514350">
              <a:lnSpc>
                <a:spcPct val="100000"/>
              </a:lnSpc>
              <a:spcBef>
                <a:spcPts val="1410"/>
              </a:spcBef>
              <a:buAutoNum type="arabicPeriod"/>
              <a:tabLst>
                <a:tab pos="527685" algn="l"/>
              </a:tabLst>
            </a:pPr>
            <a:r>
              <a:rPr sz="4000" dirty="0">
                <a:latin typeface="Times New Roman"/>
                <a:cs typeface="Times New Roman"/>
              </a:rPr>
              <a:t>Memory</a:t>
            </a:r>
            <a:r>
              <a:rPr sz="4000" spc="8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wastage</a:t>
            </a:r>
            <a:r>
              <a:rPr sz="4000" spc="6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may</a:t>
            </a:r>
            <a:r>
              <a:rPr sz="4000" spc="4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result</a:t>
            </a:r>
            <a:r>
              <a:rPr sz="4000" spc="6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if</a:t>
            </a:r>
            <a:r>
              <a:rPr sz="4000" spc="4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the</a:t>
            </a:r>
            <a:r>
              <a:rPr sz="4000" spc="4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specified</a:t>
            </a:r>
            <a:r>
              <a:rPr sz="4000" spc="7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matrix</a:t>
            </a:r>
            <a:r>
              <a:rPr sz="4000" spc="6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size</a:t>
            </a:r>
            <a:r>
              <a:rPr sz="4000" spc="50" dirty="0">
                <a:latin typeface="Times New Roman"/>
                <a:cs typeface="Times New Roman"/>
              </a:rPr>
              <a:t> </a:t>
            </a:r>
            <a:r>
              <a:rPr sz="4000" spc="-25" dirty="0">
                <a:latin typeface="Times New Roman"/>
                <a:cs typeface="Times New Roman"/>
              </a:rPr>
              <a:t>is 	</a:t>
            </a:r>
            <a:r>
              <a:rPr sz="4000" dirty="0">
                <a:latin typeface="Times New Roman"/>
                <a:cs typeface="Times New Roman"/>
              </a:rPr>
              <a:t>more</a:t>
            </a:r>
            <a:r>
              <a:rPr sz="4000" spc="4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than</a:t>
            </a:r>
            <a:r>
              <a:rPr sz="4000" spc="4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what</a:t>
            </a:r>
            <a:r>
              <a:rPr sz="4000" spc="5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is</a:t>
            </a:r>
            <a:r>
              <a:rPr sz="4000" spc="45" dirty="0">
                <a:latin typeface="Times New Roman"/>
                <a:cs typeface="Times New Roman"/>
              </a:rPr>
              <a:t> </a:t>
            </a:r>
            <a:r>
              <a:rPr sz="4000" spc="-10" dirty="0">
                <a:latin typeface="Times New Roman"/>
                <a:cs typeface="Times New Roman"/>
              </a:rPr>
              <a:t>required.</a:t>
            </a:r>
            <a:endParaRPr sz="4000">
              <a:latin typeface="Times New Roman"/>
              <a:cs typeface="Times New Roman"/>
            </a:endParaRPr>
          </a:p>
          <a:p>
            <a:pPr marL="526415" marR="5080" indent="-514350">
              <a:lnSpc>
                <a:spcPct val="100000"/>
              </a:lnSpc>
              <a:spcBef>
                <a:spcPts val="1400"/>
              </a:spcBef>
              <a:buAutoNum type="arabicPeriod"/>
              <a:tabLst>
                <a:tab pos="527685" algn="l"/>
              </a:tabLst>
            </a:pPr>
            <a:r>
              <a:rPr sz="4000" dirty="0">
                <a:latin typeface="Times New Roman"/>
                <a:cs typeface="Times New Roman"/>
              </a:rPr>
              <a:t>Resizing</a:t>
            </a:r>
            <a:r>
              <a:rPr sz="4000" spc="8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a</a:t>
            </a:r>
            <a:r>
              <a:rPr sz="4000" spc="7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matrix</a:t>
            </a:r>
            <a:r>
              <a:rPr sz="4000" spc="8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can</a:t>
            </a:r>
            <a:r>
              <a:rPr sz="4000" spc="9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be</a:t>
            </a:r>
            <a:r>
              <a:rPr sz="4000" spc="7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time-consuming,</a:t>
            </a:r>
            <a:r>
              <a:rPr sz="4000" spc="9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especially</a:t>
            </a:r>
            <a:r>
              <a:rPr sz="4000" spc="10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if</a:t>
            </a:r>
            <a:r>
              <a:rPr sz="4000" spc="70" dirty="0">
                <a:latin typeface="Times New Roman"/>
                <a:cs typeface="Times New Roman"/>
              </a:rPr>
              <a:t> </a:t>
            </a:r>
            <a:r>
              <a:rPr sz="4000" spc="-25" dirty="0">
                <a:latin typeface="Times New Roman"/>
                <a:cs typeface="Times New Roman"/>
              </a:rPr>
              <a:t>it 	</a:t>
            </a:r>
            <a:r>
              <a:rPr sz="4000" dirty="0">
                <a:latin typeface="Times New Roman"/>
                <a:cs typeface="Times New Roman"/>
              </a:rPr>
              <a:t>needs</a:t>
            </a:r>
            <a:r>
              <a:rPr sz="4000" spc="5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to</a:t>
            </a:r>
            <a:r>
              <a:rPr sz="4000" spc="2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be</a:t>
            </a:r>
            <a:r>
              <a:rPr sz="4000" spc="3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done</a:t>
            </a:r>
            <a:r>
              <a:rPr sz="4000" spc="4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frequently</a:t>
            </a:r>
            <a:r>
              <a:rPr sz="4000" spc="6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or</a:t>
            </a:r>
            <a:r>
              <a:rPr sz="4000" spc="4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the</a:t>
            </a:r>
            <a:r>
              <a:rPr sz="4000" spc="3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size</a:t>
            </a:r>
            <a:r>
              <a:rPr sz="4000" spc="3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of</a:t>
            </a:r>
            <a:r>
              <a:rPr sz="4000" spc="5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the</a:t>
            </a:r>
            <a:r>
              <a:rPr sz="4000" spc="3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matrix</a:t>
            </a:r>
            <a:r>
              <a:rPr sz="4000" spc="5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is</a:t>
            </a:r>
            <a:r>
              <a:rPr sz="4000" spc="40" dirty="0">
                <a:latin typeface="Times New Roman"/>
                <a:cs typeface="Times New Roman"/>
              </a:rPr>
              <a:t> </a:t>
            </a:r>
            <a:r>
              <a:rPr sz="4000" spc="-20" dirty="0">
                <a:latin typeface="Times New Roman"/>
                <a:cs typeface="Times New Roman"/>
              </a:rPr>
              <a:t>very 	</a:t>
            </a:r>
            <a:r>
              <a:rPr sz="4000" spc="-10" dirty="0">
                <a:latin typeface="Times New Roman"/>
                <a:cs typeface="Times New Roman"/>
              </a:rPr>
              <a:t>large.</a:t>
            </a:r>
            <a:endParaRPr sz="400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1395"/>
              </a:spcBef>
              <a:buAutoNum type="arabicPeriod"/>
              <a:tabLst>
                <a:tab pos="527050" algn="l"/>
              </a:tabLst>
            </a:pPr>
            <a:r>
              <a:rPr sz="4000" dirty="0">
                <a:latin typeface="Times New Roman"/>
                <a:cs typeface="Times New Roman"/>
              </a:rPr>
              <a:t>No</a:t>
            </a:r>
            <a:r>
              <a:rPr sz="4000" spc="8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built-in</a:t>
            </a:r>
            <a:r>
              <a:rPr sz="4000" spc="70" dirty="0">
                <a:latin typeface="Times New Roman"/>
                <a:cs typeface="Times New Roman"/>
              </a:rPr>
              <a:t> </a:t>
            </a:r>
            <a:r>
              <a:rPr sz="4000" spc="-10" dirty="0">
                <a:latin typeface="Times New Roman"/>
                <a:cs typeface="Times New Roman"/>
              </a:rPr>
              <a:t>functionality..</a:t>
            </a:r>
            <a:endParaRPr sz="40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3004800" cy="1861185"/>
            <a:chOff x="0" y="0"/>
            <a:chExt cx="13004800" cy="186118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647188" cy="186080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22475" y="0"/>
              <a:ext cx="5157216" cy="186080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54979" y="0"/>
              <a:ext cx="2356104" cy="186080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786371" y="0"/>
              <a:ext cx="3675887" cy="186080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532619" y="0"/>
              <a:ext cx="3471672" cy="1860803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62204" y="189051"/>
            <a:ext cx="12301220" cy="1031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dirty="0"/>
              <a:t>Fast</a:t>
            </a:r>
            <a:r>
              <a:rPr sz="6600" spc="-240" dirty="0"/>
              <a:t> </a:t>
            </a:r>
            <a:r>
              <a:rPr sz="6600" spc="-550" dirty="0"/>
              <a:t>T</a:t>
            </a:r>
            <a:r>
              <a:rPr sz="6600" spc="-60" dirty="0"/>
              <a:t>r</a:t>
            </a:r>
            <a:r>
              <a:rPr sz="6600" spc="-55" dirty="0"/>
              <a:t>a</a:t>
            </a:r>
            <a:r>
              <a:rPr sz="6600" spc="-60" dirty="0"/>
              <a:t>nsp</a:t>
            </a:r>
            <a:r>
              <a:rPr sz="6600" spc="-65" dirty="0"/>
              <a:t>o</a:t>
            </a:r>
            <a:r>
              <a:rPr sz="6600" spc="-60" dirty="0"/>
              <a:t>s</a:t>
            </a:r>
            <a:r>
              <a:rPr sz="6600" spc="5" dirty="0"/>
              <a:t>e</a:t>
            </a:r>
            <a:r>
              <a:rPr sz="6600" spc="-215" dirty="0"/>
              <a:t> </a:t>
            </a:r>
            <a:r>
              <a:rPr sz="6600" dirty="0"/>
              <a:t>Of</a:t>
            </a:r>
            <a:r>
              <a:rPr sz="6600" spc="-160" dirty="0"/>
              <a:t> </a:t>
            </a:r>
            <a:r>
              <a:rPr sz="6600" dirty="0"/>
              <a:t>Sparse</a:t>
            </a:r>
            <a:r>
              <a:rPr sz="6600" spc="-270" dirty="0"/>
              <a:t> </a:t>
            </a:r>
            <a:r>
              <a:rPr sz="6600" spc="-10" dirty="0"/>
              <a:t>Matrix</a:t>
            </a:r>
            <a:endParaRPr sz="6600"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82</a:t>
            </a:fld>
            <a:endParaRPr spc="-25" dirty="0"/>
          </a:p>
        </p:txBody>
      </p:sp>
      <p:sp>
        <p:nvSpPr>
          <p:cNvPr id="9" name="object 9"/>
          <p:cNvSpPr txBox="1"/>
          <p:nvPr/>
        </p:nvSpPr>
        <p:spPr>
          <a:xfrm>
            <a:off x="256438" y="1487989"/>
            <a:ext cx="12670155" cy="71443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8630" marR="10795" indent="-456565" algn="just">
              <a:lnSpc>
                <a:spcPct val="150000"/>
              </a:lnSpc>
              <a:spcBef>
                <a:spcPts val="100"/>
              </a:spcBef>
              <a:buFont typeface="Arial MT"/>
              <a:buChar char="•"/>
              <a:tabLst>
                <a:tab pos="469900" algn="l"/>
              </a:tabLst>
            </a:pP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1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fast-transpose</a:t>
            </a:r>
            <a:r>
              <a:rPr sz="3200" spc="19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</a:t>
            </a:r>
            <a:r>
              <a:rPr sz="3200" spc="1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1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computer</a:t>
            </a:r>
            <a:r>
              <a:rPr sz="3200" spc="1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algorithm</a:t>
            </a:r>
            <a:r>
              <a:rPr sz="3200" spc="19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that</a:t>
            </a:r>
            <a:r>
              <a:rPr sz="3200" spc="1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quickly</a:t>
            </a:r>
            <a:r>
              <a:rPr sz="3200" spc="19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transposes</a:t>
            </a:r>
            <a:r>
              <a:rPr sz="3200" spc="1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19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sparse 	</a:t>
            </a:r>
            <a:r>
              <a:rPr sz="3200" dirty="0">
                <a:latin typeface="Times New Roman"/>
                <a:cs typeface="Times New Roman"/>
              </a:rPr>
              <a:t>matrix</a:t>
            </a:r>
            <a:r>
              <a:rPr sz="3200" spc="1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using</a:t>
            </a:r>
            <a:r>
              <a:rPr sz="3200" spc="1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1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relatively</a:t>
            </a:r>
            <a:r>
              <a:rPr sz="3200" spc="1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small</a:t>
            </a:r>
            <a:r>
              <a:rPr sz="3200" spc="1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amount</a:t>
            </a:r>
            <a:r>
              <a:rPr sz="3200" spc="11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12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memory.</a:t>
            </a:r>
            <a:endParaRPr sz="3200">
              <a:latin typeface="Times New Roman"/>
              <a:cs typeface="Times New Roman"/>
            </a:endParaRPr>
          </a:p>
          <a:p>
            <a:pPr marL="468630" marR="8890" indent="-456565" algn="just">
              <a:lnSpc>
                <a:spcPct val="150000"/>
              </a:lnSpc>
              <a:spcBef>
                <a:spcPts val="1410"/>
              </a:spcBef>
              <a:buFont typeface="Arial MT"/>
              <a:buChar char="•"/>
              <a:tabLst>
                <a:tab pos="469900" algn="l"/>
              </a:tabLst>
            </a:pPr>
            <a:r>
              <a:rPr sz="3200" dirty="0">
                <a:latin typeface="Times New Roman"/>
                <a:cs typeface="Times New Roman"/>
              </a:rPr>
              <a:t>Using</a:t>
            </a:r>
            <a:r>
              <a:rPr sz="3200" spc="20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arrays</a:t>
            </a:r>
            <a:r>
              <a:rPr sz="3200" spc="20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normally</a:t>
            </a:r>
            <a:r>
              <a:rPr sz="3200" spc="20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20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record</a:t>
            </a:r>
            <a:r>
              <a:rPr sz="3200" spc="20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1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sparse</a:t>
            </a:r>
            <a:r>
              <a:rPr sz="3200" spc="20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matrix</a:t>
            </a:r>
            <a:r>
              <a:rPr sz="3200" spc="20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uses</a:t>
            </a:r>
            <a:r>
              <a:rPr sz="3200" spc="20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up</a:t>
            </a:r>
            <a:r>
              <a:rPr sz="3200" spc="20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19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lot</a:t>
            </a:r>
            <a:r>
              <a:rPr sz="3200" spc="19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19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memory 	</a:t>
            </a:r>
            <a:r>
              <a:rPr sz="3200" dirty="0">
                <a:latin typeface="Times New Roman"/>
                <a:cs typeface="Times New Roman"/>
              </a:rPr>
              <a:t>since</a:t>
            </a:r>
            <a:r>
              <a:rPr sz="3200" spc="1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many</a:t>
            </a:r>
            <a:r>
              <a:rPr sz="3200" spc="10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11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matrix's</a:t>
            </a:r>
            <a:r>
              <a:rPr sz="3200" spc="1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values</a:t>
            </a:r>
            <a:r>
              <a:rPr sz="3200" spc="11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are</a:t>
            </a:r>
            <a:r>
              <a:rPr sz="3200" spc="10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zero.</a:t>
            </a:r>
            <a:endParaRPr sz="3200">
              <a:latin typeface="Times New Roman"/>
              <a:cs typeface="Times New Roman"/>
            </a:endParaRPr>
          </a:p>
          <a:p>
            <a:pPr marL="467995" marR="10160" indent="-455930" algn="just">
              <a:lnSpc>
                <a:spcPct val="150000"/>
              </a:lnSpc>
              <a:spcBef>
                <a:spcPts val="1390"/>
              </a:spcBef>
              <a:buFont typeface="Arial MT"/>
              <a:buChar char="•"/>
              <a:tabLst>
                <a:tab pos="469900" algn="l"/>
              </a:tabLst>
            </a:pP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185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addition,</a:t>
            </a:r>
            <a:r>
              <a:rPr sz="3200" spc="195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using</a:t>
            </a:r>
            <a:r>
              <a:rPr sz="3200" spc="190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190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normal</a:t>
            </a:r>
            <a:r>
              <a:rPr sz="3200" spc="185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transpose</a:t>
            </a:r>
            <a:r>
              <a:rPr sz="3200" spc="195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algorithm</a:t>
            </a:r>
            <a:r>
              <a:rPr sz="3200" spc="195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185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transpose</a:t>
            </a:r>
            <a:r>
              <a:rPr sz="3200" spc="190" dirty="0">
                <a:latin typeface="Times New Roman"/>
                <a:cs typeface="Times New Roman"/>
              </a:rPr>
              <a:t>  </a:t>
            </a:r>
            <a:r>
              <a:rPr sz="3200" spc="-20" dirty="0">
                <a:latin typeface="Times New Roman"/>
                <a:cs typeface="Times New Roman"/>
              </a:rPr>
              <a:t>this 	</a:t>
            </a:r>
            <a:r>
              <a:rPr sz="3200" dirty="0">
                <a:latin typeface="Times New Roman"/>
                <a:cs typeface="Times New Roman"/>
              </a:rPr>
              <a:t>matrix</a:t>
            </a:r>
            <a:r>
              <a:rPr sz="3200" spc="1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will</a:t>
            </a:r>
            <a:r>
              <a:rPr sz="3200" spc="1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take</a:t>
            </a:r>
            <a:r>
              <a:rPr sz="3200" spc="1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O(cols*elements)</a:t>
            </a:r>
            <a:r>
              <a:rPr sz="3200" spc="1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amount</a:t>
            </a:r>
            <a:r>
              <a:rPr sz="3200" spc="1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13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time.</a:t>
            </a:r>
            <a:endParaRPr sz="3200">
              <a:latin typeface="Times New Roman"/>
              <a:cs typeface="Times New Roman"/>
            </a:endParaRPr>
          </a:p>
          <a:p>
            <a:pPr marL="467995" marR="5080" indent="-455930" algn="just">
              <a:lnSpc>
                <a:spcPct val="150000"/>
              </a:lnSpc>
              <a:spcBef>
                <a:spcPts val="1405"/>
              </a:spcBef>
              <a:buFont typeface="Arial MT"/>
              <a:buChar char="•"/>
              <a:tabLst>
                <a:tab pos="469900" algn="l"/>
              </a:tabLst>
            </a:pP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20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fast-transpose</a:t>
            </a:r>
            <a:r>
              <a:rPr sz="3200" spc="25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algorithm</a:t>
            </a:r>
            <a:r>
              <a:rPr sz="3200" spc="30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only</a:t>
            </a:r>
            <a:r>
              <a:rPr sz="3200" spc="20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uses</a:t>
            </a:r>
            <a:r>
              <a:rPr sz="3200" spc="20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35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little</a:t>
            </a:r>
            <a:r>
              <a:rPr sz="3200" spc="30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memory</a:t>
            </a:r>
            <a:r>
              <a:rPr sz="3200" spc="25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15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record</a:t>
            </a:r>
            <a:r>
              <a:rPr sz="3200" spc="30" dirty="0">
                <a:latin typeface="Times New Roman"/>
                <a:cs typeface="Times New Roman"/>
              </a:rPr>
              <a:t>  </a:t>
            </a:r>
            <a:r>
              <a:rPr sz="3200" spc="-25" dirty="0">
                <a:latin typeface="Times New Roman"/>
                <a:cs typeface="Times New Roman"/>
              </a:rPr>
              <a:t>the 	</a:t>
            </a:r>
            <a:r>
              <a:rPr sz="3200" dirty="0">
                <a:latin typeface="Times New Roman"/>
                <a:cs typeface="Times New Roman"/>
              </a:rPr>
              <a:t>matrix</a:t>
            </a:r>
            <a:r>
              <a:rPr sz="3200" spc="235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240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takes</a:t>
            </a:r>
            <a:r>
              <a:rPr sz="3200" spc="245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only</a:t>
            </a:r>
            <a:r>
              <a:rPr sz="3200" spc="245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O(cols+elements)</a:t>
            </a:r>
            <a:r>
              <a:rPr sz="3200" spc="240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amount</a:t>
            </a:r>
            <a:r>
              <a:rPr sz="3200" spc="240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240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time,</a:t>
            </a:r>
            <a:r>
              <a:rPr sz="3200" spc="245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which</a:t>
            </a:r>
            <a:r>
              <a:rPr sz="3200" spc="240" dirty="0">
                <a:latin typeface="Times New Roman"/>
                <a:cs typeface="Times New Roman"/>
              </a:rPr>
              <a:t>  </a:t>
            </a:r>
            <a:r>
              <a:rPr sz="3200" spc="-25" dirty="0">
                <a:latin typeface="Times New Roman"/>
                <a:cs typeface="Times New Roman"/>
              </a:rPr>
              <a:t>is 	</a:t>
            </a:r>
            <a:r>
              <a:rPr sz="3200" dirty="0">
                <a:latin typeface="Times New Roman"/>
                <a:cs typeface="Times New Roman"/>
              </a:rPr>
              <a:t>efficient</a:t>
            </a:r>
            <a:r>
              <a:rPr sz="3200" spc="1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considering</a:t>
            </a:r>
            <a:r>
              <a:rPr sz="3200" spc="1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1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number</a:t>
            </a:r>
            <a:r>
              <a:rPr sz="3200" spc="1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1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elements</a:t>
            </a:r>
            <a:r>
              <a:rPr sz="3200" spc="1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equals</a:t>
            </a:r>
            <a:r>
              <a:rPr sz="3200" spc="15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cols*rows.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3004800" cy="1861185"/>
            <a:chOff x="0" y="0"/>
            <a:chExt cx="13004800" cy="186118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647188" cy="186080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22475" y="0"/>
              <a:ext cx="5157216" cy="186080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54979" y="0"/>
              <a:ext cx="2356104" cy="186080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786371" y="0"/>
              <a:ext cx="3675887" cy="186080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532619" y="0"/>
              <a:ext cx="3471672" cy="1860803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62204" y="189051"/>
            <a:ext cx="12301220" cy="1031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dirty="0"/>
              <a:t>Fast</a:t>
            </a:r>
            <a:r>
              <a:rPr sz="6600" spc="-240" dirty="0"/>
              <a:t> </a:t>
            </a:r>
            <a:r>
              <a:rPr sz="6600" spc="-550" dirty="0"/>
              <a:t>T</a:t>
            </a:r>
            <a:r>
              <a:rPr sz="6600" spc="-60" dirty="0"/>
              <a:t>r</a:t>
            </a:r>
            <a:r>
              <a:rPr sz="6600" spc="-55" dirty="0"/>
              <a:t>a</a:t>
            </a:r>
            <a:r>
              <a:rPr sz="6600" spc="-60" dirty="0"/>
              <a:t>nsp</a:t>
            </a:r>
            <a:r>
              <a:rPr sz="6600" spc="-65" dirty="0"/>
              <a:t>o</a:t>
            </a:r>
            <a:r>
              <a:rPr sz="6600" spc="-60" dirty="0"/>
              <a:t>s</a:t>
            </a:r>
            <a:r>
              <a:rPr sz="6600" spc="5" dirty="0"/>
              <a:t>e</a:t>
            </a:r>
            <a:r>
              <a:rPr sz="6600" spc="-215" dirty="0"/>
              <a:t> </a:t>
            </a:r>
            <a:r>
              <a:rPr sz="6600" dirty="0"/>
              <a:t>Of</a:t>
            </a:r>
            <a:r>
              <a:rPr sz="6600" spc="-160" dirty="0"/>
              <a:t> </a:t>
            </a:r>
            <a:r>
              <a:rPr sz="6600" dirty="0"/>
              <a:t>Sparse</a:t>
            </a:r>
            <a:r>
              <a:rPr sz="6600" spc="-270" dirty="0"/>
              <a:t> </a:t>
            </a:r>
            <a:r>
              <a:rPr sz="6600" spc="-10" dirty="0"/>
              <a:t>Matrix</a:t>
            </a:r>
            <a:endParaRPr sz="6600"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83</a:t>
            </a:fld>
            <a:endParaRPr spc="-25" dirty="0"/>
          </a:p>
        </p:txBody>
      </p:sp>
      <p:sp>
        <p:nvSpPr>
          <p:cNvPr id="9" name="object 9"/>
          <p:cNvSpPr txBox="1"/>
          <p:nvPr/>
        </p:nvSpPr>
        <p:spPr>
          <a:xfrm>
            <a:off x="256438" y="1731340"/>
            <a:ext cx="12667615" cy="6981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latin typeface="Times New Roman"/>
                <a:cs typeface="Times New Roman"/>
              </a:rPr>
              <a:t>Fast</a:t>
            </a:r>
            <a:r>
              <a:rPr sz="3200" b="1" spc="100" dirty="0">
                <a:latin typeface="Times New Roman"/>
                <a:cs typeface="Times New Roman"/>
              </a:rPr>
              <a:t> </a:t>
            </a:r>
            <a:r>
              <a:rPr sz="3200" b="1" spc="-10" dirty="0">
                <a:latin typeface="Times New Roman"/>
                <a:cs typeface="Times New Roman"/>
              </a:rPr>
              <a:t>transpose</a:t>
            </a:r>
            <a:endParaRPr sz="3200">
              <a:latin typeface="Times New Roman"/>
              <a:cs typeface="Times New Roman"/>
            </a:endParaRPr>
          </a:p>
          <a:p>
            <a:pPr marL="469900" marR="5080" indent="-457834">
              <a:lnSpc>
                <a:spcPct val="150100"/>
              </a:lnSpc>
              <a:spcBef>
                <a:spcPts val="1400"/>
              </a:spcBef>
              <a:buFont typeface="Arial MT"/>
              <a:buChar char="•"/>
              <a:tabLst>
                <a:tab pos="469900" algn="l"/>
              </a:tabLst>
            </a:pPr>
            <a:r>
              <a:rPr sz="3200" dirty="0">
                <a:latin typeface="Times New Roman"/>
                <a:cs typeface="Times New Roman"/>
              </a:rPr>
              <a:t>Algorithm</a:t>
            </a:r>
            <a:r>
              <a:rPr sz="3200" spc="1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computes</a:t>
            </a:r>
            <a:r>
              <a:rPr sz="3200" spc="1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1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advance</a:t>
            </a:r>
            <a:r>
              <a:rPr sz="3200" spc="1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1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starting</a:t>
            </a:r>
            <a:r>
              <a:rPr sz="3200" spc="1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array</a:t>
            </a:r>
            <a:r>
              <a:rPr sz="3200" spc="1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index</a:t>
            </a:r>
            <a:r>
              <a:rPr sz="3200" spc="1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1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size</a:t>
            </a:r>
            <a:r>
              <a:rPr sz="3200" spc="1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for</a:t>
            </a:r>
            <a:r>
              <a:rPr sz="3200" spc="140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each </a:t>
            </a:r>
            <a:r>
              <a:rPr sz="3200" dirty="0">
                <a:latin typeface="Times New Roman"/>
                <a:cs typeface="Times New Roman"/>
              </a:rPr>
              <a:t>row</a:t>
            </a:r>
            <a:r>
              <a:rPr sz="3200" spc="10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11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11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transposed</a:t>
            </a:r>
            <a:r>
              <a:rPr sz="3200" spc="12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matrix.</a:t>
            </a:r>
            <a:endParaRPr sz="32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3310"/>
              </a:spcBef>
              <a:buFont typeface="Arial MT"/>
              <a:buChar char="•"/>
              <a:tabLst>
                <a:tab pos="469900" algn="l"/>
              </a:tabLst>
            </a:pPr>
            <a:r>
              <a:rPr sz="3200" dirty="0">
                <a:latin typeface="Times New Roman"/>
                <a:cs typeface="Times New Roman"/>
              </a:rPr>
              <a:t>Time</a:t>
            </a:r>
            <a:r>
              <a:rPr sz="3200" spc="10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complexity</a:t>
            </a:r>
            <a:endParaRPr sz="3200">
              <a:latin typeface="Times New Roman"/>
              <a:cs typeface="Times New Roman"/>
            </a:endParaRPr>
          </a:p>
          <a:p>
            <a:pPr marL="596265" marR="7620" indent="-584200">
              <a:lnSpc>
                <a:spcPct val="146400"/>
              </a:lnSpc>
              <a:spcBef>
                <a:spcPts val="1545"/>
              </a:spcBef>
              <a:buSzPct val="114285"/>
              <a:buAutoNum type="arabicPeriod"/>
              <a:tabLst>
                <a:tab pos="596265" algn="l"/>
                <a:tab pos="4071620" algn="l"/>
                <a:tab pos="4872990" algn="l"/>
                <a:tab pos="8562975" algn="l"/>
                <a:tab pos="10046335" algn="l"/>
                <a:tab pos="10887075" algn="l"/>
                <a:tab pos="12030710" algn="l"/>
              </a:tabLst>
            </a:pPr>
            <a:r>
              <a:rPr sz="2800" spc="-10" dirty="0">
                <a:latin typeface="Times New Roman"/>
                <a:cs typeface="Times New Roman"/>
              </a:rPr>
              <a:t>O(NumberOfTerms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0" dirty="0">
                <a:latin typeface="Times New Roman"/>
                <a:cs typeface="Times New Roman"/>
              </a:rPr>
              <a:t>+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NumberOfColumns),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which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5" dirty="0">
                <a:latin typeface="Times New Roman"/>
                <a:cs typeface="Times New Roman"/>
              </a:rPr>
              <a:t>is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0" dirty="0">
                <a:latin typeface="Times New Roman"/>
                <a:cs typeface="Times New Roman"/>
              </a:rPr>
              <a:t>less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0" dirty="0">
                <a:latin typeface="Times New Roman"/>
                <a:cs typeface="Times New Roman"/>
              </a:rPr>
              <a:t>than </a:t>
            </a:r>
            <a:r>
              <a:rPr sz="2800" dirty="0">
                <a:latin typeface="Times New Roman"/>
                <a:cs typeface="Times New Roman"/>
              </a:rPr>
              <a:t>O(NumberOfRows</a:t>
            </a:r>
            <a:r>
              <a:rPr sz="2800" spc="204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*</a:t>
            </a:r>
            <a:r>
              <a:rPr sz="2800" spc="1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NumberOfColumns)</a:t>
            </a:r>
            <a:r>
              <a:rPr sz="2800" spc="204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1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sparse</a:t>
            </a:r>
            <a:r>
              <a:rPr sz="2800" spc="1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matrices.</a:t>
            </a:r>
            <a:endParaRPr sz="2800">
              <a:latin typeface="Times New Roman"/>
              <a:cs typeface="Times New Roman"/>
            </a:endParaRPr>
          </a:p>
          <a:p>
            <a:pPr marL="527685" marR="5715" indent="-515620">
              <a:lnSpc>
                <a:spcPct val="150000"/>
              </a:lnSpc>
              <a:spcBef>
                <a:spcPts val="1405"/>
              </a:spcBef>
              <a:buAutoNum type="arabicPeriod"/>
              <a:tabLst>
                <a:tab pos="527685" algn="l"/>
                <a:tab pos="1026160" algn="l"/>
                <a:tab pos="2225675" algn="l"/>
                <a:tab pos="2722245" algn="l"/>
                <a:tab pos="3441700" algn="l"/>
                <a:tab pos="4157979" algn="l"/>
                <a:tab pos="5319395" algn="l"/>
                <a:tab pos="6200775" algn="l"/>
                <a:tab pos="8947150" algn="l"/>
                <a:tab pos="9445625" algn="l"/>
                <a:tab pos="12475845" algn="l"/>
              </a:tabLst>
            </a:pPr>
            <a:r>
              <a:rPr sz="2800" spc="-25" dirty="0">
                <a:latin typeface="Times New Roman"/>
                <a:cs typeface="Times New Roman"/>
              </a:rPr>
              <a:t>If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matrix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5" dirty="0">
                <a:latin typeface="Times New Roman"/>
                <a:cs typeface="Times New Roman"/>
              </a:rPr>
              <a:t>is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5" dirty="0">
                <a:latin typeface="Times New Roman"/>
                <a:cs typeface="Times New Roman"/>
              </a:rPr>
              <a:t>not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5" dirty="0">
                <a:latin typeface="Times New Roman"/>
                <a:cs typeface="Times New Roman"/>
              </a:rPr>
              <a:t>too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sparse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0" dirty="0">
                <a:latin typeface="Times New Roman"/>
                <a:cs typeface="Times New Roman"/>
              </a:rPr>
              <a:t>then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NumberOfTerms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5" dirty="0">
                <a:latin typeface="Times New Roman"/>
                <a:cs typeface="Times New Roman"/>
              </a:rPr>
              <a:t>is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O(NumberOfRows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0" dirty="0">
                <a:latin typeface="Times New Roman"/>
                <a:cs typeface="Times New Roman"/>
              </a:rPr>
              <a:t>* </a:t>
            </a:r>
            <a:r>
              <a:rPr sz="2800" dirty="0">
                <a:latin typeface="Times New Roman"/>
                <a:cs typeface="Times New Roman"/>
              </a:rPr>
              <a:t>NumberOfColumns),</a:t>
            </a:r>
            <a:r>
              <a:rPr sz="2800" spc="1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so</a:t>
            </a:r>
            <a:r>
              <a:rPr sz="2800" spc="1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complexity</a:t>
            </a:r>
            <a:r>
              <a:rPr sz="2800" spc="1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1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O(NumberOfRows</a:t>
            </a:r>
            <a:r>
              <a:rPr sz="2800" spc="2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*</a:t>
            </a:r>
            <a:r>
              <a:rPr sz="2800" spc="1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NumberOfColumns)</a:t>
            </a:r>
            <a:endParaRPr sz="2800">
              <a:latin typeface="Times New Roman"/>
              <a:cs typeface="Times New Roman"/>
            </a:endParaRPr>
          </a:p>
          <a:p>
            <a:pPr marL="469900" lvl="1" indent="-457200">
              <a:lnSpc>
                <a:spcPct val="100000"/>
              </a:lnSpc>
              <a:spcBef>
                <a:spcPts val="3215"/>
              </a:spcBef>
              <a:buFont typeface="Arial MT"/>
              <a:buChar char="•"/>
              <a:tabLst>
                <a:tab pos="469900" algn="l"/>
              </a:tabLst>
            </a:pPr>
            <a:r>
              <a:rPr sz="3200" dirty="0">
                <a:latin typeface="Times New Roman"/>
                <a:cs typeface="Times New Roman"/>
              </a:rPr>
              <a:t>Pay</a:t>
            </a:r>
            <a:r>
              <a:rPr sz="3200" spc="10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10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space</a:t>
            </a:r>
            <a:r>
              <a:rPr sz="3200" spc="11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complexity</a:t>
            </a:r>
            <a:r>
              <a:rPr sz="3200" spc="1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due</a:t>
            </a:r>
            <a:r>
              <a:rPr sz="3200" spc="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1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11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extra.”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92964"/>
            <a:ext cx="13004800" cy="2184400"/>
            <a:chOff x="0" y="92964"/>
            <a:chExt cx="13004800" cy="21844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92964"/>
              <a:ext cx="2859024" cy="218389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54480" y="92964"/>
              <a:ext cx="7395972" cy="218389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77555" y="92964"/>
              <a:ext cx="5126736" cy="2183892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16285" rIns="0" bIns="0" rtlCol="0">
            <a:spAutoFit/>
          </a:bodyPr>
          <a:lstStyle/>
          <a:p>
            <a:pPr marL="208915">
              <a:lnSpc>
                <a:spcPct val="100000"/>
              </a:lnSpc>
              <a:spcBef>
                <a:spcPts val="105"/>
              </a:spcBef>
            </a:pPr>
            <a:r>
              <a:rPr dirty="0"/>
              <a:t>Fast</a:t>
            </a:r>
            <a:r>
              <a:rPr spc="-290" dirty="0"/>
              <a:t> </a:t>
            </a:r>
            <a:r>
              <a:rPr dirty="0"/>
              <a:t>Sparse</a:t>
            </a:r>
            <a:r>
              <a:rPr spc="-180" dirty="0"/>
              <a:t> </a:t>
            </a:r>
            <a:r>
              <a:rPr dirty="0"/>
              <a:t>matrix</a:t>
            </a:r>
            <a:r>
              <a:rPr spc="-240" dirty="0"/>
              <a:t> </a:t>
            </a:r>
            <a:r>
              <a:rPr spc="-10" dirty="0"/>
              <a:t>transpose</a:t>
            </a: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1729991"/>
            <a:ext cx="13004292" cy="8023606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84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92964"/>
            <a:ext cx="13004800" cy="2184400"/>
            <a:chOff x="0" y="92964"/>
            <a:chExt cx="13004800" cy="21844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92964"/>
              <a:ext cx="2859024" cy="218389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54480" y="92964"/>
              <a:ext cx="7395972" cy="218389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77555" y="92964"/>
              <a:ext cx="5126736" cy="2183892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16285" rIns="0" bIns="0" rtlCol="0">
            <a:spAutoFit/>
          </a:bodyPr>
          <a:lstStyle/>
          <a:p>
            <a:pPr marL="208915">
              <a:lnSpc>
                <a:spcPct val="100000"/>
              </a:lnSpc>
              <a:spcBef>
                <a:spcPts val="105"/>
              </a:spcBef>
            </a:pPr>
            <a:r>
              <a:rPr dirty="0"/>
              <a:t>Fast</a:t>
            </a:r>
            <a:r>
              <a:rPr spc="-290" dirty="0"/>
              <a:t> </a:t>
            </a:r>
            <a:r>
              <a:rPr dirty="0"/>
              <a:t>Sparse</a:t>
            </a:r>
            <a:r>
              <a:rPr spc="-180" dirty="0"/>
              <a:t> </a:t>
            </a:r>
            <a:r>
              <a:rPr dirty="0"/>
              <a:t>matrix</a:t>
            </a:r>
            <a:r>
              <a:rPr spc="-240" dirty="0"/>
              <a:t> </a:t>
            </a:r>
            <a:r>
              <a:rPr spc="-10" dirty="0"/>
              <a:t>transpose</a:t>
            </a: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80975" y="1524000"/>
            <a:ext cx="12493625" cy="7772400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85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7859" y="3375152"/>
            <a:ext cx="11086465" cy="2997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02590" marR="1957070" indent="-390525">
              <a:lnSpc>
                <a:spcPct val="100000"/>
              </a:lnSpc>
              <a:spcBef>
                <a:spcPts val="95"/>
              </a:spcBef>
              <a:buClr>
                <a:srgbClr val="E0E1DC"/>
              </a:buClr>
              <a:buSzPct val="94117"/>
              <a:buFont typeface="Wingdings"/>
              <a:buChar char=""/>
              <a:tabLst>
                <a:tab pos="402590" algn="l"/>
              </a:tabLst>
            </a:pPr>
            <a:r>
              <a:rPr sz="3400" i="1" spc="-10" dirty="0">
                <a:latin typeface="Constantia"/>
                <a:cs typeface="Constantia"/>
              </a:rPr>
              <a:t>It</a:t>
            </a:r>
            <a:r>
              <a:rPr sz="3400" i="1" spc="-180" dirty="0">
                <a:latin typeface="Constantia"/>
                <a:cs typeface="Constantia"/>
              </a:rPr>
              <a:t> </a:t>
            </a:r>
            <a:r>
              <a:rPr sz="3400" i="1" dirty="0">
                <a:latin typeface="Constantia"/>
                <a:cs typeface="Constantia"/>
              </a:rPr>
              <a:t>is</a:t>
            </a:r>
            <a:r>
              <a:rPr sz="3400" i="1" spc="-140" dirty="0">
                <a:latin typeface="Constantia"/>
                <a:cs typeface="Constantia"/>
              </a:rPr>
              <a:t> </a:t>
            </a:r>
            <a:r>
              <a:rPr sz="3400" i="1" spc="-10" dirty="0">
                <a:latin typeface="Constantia"/>
                <a:cs typeface="Constantia"/>
              </a:rPr>
              <a:t>usually</a:t>
            </a:r>
            <a:r>
              <a:rPr sz="3400" i="1" spc="-114" dirty="0">
                <a:latin typeface="Constantia"/>
                <a:cs typeface="Constantia"/>
              </a:rPr>
              <a:t> </a:t>
            </a:r>
            <a:r>
              <a:rPr sz="3400" i="1" dirty="0">
                <a:latin typeface="Constantia"/>
                <a:cs typeface="Constantia"/>
              </a:rPr>
              <a:t>formed</a:t>
            </a:r>
            <a:r>
              <a:rPr sz="3400" i="1" spc="-35" dirty="0">
                <a:latin typeface="Constantia"/>
                <a:cs typeface="Constantia"/>
              </a:rPr>
              <a:t> </a:t>
            </a:r>
            <a:r>
              <a:rPr sz="3400" i="1" spc="-10" dirty="0">
                <a:latin typeface="Constantia"/>
                <a:cs typeface="Constantia"/>
              </a:rPr>
              <a:t>from</a:t>
            </a:r>
            <a:r>
              <a:rPr sz="3400" i="1" spc="-150" dirty="0">
                <a:latin typeface="Constantia"/>
                <a:cs typeface="Constantia"/>
              </a:rPr>
              <a:t> </a:t>
            </a:r>
            <a:r>
              <a:rPr sz="3400" i="1" dirty="0">
                <a:latin typeface="Constantia"/>
                <a:cs typeface="Constantia"/>
              </a:rPr>
              <a:t>the</a:t>
            </a:r>
            <a:r>
              <a:rPr sz="3400" i="1" spc="-155" dirty="0">
                <a:latin typeface="Constantia"/>
                <a:cs typeface="Constantia"/>
              </a:rPr>
              <a:t> </a:t>
            </a:r>
            <a:r>
              <a:rPr sz="3400" i="1" spc="-30" dirty="0">
                <a:latin typeface="Constantia"/>
                <a:cs typeface="Constantia"/>
              </a:rPr>
              <a:t>character</a:t>
            </a:r>
            <a:r>
              <a:rPr sz="3400" i="1" spc="-195" dirty="0">
                <a:latin typeface="Constantia"/>
                <a:cs typeface="Constantia"/>
              </a:rPr>
              <a:t> </a:t>
            </a:r>
            <a:r>
              <a:rPr sz="3400" i="1" dirty="0">
                <a:latin typeface="Constantia"/>
                <a:cs typeface="Constantia"/>
              </a:rPr>
              <a:t>set</a:t>
            </a:r>
            <a:r>
              <a:rPr sz="3400" i="1" spc="-165" dirty="0">
                <a:latin typeface="Constantia"/>
                <a:cs typeface="Constantia"/>
              </a:rPr>
              <a:t> </a:t>
            </a:r>
            <a:r>
              <a:rPr sz="3400" i="1" dirty="0">
                <a:latin typeface="Constantia"/>
                <a:cs typeface="Constantia"/>
              </a:rPr>
              <a:t>of</a:t>
            </a:r>
            <a:r>
              <a:rPr sz="3400" i="1" spc="40" dirty="0">
                <a:latin typeface="Constantia"/>
                <a:cs typeface="Constantia"/>
              </a:rPr>
              <a:t> </a:t>
            </a:r>
            <a:r>
              <a:rPr sz="3400" i="1" spc="-25" dirty="0">
                <a:latin typeface="Constantia"/>
                <a:cs typeface="Constantia"/>
              </a:rPr>
              <a:t>the </a:t>
            </a:r>
            <a:r>
              <a:rPr sz="3400" i="1" spc="-10" dirty="0">
                <a:latin typeface="Constantia"/>
                <a:cs typeface="Constantia"/>
              </a:rPr>
              <a:t>programming</a:t>
            </a:r>
            <a:r>
              <a:rPr sz="3400" i="1" spc="-130" dirty="0">
                <a:latin typeface="Constantia"/>
                <a:cs typeface="Constantia"/>
              </a:rPr>
              <a:t> </a:t>
            </a:r>
            <a:r>
              <a:rPr sz="3400" i="1" spc="-10" dirty="0">
                <a:latin typeface="Constantia"/>
                <a:cs typeface="Constantia"/>
              </a:rPr>
              <a:t>language</a:t>
            </a:r>
            <a:endParaRPr sz="3400">
              <a:latin typeface="Constantia"/>
              <a:cs typeface="Constantia"/>
            </a:endParaRPr>
          </a:p>
          <a:p>
            <a:pPr marL="403860" indent="-389890">
              <a:lnSpc>
                <a:spcPct val="100000"/>
              </a:lnSpc>
              <a:spcBef>
                <a:spcPts val="805"/>
              </a:spcBef>
              <a:buClr>
                <a:srgbClr val="E0E1DC"/>
              </a:buClr>
              <a:buSzPct val="94117"/>
              <a:buFont typeface="Wingdings"/>
              <a:buChar char=""/>
              <a:tabLst>
                <a:tab pos="403860" algn="l"/>
              </a:tabLst>
            </a:pPr>
            <a:r>
              <a:rPr sz="3400" i="1" dirty="0">
                <a:latin typeface="Constantia"/>
                <a:cs typeface="Constantia"/>
              </a:rPr>
              <a:t>The</a:t>
            </a:r>
            <a:r>
              <a:rPr sz="3400" i="1" spc="-120" dirty="0">
                <a:latin typeface="Constantia"/>
                <a:cs typeface="Constantia"/>
              </a:rPr>
              <a:t> </a:t>
            </a:r>
            <a:r>
              <a:rPr sz="3400" i="1" dirty="0">
                <a:latin typeface="Constantia"/>
                <a:cs typeface="Constantia"/>
              </a:rPr>
              <a:t>value</a:t>
            </a:r>
            <a:r>
              <a:rPr sz="3400" i="1" spc="-60" dirty="0">
                <a:latin typeface="Constantia"/>
                <a:cs typeface="Constantia"/>
              </a:rPr>
              <a:t> </a:t>
            </a:r>
            <a:r>
              <a:rPr sz="3400" i="1" dirty="0">
                <a:latin typeface="Constantia"/>
                <a:cs typeface="Constantia"/>
              </a:rPr>
              <a:t>n</a:t>
            </a:r>
            <a:r>
              <a:rPr sz="3400" i="1" spc="-15" dirty="0">
                <a:latin typeface="Constantia"/>
                <a:cs typeface="Constantia"/>
              </a:rPr>
              <a:t> </a:t>
            </a:r>
            <a:r>
              <a:rPr sz="3400" i="1" dirty="0">
                <a:latin typeface="Constantia"/>
                <a:cs typeface="Constantia"/>
              </a:rPr>
              <a:t>is</a:t>
            </a:r>
            <a:r>
              <a:rPr sz="3400" i="1" spc="-15" dirty="0">
                <a:latin typeface="Constantia"/>
                <a:cs typeface="Constantia"/>
              </a:rPr>
              <a:t> </a:t>
            </a:r>
            <a:r>
              <a:rPr sz="3400" i="1" dirty="0">
                <a:latin typeface="Constantia"/>
                <a:cs typeface="Constantia"/>
              </a:rPr>
              <a:t>the</a:t>
            </a:r>
            <a:r>
              <a:rPr sz="3400" i="1" spc="-100" dirty="0">
                <a:latin typeface="Constantia"/>
                <a:cs typeface="Constantia"/>
              </a:rPr>
              <a:t> </a:t>
            </a:r>
            <a:r>
              <a:rPr sz="3400" i="1" dirty="0">
                <a:latin typeface="Constantia"/>
                <a:cs typeface="Constantia"/>
              </a:rPr>
              <a:t>length</a:t>
            </a:r>
            <a:r>
              <a:rPr sz="3400" i="1" spc="-50" dirty="0">
                <a:latin typeface="Constantia"/>
                <a:cs typeface="Constantia"/>
              </a:rPr>
              <a:t> </a:t>
            </a:r>
            <a:r>
              <a:rPr sz="3400" i="1" dirty="0">
                <a:latin typeface="Constantia"/>
                <a:cs typeface="Constantia"/>
              </a:rPr>
              <a:t>of</a:t>
            </a:r>
            <a:r>
              <a:rPr sz="3400" i="1" spc="-100" dirty="0">
                <a:latin typeface="Constantia"/>
                <a:cs typeface="Constantia"/>
              </a:rPr>
              <a:t> </a:t>
            </a:r>
            <a:r>
              <a:rPr sz="3400" i="1" dirty="0">
                <a:latin typeface="Constantia"/>
                <a:cs typeface="Constantia"/>
              </a:rPr>
              <a:t>the</a:t>
            </a:r>
            <a:r>
              <a:rPr sz="3400" i="1" spc="-85" dirty="0">
                <a:latin typeface="Constantia"/>
                <a:cs typeface="Constantia"/>
              </a:rPr>
              <a:t> </a:t>
            </a:r>
            <a:r>
              <a:rPr sz="3400" i="1" spc="-20" dirty="0">
                <a:latin typeface="Constantia"/>
                <a:cs typeface="Constantia"/>
              </a:rPr>
              <a:t>character</a:t>
            </a:r>
            <a:r>
              <a:rPr sz="3400" i="1" spc="-90" dirty="0">
                <a:latin typeface="Constantia"/>
                <a:cs typeface="Constantia"/>
              </a:rPr>
              <a:t> </a:t>
            </a:r>
            <a:r>
              <a:rPr sz="3400" i="1" dirty="0">
                <a:latin typeface="Constantia"/>
                <a:cs typeface="Constantia"/>
              </a:rPr>
              <a:t>string</a:t>
            </a:r>
            <a:r>
              <a:rPr sz="3400" i="1" spc="-65" dirty="0">
                <a:latin typeface="Constantia"/>
                <a:cs typeface="Constantia"/>
              </a:rPr>
              <a:t> </a:t>
            </a:r>
            <a:r>
              <a:rPr sz="3400" i="1" dirty="0">
                <a:latin typeface="Constantia"/>
                <a:cs typeface="Constantia"/>
              </a:rPr>
              <a:t>S</a:t>
            </a:r>
            <a:r>
              <a:rPr sz="3400" i="1" spc="-15" dirty="0">
                <a:latin typeface="Constantia"/>
                <a:cs typeface="Constantia"/>
              </a:rPr>
              <a:t> </a:t>
            </a:r>
            <a:r>
              <a:rPr sz="3400" i="1" spc="-10" dirty="0">
                <a:latin typeface="Constantia"/>
                <a:cs typeface="Constantia"/>
              </a:rPr>
              <a:t>where</a:t>
            </a:r>
            <a:r>
              <a:rPr sz="3400" i="1" spc="-130" dirty="0">
                <a:latin typeface="Constantia"/>
                <a:cs typeface="Constantia"/>
              </a:rPr>
              <a:t> </a:t>
            </a:r>
            <a:r>
              <a:rPr sz="3400" i="1" spc="-25" dirty="0">
                <a:latin typeface="Constantia"/>
                <a:cs typeface="Constantia"/>
              </a:rPr>
              <a:t>n</a:t>
            </a:r>
            <a:r>
              <a:rPr sz="3400" i="1" spc="-250" dirty="0">
                <a:latin typeface="Constantia"/>
                <a:cs typeface="Constantia"/>
              </a:rPr>
              <a:t> </a:t>
            </a:r>
            <a:r>
              <a:rPr sz="3400" i="1" spc="-50" dirty="0">
                <a:latin typeface="Constantia"/>
                <a:cs typeface="Constantia"/>
              </a:rPr>
              <a:t>³</a:t>
            </a:r>
            <a:endParaRPr sz="3400">
              <a:latin typeface="Constantia"/>
              <a:cs typeface="Constantia"/>
            </a:endParaRPr>
          </a:p>
          <a:p>
            <a:pPr marL="402590">
              <a:lnSpc>
                <a:spcPct val="100000"/>
              </a:lnSpc>
              <a:spcBef>
                <a:spcPts val="1405"/>
              </a:spcBef>
            </a:pPr>
            <a:r>
              <a:rPr sz="3400" i="1" spc="-50" dirty="0">
                <a:latin typeface="Constantia"/>
                <a:cs typeface="Constantia"/>
              </a:rPr>
              <a:t>0</a:t>
            </a:r>
            <a:endParaRPr sz="3400">
              <a:latin typeface="Constantia"/>
              <a:cs typeface="Constantia"/>
            </a:endParaRPr>
          </a:p>
          <a:p>
            <a:pPr marL="506095" indent="-493395">
              <a:lnSpc>
                <a:spcPct val="100000"/>
              </a:lnSpc>
              <a:spcBef>
                <a:spcPts val="790"/>
              </a:spcBef>
              <a:buClr>
                <a:srgbClr val="E0E1DC"/>
              </a:buClr>
              <a:buSzPct val="94117"/>
              <a:buFont typeface="Wingdings"/>
              <a:buChar char=""/>
              <a:tabLst>
                <a:tab pos="506095" algn="l"/>
              </a:tabLst>
            </a:pPr>
            <a:r>
              <a:rPr sz="3400" i="1" dirty="0">
                <a:latin typeface="Constantia"/>
                <a:cs typeface="Constantia"/>
              </a:rPr>
              <a:t>If n</a:t>
            </a:r>
            <a:r>
              <a:rPr sz="3400" i="1" spc="30" dirty="0">
                <a:latin typeface="Constantia"/>
                <a:cs typeface="Constantia"/>
              </a:rPr>
              <a:t> </a:t>
            </a:r>
            <a:r>
              <a:rPr sz="3400" i="1" dirty="0">
                <a:latin typeface="Constantia"/>
                <a:cs typeface="Constantia"/>
              </a:rPr>
              <a:t>=</a:t>
            </a:r>
            <a:r>
              <a:rPr sz="3400" i="1" spc="15" dirty="0">
                <a:latin typeface="Constantia"/>
                <a:cs typeface="Constantia"/>
              </a:rPr>
              <a:t> </a:t>
            </a:r>
            <a:r>
              <a:rPr sz="3400" i="1" dirty="0">
                <a:latin typeface="Constantia"/>
                <a:cs typeface="Constantia"/>
              </a:rPr>
              <a:t>0</a:t>
            </a:r>
            <a:r>
              <a:rPr sz="3400" i="1" spc="25" dirty="0">
                <a:latin typeface="Constantia"/>
                <a:cs typeface="Constantia"/>
              </a:rPr>
              <a:t> </a:t>
            </a:r>
            <a:r>
              <a:rPr sz="3400" i="1" dirty="0">
                <a:latin typeface="Constantia"/>
                <a:cs typeface="Constantia"/>
              </a:rPr>
              <a:t>then</a:t>
            </a:r>
            <a:r>
              <a:rPr sz="3400" i="1" spc="-65" dirty="0">
                <a:latin typeface="Constantia"/>
                <a:cs typeface="Constantia"/>
              </a:rPr>
              <a:t> </a:t>
            </a:r>
            <a:r>
              <a:rPr sz="3400" i="1" dirty="0">
                <a:latin typeface="Constantia"/>
                <a:cs typeface="Constantia"/>
              </a:rPr>
              <a:t>S</a:t>
            </a:r>
            <a:r>
              <a:rPr sz="3400" i="1" spc="30" dirty="0">
                <a:latin typeface="Constantia"/>
                <a:cs typeface="Constantia"/>
              </a:rPr>
              <a:t> </a:t>
            </a:r>
            <a:r>
              <a:rPr sz="3400" i="1" dirty="0">
                <a:latin typeface="Constantia"/>
                <a:cs typeface="Constantia"/>
              </a:rPr>
              <a:t>is</a:t>
            </a:r>
            <a:r>
              <a:rPr sz="3400" i="1" spc="-50" dirty="0">
                <a:latin typeface="Constantia"/>
                <a:cs typeface="Constantia"/>
              </a:rPr>
              <a:t> </a:t>
            </a:r>
            <a:r>
              <a:rPr sz="3400" i="1" dirty="0">
                <a:latin typeface="Constantia"/>
                <a:cs typeface="Constantia"/>
              </a:rPr>
              <a:t>called</a:t>
            </a:r>
            <a:r>
              <a:rPr sz="3400" i="1" spc="-30" dirty="0">
                <a:latin typeface="Constantia"/>
                <a:cs typeface="Constantia"/>
              </a:rPr>
              <a:t> </a:t>
            </a:r>
            <a:r>
              <a:rPr sz="3400" i="1" dirty="0">
                <a:latin typeface="Constantia"/>
                <a:cs typeface="Constantia"/>
              </a:rPr>
              <a:t>a</a:t>
            </a:r>
            <a:r>
              <a:rPr sz="3400" i="1" spc="25" dirty="0">
                <a:latin typeface="Constantia"/>
                <a:cs typeface="Constantia"/>
              </a:rPr>
              <a:t> </a:t>
            </a:r>
            <a:r>
              <a:rPr sz="3400" i="1" dirty="0">
                <a:latin typeface="Constantia"/>
                <a:cs typeface="Constantia"/>
              </a:rPr>
              <a:t>null</a:t>
            </a:r>
            <a:r>
              <a:rPr sz="3400" i="1" spc="40" dirty="0">
                <a:latin typeface="Constantia"/>
                <a:cs typeface="Constantia"/>
              </a:rPr>
              <a:t> </a:t>
            </a:r>
            <a:r>
              <a:rPr sz="3400" i="1" dirty="0">
                <a:latin typeface="Constantia"/>
                <a:cs typeface="Constantia"/>
              </a:rPr>
              <a:t>string</a:t>
            </a:r>
            <a:r>
              <a:rPr sz="3400" i="1" spc="-10" dirty="0">
                <a:latin typeface="Constantia"/>
                <a:cs typeface="Constantia"/>
              </a:rPr>
              <a:t> </a:t>
            </a:r>
            <a:r>
              <a:rPr sz="3400" i="1" dirty="0">
                <a:latin typeface="Constantia"/>
                <a:cs typeface="Constantia"/>
              </a:rPr>
              <a:t>or</a:t>
            </a:r>
            <a:r>
              <a:rPr sz="3400" i="1" spc="-60" dirty="0">
                <a:latin typeface="Constantia"/>
                <a:cs typeface="Constantia"/>
              </a:rPr>
              <a:t> </a:t>
            </a:r>
            <a:r>
              <a:rPr sz="3400" i="1" spc="-30" dirty="0">
                <a:latin typeface="Constantia"/>
                <a:cs typeface="Constantia"/>
              </a:rPr>
              <a:t>empty</a:t>
            </a:r>
            <a:r>
              <a:rPr sz="3400" i="1" spc="-210" dirty="0">
                <a:latin typeface="Constantia"/>
                <a:cs typeface="Constantia"/>
              </a:rPr>
              <a:t> </a:t>
            </a:r>
            <a:r>
              <a:rPr sz="3400" i="1" spc="-10" dirty="0">
                <a:latin typeface="Constantia"/>
                <a:cs typeface="Constantia"/>
              </a:rPr>
              <a:t>string</a:t>
            </a:r>
            <a:endParaRPr sz="3400">
              <a:latin typeface="Constantia"/>
              <a:cs typeface="Constanti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269491" y="0"/>
            <a:ext cx="10728960" cy="3035935"/>
            <a:chOff x="1269491" y="0"/>
            <a:chExt cx="10728960" cy="303593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69491" y="0"/>
              <a:ext cx="4317492" cy="186232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82440" y="0"/>
              <a:ext cx="7716011" cy="18623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54680" y="851916"/>
              <a:ext cx="3966972" cy="218389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51803" y="851916"/>
              <a:ext cx="3822192" cy="2183892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909952" y="-79806"/>
            <a:ext cx="9217025" cy="2373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98014" marR="5080" indent="-1885950">
              <a:lnSpc>
                <a:spcPct val="100000"/>
              </a:lnSpc>
              <a:spcBef>
                <a:spcPts val="105"/>
              </a:spcBef>
            </a:pPr>
            <a:r>
              <a:rPr dirty="0"/>
              <a:t>String</a:t>
            </a:r>
            <a:r>
              <a:rPr spc="-50" dirty="0"/>
              <a:t> </a:t>
            </a:r>
            <a:r>
              <a:rPr spc="-10" dirty="0"/>
              <a:t>Manipulation </a:t>
            </a:r>
            <a:r>
              <a:rPr dirty="0"/>
              <a:t>Using</a:t>
            </a:r>
            <a:r>
              <a:rPr spc="-90" dirty="0"/>
              <a:t> </a:t>
            </a:r>
            <a:r>
              <a:rPr spc="-10" dirty="0"/>
              <a:t>Array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86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8449" y="1209547"/>
            <a:ext cx="10949940" cy="5613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2540">
              <a:lnSpc>
                <a:spcPct val="100000"/>
              </a:lnSpc>
              <a:spcBef>
                <a:spcPts val="100"/>
              </a:spcBef>
              <a:buClr>
                <a:srgbClr val="E0E1DC"/>
              </a:buClr>
              <a:buSzPct val="93055"/>
              <a:buFont typeface="Wingdings"/>
              <a:buChar char=""/>
              <a:tabLst>
                <a:tab pos="401955" algn="l"/>
                <a:tab pos="1021080" algn="l"/>
              </a:tabLst>
            </a:pPr>
            <a:r>
              <a:rPr sz="3600" i="1" dirty="0">
                <a:latin typeface="Times New Roman"/>
                <a:cs typeface="Times New Roman"/>
              </a:rPr>
              <a:t>	Basically</a:t>
            </a:r>
            <a:r>
              <a:rPr sz="3600" i="1" spc="-35" dirty="0">
                <a:latin typeface="Times New Roman"/>
                <a:cs typeface="Times New Roman"/>
              </a:rPr>
              <a:t> </a:t>
            </a:r>
            <a:r>
              <a:rPr sz="3600" i="1" dirty="0">
                <a:latin typeface="Times New Roman"/>
                <a:cs typeface="Times New Roman"/>
              </a:rPr>
              <a:t>a</a:t>
            </a:r>
            <a:r>
              <a:rPr sz="3600" i="1" spc="-15" dirty="0">
                <a:latin typeface="Times New Roman"/>
                <a:cs typeface="Times New Roman"/>
              </a:rPr>
              <a:t> </a:t>
            </a:r>
            <a:r>
              <a:rPr sz="3600" i="1" dirty="0">
                <a:latin typeface="Times New Roman"/>
                <a:cs typeface="Times New Roman"/>
              </a:rPr>
              <a:t>string</a:t>
            </a:r>
            <a:r>
              <a:rPr sz="3600" i="1" spc="-120" dirty="0">
                <a:latin typeface="Times New Roman"/>
                <a:cs typeface="Times New Roman"/>
              </a:rPr>
              <a:t> </a:t>
            </a:r>
            <a:r>
              <a:rPr sz="3600" i="1" dirty="0">
                <a:latin typeface="Times New Roman"/>
                <a:cs typeface="Times New Roman"/>
              </a:rPr>
              <a:t>is</a:t>
            </a:r>
            <a:r>
              <a:rPr sz="3600" i="1" spc="-15" dirty="0">
                <a:latin typeface="Times New Roman"/>
                <a:cs typeface="Times New Roman"/>
              </a:rPr>
              <a:t> </a:t>
            </a:r>
            <a:r>
              <a:rPr sz="3600" i="1" dirty="0">
                <a:latin typeface="Times New Roman"/>
                <a:cs typeface="Times New Roman"/>
              </a:rPr>
              <a:t>stored</a:t>
            </a:r>
            <a:r>
              <a:rPr sz="3600" i="1" spc="-90" dirty="0">
                <a:latin typeface="Times New Roman"/>
                <a:cs typeface="Times New Roman"/>
              </a:rPr>
              <a:t> </a:t>
            </a:r>
            <a:r>
              <a:rPr sz="3600" i="1" dirty="0">
                <a:latin typeface="Times New Roman"/>
                <a:cs typeface="Times New Roman"/>
              </a:rPr>
              <a:t>as</a:t>
            </a:r>
            <a:r>
              <a:rPr sz="3600" i="1" spc="-25" dirty="0">
                <a:latin typeface="Times New Roman"/>
                <a:cs typeface="Times New Roman"/>
              </a:rPr>
              <a:t> </a:t>
            </a:r>
            <a:r>
              <a:rPr sz="3600" i="1" dirty="0">
                <a:latin typeface="Times New Roman"/>
                <a:cs typeface="Times New Roman"/>
              </a:rPr>
              <a:t>a</a:t>
            </a:r>
            <a:r>
              <a:rPr sz="3600" i="1" spc="-20" dirty="0">
                <a:latin typeface="Times New Roman"/>
                <a:cs typeface="Times New Roman"/>
              </a:rPr>
              <a:t> </a:t>
            </a:r>
            <a:r>
              <a:rPr sz="3600" i="1" dirty="0">
                <a:latin typeface="Times New Roman"/>
                <a:cs typeface="Times New Roman"/>
              </a:rPr>
              <a:t>sequence</a:t>
            </a:r>
            <a:r>
              <a:rPr sz="3600" i="1" spc="-50" dirty="0">
                <a:latin typeface="Times New Roman"/>
                <a:cs typeface="Times New Roman"/>
              </a:rPr>
              <a:t> </a:t>
            </a:r>
            <a:r>
              <a:rPr sz="3600" i="1" dirty="0">
                <a:latin typeface="Times New Roman"/>
                <a:cs typeface="Times New Roman"/>
              </a:rPr>
              <a:t>of</a:t>
            </a:r>
            <a:r>
              <a:rPr sz="3600" i="1" spc="-80" dirty="0">
                <a:latin typeface="Times New Roman"/>
                <a:cs typeface="Times New Roman"/>
              </a:rPr>
              <a:t> </a:t>
            </a:r>
            <a:r>
              <a:rPr sz="3600" i="1" dirty="0">
                <a:latin typeface="Times New Roman"/>
                <a:cs typeface="Times New Roman"/>
              </a:rPr>
              <a:t>characters</a:t>
            </a:r>
            <a:r>
              <a:rPr sz="3600" i="1" spc="-125" dirty="0">
                <a:latin typeface="Times New Roman"/>
                <a:cs typeface="Times New Roman"/>
              </a:rPr>
              <a:t> </a:t>
            </a:r>
            <a:r>
              <a:rPr sz="3600" i="1" spc="-25" dirty="0">
                <a:latin typeface="Times New Roman"/>
                <a:cs typeface="Times New Roman"/>
              </a:rPr>
              <a:t>in </a:t>
            </a:r>
            <a:r>
              <a:rPr sz="3600" i="1" spc="-20" dirty="0">
                <a:latin typeface="Times New Roman"/>
                <a:cs typeface="Times New Roman"/>
              </a:rPr>
              <a:t>one-</a:t>
            </a:r>
            <a:r>
              <a:rPr sz="3600" i="1" dirty="0">
                <a:latin typeface="Times New Roman"/>
                <a:cs typeface="Times New Roman"/>
              </a:rPr>
              <a:t>	dimensional</a:t>
            </a:r>
            <a:r>
              <a:rPr sz="3600" i="1" spc="-95" dirty="0">
                <a:latin typeface="Times New Roman"/>
                <a:cs typeface="Times New Roman"/>
              </a:rPr>
              <a:t> </a:t>
            </a:r>
            <a:r>
              <a:rPr sz="3600" i="1" dirty="0">
                <a:latin typeface="Times New Roman"/>
                <a:cs typeface="Times New Roman"/>
              </a:rPr>
              <a:t>character</a:t>
            </a:r>
            <a:r>
              <a:rPr sz="3600" i="1" spc="-165" dirty="0">
                <a:latin typeface="Times New Roman"/>
                <a:cs typeface="Times New Roman"/>
              </a:rPr>
              <a:t> </a:t>
            </a:r>
            <a:r>
              <a:rPr sz="3600" i="1" dirty="0">
                <a:latin typeface="Times New Roman"/>
                <a:cs typeface="Times New Roman"/>
              </a:rPr>
              <a:t>array</a:t>
            </a:r>
            <a:r>
              <a:rPr sz="3600" i="1" spc="-215" dirty="0">
                <a:latin typeface="Times New Roman"/>
                <a:cs typeface="Times New Roman"/>
              </a:rPr>
              <a:t> </a:t>
            </a:r>
            <a:r>
              <a:rPr sz="3600" i="1" dirty="0">
                <a:latin typeface="Times New Roman"/>
                <a:cs typeface="Times New Roman"/>
              </a:rPr>
              <a:t>say</a:t>
            </a:r>
            <a:r>
              <a:rPr sz="3600" i="1" spc="-195" dirty="0">
                <a:latin typeface="Times New Roman"/>
                <a:cs typeface="Times New Roman"/>
              </a:rPr>
              <a:t> </a:t>
            </a:r>
            <a:r>
              <a:rPr sz="3600" i="1" spc="-25" dirty="0">
                <a:latin typeface="Times New Roman"/>
                <a:cs typeface="Times New Roman"/>
              </a:rPr>
              <a:t>A.</a:t>
            </a:r>
            <a:endParaRPr sz="3600">
              <a:latin typeface="Times New Roman"/>
              <a:cs typeface="Times New Roman"/>
            </a:endParaRPr>
          </a:p>
          <a:p>
            <a:pPr marL="2612390">
              <a:lnSpc>
                <a:spcPct val="100000"/>
              </a:lnSpc>
              <a:spcBef>
                <a:spcPts val="1395"/>
              </a:spcBef>
            </a:pPr>
            <a:r>
              <a:rPr sz="3600" i="1" dirty="0">
                <a:latin typeface="Times New Roman"/>
                <a:cs typeface="Times New Roman"/>
              </a:rPr>
              <a:t>char</a:t>
            </a:r>
            <a:r>
              <a:rPr sz="3600" i="1" spc="5" dirty="0">
                <a:latin typeface="Times New Roman"/>
                <a:cs typeface="Times New Roman"/>
              </a:rPr>
              <a:t> </a:t>
            </a:r>
            <a:r>
              <a:rPr sz="3600" i="1" dirty="0">
                <a:latin typeface="Times New Roman"/>
                <a:cs typeface="Times New Roman"/>
              </a:rPr>
              <a:t>A[10]</a:t>
            </a:r>
            <a:r>
              <a:rPr sz="3600" i="1" spc="-65" dirty="0">
                <a:latin typeface="Times New Roman"/>
                <a:cs typeface="Times New Roman"/>
              </a:rPr>
              <a:t> </a:t>
            </a:r>
            <a:r>
              <a:rPr sz="3600" i="1" dirty="0">
                <a:latin typeface="Times New Roman"/>
                <a:cs typeface="Times New Roman"/>
              </a:rPr>
              <a:t>="STRING"</a:t>
            </a:r>
            <a:r>
              <a:rPr sz="3600" i="1" spc="-80" dirty="0">
                <a:latin typeface="Times New Roman"/>
                <a:cs typeface="Times New Roman"/>
              </a:rPr>
              <a:t> </a:t>
            </a:r>
            <a:r>
              <a:rPr sz="3600" i="1" spc="-50" dirty="0">
                <a:latin typeface="Times New Roman"/>
                <a:cs typeface="Times New Roman"/>
              </a:rPr>
              <a:t>;</a:t>
            </a: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65"/>
              </a:spcBef>
            </a:pPr>
            <a:endParaRPr sz="3600">
              <a:latin typeface="Times New Roman"/>
              <a:cs typeface="Times New Roman"/>
            </a:endParaRPr>
          </a:p>
          <a:p>
            <a:pPr marL="12700" marR="81915">
              <a:lnSpc>
                <a:spcPct val="100000"/>
              </a:lnSpc>
              <a:tabLst>
                <a:tab pos="1999614" algn="l"/>
              </a:tabLst>
            </a:pPr>
            <a:r>
              <a:rPr sz="3600" i="1" dirty="0">
                <a:latin typeface="Times New Roman"/>
                <a:cs typeface="Times New Roman"/>
              </a:rPr>
              <a:t>Each</a:t>
            </a:r>
            <a:r>
              <a:rPr sz="3600" i="1" spc="-90" dirty="0">
                <a:latin typeface="Times New Roman"/>
                <a:cs typeface="Times New Roman"/>
              </a:rPr>
              <a:t> </a:t>
            </a:r>
            <a:r>
              <a:rPr sz="3600" i="1" dirty="0">
                <a:latin typeface="Times New Roman"/>
                <a:cs typeface="Times New Roman"/>
              </a:rPr>
              <a:t>string</a:t>
            </a:r>
            <a:r>
              <a:rPr sz="3600" i="1" spc="-60" dirty="0">
                <a:latin typeface="Times New Roman"/>
                <a:cs typeface="Times New Roman"/>
              </a:rPr>
              <a:t> </a:t>
            </a:r>
            <a:r>
              <a:rPr sz="3600" i="1" dirty="0">
                <a:latin typeface="Times New Roman"/>
                <a:cs typeface="Times New Roman"/>
              </a:rPr>
              <a:t>is</a:t>
            </a:r>
            <a:r>
              <a:rPr sz="3600" i="1" spc="-5" dirty="0">
                <a:latin typeface="Times New Roman"/>
                <a:cs typeface="Times New Roman"/>
              </a:rPr>
              <a:t> </a:t>
            </a:r>
            <a:r>
              <a:rPr sz="3600" i="1" dirty="0">
                <a:latin typeface="Times New Roman"/>
                <a:cs typeface="Times New Roman"/>
              </a:rPr>
              <a:t>terminated</a:t>
            </a:r>
            <a:r>
              <a:rPr sz="3600" i="1" spc="-100" dirty="0">
                <a:latin typeface="Times New Roman"/>
                <a:cs typeface="Times New Roman"/>
              </a:rPr>
              <a:t> </a:t>
            </a:r>
            <a:r>
              <a:rPr sz="3600" i="1" dirty="0">
                <a:latin typeface="Times New Roman"/>
                <a:cs typeface="Times New Roman"/>
              </a:rPr>
              <a:t>by</a:t>
            </a:r>
            <a:r>
              <a:rPr sz="3600" i="1" spc="-85" dirty="0">
                <a:latin typeface="Times New Roman"/>
                <a:cs typeface="Times New Roman"/>
              </a:rPr>
              <a:t> </a:t>
            </a:r>
            <a:r>
              <a:rPr sz="3600" i="1" dirty="0">
                <a:latin typeface="Times New Roman"/>
                <a:cs typeface="Times New Roman"/>
              </a:rPr>
              <a:t>a</a:t>
            </a:r>
            <a:r>
              <a:rPr sz="3600" i="1" spc="-25" dirty="0">
                <a:latin typeface="Times New Roman"/>
                <a:cs typeface="Times New Roman"/>
              </a:rPr>
              <a:t> </a:t>
            </a:r>
            <a:r>
              <a:rPr sz="3600" i="1" dirty="0">
                <a:latin typeface="Times New Roman"/>
                <a:cs typeface="Times New Roman"/>
              </a:rPr>
              <a:t>special</a:t>
            </a:r>
            <a:r>
              <a:rPr sz="3600" i="1" spc="-40" dirty="0">
                <a:latin typeface="Times New Roman"/>
                <a:cs typeface="Times New Roman"/>
              </a:rPr>
              <a:t> </a:t>
            </a:r>
            <a:r>
              <a:rPr sz="3600" i="1" dirty="0">
                <a:latin typeface="Times New Roman"/>
                <a:cs typeface="Times New Roman"/>
              </a:rPr>
              <a:t>character</a:t>
            </a:r>
            <a:r>
              <a:rPr sz="3600" i="1" spc="-95" dirty="0">
                <a:latin typeface="Times New Roman"/>
                <a:cs typeface="Times New Roman"/>
              </a:rPr>
              <a:t> </a:t>
            </a:r>
            <a:r>
              <a:rPr sz="3600" i="1" dirty="0">
                <a:latin typeface="Times New Roman"/>
                <a:cs typeface="Times New Roman"/>
              </a:rPr>
              <a:t>that</a:t>
            </a:r>
            <a:r>
              <a:rPr sz="3600" i="1" spc="-90" dirty="0">
                <a:latin typeface="Times New Roman"/>
                <a:cs typeface="Times New Roman"/>
              </a:rPr>
              <a:t> </a:t>
            </a:r>
            <a:r>
              <a:rPr sz="3600" i="1" dirty="0">
                <a:latin typeface="Times New Roman"/>
                <a:cs typeface="Times New Roman"/>
              </a:rPr>
              <a:t>is</a:t>
            </a:r>
            <a:r>
              <a:rPr sz="3600" i="1" spc="-5" dirty="0">
                <a:latin typeface="Times New Roman"/>
                <a:cs typeface="Times New Roman"/>
              </a:rPr>
              <a:t> </a:t>
            </a:r>
            <a:r>
              <a:rPr sz="3600" i="1" spc="-20" dirty="0">
                <a:latin typeface="Times New Roman"/>
                <a:cs typeface="Times New Roman"/>
              </a:rPr>
              <a:t>null </a:t>
            </a:r>
            <a:r>
              <a:rPr sz="3600" i="1" spc="-10" dirty="0">
                <a:latin typeface="Times New Roman"/>
                <a:cs typeface="Times New Roman"/>
              </a:rPr>
              <a:t>character</a:t>
            </a:r>
            <a:r>
              <a:rPr sz="3600" i="1" dirty="0">
                <a:latin typeface="Times New Roman"/>
                <a:cs typeface="Times New Roman"/>
              </a:rPr>
              <a:t>	</a:t>
            </a:r>
            <a:r>
              <a:rPr sz="3600" i="1" spc="-20" dirty="0">
                <a:latin typeface="Times New Roman"/>
                <a:cs typeface="Times New Roman"/>
              </a:rPr>
              <a:t>‘\0’.</a:t>
            </a: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215"/>
              </a:spcBef>
            </a:pPr>
            <a:endParaRPr sz="3600">
              <a:latin typeface="Times New Roman"/>
              <a:cs typeface="Times New Roman"/>
            </a:endParaRPr>
          </a:p>
          <a:p>
            <a:pPr marL="12700" marR="19050">
              <a:lnSpc>
                <a:spcPts val="4270"/>
              </a:lnSpc>
              <a:spcBef>
                <a:spcPts val="5"/>
              </a:spcBef>
            </a:pPr>
            <a:r>
              <a:rPr sz="3600" i="1" dirty="0">
                <a:latin typeface="Times New Roman"/>
                <a:cs typeface="Times New Roman"/>
              </a:rPr>
              <a:t>This</a:t>
            </a:r>
            <a:r>
              <a:rPr sz="3600" i="1" spc="-70" dirty="0">
                <a:latin typeface="Times New Roman"/>
                <a:cs typeface="Times New Roman"/>
              </a:rPr>
              <a:t> </a:t>
            </a:r>
            <a:r>
              <a:rPr sz="3600" i="1" dirty="0">
                <a:latin typeface="Times New Roman"/>
                <a:cs typeface="Times New Roman"/>
              </a:rPr>
              <a:t>null</a:t>
            </a:r>
            <a:r>
              <a:rPr sz="3600" i="1" spc="-60" dirty="0">
                <a:latin typeface="Times New Roman"/>
                <a:cs typeface="Times New Roman"/>
              </a:rPr>
              <a:t> </a:t>
            </a:r>
            <a:r>
              <a:rPr sz="3600" i="1" dirty="0">
                <a:latin typeface="Times New Roman"/>
                <a:cs typeface="Times New Roman"/>
              </a:rPr>
              <a:t>character</a:t>
            </a:r>
            <a:r>
              <a:rPr sz="3600" i="1" spc="-100" dirty="0">
                <a:latin typeface="Times New Roman"/>
                <a:cs typeface="Times New Roman"/>
              </a:rPr>
              <a:t> </a:t>
            </a:r>
            <a:r>
              <a:rPr sz="3600" i="1" dirty="0">
                <a:latin typeface="Times New Roman"/>
                <a:cs typeface="Times New Roman"/>
              </a:rPr>
              <a:t>indicates</a:t>
            </a:r>
            <a:r>
              <a:rPr sz="3600" i="1" spc="-95" dirty="0">
                <a:latin typeface="Times New Roman"/>
                <a:cs typeface="Times New Roman"/>
              </a:rPr>
              <a:t> </a:t>
            </a:r>
            <a:r>
              <a:rPr sz="3600" i="1" dirty="0">
                <a:latin typeface="Times New Roman"/>
                <a:cs typeface="Times New Roman"/>
              </a:rPr>
              <a:t>the</a:t>
            </a:r>
            <a:r>
              <a:rPr sz="3600" i="1" spc="-10" dirty="0">
                <a:latin typeface="Times New Roman"/>
                <a:cs typeface="Times New Roman"/>
              </a:rPr>
              <a:t> </a:t>
            </a:r>
            <a:r>
              <a:rPr sz="3600" i="1" dirty="0">
                <a:latin typeface="Times New Roman"/>
                <a:cs typeface="Times New Roman"/>
              </a:rPr>
              <a:t>end</a:t>
            </a:r>
            <a:r>
              <a:rPr sz="3600" i="1" spc="20" dirty="0">
                <a:latin typeface="Times New Roman"/>
                <a:cs typeface="Times New Roman"/>
              </a:rPr>
              <a:t> </a:t>
            </a:r>
            <a:r>
              <a:rPr sz="3600" i="1" dirty="0">
                <a:latin typeface="Times New Roman"/>
                <a:cs typeface="Times New Roman"/>
              </a:rPr>
              <a:t>or</a:t>
            </a:r>
            <a:r>
              <a:rPr sz="3600" i="1" spc="-70" dirty="0">
                <a:latin typeface="Times New Roman"/>
                <a:cs typeface="Times New Roman"/>
              </a:rPr>
              <a:t> </a:t>
            </a:r>
            <a:r>
              <a:rPr sz="3600" i="1" dirty="0">
                <a:latin typeface="Times New Roman"/>
                <a:cs typeface="Times New Roman"/>
              </a:rPr>
              <a:t>termination</a:t>
            </a:r>
            <a:r>
              <a:rPr sz="3600" i="1" spc="-30" dirty="0">
                <a:latin typeface="Times New Roman"/>
                <a:cs typeface="Times New Roman"/>
              </a:rPr>
              <a:t> </a:t>
            </a:r>
            <a:r>
              <a:rPr sz="3600" i="1" dirty="0">
                <a:latin typeface="Times New Roman"/>
                <a:cs typeface="Times New Roman"/>
              </a:rPr>
              <a:t>of</a:t>
            </a:r>
            <a:r>
              <a:rPr sz="3600" i="1" spc="-70" dirty="0">
                <a:latin typeface="Times New Roman"/>
                <a:cs typeface="Times New Roman"/>
              </a:rPr>
              <a:t> </a:t>
            </a:r>
            <a:r>
              <a:rPr sz="3600" i="1" spc="-20" dirty="0">
                <a:latin typeface="Times New Roman"/>
                <a:cs typeface="Times New Roman"/>
              </a:rPr>
              <a:t>each </a:t>
            </a:r>
            <a:r>
              <a:rPr sz="3600" i="1" spc="-10" dirty="0">
                <a:latin typeface="Times New Roman"/>
                <a:cs typeface="Times New Roman"/>
              </a:rPr>
              <a:t>string</a:t>
            </a:r>
            <a:r>
              <a:rPr sz="3400" i="1" spc="-10" dirty="0">
                <a:latin typeface="Calibri"/>
                <a:cs typeface="Calibri"/>
              </a:rPr>
              <a:t>.</a:t>
            </a:r>
            <a:endParaRPr sz="34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228214" y="5975756"/>
            <a:ext cx="9363710" cy="3232150"/>
            <a:chOff x="2228214" y="5975756"/>
            <a:chExt cx="9363710" cy="32321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28214" y="5975756"/>
              <a:ext cx="9363456" cy="323164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34410" y="6502400"/>
              <a:ext cx="7369429" cy="151726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149600" y="6598056"/>
              <a:ext cx="8002270" cy="2150110"/>
            </a:xfrm>
            <a:custGeom>
              <a:avLst/>
              <a:gdLst/>
              <a:ahLst/>
              <a:cxnLst/>
              <a:rect l="l" t="t" r="r" b="b"/>
              <a:pathLst>
                <a:path w="8002270" h="2150109">
                  <a:moveTo>
                    <a:pt x="0" y="2150110"/>
                  </a:moveTo>
                  <a:lnTo>
                    <a:pt x="8002270" y="2150110"/>
                  </a:lnTo>
                  <a:lnTo>
                    <a:pt x="8002270" y="0"/>
                  </a:lnTo>
                  <a:lnTo>
                    <a:pt x="0" y="0"/>
                  </a:lnTo>
                  <a:lnTo>
                    <a:pt x="0" y="2150110"/>
                  </a:lnTo>
                  <a:close/>
                </a:path>
              </a:pathLst>
            </a:custGeom>
            <a:ln w="445008">
              <a:solidFill>
                <a:srgbClr val="49734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87</a:t>
            </a:fld>
            <a:endParaRPr spc="-25" dirty="0"/>
          </a:p>
        </p:txBody>
      </p:sp>
      <p:sp>
        <p:nvSpPr>
          <p:cNvPr id="9" name="object 9"/>
          <p:cNvSpPr txBox="1"/>
          <p:nvPr/>
        </p:nvSpPr>
        <p:spPr>
          <a:xfrm>
            <a:off x="12532741" y="9277849"/>
            <a:ext cx="328930" cy="241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005">
              <a:lnSpc>
                <a:spcPts val="1720"/>
              </a:lnSpc>
            </a:pPr>
            <a:fld id="{81D60167-4931-47E6-BA6A-407CBD079E47}" type="slidenum">
              <a:rPr sz="1700" i="1" spc="-25" dirty="0">
                <a:solidFill>
                  <a:srgbClr val="DFDFD2"/>
                </a:solidFill>
                <a:latin typeface="Constantia"/>
                <a:cs typeface="Constantia"/>
              </a:rPr>
              <a:t>87</a:t>
            </a:fld>
            <a:endParaRPr sz="1700">
              <a:latin typeface="Constantia"/>
              <a:cs typeface="Constant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00403" y="1403350"/>
            <a:ext cx="9202420" cy="64268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01320" marR="5080" indent="-389255">
              <a:lnSpc>
                <a:spcPct val="100000"/>
              </a:lnSpc>
              <a:spcBef>
                <a:spcPts val="95"/>
              </a:spcBef>
              <a:buClr>
                <a:srgbClr val="E0E1DC"/>
              </a:buClr>
              <a:buSzPct val="87837"/>
              <a:buFont typeface="Wingdings"/>
              <a:buChar char=""/>
              <a:tabLst>
                <a:tab pos="402590" algn="l"/>
              </a:tabLst>
            </a:pPr>
            <a:r>
              <a:rPr sz="3700" b="1" i="1" spc="-30" dirty="0">
                <a:latin typeface="Constantia"/>
                <a:cs typeface="Constantia"/>
              </a:rPr>
              <a:t>There</a:t>
            </a:r>
            <a:r>
              <a:rPr sz="3700" b="1" i="1" spc="-225" dirty="0">
                <a:latin typeface="Constantia"/>
                <a:cs typeface="Constantia"/>
              </a:rPr>
              <a:t> </a:t>
            </a:r>
            <a:r>
              <a:rPr sz="3700" b="1" i="1" spc="-25" dirty="0">
                <a:latin typeface="Constantia"/>
                <a:cs typeface="Constantia"/>
              </a:rPr>
              <a:t>are</a:t>
            </a:r>
            <a:r>
              <a:rPr sz="3700" b="1" i="1" spc="-215" dirty="0">
                <a:latin typeface="Constantia"/>
                <a:cs typeface="Constantia"/>
              </a:rPr>
              <a:t> </a:t>
            </a:r>
            <a:r>
              <a:rPr sz="3700" b="1" i="1" spc="-25" dirty="0">
                <a:latin typeface="Constantia"/>
                <a:cs typeface="Constantia"/>
              </a:rPr>
              <a:t>various</a:t>
            </a:r>
            <a:r>
              <a:rPr sz="3700" b="1" i="1" spc="-185" dirty="0">
                <a:latin typeface="Constantia"/>
                <a:cs typeface="Constantia"/>
              </a:rPr>
              <a:t> </a:t>
            </a:r>
            <a:r>
              <a:rPr sz="3700" b="1" i="1" spc="-20" dirty="0">
                <a:latin typeface="Constantia"/>
                <a:cs typeface="Constantia"/>
              </a:rPr>
              <a:t>operations</a:t>
            </a:r>
            <a:r>
              <a:rPr sz="3700" b="1" i="1" spc="-125" dirty="0">
                <a:latin typeface="Constantia"/>
                <a:cs typeface="Constantia"/>
              </a:rPr>
              <a:t> </a:t>
            </a:r>
            <a:r>
              <a:rPr sz="3700" b="1" i="1" dirty="0">
                <a:latin typeface="Constantia"/>
                <a:cs typeface="Constantia"/>
              </a:rPr>
              <a:t>that</a:t>
            </a:r>
            <a:r>
              <a:rPr sz="3700" b="1" i="1" spc="-140" dirty="0">
                <a:latin typeface="Constantia"/>
                <a:cs typeface="Constantia"/>
              </a:rPr>
              <a:t> </a:t>
            </a:r>
            <a:r>
              <a:rPr sz="3700" b="1" i="1" dirty="0">
                <a:latin typeface="Constantia"/>
                <a:cs typeface="Constantia"/>
              </a:rPr>
              <a:t>can</a:t>
            </a:r>
            <a:r>
              <a:rPr sz="3700" b="1" i="1" spc="-95" dirty="0">
                <a:latin typeface="Constantia"/>
                <a:cs typeface="Constantia"/>
              </a:rPr>
              <a:t> </a:t>
            </a:r>
            <a:r>
              <a:rPr sz="3700" b="1" i="1" spc="-25" dirty="0">
                <a:latin typeface="Constantia"/>
                <a:cs typeface="Constantia"/>
              </a:rPr>
              <a:t>be 	</a:t>
            </a:r>
            <a:r>
              <a:rPr sz="3700" b="1" i="1" dirty="0">
                <a:latin typeface="Constantia"/>
                <a:cs typeface="Constantia"/>
              </a:rPr>
              <a:t>performed</a:t>
            </a:r>
            <a:r>
              <a:rPr sz="3700" b="1" i="1" spc="-105" dirty="0">
                <a:latin typeface="Constantia"/>
                <a:cs typeface="Constantia"/>
              </a:rPr>
              <a:t> </a:t>
            </a:r>
            <a:r>
              <a:rPr sz="3700" b="1" i="1" dirty="0">
                <a:latin typeface="Constantia"/>
                <a:cs typeface="Constantia"/>
              </a:rPr>
              <a:t>on</a:t>
            </a:r>
            <a:r>
              <a:rPr sz="3700" b="1" i="1" spc="-35" dirty="0">
                <a:latin typeface="Constantia"/>
                <a:cs typeface="Constantia"/>
              </a:rPr>
              <a:t> </a:t>
            </a:r>
            <a:r>
              <a:rPr sz="3700" b="1" i="1" spc="-10" dirty="0">
                <a:latin typeface="Constantia"/>
                <a:cs typeface="Constantia"/>
              </a:rPr>
              <a:t>the</a:t>
            </a:r>
            <a:r>
              <a:rPr sz="3700" b="1" i="1" spc="-310" dirty="0">
                <a:latin typeface="Constantia"/>
                <a:cs typeface="Constantia"/>
              </a:rPr>
              <a:t> </a:t>
            </a:r>
            <a:r>
              <a:rPr sz="3700" b="1" i="1" spc="-10" dirty="0">
                <a:latin typeface="Constantia"/>
                <a:cs typeface="Constantia"/>
              </a:rPr>
              <a:t>string:</a:t>
            </a:r>
            <a:endParaRPr sz="3700">
              <a:latin typeface="Constantia"/>
              <a:cs typeface="Constantia"/>
            </a:endParaRPr>
          </a:p>
          <a:p>
            <a:pPr>
              <a:lnSpc>
                <a:spcPct val="100000"/>
              </a:lnSpc>
              <a:spcBef>
                <a:spcPts val="3260"/>
              </a:spcBef>
              <a:buClr>
                <a:srgbClr val="E0E1DC"/>
              </a:buClr>
              <a:buFont typeface="Wingdings"/>
              <a:buChar char=""/>
            </a:pPr>
            <a:endParaRPr sz="3700">
              <a:latin typeface="Constantia"/>
              <a:cs typeface="Constantia"/>
            </a:endParaRPr>
          </a:p>
          <a:p>
            <a:pPr marL="3027680" lvl="1" indent="-413384">
              <a:lnSpc>
                <a:spcPct val="100000"/>
              </a:lnSpc>
              <a:buClr>
                <a:srgbClr val="E0E1DC"/>
              </a:buClr>
              <a:buSzPct val="94117"/>
              <a:buFont typeface="Wingdings"/>
              <a:buChar char=""/>
              <a:tabLst>
                <a:tab pos="3027680" algn="l"/>
              </a:tabLst>
            </a:pPr>
            <a:r>
              <a:rPr sz="3400" i="1" spc="-100" dirty="0">
                <a:latin typeface="Constantia"/>
                <a:cs typeface="Constantia"/>
              </a:rPr>
              <a:t>To</a:t>
            </a:r>
            <a:r>
              <a:rPr sz="3400" i="1" spc="-315" dirty="0">
                <a:latin typeface="Constantia"/>
                <a:cs typeface="Constantia"/>
              </a:rPr>
              <a:t> </a:t>
            </a:r>
            <a:r>
              <a:rPr sz="3400" i="1" dirty="0">
                <a:latin typeface="Constantia"/>
                <a:cs typeface="Constantia"/>
              </a:rPr>
              <a:t>find</a:t>
            </a:r>
            <a:r>
              <a:rPr sz="3400" i="1" spc="40" dirty="0">
                <a:latin typeface="Constantia"/>
                <a:cs typeface="Constantia"/>
              </a:rPr>
              <a:t> </a:t>
            </a:r>
            <a:r>
              <a:rPr sz="3400" i="1" dirty="0">
                <a:latin typeface="Constantia"/>
                <a:cs typeface="Constantia"/>
              </a:rPr>
              <a:t>the</a:t>
            </a:r>
            <a:r>
              <a:rPr sz="3400" i="1" spc="-15" dirty="0">
                <a:latin typeface="Constantia"/>
                <a:cs typeface="Constantia"/>
              </a:rPr>
              <a:t> </a:t>
            </a:r>
            <a:r>
              <a:rPr sz="3400" i="1" dirty="0">
                <a:latin typeface="Constantia"/>
                <a:cs typeface="Constantia"/>
              </a:rPr>
              <a:t>length</a:t>
            </a:r>
            <a:r>
              <a:rPr sz="3400" i="1" spc="75" dirty="0">
                <a:latin typeface="Constantia"/>
                <a:cs typeface="Constantia"/>
              </a:rPr>
              <a:t> </a:t>
            </a:r>
            <a:r>
              <a:rPr sz="3400" i="1" dirty="0">
                <a:latin typeface="Constantia"/>
                <a:cs typeface="Constantia"/>
              </a:rPr>
              <a:t>of</a:t>
            </a:r>
            <a:r>
              <a:rPr sz="3400" i="1" spc="40" dirty="0">
                <a:latin typeface="Constantia"/>
                <a:cs typeface="Constantia"/>
              </a:rPr>
              <a:t> </a:t>
            </a:r>
            <a:r>
              <a:rPr sz="3400" i="1" spc="-25" dirty="0">
                <a:latin typeface="Constantia"/>
                <a:cs typeface="Constantia"/>
              </a:rPr>
              <a:t>a</a:t>
            </a:r>
            <a:r>
              <a:rPr sz="3400" i="1" spc="-375" dirty="0">
                <a:latin typeface="Constantia"/>
                <a:cs typeface="Constantia"/>
              </a:rPr>
              <a:t> </a:t>
            </a:r>
            <a:r>
              <a:rPr sz="3400" i="1" spc="-10" dirty="0">
                <a:latin typeface="Constantia"/>
                <a:cs typeface="Constantia"/>
              </a:rPr>
              <a:t>string</a:t>
            </a:r>
            <a:endParaRPr sz="3400">
              <a:latin typeface="Constantia"/>
              <a:cs typeface="Constantia"/>
            </a:endParaRPr>
          </a:p>
          <a:p>
            <a:pPr marL="3028315" lvl="1" indent="-414020">
              <a:lnSpc>
                <a:spcPct val="100000"/>
              </a:lnSpc>
              <a:spcBef>
                <a:spcPts val="810"/>
              </a:spcBef>
              <a:buClr>
                <a:srgbClr val="E0E1DC"/>
              </a:buClr>
              <a:buSzPct val="94117"/>
              <a:buFont typeface="Wingdings"/>
              <a:buChar char=""/>
              <a:tabLst>
                <a:tab pos="3028315" algn="l"/>
              </a:tabLst>
            </a:pPr>
            <a:r>
              <a:rPr sz="3400" i="1" spc="-100" dirty="0">
                <a:latin typeface="Constantia"/>
                <a:cs typeface="Constantia"/>
              </a:rPr>
              <a:t>To</a:t>
            </a:r>
            <a:r>
              <a:rPr sz="3400" i="1" spc="-315" dirty="0">
                <a:latin typeface="Constantia"/>
                <a:cs typeface="Constantia"/>
              </a:rPr>
              <a:t> </a:t>
            </a:r>
            <a:r>
              <a:rPr sz="3400" i="1" spc="-25" dirty="0">
                <a:latin typeface="Constantia"/>
                <a:cs typeface="Constantia"/>
              </a:rPr>
              <a:t>concatenate</a:t>
            </a:r>
            <a:r>
              <a:rPr sz="3400" i="1" spc="-75" dirty="0">
                <a:latin typeface="Constantia"/>
                <a:cs typeface="Constantia"/>
              </a:rPr>
              <a:t> </a:t>
            </a:r>
            <a:r>
              <a:rPr sz="3400" i="1" spc="-35" dirty="0">
                <a:latin typeface="Constantia"/>
                <a:cs typeface="Constantia"/>
              </a:rPr>
              <a:t>two</a:t>
            </a:r>
            <a:r>
              <a:rPr sz="3400" i="1" spc="-254" dirty="0">
                <a:latin typeface="Constantia"/>
                <a:cs typeface="Constantia"/>
              </a:rPr>
              <a:t> </a:t>
            </a:r>
            <a:r>
              <a:rPr sz="3400" i="1" spc="-10" dirty="0">
                <a:latin typeface="Constantia"/>
                <a:cs typeface="Constantia"/>
              </a:rPr>
              <a:t>strings</a:t>
            </a:r>
            <a:endParaRPr sz="3400">
              <a:latin typeface="Constantia"/>
              <a:cs typeface="Constantia"/>
            </a:endParaRPr>
          </a:p>
          <a:p>
            <a:pPr marL="3027680" lvl="1" indent="-413384">
              <a:lnSpc>
                <a:spcPct val="100000"/>
              </a:lnSpc>
              <a:spcBef>
                <a:spcPts val="790"/>
              </a:spcBef>
              <a:buClr>
                <a:srgbClr val="E0E1DC"/>
              </a:buClr>
              <a:buSzPct val="94117"/>
              <a:buFont typeface="Wingdings"/>
              <a:buChar char=""/>
              <a:tabLst>
                <a:tab pos="3027680" algn="l"/>
              </a:tabLst>
            </a:pPr>
            <a:r>
              <a:rPr sz="3400" i="1" spc="-100" dirty="0">
                <a:latin typeface="Constantia"/>
                <a:cs typeface="Constantia"/>
              </a:rPr>
              <a:t>To</a:t>
            </a:r>
            <a:r>
              <a:rPr sz="3400" i="1" spc="-315" dirty="0">
                <a:latin typeface="Constantia"/>
                <a:cs typeface="Constantia"/>
              </a:rPr>
              <a:t> </a:t>
            </a:r>
            <a:r>
              <a:rPr sz="3400" i="1" dirty="0">
                <a:latin typeface="Constantia"/>
                <a:cs typeface="Constantia"/>
              </a:rPr>
              <a:t>copy</a:t>
            </a:r>
            <a:r>
              <a:rPr sz="3400" i="1" spc="-155" dirty="0">
                <a:latin typeface="Constantia"/>
                <a:cs typeface="Constantia"/>
              </a:rPr>
              <a:t> </a:t>
            </a:r>
            <a:r>
              <a:rPr sz="3400" i="1" spc="-25" dirty="0">
                <a:latin typeface="Constantia"/>
                <a:cs typeface="Constantia"/>
              </a:rPr>
              <a:t>a</a:t>
            </a:r>
            <a:r>
              <a:rPr sz="3400" i="1" spc="-305" dirty="0">
                <a:latin typeface="Constantia"/>
                <a:cs typeface="Constantia"/>
              </a:rPr>
              <a:t> </a:t>
            </a:r>
            <a:r>
              <a:rPr sz="3400" i="1" spc="-10" dirty="0">
                <a:latin typeface="Constantia"/>
                <a:cs typeface="Constantia"/>
              </a:rPr>
              <a:t>string</a:t>
            </a:r>
            <a:endParaRPr sz="3400">
              <a:latin typeface="Constantia"/>
              <a:cs typeface="Constantia"/>
            </a:endParaRPr>
          </a:p>
          <a:p>
            <a:pPr marL="3027680" lvl="1" indent="-413384">
              <a:lnSpc>
                <a:spcPct val="100000"/>
              </a:lnSpc>
              <a:spcBef>
                <a:spcPts val="805"/>
              </a:spcBef>
              <a:buClr>
                <a:srgbClr val="E0E1DC"/>
              </a:buClr>
              <a:buSzPct val="94117"/>
              <a:buFont typeface="Wingdings"/>
              <a:buChar char=""/>
              <a:tabLst>
                <a:tab pos="3027680" algn="l"/>
              </a:tabLst>
            </a:pPr>
            <a:r>
              <a:rPr sz="3400" i="1" spc="-100" dirty="0">
                <a:latin typeface="Constantia"/>
                <a:cs typeface="Constantia"/>
              </a:rPr>
              <a:t>To</a:t>
            </a:r>
            <a:r>
              <a:rPr sz="3400" i="1" spc="-315" dirty="0">
                <a:latin typeface="Constantia"/>
                <a:cs typeface="Constantia"/>
              </a:rPr>
              <a:t> </a:t>
            </a:r>
            <a:r>
              <a:rPr sz="3400" i="1" spc="-10" dirty="0">
                <a:latin typeface="Constantia"/>
                <a:cs typeface="Constantia"/>
              </a:rPr>
              <a:t>reverse</a:t>
            </a:r>
            <a:r>
              <a:rPr sz="3400" i="1" spc="-120" dirty="0">
                <a:latin typeface="Constantia"/>
                <a:cs typeface="Constantia"/>
              </a:rPr>
              <a:t> </a:t>
            </a:r>
            <a:r>
              <a:rPr sz="3400" i="1" spc="-25" dirty="0">
                <a:latin typeface="Constantia"/>
                <a:cs typeface="Constantia"/>
              </a:rPr>
              <a:t>a</a:t>
            </a:r>
            <a:r>
              <a:rPr sz="3400" i="1" spc="-270" dirty="0">
                <a:latin typeface="Constantia"/>
                <a:cs typeface="Constantia"/>
              </a:rPr>
              <a:t> </a:t>
            </a:r>
            <a:r>
              <a:rPr sz="3400" i="1" spc="-10" dirty="0">
                <a:latin typeface="Constantia"/>
                <a:cs typeface="Constantia"/>
              </a:rPr>
              <a:t>string</a:t>
            </a:r>
            <a:endParaRPr sz="3400">
              <a:latin typeface="Constantia"/>
              <a:cs typeface="Constantia"/>
            </a:endParaRPr>
          </a:p>
          <a:p>
            <a:pPr marL="3028315" lvl="1" indent="-414020">
              <a:lnSpc>
                <a:spcPct val="100000"/>
              </a:lnSpc>
              <a:spcBef>
                <a:spcPts val="805"/>
              </a:spcBef>
              <a:buClr>
                <a:srgbClr val="E0E1DC"/>
              </a:buClr>
              <a:buSzPct val="94117"/>
              <a:buFont typeface="Wingdings"/>
              <a:buChar char=""/>
              <a:tabLst>
                <a:tab pos="3028315" algn="l"/>
              </a:tabLst>
            </a:pPr>
            <a:r>
              <a:rPr sz="3400" i="1" dirty="0">
                <a:latin typeface="Constantia"/>
                <a:cs typeface="Constantia"/>
              </a:rPr>
              <a:t>String</a:t>
            </a:r>
            <a:r>
              <a:rPr sz="3400" i="1" spc="-195" dirty="0">
                <a:latin typeface="Constantia"/>
                <a:cs typeface="Constantia"/>
              </a:rPr>
              <a:t> </a:t>
            </a:r>
            <a:r>
              <a:rPr sz="3400" i="1" spc="-10" dirty="0">
                <a:latin typeface="Constantia"/>
                <a:cs typeface="Constantia"/>
              </a:rPr>
              <a:t>compare</a:t>
            </a:r>
            <a:endParaRPr sz="3400">
              <a:latin typeface="Constantia"/>
              <a:cs typeface="Constantia"/>
            </a:endParaRPr>
          </a:p>
          <a:p>
            <a:pPr marL="3027680" lvl="1" indent="-413384">
              <a:lnSpc>
                <a:spcPct val="100000"/>
              </a:lnSpc>
              <a:spcBef>
                <a:spcPts val="795"/>
              </a:spcBef>
              <a:buClr>
                <a:srgbClr val="E0E1DC"/>
              </a:buClr>
              <a:buSzPct val="94117"/>
              <a:buFont typeface="Wingdings"/>
              <a:buChar char=""/>
              <a:tabLst>
                <a:tab pos="3027680" algn="l"/>
              </a:tabLst>
            </a:pPr>
            <a:r>
              <a:rPr sz="3400" i="1" spc="-30" dirty="0">
                <a:latin typeface="Constantia"/>
                <a:cs typeface="Constantia"/>
              </a:rPr>
              <a:t>Palindrome</a:t>
            </a:r>
            <a:r>
              <a:rPr sz="3400" i="1" spc="-145" dirty="0">
                <a:latin typeface="Constantia"/>
                <a:cs typeface="Constantia"/>
              </a:rPr>
              <a:t> </a:t>
            </a:r>
            <a:r>
              <a:rPr sz="3400" i="1" spc="-20" dirty="0">
                <a:latin typeface="Constantia"/>
                <a:cs typeface="Constantia"/>
              </a:rPr>
              <a:t>check</a:t>
            </a:r>
            <a:endParaRPr sz="3400">
              <a:latin typeface="Constantia"/>
              <a:cs typeface="Constantia"/>
            </a:endParaRPr>
          </a:p>
          <a:p>
            <a:pPr marL="3027680" lvl="1" indent="-413384">
              <a:lnSpc>
                <a:spcPct val="100000"/>
              </a:lnSpc>
              <a:spcBef>
                <a:spcPts val="1185"/>
              </a:spcBef>
              <a:buClr>
                <a:srgbClr val="E0E1DC"/>
              </a:buClr>
              <a:buSzPct val="94117"/>
              <a:buFont typeface="Wingdings"/>
              <a:buChar char=""/>
              <a:tabLst>
                <a:tab pos="3027680" algn="l"/>
              </a:tabLst>
            </a:pPr>
            <a:r>
              <a:rPr sz="3400" i="1" spc="-100" dirty="0">
                <a:latin typeface="Constantia"/>
                <a:cs typeface="Constantia"/>
              </a:rPr>
              <a:t>To</a:t>
            </a:r>
            <a:r>
              <a:rPr sz="3400" i="1" spc="-315" dirty="0">
                <a:latin typeface="Constantia"/>
                <a:cs typeface="Constantia"/>
              </a:rPr>
              <a:t> </a:t>
            </a:r>
            <a:r>
              <a:rPr sz="3400" i="1" spc="-10" dirty="0">
                <a:latin typeface="Constantia"/>
                <a:cs typeface="Constantia"/>
              </a:rPr>
              <a:t>recognize</a:t>
            </a:r>
            <a:r>
              <a:rPr sz="3400" i="1" spc="-114" dirty="0">
                <a:latin typeface="Constantia"/>
                <a:cs typeface="Constantia"/>
              </a:rPr>
              <a:t> </a:t>
            </a:r>
            <a:r>
              <a:rPr sz="3400" i="1" dirty="0">
                <a:latin typeface="Constantia"/>
                <a:cs typeface="Constantia"/>
              </a:rPr>
              <a:t>a</a:t>
            </a:r>
            <a:r>
              <a:rPr sz="3400" i="1" spc="-10" dirty="0">
                <a:latin typeface="Constantia"/>
                <a:cs typeface="Constantia"/>
              </a:rPr>
              <a:t> </a:t>
            </a:r>
            <a:r>
              <a:rPr sz="3400" i="1" dirty="0">
                <a:latin typeface="Constantia"/>
                <a:cs typeface="Constantia"/>
              </a:rPr>
              <a:t>sub</a:t>
            </a:r>
            <a:r>
              <a:rPr sz="3400" i="1" spc="-385" dirty="0">
                <a:latin typeface="Constantia"/>
                <a:cs typeface="Constantia"/>
              </a:rPr>
              <a:t> </a:t>
            </a:r>
            <a:r>
              <a:rPr sz="3400" i="1" spc="-10" dirty="0">
                <a:latin typeface="Constantia"/>
                <a:cs typeface="Constantia"/>
              </a:rPr>
              <a:t>string</a:t>
            </a:r>
            <a:endParaRPr sz="3400">
              <a:latin typeface="Constantia"/>
              <a:cs typeface="Constant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25" dirty="0"/>
              <a:t>88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12532741" y="9277849"/>
            <a:ext cx="328930" cy="241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005">
              <a:lnSpc>
                <a:spcPts val="1720"/>
              </a:lnSpc>
            </a:pPr>
            <a:fld id="{81D60167-4931-47E6-BA6A-407CBD079E47}" type="slidenum">
              <a:rPr sz="1700" i="1" spc="-25" dirty="0">
                <a:solidFill>
                  <a:srgbClr val="DFDFD2"/>
                </a:solidFill>
                <a:latin typeface="Constantia"/>
                <a:cs typeface="Constantia"/>
              </a:rPr>
              <a:t>88</a:t>
            </a:fld>
            <a:endParaRPr sz="1700">
              <a:latin typeface="Constantia"/>
              <a:cs typeface="Constant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178030" y="9154464"/>
            <a:ext cx="2724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i="1" spc="-85" dirty="0">
                <a:solidFill>
                  <a:srgbClr val="585858"/>
                </a:solidFill>
                <a:latin typeface="Verdana"/>
                <a:cs typeface="Verdana"/>
              </a:rPr>
              <a:t>89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0134" y="16255"/>
            <a:ext cx="755777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latin typeface="Times New Roman"/>
                <a:cs typeface="Times New Roman"/>
              </a:rPr>
              <a:t>Write</a:t>
            </a:r>
            <a:r>
              <a:rPr sz="4000" spc="5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a</a:t>
            </a:r>
            <a:r>
              <a:rPr sz="4000" spc="2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program</a:t>
            </a:r>
            <a:r>
              <a:rPr sz="4000" spc="6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to</a:t>
            </a:r>
            <a:r>
              <a:rPr sz="4000" spc="4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reverse</a:t>
            </a:r>
            <a:r>
              <a:rPr sz="4000" spc="55" dirty="0">
                <a:latin typeface="Times New Roman"/>
                <a:cs typeface="Times New Roman"/>
              </a:rPr>
              <a:t> </a:t>
            </a:r>
            <a:r>
              <a:rPr sz="4000" spc="-10" dirty="0">
                <a:latin typeface="Times New Roman"/>
                <a:cs typeface="Times New Roman"/>
              </a:rPr>
              <a:t>string</a:t>
            </a:r>
            <a:r>
              <a:rPr sz="2000" spc="-10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134" y="617119"/>
            <a:ext cx="4353560" cy="8229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971675">
              <a:lnSpc>
                <a:spcPct val="158300"/>
              </a:lnSpc>
              <a:spcBef>
                <a:spcPts val="95"/>
              </a:spcBef>
            </a:pPr>
            <a:r>
              <a:rPr sz="2000" b="1" spc="-10" dirty="0">
                <a:latin typeface="Times New Roman"/>
                <a:cs typeface="Times New Roman"/>
              </a:rPr>
              <a:t>#include&lt;iostream&gt; #include&lt;string.h&gt; </a:t>
            </a:r>
            <a:r>
              <a:rPr sz="2000" b="1" dirty="0">
                <a:latin typeface="Times New Roman"/>
                <a:cs typeface="Times New Roman"/>
              </a:rPr>
              <a:t>using</a:t>
            </a:r>
            <a:r>
              <a:rPr sz="2000" b="1" spc="17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namespace</a:t>
            </a:r>
            <a:r>
              <a:rPr sz="2000" b="1" spc="170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latin typeface="Times New Roman"/>
                <a:cs typeface="Times New Roman"/>
              </a:rPr>
              <a:t>std; </a:t>
            </a:r>
            <a:r>
              <a:rPr sz="2000" b="1" dirty="0">
                <a:latin typeface="Times New Roman"/>
                <a:cs typeface="Times New Roman"/>
              </a:rPr>
              <a:t>int</a:t>
            </a:r>
            <a:r>
              <a:rPr sz="2000" b="1" spc="10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main</a:t>
            </a:r>
            <a:r>
              <a:rPr sz="2000" b="1" spc="90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()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2000" b="1" spc="-50" dirty="0">
                <a:latin typeface="Times New Roman"/>
                <a:cs typeface="Times New Roman"/>
              </a:rPr>
              <a:t>{</a:t>
            </a:r>
            <a:endParaRPr sz="2000">
              <a:latin typeface="Times New Roman"/>
              <a:cs typeface="Times New Roman"/>
            </a:endParaRPr>
          </a:p>
          <a:p>
            <a:pPr marL="280670" marR="1969770">
              <a:lnSpc>
                <a:spcPct val="158500"/>
              </a:lnSpc>
            </a:pPr>
            <a:r>
              <a:rPr sz="2000" b="1" dirty="0">
                <a:latin typeface="Times New Roman"/>
                <a:cs typeface="Times New Roman"/>
              </a:rPr>
              <a:t>char</a:t>
            </a:r>
            <a:r>
              <a:rPr sz="2000" b="1" spc="1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str[50],</a:t>
            </a:r>
            <a:r>
              <a:rPr sz="2000" b="1" spc="140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latin typeface="Times New Roman"/>
                <a:cs typeface="Times New Roman"/>
              </a:rPr>
              <a:t>temp; </a:t>
            </a:r>
            <a:r>
              <a:rPr sz="2000" b="1" dirty="0">
                <a:latin typeface="Times New Roman"/>
                <a:cs typeface="Times New Roman"/>
              </a:rPr>
              <a:t>int</a:t>
            </a:r>
            <a:r>
              <a:rPr sz="2000" b="1" spc="8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i,</a:t>
            </a:r>
            <a:r>
              <a:rPr sz="2000" b="1" spc="75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j;</a:t>
            </a:r>
            <a:endParaRPr sz="2000">
              <a:latin typeface="Times New Roman"/>
              <a:cs typeface="Times New Roman"/>
            </a:endParaRPr>
          </a:p>
          <a:p>
            <a:pPr marL="280670" marR="1008380">
              <a:lnSpc>
                <a:spcPts val="3800"/>
              </a:lnSpc>
              <a:spcBef>
                <a:spcPts val="355"/>
              </a:spcBef>
            </a:pPr>
            <a:r>
              <a:rPr sz="2000" b="1" dirty="0">
                <a:latin typeface="Times New Roman"/>
                <a:cs typeface="Times New Roman"/>
              </a:rPr>
              <a:t>cout</a:t>
            </a:r>
            <a:r>
              <a:rPr sz="2000" b="1" spc="9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&lt;&lt;</a:t>
            </a:r>
            <a:r>
              <a:rPr sz="2000" b="1" spc="9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"Enter</a:t>
            </a:r>
            <a:r>
              <a:rPr sz="2000" b="1" spc="10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</a:t>
            </a:r>
            <a:r>
              <a:rPr sz="2000" b="1" spc="8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string</a:t>
            </a:r>
            <a:r>
              <a:rPr sz="2000" b="1" spc="10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:</a:t>
            </a:r>
            <a:r>
              <a:rPr sz="2000" b="1" spc="95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"; </a:t>
            </a:r>
            <a:r>
              <a:rPr sz="2000" b="1" spc="-10" dirty="0">
                <a:latin typeface="Times New Roman"/>
                <a:cs typeface="Times New Roman"/>
              </a:rPr>
              <a:t>Cin&gt;&gt;str;</a:t>
            </a:r>
            <a:endParaRPr sz="2000">
              <a:latin typeface="Times New Roman"/>
              <a:cs typeface="Times New Roman"/>
            </a:endParaRPr>
          </a:p>
          <a:p>
            <a:pPr marL="280670">
              <a:lnSpc>
                <a:spcPct val="100000"/>
              </a:lnSpc>
              <a:spcBef>
                <a:spcPts val="1045"/>
              </a:spcBef>
            </a:pPr>
            <a:r>
              <a:rPr sz="2000" b="1" dirty="0">
                <a:latin typeface="Times New Roman"/>
                <a:cs typeface="Times New Roman"/>
              </a:rPr>
              <a:t>j</a:t>
            </a:r>
            <a:r>
              <a:rPr sz="2000" b="1" spc="10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=</a:t>
            </a:r>
            <a:r>
              <a:rPr sz="2000" b="1" spc="10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strlen(str)</a:t>
            </a:r>
            <a:r>
              <a:rPr sz="2000" b="1" spc="1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-</a:t>
            </a:r>
            <a:r>
              <a:rPr sz="2000" b="1" spc="95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1;</a:t>
            </a:r>
            <a:endParaRPr sz="2000">
              <a:latin typeface="Times New Roman"/>
              <a:cs typeface="Times New Roman"/>
            </a:endParaRPr>
          </a:p>
          <a:p>
            <a:pPr marL="280670">
              <a:lnSpc>
                <a:spcPct val="100000"/>
              </a:lnSpc>
              <a:spcBef>
                <a:spcPts val="1395"/>
              </a:spcBef>
            </a:pPr>
            <a:r>
              <a:rPr sz="2000" b="1" dirty="0">
                <a:latin typeface="Times New Roman"/>
                <a:cs typeface="Times New Roman"/>
              </a:rPr>
              <a:t>for</a:t>
            </a:r>
            <a:r>
              <a:rPr sz="2000" b="1" spc="7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(i</a:t>
            </a:r>
            <a:r>
              <a:rPr sz="2000" b="1" spc="9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=</a:t>
            </a:r>
            <a:r>
              <a:rPr sz="2000" b="1" spc="9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0;</a:t>
            </a:r>
            <a:r>
              <a:rPr sz="2000" b="1" spc="10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</a:t>
            </a:r>
            <a:r>
              <a:rPr sz="2000" b="1" spc="9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&lt;</a:t>
            </a:r>
            <a:r>
              <a:rPr sz="2000" b="1" spc="10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j;</a:t>
            </a:r>
            <a:r>
              <a:rPr sz="2000" b="1" spc="8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i++,j--</a:t>
            </a:r>
            <a:r>
              <a:rPr sz="2000" b="1" spc="-50" dirty="0">
                <a:latin typeface="Times New Roman"/>
                <a:cs typeface="Times New Roman"/>
              </a:rPr>
              <a:t>)</a:t>
            </a:r>
            <a:endParaRPr sz="2000">
              <a:latin typeface="Times New Roman"/>
              <a:cs typeface="Times New Roman"/>
            </a:endParaRPr>
          </a:p>
          <a:p>
            <a:pPr marL="280670">
              <a:lnSpc>
                <a:spcPct val="100000"/>
              </a:lnSpc>
              <a:spcBef>
                <a:spcPts val="1405"/>
              </a:spcBef>
            </a:pPr>
            <a:r>
              <a:rPr sz="2000" b="1" spc="-50" dirty="0">
                <a:latin typeface="Times New Roman"/>
                <a:cs typeface="Times New Roman"/>
              </a:rPr>
              <a:t>{</a:t>
            </a:r>
            <a:endParaRPr sz="2000">
              <a:latin typeface="Times New Roman"/>
              <a:cs typeface="Times New Roman"/>
            </a:endParaRPr>
          </a:p>
          <a:p>
            <a:pPr marL="549275" marR="2300605" algn="just">
              <a:lnSpc>
                <a:spcPct val="158300"/>
              </a:lnSpc>
              <a:spcBef>
                <a:spcPts val="5"/>
              </a:spcBef>
            </a:pPr>
            <a:r>
              <a:rPr sz="2000" b="1" dirty="0">
                <a:latin typeface="Times New Roman"/>
                <a:cs typeface="Times New Roman"/>
              </a:rPr>
              <a:t>temp</a:t>
            </a:r>
            <a:r>
              <a:rPr sz="2000" b="1" spc="7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=</a:t>
            </a:r>
            <a:r>
              <a:rPr sz="2000" b="1" spc="8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str[i]; </a:t>
            </a:r>
            <a:r>
              <a:rPr sz="2000" b="1" dirty="0">
                <a:latin typeface="Times New Roman"/>
                <a:cs typeface="Times New Roman"/>
              </a:rPr>
              <a:t>str[i]</a:t>
            </a:r>
            <a:r>
              <a:rPr sz="2000" b="1" spc="8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=</a:t>
            </a:r>
            <a:r>
              <a:rPr sz="2000" b="1" spc="10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str[j]; </a:t>
            </a:r>
            <a:r>
              <a:rPr sz="2000" b="1" dirty="0">
                <a:latin typeface="Times New Roman"/>
                <a:cs typeface="Times New Roman"/>
              </a:rPr>
              <a:t>str[j]</a:t>
            </a:r>
            <a:r>
              <a:rPr sz="2000" b="1" spc="7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=</a:t>
            </a:r>
            <a:r>
              <a:rPr sz="2000" b="1" spc="105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latin typeface="Times New Roman"/>
                <a:cs typeface="Times New Roman"/>
              </a:rPr>
              <a:t>temp;</a:t>
            </a:r>
            <a:endParaRPr sz="2000">
              <a:latin typeface="Times New Roman"/>
              <a:cs typeface="Times New Roman"/>
            </a:endParaRPr>
          </a:p>
          <a:p>
            <a:pPr marL="280670">
              <a:lnSpc>
                <a:spcPct val="100000"/>
              </a:lnSpc>
              <a:spcBef>
                <a:spcPts val="1405"/>
              </a:spcBef>
            </a:pPr>
            <a:r>
              <a:rPr sz="2000" b="1" spc="-50" dirty="0">
                <a:latin typeface="Times New Roman"/>
                <a:cs typeface="Times New Roman"/>
              </a:rPr>
              <a:t>}</a:t>
            </a:r>
            <a:endParaRPr sz="2000">
              <a:latin typeface="Times New Roman"/>
              <a:cs typeface="Times New Roman"/>
            </a:endParaRPr>
          </a:p>
          <a:p>
            <a:pPr marL="280670">
              <a:lnSpc>
                <a:spcPct val="100000"/>
              </a:lnSpc>
              <a:spcBef>
                <a:spcPts val="1395"/>
              </a:spcBef>
            </a:pPr>
            <a:r>
              <a:rPr sz="2000" b="1" dirty="0">
                <a:latin typeface="Times New Roman"/>
                <a:cs typeface="Times New Roman"/>
              </a:rPr>
              <a:t>cout</a:t>
            </a:r>
            <a:r>
              <a:rPr sz="2000" b="1" spc="10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&lt;&lt;</a:t>
            </a:r>
            <a:r>
              <a:rPr sz="2000" b="1" spc="10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"\nReverse</a:t>
            </a:r>
            <a:r>
              <a:rPr sz="2000" b="1" spc="114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string</a:t>
            </a:r>
            <a:r>
              <a:rPr sz="2000" b="1" spc="1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:</a:t>
            </a:r>
            <a:r>
              <a:rPr sz="2000" b="1" spc="9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"</a:t>
            </a:r>
            <a:r>
              <a:rPr sz="2000" b="1" spc="1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&lt;&lt;</a:t>
            </a:r>
            <a:r>
              <a:rPr sz="2000" b="1" spc="105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latin typeface="Times New Roman"/>
                <a:cs typeface="Times New Roman"/>
              </a:rPr>
              <a:t>str;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2958" y="9116364"/>
            <a:ext cx="304292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000" b="1" spc="22" baseline="26388" dirty="0">
                <a:latin typeface="Times New Roman"/>
                <a:cs typeface="Times New Roman"/>
              </a:rPr>
              <a:t>re</a:t>
            </a:r>
            <a:r>
              <a:rPr sz="3000" b="1" spc="30" baseline="26388" dirty="0">
                <a:latin typeface="Times New Roman"/>
                <a:cs typeface="Times New Roman"/>
              </a:rPr>
              <a:t>t</a:t>
            </a:r>
            <a:r>
              <a:rPr sz="3000" b="1" spc="22" baseline="26388" dirty="0">
                <a:latin typeface="Times New Roman"/>
                <a:cs typeface="Times New Roman"/>
              </a:rPr>
              <a:t>ur</a:t>
            </a:r>
            <a:r>
              <a:rPr sz="3000" b="1" spc="-1305" baseline="26388" dirty="0">
                <a:latin typeface="Times New Roman"/>
                <a:cs typeface="Times New Roman"/>
              </a:rPr>
              <a:t>n</a:t>
            </a:r>
            <a:r>
              <a:rPr sz="1700" i="1" spc="15" dirty="0">
                <a:solidFill>
                  <a:srgbClr val="585858"/>
                </a:solidFill>
                <a:latin typeface="Verdana"/>
                <a:cs typeface="Verdana"/>
              </a:rPr>
              <a:t>P</a:t>
            </a:r>
            <a:r>
              <a:rPr sz="1700" i="1" spc="-765" dirty="0">
                <a:solidFill>
                  <a:srgbClr val="585858"/>
                </a:solidFill>
                <a:latin typeface="Verdana"/>
                <a:cs typeface="Verdana"/>
              </a:rPr>
              <a:t>R</a:t>
            </a:r>
            <a:r>
              <a:rPr sz="3000" b="1" spc="-502" baseline="26388" dirty="0">
                <a:latin typeface="Times New Roman"/>
                <a:cs typeface="Times New Roman"/>
              </a:rPr>
              <a:t>0</a:t>
            </a:r>
            <a:r>
              <a:rPr sz="1700" i="1" spc="-1035" dirty="0">
                <a:solidFill>
                  <a:srgbClr val="585858"/>
                </a:solidFill>
                <a:latin typeface="Verdana"/>
                <a:cs typeface="Verdana"/>
              </a:rPr>
              <a:t>O</a:t>
            </a:r>
            <a:r>
              <a:rPr sz="3000" b="1" spc="-7" baseline="26388" dirty="0">
                <a:latin typeface="Times New Roman"/>
                <a:cs typeface="Times New Roman"/>
              </a:rPr>
              <a:t>;</a:t>
            </a:r>
            <a:r>
              <a:rPr sz="3000" b="1" spc="52" baseline="26388" dirty="0">
                <a:latin typeface="Times New Roman"/>
                <a:cs typeface="Times New Roman"/>
              </a:rPr>
              <a:t> </a:t>
            </a:r>
            <a:r>
              <a:rPr sz="1700" i="1" spc="-145" dirty="0">
                <a:solidFill>
                  <a:srgbClr val="585858"/>
                </a:solidFill>
                <a:latin typeface="Verdana"/>
                <a:cs typeface="Verdana"/>
              </a:rPr>
              <a:t>F.</a:t>
            </a:r>
            <a:r>
              <a:rPr sz="1700" i="1" spc="15" dirty="0">
                <a:solidFill>
                  <a:srgbClr val="585858"/>
                </a:solidFill>
                <a:latin typeface="Verdana"/>
                <a:cs typeface="Verdana"/>
              </a:rPr>
              <a:t> </a:t>
            </a:r>
            <a:r>
              <a:rPr sz="1700" i="1" dirty="0">
                <a:solidFill>
                  <a:srgbClr val="585858"/>
                </a:solidFill>
                <a:latin typeface="Verdana"/>
                <a:cs typeface="Verdana"/>
              </a:rPr>
              <a:t>ANAND</a:t>
            </a:r>
            <a:r>
              <a:rPr sz="1700" i="1" spc="10" dirty="0">
                <a:solidFill>
                  <a:srgbClr val="585858"/>
                </a:solidFill>
                <a:latin typeface="Verdana"/>
                <a:cs typeface="Verdana"/>
              </a:rPr>
              <a:t> </a:t>
            </a:r>
            <a:r>
              <a:rPr sz="1700" i="1" spc="-20" dirty="0">
                <a:solidFill>
                  <a:srgbClr val="585858"/>
                </a:solidFill>
                <a:latin typeface="Verdana"/>
                <a:cs typeface="Verdana"/>
              </a:rPr>
              <a:t>GHARU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0134" y="9481820"/>
            <a:ext cx="12573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50" dirty="0">
                <a:latin typeface="Times New Roman"/>
                <a:cs typeface="Times New Roman"/>
              </a:rPr>
              <a:t>}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2178030" y="9154464"/>
            <a:ext cx="2724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i="1" spc="-85" dirty="0">
                <a:solidFill>
                  <a:srgbClr val="585858"/>
                </a:solidFill>
                <a:latin typeface="Verdana"/>
                <a:cs typeface="Verdana"/>
              </a:rPr>
              <a:t>90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82600" y="0"/>
            <a:ext cx="9931400" cy="9753600"/>
          </a:xfrm>
          <a:custGeom>
            <a:avLst/>
            <a:gdLst/>
            <a:ahLst/>
            <a:cxnLst/>
            <a:rect l="l" t="t" r="r" b="b"/>
            <a:pathLst>
              <a:path w="9931400" h="9753600">
                <a:moveTo>
                  <a:pt x="0" y="9753599"/>
                </a:moveTo>
                <a:lnTo>
                  <a:pt x="9931400" y="9753600"/>
                </a:lnTo>
                <a:lnTo>
                  <a:pt x="9931400" y="0"/>
                </a:lnTo>
                <a:lnTo>
                  <a:pt x="0" y="0"/>
                </a:lnTo>
                <a:lnTo>
                  <a:pt x="0" y="97535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61543" y="62306"/>
            <a:ext cx="865378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Times New Roman"/>
                <a:cs typeface="Times New Roman"/>
              </a:rPr>
              <a:t>/*</a:t>
            </a:r>
            <a:r>
              <a:rPr sz="3600" spc="9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C++</a:t>
            </a:r>
            <a:r>
              <a:rPr sz="3600" spc="9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Program</a:t>
            </a:r>
            <a:r>
              <a:rPr sz="3600" spc="19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-</a:t>
            </a:r>
            <a:r>
              <a:rPr sz="3600" spc="9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Concatenate</a:t>
            </a:r>
            <a:r>
              <a:rPr sz="3600" spc="12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String</a:t>
            </a:r>
            <a:r>
              <a:rPr sz="3600" spc="114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using </a:t>
            </a:r>
            <a:r>
              <a:rPr sz="3600" dirty="0">
                <a:latin typeface="Times New Roman"/>
                <a:cs typeface="Times New Roman"/>
              </a:rPr>
              <a:t>inbuilt</a:t>
            </a:r>
            <a:r>
              <a:rPr sz="3600" spc="15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function</a:t>
            </a:r>
            <a:r>
              <a:rPr sz="3600" spc="140" dirty="0">
                <a:latin typeface="Times New Roman"/>
                <a:cs typeface="Times New Roman"/>
              </a:rPr>
              <a:t> </a:t>
            </a:r>
            <a:r>
              <a:rPr sz="3600" spc="-25" dirty="0">
                <a:latin typeface="Times New Roman"/>
                <a:cs typeface="Times New Roman"/>
              </a:rPr>
              <a:t>*/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1543" y="1162939"/>
            <a:ext cx="6581775" cy="84842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3394075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Times New Roman"/>
                <a:cs typeface="Times New Roman"/>
              </a:rPr>
              <a:t>#include&lt;iostream.h&gt; #include&lt;string.h&gt;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2800" dirty="0">
                <a:latin typeface="Times New Roman"/>
                <a:cs typeface="Times New Roman"/>
              </a:rPr>
              <a:t>void</a:t>
            </a:r>
            <a:r>
              <a:rPr sz="2800" spc="8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main()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680"/>
              </a:spcBef>
            </a:pPr>
            <a:r>
              <a:rPr sz="2800" spc="-50" dirty="0">
                <a:latin typeface="Times New Roman"/>
                <a:cs typeface="Times New Roman"/>
              </a:rPr>
              <a:t>{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680"/>
              </a:spcBef>
            </a:pPr>
            <a:r>
              <a:rPr sz="2800" spc="-10" dirty="0">
                <a:latin typeface="Times New Roman"/>
                <a:cs typeface="Times New Roman"/>
              </a:rPr>
              <a:t>clrscr();</a:t>
            </a:r>
            <a:endParaRPr sz="2800">
              <a:latin typeface="Times New Roman"/>
              <a:cs typeface="Times New Roman"/>
            </a:endParaRPr>
          </a:p>
          <a:p>
            <a:pPr marL="12700" marR="2461895">
              <a:lnSpc>
                <a:spcPct val="150000"/>
              </a:lnSpc>
              <a:spcBef>
                <a:spcPts val="5"/>
              </a:spcBef>
            </a:pPr>
            <a:r>
              <a:rPr sz="2800" dirty="0">
                <a:latin typeface="Times New Roman"/>
                <a:cs typeface="Times New Roman"/>
              </a:rPr>
              <a:t>char</a:t>
            </a:r>
            <a:r>
              <a:rPr sz="2800" spc="1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str1[50],</a:t>
            </a:r>
            <a:r>
              <a:rPr sz="2800" spc="16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str2[50]; </a:t>
            </a:r>
            <a:r>
              <a:rPr sz="2800" dirty="0">
                <a:latin typeface="Times New Roman"/>
                <a:cs typeface="Times New Roman"/>
              </a:rPr>
              <a:t>cout&lt;&lt;"Enter</a:t>
            </a:r>
            <a:r>
              <a:rPr sz="2800" spc="1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first</a:t>
            </a:r>
            <a:r>
              <a:rPr sz="2800" spc="1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string</a:t>
            </a:r>
            <a:r>
              <a:rPr sz="2800" spc="1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:</a:t>
            </a:r>
            <a:r>
              <a:rPr sz="2800" spc="12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"; </a:t>
            </a:r>
            <a:r>
              <a:rPr sz="2800" spc="-10" dirty="0">
                <a:latin typeface="Times New Roman"/>
                <a:cs typeface="Times New Roman"/>
              </a:rPr>
              <a:t>Cin&gt;&gt;str1;</a:t>
            </a:r>
            <a:endParaRPr sz="2800">
              <a:latin typeface="Times New Roman"/>
              <a:cs typeface="Times New Roman"/>
            </a:endParaRPr>
          </a:p>
          <a:p>
            <a:pPr marL="105410" marR="2049145" indent="-93345">
              <a:lnSpc>
                <a:spcPct val="150000"/>
              </a:lnSpc>
            </a:pPr>
            <a:r>
              <a:rPr sz="2800" dirty="0">
                <a:latin typeface="Times New Roman"/>
                <a:cs typeface="Times New Roman"/>
              </a:rPr>
              <a:t>cout&lt;&lt;"Enter</a:t>
            </a:r>
            <a:r>
              <a:rPr sz="2800" spc="1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second</a:t>
            </a:r>
            <a:r>
              <a:rPr sz="2800" spc="1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string</a:t>
            </a:r>
            <a:r>
              <a:rPr sz="2800" spc="114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:</a:t>
            </a:r>
            <a:r>
              <a:rPr sz="2800" spc="9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"; </a:t>
            </a:r>
            <a:r>
              <a:rPr sz="2800" spc="-10" dirty="0">
                <a:latin typeface="Times New Roman"/>
                <a:cs typeface="Times New Roman"/>
              </a:rPr>
              <a:t>cin&gt;&gt;str2;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680"/>
              </a:spcBef>
            </a:pPr>
            <a:r>
              <a:rPr sz="2800" b="1" dirty="0">
                <a:latin typeface="Times New Roman"/>
                <a:cs typeface="Times New Roman"/>
              </a:rPr>
              <a:t>strcat(str1,</a:t>
            </a:r>
            <a:r>
              <a:rPr sz="2800" b="1" spc="254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str2);</a:t>
            </a:r>
            <a:endParaRPr sz="2800">
              <a:latin typeface="Times New Roman"/>
              <a:cs typeface="Times New Roman"/>
            </a:endParaRPr>
          </a:p>
          <a:p>
            <a:pPr marL="12700" marR="5080">
              <a:lnSpc>
                <a:spcPct val="150000"/>
              </a:lnSpc>
              <a:spcBef>
                <a:spcPts val="5"/>
              </a:spcBef>
            </a:pPr>
            <a:r>
              <a:rPr sz="2800" dirty="0">
                <a:latin typeface="Times New Roman"/>
                <a:cs typeface="Times New Roman"/>
              </a:rPr>
              <a:t>cout&lt;&lt;"String</a:t>
            </a:r>
            <a:r>
              <a:rPr sz="2800" spc="1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after</a:t>
            </a:r>
            <a:r>
              <a:rPr sz="2800" spc="1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concatenation</a:t>
            </a:r>
            <a:r>
              <a:rPr sz="2800" spc="1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16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"&lt;&lt;str1; getch();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680"/>
              </a:spcBef>
            </a:pPr>
            <a:r>
              <a:rPr sz="2800" spc="-50" dirty="0"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2178030" y="9154464"/>
            <a:ext cx="2724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i="1" spc="-85" dirty="0">
                <a:solidFill>
                  <a:srgbClr val="585858"/>
                </a:solidFill>
                <a:latin typeface="Verdana"/>
                <a:cs typeface="Verdana"/>
              </a:rPr>
              <a:t>91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8739" y="20827"/>
            <a:ext cx="109620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Times New Roman"/>
                <a:cs typeface="Times New Roman"/>
              </a:rPr>
              <a:t>/*</a:t>
            </a:r>
            <a:r>
              <a:rPr sz="2800" spc="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C++</a:t>
            </a:r>
            <a:r>
              <a:rPr sz="2800" spc="114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Program</a:t>
            </a:r>
            <a:r>
              <a:rPr sz="2800" spc="1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-</a:t>
            </a:r>
            <a:r>
              <a:rPr sz="2800" spc="114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Concatenate</a:t>
            </a:r>
            <a:r>
              <a:rPr sz="2800" spc="1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String</a:t>
            </a:r>
            <a:r>
              <a:rPr sz="2800" spc="1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without</a:t>
            </a:r>
            <a:r>
              <a:rPr sz="2800" spc="1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using</a:t>
            </a:r>
            <a:r>
              <a:rPr sz="2800" spc="1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inbuilt</a:t>
            </a:r>
            <a:r>
              <a:rPr sz="2800" spc="1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function</a:t>
            </a:r>
            <a:r>
              <a:rPr sz="2800" spc="18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*/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739" y="874522"/>
            <a:ext cx="6906895" cy="81343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3597275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Times New Roman"/>
                <a:cs typeface="Times New Roman"/>
              </a:rPr>
              <a:t>#include</a:t>
            </a:r>
            <a:r>
              <a:rPr sz="2800" b="1" spc="16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&lt;iostream&gt; </a:t>
            </a:r>
            <a:r>
              <a:rPr sz="2800" b="1" dirty="0">
                <a:latin typeface="Times New Roman"/>
                <a:cs typeface="Times New Roman"/>
              </a:rPr>
              <a:t>using</a:t>
            </a:r>
            <a:r>
              <a:rPr sz="2800" b="1" spc="15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namespace</a:t>
            </a:r>
            <a:r>
              <a:rPr sz="2800" b="1" spc="150" dirty="0">
                <a:latin typeface="Times New Roman"/>
                <a:cs typeface="Times New Roman"/>
              </a:rPr>
              <a:t> </a:t>
            </a:r>
            <a:r>
              <a:rPr sz="2800" b="1" spc="-20" dirty="0">
                <a:latin typeface="Times New Roman"/>
                <a:cs typeface="Times New Roman"/>
              </a:rPr>
              <a:t>std; </a:t>
            </a:r>
            <a:r>
              <a:rPr sz="2800" b="1" dirty="0">
                <a:latin typeface="Times New Roman"/>
                <a:cs typeface="Times New Roman"/>
              </a:rPr>
              <a:t>int</a:t>
            </a:r>
            <a:r>
              <a:rPr sz="2800" b="1" spc="10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main()</a:t>
            </a:r>
            <a:endParaRPr sz="2800">
              <a:latin typeface="Times New Roman"/>
              <a:cs typeface="Times New Roman"/>
            </a:endParaRPr>
          </a:p>
          <a:p>
            <a:pPr marL="105410">
              <a:lnSpc>
                <a:spcPct val="100000"/>
              </a:lnSpc>
            </a:pPr>
            <a:r>
              <a:rPr sz="2800" b="1" spc="-50" dirty="0">
                <a:latin typeface="Times New Roman"/>
                <a:cs typeface="Times New Roman"/>
              </a:rPr>
              <a:t>{</a:t>
            </a:r>
            <a:endParaRPr sz="2800">
              <a:latin typeface="Times New Roman"/>
              <a:cs typeface="Times New Roman"/>
            </a:endParaRPr>
          </a:p>
          <a:p>
            <a:pPr marL="105410">
              <a:lnSpc>
                <a:spcPct val="100000"/>
              </a:lnSpc>
            </a:pPr>
            <a:r>
              <a:rPr sz="2800" b="1" dirty="0">
                <a:latin typeface="Times New Roman"/>
                <a:cs typeface="Times New Roman"/>
              </a:rPr>
              <a:t>char</a:t>
            </a:r>
            <a:r>
              <a:rPr sz="2800" b="1" spc="9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str1[100]</a:t>
            </a:r>
            <a:r>
              <a:rPr sz="2800" b="1" spc="10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=</a:t>
            </a:r>
            <a:r>
              <a:rPr sz="2800" b="1" spc="10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"Hi...";</a:t>
            </a:r>
            <a:endParaRPr sz="2800">
              <a:latin typeface="Times New Roman"/>
              <a:cs typeface="Times New Roman"/>
            </a:endParaRPr>
          </a:p>
          <a:p>
            <a:pPr marL="12700" marR="1818005">
              <a:lnSpc>
                <a:spcPct val="100000"/>
              </a:lnSpc>
            </a:pPr>
            <a:r>
              <a:rPr sz="2800" b="1" dirty="0">
                <a:latin typeface="Times New Roman"/>
                <a:cs typeface="Times New Roman"/>
              </a:rPr>
              <a:t>char</a:t>
            </a:r>
            <a:r>
              <a:rPr sz="2800" b="1" spc="9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str2[100]</a:t>
            </a:r>
            <a:r>
              <a:rPr sz="2800" b="1" spc="10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=</a:t>
            </a:r>
            <a:r>
              <a:rPr sz="2800" b="1" spc="8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"How</a:t>
            </a:r>
            <a:r>
              <a:rPr sz="2800" b="1" spc="10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are</a:t>
            </a:r>
            <a:r>
              <a:rPr sz="2800" b="1" spc="7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you"; </a:t>
            </a:r>
            <a:r>
              <a:rPr sz="2800" b="1" dirty="0">
                <a:latin typeface="Times New Roman"/>
                <a:cs typeface="Times New Roman"/>
              </a:rPr>
              <a:t>int</a:t>
            </a:r>
            <a:r>
              <a:rPr sz="2800" b="1" spc="90" dirty="0">
                <a:latin typeface="Times New Roman"/>
                <a:cs typeface="Times New Roman"/>
              </a:rPr>
              <a:t> </a:t>
            </a:r>
            <a:r>
              <a:rPr sz="2800" b="1" spc="-20" dirty="0">
                <a:latin typeface="Times New Roman"/>
                <a:cs typeface="Times New Roman"/>
              </a:rPr>
              <a:t>i,j;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00" b="1" dirty="0">
                <a:latin typeface="Times New Roman"/>
                <a:cs typeface="Times New Roman"/>
              </a:rPr>
              <a:t>cout&lt;&lt;"String</a:t>
            </a:r>
            <a:r>
              <a:rPr sz="2800" b="1" spc="18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1:</a:t>
            </a:r>
            <a:r>
              <a:rPr sz="2800" b="1" spc="12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"&lt;&lt;str1&lt;&lt;endl;</a:t>
            </a:r>
            <a:endParaRPr sz="2800">
              <a:latin typeface="Times New Roman"/>
              <a:cs typeface="Times New Roman"/>
            </a:endParaRPr>
          </a:p>
          <a:p>
            <a:pPr marL="12700" marR="1743710">
              <a:lnSpc>
                <a:spcPct val="100000"/>
              </a:lnSpc>
              <a:spcBef>
                <a:spcPts val="5"/>
              </a:spcBef>
            </a:pPr>
            <a:r>
              <a:rPr sz="2800" b="1" dirty="0">
                <a:latin typeface="Times New Roman"/>
                <a:cs typeface="Times New Roman"/>
              </a:rPr>
              <a:t>cout&lt;&lt;"String</a:t>
            </a:r>
            <a:r>
              <a:rPr sz="2800" b="1" spc="17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2:</a:t>
            </a:r>
            <a:r>
              <a:rPr sz="2800" b="1" spc="12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"&lt;&lt;str2&lt;&lt;endl; </a:t>
            </a:r>
            <a:r>
              <a:rPr sz="2800" b="1" dirty="0">
                <a:latin typeface="Times New Roman"/>
                <a:cs typeface="Times New Roman"/>
              </a:rPr>
              <a:t>for(i</a:t>
            </a:r>
            <a:r>
              <a:rPr sz="2800" b="1" spc="12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=</a:t>
            </a:r>
            <a:r>
              <a:rPr sz="2800" b="1" spc="9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0;</a:t>
            </a:r>
            <a:r>
              <a:rPr sz="2800" b="1" spc="9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str1[i]</a:t>
            </a:r>
            <a:r>
              <a:rPr sz="2800" b="1" spc="12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!=</a:t>
            </a:r>
            <a:r>
              <a:rPr sz="2800" b="1" spc="10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'\0';</a:t>
            </a:r>
            <a:r>
              <a:rPr sz="2800" b="1" spc="8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++i);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00" b="1" spc="-20" dirty="0">
                <a:latin typeface="Times New Roman"/>
                <a:cs typeface="Times New Roman"/>
              </a:rPr>
              <a:t>j=0;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00" b="1" dirty="0">
                <a:latin typeface="Times New Roman"/>
                <a:cs typeface="Times New Roman"/>
              </a:rPr>
              <a:t>while(str2[j]</a:t>
            </a:r>
            <a:r>
              <a:rPr sz="2800" b="1" spc="204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!=</a:t>
            </a:r>
            <a:r>
              <a:rPr sz="2800" b="1" spc="160" dirty="0">
                <a:latin typeface="Times New Roman"/>
                <a:cs typeface="Times New Roman"/>
              </a:rPr>
              <a:t> </a:t>
            </a:r>
            <a:r>
              <a:rPr sz="2800" b="1" spc="-20" dirty="0">
                <a:latin typeface="Times New Roman"/>
                <a:cs typeface="Times New Roman"/>
              </a:rPr>
              <a:t>'\0')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00" b="1" spc="-50" dirty="0">
                <a:latin typeface="Times New Roman"/>
                <a:cs typeface="Times New Roman"/>
              </a:rPr>
              <a:t>{</a:t>
            </a:r>
            <a:endParaRPr sz="2800">
              <a:latin typeface="Times New Roman"/>
              <a:cs typeface="Times New Roman"/>
            </a:endParaRPr>
          </a:p>
          <a:p>
            <a:pPr marL="12700" marR="4455795">
              <a:lnSpc>
                <a:spcPct val="100000"/>
              </a:lnSpc>
              <a:tabLst>
                <a:tab pos="1202055" algn="l"/>
              </a:tabLst>
            </a:pPr>
            <a:r>
              <a:rPr sz="2800" b="1" dirty="0">
                <a:latin typeface="Times New Roman"/>
                <a:cs typeface="Times New Roman"/>
              </a:rPr>
              <a:t>str1[i]</a:t>
            </a:r>
            <a:r>
              <a:rPr sz="2800" b="1" spc="11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=</a:t>
            </a:r>
            <a:r>
              <a:rPr sz="2800" b="1" spc="11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str2[j]; </a:t>
            </a:r>
            <a:r>
              <a:rPr sz="2800" b="1" spc="-20" dirty="0">
                <a:latin typeface="Times New Roman"/>
                <a:cs typeface="Times New Roman"/>
              </a:rPr>
              <a:t>i++;</a:t>
            </a:r>
            <a:r>
              <a:rPr sz="2800" b="1" dirty="0">
                <a:latin typeface="Times New Roman"/>
                <a:cs typeface="Times New Roman"/>
              </a:rPr>
              <a:t>	</a:t>
            </a:r>
            <a:r>
              <a:rPr sz="2800" b="1" spc="-20" dirty="0">
                <a:latin typeface="Times New Roman"/>
                <a:cs typeface="Times New Roman"/>
              </a:rPr>
              <a:t>j++;</a:t>
            </a:r>
            <a:endParaRPr sz="2800">
              <a:latin typeface="Times New Roman"/>
              <a:cs typeface="Times New Roman"/>
            </a:endParaRPr>
          </a:p>
          <a:p>
            <a:pPr marL="105410">
              <a:lnSpc>
                <a:spcPct val="100000"/>
              </a:lnSpc>
            </a:pPr>
            <a:r>
              <a:rPr sz="2800" b="1" spc="-50" dirty="0"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00" b="1" dirty="0">
                <a:latin typeface="Times New Roman"/>
                <a:cs typeface="Times New Roman"/>
              </a:rPr>
              <a:t>str1[i]</a:t>
            </a:r>
            <a:r>
              <a:rPr sz="2800" b="1" spc="11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=</a:t>
            </a:r>
            <a:r>
              <a:rPr sz="2800" b="1" spc="110" dirty="0">
                <a:latin typeface="Times New Roman"/>
                <a:cs typeface="Times New Roman"/>
              </a:rPr>
              <a:t> </a:t>
            </a:r>
            <a:r>
              <a:rPr sz="2800" b="1" spc="-20" dirty="0">
                <a:latin typeface="Times New Roman"/>
                <a:cs typeface="Times New Roman"/>
              </a:rPr>
              <a:t>'\0';</a:t>
            </a:r>
            <a:endParaRPr sz="28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2800" b="1" dirty="0">
                <a:latin typeface="Times New Roman"/>
                <a:cs typeface="Times New Roman"/>
              </a:rPr>
              <a:t>cout&lt;&lt;"String</a:t>
            </a:r>
            <a:r>
              <a:rPr sz="2800" b="1" spc="23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after</a:t>
            </a:r>
            <a:r>
              <a:rPr sz="2800" b="1" spc="17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concatenation:</a:t>
            </a:r>
            <a:r>
              <a:rPr sz="2800" b="1" spc="22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"&lt;&lt;str1; </a:t>
            </a:r>
            <a:r>
              <a:rPr sz="2800" b="1" dirty="0">
                <a:latin typeface="Times New Roman"/>
                <a:cs typeface="Times New Roman"/>
              </a:rPr>
              <a:t>return</a:t>
            </a:r>
            <a:r>
              <a:rPr sz="2800" b="1" spc="155" dirty="0">
                <a:latin typeface="Times New Roman"/>
                <a:cs typeface="Times New Roman"/>
              </a:rPr>
              <a:t> </a:t>
            </a:r>
            <a:r>
              <a:rPr sz="2800" b="1" spc="-25" dirty="0">
                <a:latin typeface="Times New Roman"/>
                <a:cs typeface="Times New Roman"/>
              </a:rPr>
              <a:t>0;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8739" y="8983471"/>
            <a:ext cx="1657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0" dirty="0"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2178030" y="9154464"/>
            <a:ext cx="2724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i="1" spc="-85" dirty="0">
                <a:solidFill>
                  <a:srgbClr val="585858"/>
                </a:solidFill>
                <a:latin typeface="Verdana"/>
                <a:cs typeface="Verdana"/>
              </a:rPr>
              <a:t>92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5343" y="250952"/>
            <a:ext cx="5347335" cy="76555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163955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To</a:t>
            </a:r>
            <a:r>
              <a:rPr sz="2400" b="1" spc="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get</a:t>
            </a:r>
            <a:r>
              <a:rPr sz="2400" b="1" spc="9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2400" b="1" spc="9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length</a:t>
            </a:r>
            <a:r>
              <a:rPr sz="2400" b="1" spc="9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2400" b="1" spc="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2400" b="1" spc="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C-</a:t>
            </a: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string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string,</a:t>
            </a:r>
            <a:r>
              <a:rPr sz="2400" b="1" spc="1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strlen()</a:t>
            </a:r>
            <a:r>
              <a:rPr sz="2400" b="1" spc="1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function</a:t>
            </a:r>
            <a:r>
              <a:rPr sz="2400" b="1" spc="1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is</a:t>
            </a:r>
            <a:r>
              <a:rPr sz="2400" b="1" spc="1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used</a:t>
            </a:r>
            <a:r>
              <a:rPr sz="2400" spc="-1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90"/>
              </a:spcBef>
            </a:pPr>
            <a:r>
              <a:rPr sz="2800" b="1" dirty="0">
                <a:latin typeface="Times New Roman"/>
                <a:cs typeface="Times New Roman"/>
              </a:rPr>
              <a:t>#include</a:t>
            </a:r>
            <a:r>
              <a:rPr sz="2800" b="1" spc="16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&lt;iostream&gt;</a:t>
            </a:r>
            <a:endParaRPr sz="2800">
              <a:latin typeface="Times New Roman"/>
              <a:cs typeface="Times New Roman"/>
            </a:endParaRPr>
          </a:p>
          <a:p>
            <a:pPr marL="12700" marR="2043430">
              <a:lnSpc>
                <a:spcPct val="141700"/>
              </a:lnSpc>
            </a:pPr>
            <a:r>
              <a:rPr sz="2800" b="1" dirty="0">
                <a:latin typeface="Times New Roman"/>
                <a:cs typeface="Times New Roman"/>
              </a:rPr>
              <a:t>#include</a:t>
            </a:r>
            <a:r>
              <a:rPr sz="2800" b="1" spc="16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&lt;cstring&gt; </a:t>
            </a:r>
            <a:r>
              <a:rPr sz="2800" b="1" dirty="0">
                <a:latin typeface="Times New Roman"/>
                <a:cs typeface="Times New Roman"/>
              </a:rPr>
              <a:t>using</a:t>
            </a:r>
            <a:r>
              <a:rPr sz="2800" b="1" spc="13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namespace</a:t>
            </a:r>
            <a:r>
              <a:rPr sz="2800" b="1" spc="150" dirty="0">
                <a:latin typeface="Times New Roman"/>
                <a:cs typeface="Times New Roman"/>
              </a:rPr>
              <a:t> </a:t>
            </a:r>
            <a:r>
              <a:rPr sz="2800" b="1" spc="-20" dirty="0">
                <a:latin typeface="Times New Roman"/>
                <a:cs typeface="Times New Roman"/>
              </a:rPr>
              <a:t>std; </a:t>
            </a:r>
            <a:r>
              <a:rPr sz="2800" b="1" dirty="0">
                <a:latin typeface="Times New Roman"/>
                <a:cs typeface="Times New Roman"/>
              </a:rPr>
              <a:t>int</a:t>
            </a:r>
            <a:r>
              <a:rPr sz="2800" b="1" spc="9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main()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05"/>
              </a:spcBef>
            </a:pPr>
            <a:r>
              <a:rPr sz="2800" b="1" spc="-50" dirty="0">
                <a:latin typeface="Times New Roman"/>
                <a:cs typeface="Times New Roman"/>
              </a:rPr>
              <a:t>{</a:t>
            </a:r>
            <a:endParaRPr sz="28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1395"/>
              </a:spcBef>
            </a:pPr>
            <a:r>
              <a:rPr sz="2800" b="1" dirty="0">
                <a:latin typeface="Times New Roman"/>
                <a:cs typeface="Times New Roman"/>
              </a:rPr>
              <a:t>char</a:t>
            </a:r>
            <a:r>
              <a:rPr sz="2800" b="1" spc="8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str[]</a:t>
            </a:r>
            <a:r>
              <a:rPr sz="2800" b="1" spc="10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=</a:t>
            </a:r>
            <a:r>
              <a:rPr sz="2800" b="1" spc="7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"C++</a:t>
            </a:r>
            <a:r>
              <a:rPr sz="2800" b="1" spc="114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Programming</a:t>
            </a:r>
            <a:r>
              <a:rPr sz="2800" b="1" spc="135" dirty="0">
                <a:latin typeface="Times New Roman"/>
                <a:cs typeface="Times New Roman"/>
              </a:rPr>
              <a:t> </a:t>
            </a:r>
            <a:r>
              <a:rPr sz="2800" b="1" spc="-25" dirty="0">
                <a:latin typeface="Times New Roman"/>
                <a:cs typeface="Times New Roman"/>
              </a:rPr>
              <a:t>is </a:t>
            </a:r>
            <a:r>
              <a:rPr sz="2800" b="1" spc="-10" dirty="0">
                <a:latin typeface="Times New Roman"/>
                <a:cs typeface="Times New Roman"/>
              </a:rPr>
              <a:t>awesome";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05"/>
              </a:spcBef>
            </a:pPr>
            <a:r>
              <a:rPr sz="2800" b="1" dirty="0">
                <a:latin typeface="Times New Roman"/>
                <a:cs typeface="Times New Roman"/>
              </a:rPr>
              <a:t>//</a:t>
            </a:r>
            <a:r>
              <a:rPr sz="2800" b="1" spc="6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you</a:t>
            </a:r>
            <a:r>
              <a:rPr sz="2800" b="1" spc="9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can</a:t>
            </a:r>
            <a:r>
              <a:rPr sz="2800" b="1" spc="8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also</a:t>
            </a:r>
            <a:r>
              <a:rPr sz="2800" b="1" spc="8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use</a:t>
            </a:r>
            <a:r>
              <a:rPr sz="2800" b="1" spc="8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str.length()</a:t>
            </a:r>
            <a:endParaRPr sz="2800">
              <a:latin typeface="Times New Roman"/>
              <a:cs typeface="Times New Roman"/>
            </a:endParaRPr>
          </a:p>
          <a:p>
            <a:pPr marL="12700" marR="605790">
              <a:lnSpc>
                <a:spcPct val="100000"/>
              </a:lnSpc>
              <a:spcBef>
                <a:spcPts val="1400"/>
              </a:spcBef>
            </a:pPr>
            <a:r>
              <a:rPr sz="2800" b="1" dirty="0">
                <a:latin typeface="Times New Roman"/>
                <a:cs typeface="Times New Roman"/>
              </a:rPr>
              <a:t>cout</a:t>
            </a:r>
            <a:r>
              <a:rPr sz="2800" b="1" spc="8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&lt;&lt;</a:t>
            </a:r>
            <a:r>
              <a:rPr sz="2800" b="1" spc="8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"String</a:t>
            </a:r>
            <a:r>
              <a:rPr sz="2800" b="1" spc="10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Length</a:t>
            </a:r>
            <a:r>
              <a:rPr sz="2800" b="1" spc="10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=</a:t>
            </a:r>
            <a:r>
              <a:rPr sz="2800" b="1" spc="8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"</a:t>
            </a:r>
            <a:r>
              <a:rPr sz="2800" b="1" spc="65" dirty="0">
                <a:latin typeface="Times New Roman"/>
                <a:cs typeface="Times New Roman"/>
              </a:rPr>
              <a:t> </a:t>
            </a:r>
            <a:r>
              <a:rPr sz="2800" b="1" spc="-25" dirty="0">
                <a:latin typeface="Times New Roman"/>
                <a:cs typeface="Times New Roman"/>
              </a:rPr>
              <a:t>&lt;&lt; </a:t>
            </a:r>
            <a:r>
              <a:rPr sz="2800" b="1" spc="-10" dirty="0">
                <a:latin typeface="Times New Roman"/>
                <a:cs typeface="Times New Roman"/>
              </a:rPr>
              <a:t>strlen(str);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2800" b="1" dirty="0">
                <a:latin typeface="Times New Roman"/>
                <a:cs typeface="Times New Roman"/>
              </a:rPr>
              <a:t>return</a:t>
            </a:r>
            <a:r>
              <a:rPr sz="2800" b="1" spc="140" dirty="0">
                <a:latin typeface="Times New Roman"/>
                <a:cs typeface="Times New Roman"/>
              </a:rPr>
              <a:t> </a:t>
            </a:r>
            <a:r>
              <a:rPr sz="2800" b="1" spc="-25" dirty="0">
                <a:latin typeface="Times New Roman"/>
                <a:cs typeface="Times New Roman"/>
              </a:rPr>
              <a:t>0;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05"/>
              </a:spcBef>
            </a:pPr>
            <a:r>
              <a:rPr sz="2800" b="1" spc="-50" dirty="0"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353302" y="249427"/>
            <a:ext cx="6386830" cy="26930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Times New Roman"/>
                <a:cs typeface="Times New Roman"/>
              </a:rPr>
              <a:t>Find</a:t>
            </a:r>
            <a:r>
              <a:rPr sz="2800" spc="114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length</a:t>
            </a:r>
            <a:r>
              <a:rPr sz="2800" spc="1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string</a:t>
            </a:r>
            <a:r>
              <a:rPr sz="2800" spc="1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without</a:t>
            </a:r>
            <a:r>
              <a:rPr sz="2800" spc="1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using</a:t>
            </a:r>
            <a:r>
              <a:rPr sz="2800" spc="10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strlen function</a:t>
            </a:r>
            <a:endParaRPr sz="2800">
              <a:latin typeface="Times New Roman"/>
              <a:cs typeface="Times New Roman"/>
            </a:endParaRPr>
          </a:p>
          <a:p>
            <a:pPr marL="12700" marR="3081020">
              <a:lnSpc>
                <a:spcPct val="141700"/>
              </a:lnSpc>
              <a:spcBef>
                <a:spcPts val="5"/>
              </a:spcBef>
            </a:pPr>
            <a:r>
              <a:rPr sz="2800" spc="-10" dirty="0">
                <a:solidFill>
                  <a:srgbClr val="000000"/>
                </a:solidFill>
                <a:latin typeface="Times New Roman"/>
                <a:cs typeface="Times New Roman"/>
              </a:rPr>
              <a:t>#include&lt;iostream&gt; </a:t>
            </a:r>
            <a:r>
              <a:rPr sz="2800" dirty="0">
                <a:solidFill>
                  <a:srgbClr val="000000"/>
                </a:solidFill>
                <a:latin typeface="Times New Roman"/>
                <a:cs typeface="Times New Roman"/>
              </a:rPr>
              <a:t>using</a:t>
            </a:r>
            <a:r>
              <a:rPr sz="2800" spc="1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Times New Roman"/>
                <a:cs typeface="Times New Roman"/>
              </a:rPr>
              <a:t>namespace</a:t>
            </a:r>
            <a:r>
              <a:rPr sz="2800" spc="1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spc="-20" dirty="0">
                <a:solidFill>
                  <a:srgbClr val="000000"/>
                </a:solidFill>
                <a:latin typeface="Times New Roman"/>
                <a:cs typeface="Times New Roman"/>
              </a:rPr>
              <a:t>std; </a:t>
            </a:r>
            <a:r>
              <a:rPr sz="2800" dirty="0">
                <a:solidFill>
                  <a:srgbClr val="000000"/>
                </a:solidFill>
                <a:latin typeface="Times New Roman"/>
                <a:cs typeface="Times New Roman"/>
              </a:rPr>
              <a:t>int</a:t>
            </a:r>
            <a:r>
              <a:rPr sz="2800" spc="9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000000"/>
                </a:solidFill>
                <a:latin typeface="Times New Roman"/>
                <a:cs typeface="Times New Roman"/>
              </a:rPr>
              <a:t>main()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53302" y="2916453"/>
            <a:ext cx="6322695" cy="5717540"/>
          </a:xfrm>
          <a:prstGeom prst="rect">
            <a:avLst/>
          </a:prstGeom>
        </p:spPr>
        <p:txBody>
          <a:bodyPr vert="horz" wrap="square" lIns="0" tIns="1911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5"/>
              </a:spcBef>
            </a:pPr>
            <a:r>
              <a:rPr sz="2800" b="1" spc="-50" dirty="0">
                <a:latin typeface="Times New Roman"/>
                <a:cs typeface="Times New Roman"/>
              </a:rPr>
              <a:t>{</a:t>
            </a:r>
            <a:endParaRPr sz="2800">
              <a:latin typeface="Times New Roman"/>
              <a:cs typeface="Times New Roman"/>
            </a:endParaRPr>
          </a:p>
          <a:p>
            <a:pPr marL="12700" marR="3006725">
              <a:lnSpc>
                <a:spcPct val="141500"/>
              </a:lnSpc>
              <a:spcBef>
                <a:spcPts val="10"/>
              </a:spcBef>
            </a:pPr>
            <a:r>
              <a:rPr sz="2800" b="1" dirty="0">
                <a:latin typeface="Times New Roman"/>
                <a:cs typeface="Times New Roman"/>
              </a:rPr>
              <a:t>char</a:t>
            </a:r>
            <a:r>
              <a:rPr sz="2800" b="1" spc="9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str[]</a:t>
            </a:r>
            <a:r>
              <a:rPr sz="2800" b="1" spc="10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=</a:t>
            </a:r>
            <a:r>
              <a:rPr sz="2800" b="1" spc="8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"Apple"; </a:t>
            </a:r>
            <a:r>
              <a:rPr sz="2800" b="1" dirty="0">
                <a:latin typeface="Times New Roman"/>
                <a:cs typeface="Times New Roman"/>
              </a:rPr>
              <a:t>int</a:t>
            </a:r>
            <a:r>
              <a:rPr sz="2800" b="1" spc="8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count</a:t>
            </a:r>
            <a:r>
              <a:rPr sz="2800" b="1" spc="7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=</a:t>
            </a:r>
            <a:r>
              <a:rPr sz="2800" b="1" spc="70" dirty="0">
                <a:latin typeface="Times New Roman"/>
                <a:cs typeface="Times New Roman"/>
              </a:rPr>
              <a:t> </a:t>
            </a:r>
            <a:r>
              <a:rPr sz="2800" b="1" spc="-25" dirty="0">
                <a:latin typeface="Times New Roman"/>
                <a:cs typeface="Times New Roman"/>
              </a:rPr>
              <a:t>0;</a:t>
            </a:r>
            <a:endParaRPr sz="2800">
              <a:latin typeface="Times New Roman"/>
              <a:cs typeface="Times New Roman"/>
            </a:endParaRPr>
          </a:p>
          <a:p>
            <a:pPr marL="12700" marR="2600960">
              <a:lnSpc>
                <a:spcPct val="141800"/>
              </a:lnSpc>
            </a:pPr>
            <a:r>
              <a:rPr sz="2800" b="1" dirty="0">
                <a:latin typeface="Times New Roman"/>
                <a:cs typeface="Times New Roman"/>
              </a:rPr>
              <a:t>while</a:t>
            </a:r>
            <a:r>
              <a:rPr sz="2800" b="1" spc="16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(str[count]</a:t>
            </a:r>
            <a:r>
              <a:rPr sz="2800" b="1" spc="16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!=</a:t>
            </a:r>
            <a:r>
              <a:rPr sz="2800" b="1" spc="10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'\0') count++;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90"/>
              </a:spcBef>
            </a:pPr>
            <a:r>
              <a:rPr sz="2800" b="1" dirty="0">
                <a:latin typeface="Times New Roman"/>
                <a:cs typeface="Times New Roman"/>
              </a:rPr>
              <a:t>cout&lt;&lt;"The</a:t>
            </a:r>
            <a:r>
              <a:rPr sz="2800" b="1" spc="18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string</a:t>
            </a:r>
            <a:r>
              <a:rPr sz="2800" b="1" spc="14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is</a:t>
            </a:r>
            <a:r>
              <a:rPr sz="2800" b="1" spc="114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"&lt;&lt;str&lt;&lt;endl;</a:t>
            </a:r>
            <a:r>
              <a:rPr sz="2800" b="1" spc="195" dirty="0">
                <a:latin typeface="Times New Roman"/>
                <a:cs typeface="Times New Roman"/>
              </a:rPr>
              <a:t> </a:t>
            </a:r>
            <a:r>
              <a:rPr sz="2800" b="1" spc="-20" dirty="0">
                <a:latin typeface="Times New Roman"/>
                <a:cs typeface="Times New Roman"/>
              </a:rPr>
              <a:t>cout</a:t>
            </a:r>
            <a:endParaRPr sz="2800">
              <a:latin typeface="Times New Roman"/>
              <a:cs typeface="Times New Roman"/>
            </a:endParaRPr>
          </a:p>
          <a:p>
            <a:pPr marL="12700" marR="1721485">
              <a:lnSpc>
                <a:spcPct val="100000"/>
              </a:lnSpc>
            </a:pPr>
            <a:r>
              <a:rPr sz="2800" b="1" dirty="0">
                <a:latin typeface="Times New Roman"/>
                <a:cs typeface="Times New Roman"/>
              </a:rPr>
              <a:t>&lt;&lt;"The</a:t>
            </a:r>
            <a:r>
              <a:rPr sz="2800" b="1" spc="12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length</a:t>
            </a:r>
            <a:r>
              <a:rPr sz="2800" b="1" spc="12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of</a:t>
            </a:r>
            <a:r>
              <a:rPr sz="2800" b="1" spc="9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the</a:t>
            </a:r>
            <a:r>
              <a:rPr sz="2800" b="1" spc="9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string</a:t>
            </a:r>
            <a:r>
              <a:rPr sz="2800" b="1" spc="110" dirty="0">
                <a:latin typeface="Times New Roman"/>
                <a:cs typeface="Times New Roman"/>
              </a:rPr>
              <a:t> </a:t>
            </a:r>
            <a:r>
              <a:rPr sz="2800" b="1" spc="-25" dirty="0">
                <a:latin typeface="Times New Roman"/>
                <a:cs typeface="Times New Roman"/>
              </a:rPr>
              <a:t>is </a:t>
            </a:r>
            <a:r>
              <a:rPr sz="2800" b="1" spc="-10" dirty="0">
                <a:latin typeface="Times New Roman"/>
                <a:cs typeface="Times New Roman"/>
              </a:rPr>
              <a:t>"&lt;&lt;count&lt;&lt;endl;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05"/>
              </a:spcBef>
            </a:pPr>
            <a:r>
              <a:rPr sz="2800" b="1" dirty="0">
                <a:latin typeface="Times New Roman"/>
                <a:cs typeface="Times New Roman"/>
              </a:rPr>
              <a:t>return</a:t>
            </a:r>
            <a:r>
              <a:rPr sz="2800" b="1" spc="155" dirty="0">
                <a:latin typeface="Times New Roman"/>
                <a:cs typeface="Times New Roman"/>
              </a:rPr>
              <a:t> </a:t>
            </a:r>
            <a:r>
              <a:rPr sz="2800" b="1" spc="-25" dirty="0">
                <a:latin typeface="Times New Roman"/>
                <a:cs typeface="Times New Roman"/>
              </a:rPr>
              <a:t>0;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05"/>
              </a:spcBef>
            </a:pPr>
            <a:r>
              <a:rPr sz="2800" b="1" spc="-50" dirty="0"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045200" y="0"/>
            <a:ext cx="76200" cy="9753600"/>
          </a:xfrm>
          <a:custGeom>
            <a:avLst/>
            <a:gdLst/>
            <a:ahLst/>
            <a:cxnLst/>
            <a:rect l="l" t="t" r="r" b="b"/>
            <a:pathLst>
              <a:path w="76200" h="9753600">
                <a:moveTo>
                  <a:pt x="0" y="0"/>
                </a:moveTo>
                <a:lnTo>
                  <a:pt x="76200" y="9753599"/>
                </a:lnTo>
              </a:path>
            </a:pathLst>
          </a:custGeom>
          <a:ln w="9525">
            <a:solidFill>
              <a:srgbClr val="5C71B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178030" y="9154464"/>
            <a:ext cx="2724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i="1" spc="-85" dirty="0">
                <a:solidFill>
                  <a:srgbClr val="585858"/>
                </a:solidFill>
                <a:latin typeface="Verdana"/>
                <a:cs typeface="Verdana"/>
              </a:rPr>
              <a:t>93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8739" y="20827"/>
            <a:ext cx="780288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Arial"/>
                <a:cs typeface="Arial"/>
              </a:rPr>
              <a:t>/*</a:t>
            </a:r>
            <a:r>
              <a:rPr sz="3200" spc="7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C++</a:t>
            </a:r>
            <a:r>
              <a:rPr sz="3200" spc="9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Program</a:t>
            </a:r>
            <a:r>
              <a:rPr sz="3200" spc="13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-</a:t>
            </a:r>
            <a:r>
              <a:rPr sz="3200" spc="7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Compare</a:t>
            </a:r>
            <a:r>
              <a:rPr sz="3200" spc="8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Two</a:t>
            </a:r>
            <a:r>
              <a:rPr sz="3200" spc="6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String</a:t>
            </a:r>
            <a:r>
              <a:rPr sz="3200" spc="75" dirty="0">
                <a:latin typeface="Arial"/>
                <a:cs typeface="Arial"/>
              </a:rPr>
              <a:t> </a:t>
            </a:r>
            <a:r>
              <a:rPr sz="3200" spc="-25" dirty="0">
                <a:latin typeface="Arial"/>
                <a:cs typeface="Arial"/>
              </a:rPr>
              <a:t>*/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739" y="511388"/>
            <a:ext cx="5563870" cy="935935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658745">
              <a:lnSpc>
                <a:spcPct val="148500"/>
              </a:lnSpc>
              <a:spcBef>
                <a:spcPts val="95"/>
              </a:spcBef>
            </a:pPr>
            <a:r>
              <a:rPr sz="2400" b="1" spc="-10" dirty="0">
                <a:latin typeface="Times New Roman"/>
                <a:cs typeface="Times New Roman"/>
              </a:rPr>
              <a:t>#include&lt;iostream.h&gt; #include&lt;string.h&gt; </a:t>
            </a:r>
            <a:r>
              <a:rPr sz="2400" b="1" dirty="0">
                <a:latin typeface="Times New Roman"/>
                <a:cs typeface="Times New Roman"/>
              </a:rPr>
              <a:t>void</a:t>
            </a:r>
            <a:r>
              <a:rPr sz="2400" b="1" spc="11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main()</a:t>
            </a:r>
            <a:endParaRPr sz="2400" dirty="0">
              <a:latin typeface="Times New Roman"/>
              <a:cs typeface="Times New Roman"/>
            </a:endParaRPr>
          </a:p>
          <a:p>
            <a:pPr marL="91440">
              <a:lnSpc>
                <a:spcPct val="100000"/>
              </a:lnSpc>
              <a:spcBef>
                <a:spcPts val="1405"/>
              </a:spcBef>
            </a:pPr>
            <a:r>
              <a:rPr sz="2400" b="1" spc="-50" dirty="0">
                <a:latin typeface="Times New Roman"/>
                <a:cs typeface="Times New Roman"/>
              </a:rPr>
              <a:t>{</a:t>
            </a:r>
            <a:endParaRPr sz="2400" dirty="0">
              <a:latin typeface="Times New Roman"/>
              <a:cs typeface="Times New Roman"/>
            </a:endParaRPr>
          </a:p>
          <a:p>
            <a:pPr marL="91440">
              <a:lnSpc>
                <a:spcPct val="100000"/>
              </a:lnSpc>
              <a:spcBef>
                <a:spcPts val="1395"/>
              </a:spcBef>
            </a:pPr>
            <a:r>
              <a:rPr sz="2400" b="1" spc="-10" dirty="0">
                <a:latin typeface="Times New Roman"/>
                <a:cs typeface="Times New Roman"/>
              </a:rPr>
              <a:t>clrscr();</a:t>
            </a:r>
            <a:endParaRPr sz="2400" dirty="0">
              <a:latin typeface="Times New Roman"/>
              <a:cs typeface="Times New Roman"/>
            </a:endParaRPr>
          </a:p>
          <a:p>
            <a:pPr marL="12700" marR="1648460">
              <a:lnSpc>
                <a:spcPct val="148600"/>
              </a:lnSpc>
              <a:spcBef>
                <a:spcPts val="5"/>
              </a:spcBef>
            </a:pPr>
            <a:r>
              <a:rPr sz="2400" b="1" dirty="0">
                <a:latin typeface="Times New Roman"/>
                <a:cs typeface="Times New Roman"/>
              </a:rPr>
              <a:t>char</a:t>
            </a:r>
            <a:r>
              <a:rPr sz="2400" b="1" spc="17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str1[100],</a:t>
            </a:r>
            <a:r>
              <a:rPr sz="2400" b="1" spc="17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str2[100]; </a:t>
            </a:r>
            <a:r>
              <a:rPr sz="2400" b="1" dirty="0">
                <a:latin typeface="Times New Roman"/>
                <a:cs typeface="Times New Roman"/>
              </a:rPr>
              <a:t>cout&lt;&lt;"Enter</a:t>
            </a:r>
            <a:r>
              <a:rPr sz="2400" b="1" spc="1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first</a:t>
            </a:r>
            <a:r>
              <a:rPr sz="2400" b="1" spc="1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string</a:t>
            </a:r>
            <a:r>
              <a:rPr sz="2400" b="1" spc="1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:</a:t>
            </a:r>
            <a:r>
              <a:rPr sz="2400" b="1" spc="114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latin typeface="Times New Roman"/>
                <a:cs typeface="Times New Roman"/>
              </a:rPr>
              <a:t>"; </a:t>
            </a:r>
            <a:r>
              <a:rPr sz="2400" b="1" spc="-10" dirty="0">
                <a:latin typeface="Times New Roman"/>
                <a:cs typeface="Times New Roman"/>
              </a:rPr>
              <a:t>gets(str1);</a:t>
            </a:r>
            <a:endParaRPr sz="2400" dirty="0">
              <a:latin typeface="Times New Roman"/>
              <a:cs typeface="Times New Roman"/>
            </a:endParaRPr>
          </a:p>
          <a:p>
            <a:pPr marL="12700" marR="1305560">
              <a:lnSpc>
                <a:spcPct val="148700"/>
              </a:lnSpc>
            </a:pPr>
            <a:r>
              <a:rPr sz="2400" b="1" dirty="0">
                <a:latin typeface="Times New Roman"/>
                <a:cs typeface="Times New Roman"/>
              </a:rPr>
              <a:t>cout&lt;&lt;"Enter</a:t>
            </a:r>
            <a:r>
              <a:rPr sz="2400" b="1" spc="1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second</a:t>
            </a:r>
            <a:r>
              <a:rPr sz="2400" b="1" spc="1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string</a:t>
            </a:r>
            <a:r>
              <a:rPr sz="2400" b="1" spc="1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:</a:t>
            </a:r>
            <a:r>
              <a:rPr sz="2400" b="1" spc="114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latin typeface="Times New Roman"/>
                <a:cs typeface="Times New Roman"/>
              </a:rPr>
              <a:t>"; </a:t>
            </a:r>
            <a:r>
              <a:rPr sz="2400" b="1" spc="-10" dirty="0">
                <a:latin typeface="Times New Roman"/>
                <a:cs typeface="Times New Roman"/>
              </a:rPr>
              <a:t>gets(str2);</a:t>
            </a:r>
            <a:endParaRPr sz="2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2400" b="1" dirty="0">
                <a:latin typeface="Times New Roman"/>
                <a:cs typeface="Times New Roman"/>
              </a:rPr>
              <a:t>if(strcmp(str1,</a:t>
            </a:r>
            <a:r>
              <a:rPr sz="2400" b="1" spc="36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str2)==0)</a:t>
            </a:r>
            <a:endParaRPr sz="2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05"/>
              </a:spcBef>
            </a:pPr>
            <a:r>
              <a:rPr sz="2400" b="1" spc="-50" dirty="0">
                <a:latin typeface="Times New Roman"/>
                <a:cs typeface="Times New Roman"/>
              </a:rPr>
              <a:t>{</a:t>
            </a:r>
            <a:endParaRPr sz="2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05"/>
              </a:spcBef>
            </a:pPr>
            <a:r>
              <a:rPr sz="2400" b="1" dirty="0">
                <a:latin typeface="Times New Roman"/>
                <a:cs typeface="Times New Roman"/>
              </a:rPr>
              <a:t>cout&lt;&lt;"Both</a:t>
            </a:r>
            <a:r>
              <a:rPr sz="2400" b="1" spc="16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1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strings</a:t>
            </a:r>
            <a:r>
              <a:rPr sz="2400" b="1" spc="1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are</a:t>
            </a:r>
            <a:r>
              <a:rPr sz="2400" b="1" spc="13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equal";</a:t>
            </a:r>
            <a:endParaRPr sz="2400" dirty="0">
              <a:latin typeface="Times New Roman"/>
              <a:cs typeface="Times New Roman"/>
            </a:endParaRPr>
          </a:p>
          <a:p>
            <a:pPr marL="91440">
              <a:lnSpc>
                <a:spcPct val="100000"/>
              </a:lnSpc>
              <a:spcBef>
                <a:spcPts val="1390"/>
              </a:spcBef>
            </a:pPr>
            <a:r>
              <a:rPr sz="2400" b="1" spc="-50" dirty="0">
                <a:latin typeface="Times New Roman"/>
                <a:cs typeface="Times New Roman"/>
              </a:rPr>
              <a:t>}</a:t>
            </a:r>
            <a:endParaRPr sz="2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10"/>
              </a:spcBef>
            </a:pPr>
            <a:r>
              <a:rPr sz="2400" b="1" spc="-20" dirty="0">
                <a:latin typeface="Times New Roman"/>
                <a:cs typeface="Times New Roman"/>
              </a:rPr>
              <a:t>else</a:t>
            </a:r>
            <a:endParaRPr sz="2400" dirty="0">
              <a:latin typeface="Times New Roman"/>
              <a:cs typeface="Times New Roman"/>
            </a:endParaRPr>
          </a:p>
          <a:p>
            <a:pPr marL="12700">
              <a:lnSpc>
                <a:spcPts val="2665"/>
              </a:lnSpc>
              <a:spcBef>
                <a:spcPts val="1400"/>
              </a:spcBef>
            </a:pPr>
            <a:r>
              <a:rPr sz="2400" b="1" dirty="0">
                <a:latin typeface="Times New Roman"/>
                <a:cs typeface="Times New Roman"/>
              </a:rPr>
              <a:t>{</a:t>
            </a:r>
            <a:r>
              <a:rPr sz="2400" b="1" spc="10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cout&lt;&lt;"Both</a:t>
            </a:r>
            <a:r>
              <a:rPr sz="2400" b="1" spc="1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10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strings</a:t>
            </a:r>
            <a:r>
              <a:rPr sz="2400" b="1" spc="10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are</a:t>
            </a:r>
            <a:r>
              <a:rPr sz="2400" b="1" spc="10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not</a:t>
            </a:r>
            <a:r>
              <a:rPr sz="2400" b="1" spc="11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equal";</a:t>
            </a:r>
            <a:endParaRPr sz="2400" dirty="0">
              <a:latin typeface="Times New Roman"/>
              <a:cs typeface="Times New Roman"/>
            </a:endParaRPr>
          </a:p>
          <a:p>
            <a:pPr marL="923290">
              <a:lnSpc>
                <a:spcPts val="1714"/>
              </a:lnSpc>
            </a:pPr>
            <a:endParaRPr sz="1700" dirty="0">
              <a:latin typeface="Verdana"/>
              <a:cs typeface="Verdana"/>
            </a:endParaRPr>
          </a:p>
          <a:p>
            <a:pPr marL="91440">
              <a:lnSpc>
                <a:spcPts val="2770"/>
              </a:lnSpc>
            </a:pPr>
            <a:r>
              <a:rPr sz="2400" b="1" dirty="0">
                <a:latin typeface="Times New Roman"/>
                <a:cs typeface="Times New Roman"/>
              </a:rPr>
              <a:t>}</a:t>
            </a:r>
            <a:r>
              <a:rPr sz="2400" b="1" spc="10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getch();</a:t>
            </a:r>
            <a:r>
              <a:rPr sz="2400" b="1" spc="110" dirty="0">
                <a:latin typeface="Times New Roman"/>
                <a:cs typeface="Times New Roman"/>
              </a:rPr>
              <a:t> </a:t>
            </a:r>
            <a:r>
              <a:rPr sz="2400" b="1" spc="-50" dirty="0">
                <a:latin typeface="Times New Roman"/>
                <a:cs typeface="Times New Roman"/>
              </a:rPr>
              <a:t>}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2178030" y="9154464"/>
            <a:ext cx="2724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i="1" spc="-85" dirty="0">
                <a:solidFill>
                  <a:srgbClr val="585858"/>
                </a:solidFill>
                <a:latin typeface="Verdana"/>
                <a:cs typeface="Verdana"/>
              </a:rPr>
              <a:t>94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8739" y="-151520"/>
            <a:ext cx="2386965" cy="190563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60300"/>
              </a:lnSpc>
              <a:spcBef>
                <a:spcPts val="55"/>
              </a:spcBef>
            </a:pPr>
            <a:r>
              <a:rPr sz="1800" b="0" dirty="0">
                <a:solidFill>
                  <a:srgbClr val="000000"/>
                </a:solidFill>
                <a:latin typeface="Times New Roman"/>
                <a:cs typeface="Times New Roman"/>
              </a:rPr>
              <a:t>#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include</a:t>
            </a:r>
            <a:r>
              <a:rPr sz="1800" spc="19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00000"/>
                </a:solidFill>
                <a:latin typeface="Times New Roman"/>
                <a:cs typeface="Times New Roman"/>
              </a:rPr>
              <a:t>&lt;iostream&gt; </a:t>
            </a:r>
            <a:r>
              <a:rPr sz="2000" dirty="0">
                <a:solidFill>
                  <a:srgbClr val="000000"/>
                </a:solidFill>
                <a:latin typeface="Arial"/>
                <a:cs typeface="Arial"/>
              </a:rPr>
              <a:t>#</a:t>
            </a:r>
            <a:r>
              <a:rPr sz="2000" dirty="0">
                <a:solidFill>
                  <a:srgbClr val="000000"/>
                </a:solidFill>
                <a:latin typeface="Times New Roman"/>
                <a:cs typeface="Times New Roman"/>
              </a:rPr>
              <a:t>include</a:t>
            </a:r>
            <a:r>
              <a:rPr sz="2000" spc="2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000000"/>
                </a:solidFill>
                <a:latin typeface="Times New Roman"/>
                <a:cs typeface="Times New Roman"/>
              </a:rPr>
              <a:t>&lt;string.h&gt; </a:t>
            </a:r>
            <a:r>
              <a:rPr sz="2000" dirty="0">
                <a:solidFill>
                  <a:srgbClr val="000000"/>
                </a:solidFill>
                <a:latin typeface="Times New Roman"/>
                <a:cs typeface="Times New Roman"/>
              </a:rPr>
              <a:t>using</a:t>
            </a:r>
            <a:r>
              <a:rPr sz="2000" spc="17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00"/>
                </a:solidFill>
                <a:latin typeface="Times New Roman"/>
                <a:cs typeface="Times New Roman"/>
              </a:rPr>
              <a:t>namespace</a:t>
            </a:r>
            <a:r>
              <a:rPr sz="2000" spc="17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000000"/>
                </a:solidFill>
                <a:latin typeface="Times New Roman"/>
                <a:cs typeface="Times New Roman"/>
              </a:rPr>
              <a:t>std; </a:t>
            </a:r>
            <a:r>
              <a:rPr sz="2000" dirty="0">
                <a:solidFill>
                  <a:srgbClr val="000000"/>
                </a:solidFill>
                <a:latin typeface="Times New Roman"/>
                <a:cs typeface="Times New Roman"/>
              </a:rPr>
              <a:t>int</a:t>
            </a:r>
            <a:r>
              <a:rPr sz="2000" spc="9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000000"/>
                </a:solidFill>
                <a:latin typeface="Times New Roman"/>
                <a:cs typeface="Times New Roman"/>
              </a:rPr>
              <a:t>main()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739" y="1729714"/>
            <a:ext cx="4392295" cy="7265034"/>
          </a:xfrm>
          <a:prstGeom prst="rect">
            <a:avLst/>
          </a:prstGeom>
        </p:spPr>
        <p:txBody>
          <a:bodyPr vert="horz" wrap="square" lIns="0" tIns="1898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95"/>
              </a:spcBef>
            </a:pPr>
            <a:r>
              <a:rPr sz="2000" b="1" spc="-50" dirty="0">
                <a:latin typeface="Times New Roman"/>
                <a:cs typeface="Times New Roman"/>
              </a:rPr>
              <a:t>{</a:t>
            </a:r>
            <a:endParaRPr sz="2000">
              <a:latin typeface="Times New Roman"/>
              <a:cs typeface="Times New Roman"/>
            </a:endParaRPr>
          </a:p>
          <a:p>
            <a:pPr marL="12700" marR="1776730">
              <a:lnSpc>
                <a:spcPts val="3800"/>
              </a:lnSpc>
              <a:spcBef>
                <a:spcPts val="355"/>
              </a:spcBef>
            </a:pPr>
            <a:r>
              <a:rPr sz="2000" b="1" dirty="0">
                <a:latin typeface="Times New Roman"/>
                <a:cs typeface="Times New Roman"/>
              </a:rPr>
              <a:t>char</a:t>
            </a:r>
            <a:r>
              <a:rPr sz="2000" b="1" spc="17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str1[20],</a:t>
            </a:r>
            <a:r>
              <a:rPr sz="2000" b="1" spc="15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str2[20]; </a:t>
            </a:r>
            <a:r>
              <a:rPr sz="2000" b="1" dirty="0">
                <a:latin typeface="Times New Roman"/>
                <a:cs typeface="Times New Roman"/>
              </a:rPr>
              <a:t>int</a:t>
            </a:r>
            <a:r>
              <a:rPr sz="2000" b="1" spc="7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i,</a:t>
            </a:r>
            <a:r>
              <a:rPr sz="2000" b="1" spc="7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j,</a:t>
            </a:r>
            <a:r>
              <a:rPr sz="2000" b="1" spc="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len</a:t>
            </a:r>
            <a:r>
              <a:rPr sz="2000" b="1" spc="9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=</a:t>
            </a:r>
            <a:r>
              <a:rPr sz="2000" b="1" spc="7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0,</a:t>
            </a:r>
            <a:r>
              <a:rPr sz="2000" b="1" spc="7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flag</a:t>
            </a:r>
            <a:r>
              <a:rPr sz="2000" b="1" spc="6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=</a:t>
            </a:r>
            <a:r>
              <a:rPr sz="2000" b="1" spc="75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0;</a:t>
            </a:r>
            <a:endParaRPr sz="2000">
              <a:latin typeface="Times New Roman"/>
              <a:cs typeface="Times New Roman"/>
            </a:endParaRPr>
          </a:p>
          <a:p>
            <a:pPr marL="12700" marR="1097915">
              <a:lnSpc>
                <a:spcPts val="3790"/>
              </a:lnSpc>
              <a:spcBef>
                <a:spcPts val="15"/>
              </a:spcBef>
            </a:pPr>
            <a:r>
              <a:rPr sz="2000" b="1" dirty="0">
                <a:latin typeface="Times New Roman"/>
                <a:cs typeface="Times New Roman"/>
              </a:rPr>
              <a:t>cout</a:t>
            </a:r>
            <a:r>
              <a:rPr sz="2000" b="1" spc="10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&lt;&lt;</a:t>
            </a:r>
            <a:r>
              <a:rPr sz="2000" b="1" spc="10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"Enter</a:t>
            </a:r>
            <a:r>
              <a:rPr sz="2000" b="1" spc="1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10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string</a:t>
            </a:r>
            <a:r>
              <a:rPr sz="2000" b="1" spc="9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:</a:t>
            </a:r>
            <a:r>
              <a:rPr sz="2000" b="1" spc="105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"; </a:t>
            </a:r>
            <a:r>
              <a:rPr sz="2000" b="1" spc="-10" dirty="0">
                <a:latin typeface="Times New Roman"/>
                <a:cs typeface="Times New Roman"/>
              </a:rPr>
              <a:t>gets(str1);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50"/>
              </a:spcBef>
            </a:pPr>
            <a:r>
              <a:rPr sz="2000" b="1" dirty="0">
                <a:latin typeface="Times New Roman"/>
                <a:cs typeface="Times New Roman"/>
              </a:rPr>
              <a:t>len</a:t>
            </a:r>
            <a:r>
              <a:rPr sz="2000" b="1" spc="1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=</a:t>
            </a:r>
            <a:r>
              <a:rPr sz="2000" b="1" spc="1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strlen(str1)</a:t>
            </a:r>
            <a:r>
              <a:rPr sz="2000" b="1" spc="1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-</a:t>
            </a:r>
            <a:r>
              <a:rPr sz="2000" b="1" spc="125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1;</a:t>
            </a:r>
            <a:endParaRPr sz="2000">
              <a:latin typeface="Times New Roman"/>
              <a:cs typeface="Times New Roman"/>
            </a:endParaRPr>
          </a:p>
          <a:p>
            <a:pPr marL="12700" marR="695960">
              <a:lnSpc>
                <a:spcPct val="158000"/>
              </a:lnSpc>
              <a:spcBef>
                <a:spcPts val="10"/>
              </a:spcBef>
            </a:pPr>
            <a:r>
              <a:rPr sz="2000" b="1" dirty="0">
                <a:latin typeface="Times New Roman"/>
                <a:cs typeface="Times New Roman"/>
              </a:rPr>
              <a:t>for</a:t>
            </a:r>
            <a:r>
              <a:rPr sz="2000" b="1" spc="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(i</a:t>
            </a:r>
            <a:r>
              <a:rPr sz="2000" b="1" spc="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=</a:t>
            </a:r>
            <a:r>
              <a:rPr sz="2000" b="1" spc="6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len,</a:t>
            </a:r>
            <a:r>
              <a:rPr sz="2000" b="1" spc="7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j</a:t>
            </a:r>
            <a:r>
              <a:rPr sz="2000" b="1" spc="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=</a:t>
            </a:r>
            <a:r>
              <a:rPr sz="2000" b="1" spc="7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0;</a:t>
            </a:r>
            <a:r>
              <a:rPr sz="2000" b="1" spc="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</a:t>
            </a:r>
            <a:r>
              <a:rPr sz="2000" b="1" spc="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&gt;=</a:t>
            </a:r>
            <a:r>
              <a:rPr sz="2000" b="1" spc="6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0</a:t>
            </a:r>
            <a:r>
              <a:rPr sz="2000" b="1" spc="7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;</a:t>
            </a:r>
            <a:r>
              <a:rPr sz="2000" b="1" spc="50" dirty="0">
                <a:latin typeface="Times New Roman"/>
                <a:cs typeface="Times New Roman"/>
              </a:rPr>
              <a:t> </a:t>
            </a:r>
            <a:r>
              <a:rPr sz="2000" b="1" spc="60" dirty="0">
                <a:latin typeface="Times New Roman"/>
                <a:cs typeface="Times New Roman"/>
              </a:rPr>
              <a:t>i-</a:t>
            </a:r>
            <a:r>
              <a:rPr sz="2000" b="1" dirty="0">
                <a:latin typeface="Times New Roman"/>
                <a:cs typeface="Times New Roman"/>
              </a:rPr>
              <a:t>-,</a:t>
            </a:r>
            <a:r>
              <a:rPr sz="2000" b="1" spc="65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latin typeface="Times New Roman"/>
                <a:cs typeface="Times New Roman"/>
              </a:rPr>
              <a:t>j++) </a:t>
            </a:r>
            <a:r>
              <a:rPr sz="2000" b="1" dirty="0">
                <a:latin typeface="Times New Roman"/>
                <a:cs typeface="Times New Roman"/>
              </a:rPr>
              <a:t>str2[j]</a:t>
            </a:r>
            <a:r>
              <a:rPr sz="2000" b="1" spc="9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=</a:t>
            </a:r>
            <a:r>
              <a:rPr sz="2000" b="1" spc="12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str1[i];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05"/>
              </a:spcBef>
            </a:pPr>
            <a:r>
              <a:rPr sz="2000" b="1" dirty="0">
                <a:latin typeface="Times New Roman"/>
                <a:cs typeface="Times New Roman"/>
              </a:rPr>
              <a:t>if</a:t>
            </a:r>
            <a:r>
              <a:rPr sz="2000" b="1" spc="19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(strcmp(str1,</a:t>
            </a:r>
            <a:r>
              <a:rPr sz="2000" b="1" spc="16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str2))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05"/>
              </a:spcBef>
            </a:pPr>
            <a:r>
              <a:rPr sz="2000" b="1" dirty="0">
                <a:latin typeface="Times New Roman"/>
                <a:cs typeface="Times New Roman"/>
              </a:rPr>
              <a:t>flag</a:t>
            </a:r>
            <a:r>
              <a:rPr sz="2000" b="1" spc="7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=</a:t>
            </a:r>
            <a:r>
              <a:rPr sz="2000" b="1" spc="75" dirty="0">
                <a:latin typeface="Times New Roman"/>
                <a:cs typeface="Times New Roman"/>
              </a:rPr>
              <a:t> </a:t>
            </a:r>
            <a:r>
              <a:rPr sz="2000" b="1" spc="-35" dirty="0">
                <a:latin typeface="Times New Roman"/>
                <a:cs typeface="Times New Roman"/>
              </a:rPr>
              <a:t>1;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2000" b="1" dirty="0">
                <a:latin typeface="Times New Roman"/>
                <a:cs typeface="Times New Roman"/>
              </a:rPr>
              <a:t>if</a:t>
            </a:r>
            <a:r>
              <a:rPr sz="2000" b="1" spc="9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(flag</a:t>
            </a:r>
            <a:r>
              <a:rPr sz="2000" b="1" spc="6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==</a:t>
            </a:r>
            <a:r>
              <a:rPr sz="2000" b="1" spc="105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1)</a:t>
            </a:r>
            <a:endParaRPr sz="2000">
              <a:latin typeface="Times New Roman"/>
              <a:cs typeface="Times New Roman"/>
            </a:endParaRPr>
          </a:p>
          <a:p>
            <a:pPr marL="12700" marR="5080">
              <a:lnSpc>
                <a:spcPct val="158500"/>
              </a:lnSpc>
            </a:pPr>
            <a:r>
              <a:rPr sz="2000" b="1" dirty="0">
                <a:latin typeface="Times New Roman"/>
                <a:cs typeface="Times New Roman"/>
              </a:rPr>
              <a:t>cout</a:t>
            </a:r>
            <a:r>
              <a:rPr sz="2000" b="1" spc="7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&lt;&lt;</a:t>
            </a:r>
            <a:r>
              <a:rPr sz="2000" b="1" spc="7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str1</a:t>
            </a:r>
            <a:r>
              <a:rPr sz="2000" b="1" spc="7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&lt;&lt;</a:t>
            </a:r>
            <a:r>
              <a:rPr sz="2000" b="1" spc="7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"</a:t>
            </a:r>
            <a:r>
              <a:rPr sz="2000" b="1" spc="9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is</a:t>
            </a:r>
            <a:r>
              <a:rPr sz="2000" b="1" spc="7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not</a:t>
            </a:r>
            <a:r>
              <a:rPr sz="2000" b="1" spc="6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</a:t>
            </a:r>
            <a:r>
              <a:rPr sz="2000" b="1" spc="8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palindrome"; </a:t>
            </a:r>
            <a:r>
              <a:rPr sz="2000" b="1" spc="-20" dirty="0">
                <a:latin typeface="Times New Roman"/>
                <a:cs typeface="Times New Roman"/>
              </a:rPr>
              <a:t>else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2000" b="1" dirty="0">
                <a:latin typeface="Times New Roman"/>
                <a:cs typeface="Times New Roman"/>
              </a:rPr>
              <a:t>cout</a:t>
            </a:r>
            <a:r>
              <a:rPr sz="2000" b="1" spc="7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&lt;&lt;</a:t>
            </a:r>
            <a:r>
              <a:rPr sz="2000" b="1" spc="6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str1</a:t>
            </a:r>
            <a:r>
              <a:rPr sz="2000" b="1" spc="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&lt;&lt;</a:t>
            </a:r>
            <a:r>
              <a:rPr sz="2000" b="1" spc="6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"</a:t>
            </a:r>
            <a:r>
              <a:rPr sz="2000" b="1" spc="8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is</a:t>
            </a:r>
            <a:r>
              <a:rPr sz="2000" b="1" spc="7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</a:t>
            </a:r>
            <a:r>
              <a:rPr sz="2000" b="1" spc="6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palindrome";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00"/>
              </a:spcBef>
            </a:pPr>
            <a:r>
              <a:rPr sz="2000" b="1" dirty="0">
                <a:latin typeface="Times New Roman"/>
                <a:cs typeface="Times New Roman"/>
              </a:rPr>
              <a:t>return</a:t>
            </a:r>
            <a:r>
              <a:rPr sz="2000" b="1" spc="150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0;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8739" y="9146540"/>
            <a:ext cx="12573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50" dirty="0">
                <a:latin typeface="Times New Roman"/>
                <a:cs typeface="Times New Roman"/>
              </a:rPr>
              <a:t>}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09847" y="17780"/>
            <a:ext cx="847852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1" i="1" dirty="0">
                <a:solidFill>
                  <a:srgbClr val="FF0000"/>
                </a:solidFill>
                <a:latin typeface="Arial"/>
                <a:cs typeface="Arial"/>
              </a:rPr>
              <a:t>String</a:t>
            </a:r>
            <a:r>
              <a:rPr sz="5400" b="1" i="1" spc="6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5400" b="1" i="1" dirty="0">
                <a:solidFill>
                  <a:srgbClr val="FF0000"/>
                </a:solidFill>
                <a:latin typeface="Arial"/>
                <a:cs typeface="Arial"/>
              </a:rPr>
              <a:t>is</a:t>
            </a:r>
            <a:r>
              <a:rPr sz="5400" b="1" i="1" spc="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5400" b="1" i="1" dirty="0">
                <a:solidFill>
                  <a:srgbClr val="FF0000"/>
                </a:solidFill>
                <a:latin typeface="Arial"/>
                <a:cs typeface="Arial"/>
              </a:rPr>
              <a:t>palindrom</a:t>
            </a:r>
            <a:r>
              <a:rPr sz="5400" b="1" i="1" spc="8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5400" b="1" i="1" dirty="0">
                <a:solidFill>
                  <a:srgbClr val="FF0000"/>
                </a:solidFill>
                <a:latin typeface="Arial"/>
                <a:cs typeface="Arial"/>
              </a:rPr>
              <a:t>or</a:t>
            </a:r>
            <a:r>
              <a:rPr sz="5400" b="1" i="1" spc="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5400" b="1" i="1" spc="-25" dirty="0">
                <a:solidFill>
                  <a:srgbClr val="FF0000"/>
                </a:solidFill>
                <a:latin typeface="Arial"/>
                <a:cs typeface="Arial"/>
              </a:rPr>
              <a:t>not</a:t>
            </a:r>
            <a:endParaRPr sz="5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8739" y="22352"/>
            <a:ext cx="61093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SIMPLE</a:t>
            </a:r>
            <a:r>
              <a:rPr sz="2400" spc="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TRANSPOSE</a:t>
            </a:r>
            <a:r>
              <a:rPr sz="2400" spc="1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MATRIX</a:t>
            </a:r>
            <a:r>
              <a:rPr sz="2400" spc="1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9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C++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739" y="390804"/>
            <a:ext cx="6137275" cy="83921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3525520">
              <a:lnSpc>
                <a:spcPct val="153000"/>
              </a:lnSpc>
              <a:spcBef>
                <a:spcPts val="90"/>
              </a:spcBef>
            </a:pPr>
            <a:r>
              <a:rPr sz="2200" b="1" dirty="0">
                <a:latin typeface="Times New Roman"/>
                <a:cs typeface="Times New Roman"/>
              </a:rPr>
              <a:t>#include</a:t>
            </a:r>
            <a:r>
              <a:rPr sz="2200" b="1" spc="145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&lt;iostream&gt; </a:t>
            </a:r>
            <a:r>
              <a:rPr sz="2200" b="1" dirty="0">
                <a:latin typeface="Times New Roman"/>
                <a:cs typeface="Times New Roman"/>
              </a:rPr>
              <a:t>using</a:t>
            </a:r>
            <a:r>
              <a:rPr sz="2200" b="1" spc="114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namespace</a:t>
            </a:r>
            <a:r>
              <a:rPr sz="2200" b="1" spc="135" dirty="0">
                <a:latin typeface="Times New Roman"/>
                <a:cs typeface="Times New Roman"/>
              </a:rPr>
              <a:t> </a:t>
            </a:r>
            <a:r>
              <a:rPr sz="2200" b="1" spc="-20" dirty="0">
                <a:latin typeface="Times New Roman"/>
                <a:cs typeface="Times New Roman"/>
              </a:rPr>
              <a:t>std; </a:t>
            </a:r>
            <a:r>
              <a:rPr sz="2200" b="1" dirty="0">
                <a:latin typeface="Times New Roman"/>
                <a:cs typeface="Times New Roman"/>
              </a:rPr>
              <a:t>int</a:t>
            </a:r>
            <a:r>
              <a:rPr sz="2200" b="1" spc="75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main()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05"/>
              </a:spcBef>
            </a:pPr>
            <a:r>
              <a:rPr sz="2200" b="1" spc="-50" dirty="0">
                <a:latin typeface="Times New Roman"/>
                <a:cs typeface="Times New Roman"/>
              </a:rPr>
              <a:t>{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2200" b="1" dirty="0">
                <a:latin typeface="Times New Roman"/>
                <a:cs typeface="Times New Roman"/>
              </a:rPr>
              <a:t>int</a:t>
            </a:r>
            <a:r>
              <a:rPr sz="2200" b="1" spc="12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a[10][10],</a:t>
            </a:r>
            <a:r>
              <a:rPr sz="2200" b="1" spc="13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trans[10][10],</a:t>
            </a:r>
            <a:r>
              <a:rPr sz="2200" b="1" spc="16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r,</a:t>
            </a:r>
            <a:r>
              <a:rPr sz="2200" b="1" spc="10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c,</a:t>
            </a:r>
            <a:r>
              <a:rPr sz="2200" b="1" spc="11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i,</a:t>
            </a:r>
            <a:r>
              <a:rPr sz="2200" b="1" spc="100" dirty="0">
                <a:latin typeface="Times New Roman"/>
                <a:cs typeface="Times New Roman"/>
              </a:rPr>
              <a:t> </a:t>
            </a:r>
            <a:r>
              <a:rPr sz="2200" b="1" spc="-25" dirty="0">
                <a:latin typeface="Times New Roman"/>
                <a:cs typeface="Times New Roman"/>
              </a:rPr>
              <a:t>j;</a:t>
            </a:r>
            <a:endParaRPr sz="2200">
              <a:latin typeface="Times New Roman"/>
              <a:cs typeface="Times New Roman"/>
            </a:endParaRPr>
          </a:p>
          <a:p>
            <a:pPr marL="12700" marR="342265">
              <a:lnSpc>
                <a:spcPct val="153200"/>
              </a:lnSpc>
            </a:pPr>
            <a:r>
              <a:rPr sz="2200" b="1" dirty="0">
                <a:latin typeface="Times New Roman"/>
                <a:cs typeface="Times New Roman"/>
              </a:rPr>
              <a:t>cout</a:t>
            </a:r>
            <a:r>
              <a:rPr sz="2200" b="1" spc="9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&lt;&lt;</a:t>
            </a:r>
            <a:r>
              <a:rPr sz="2200" b="1" spc="7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"Enter</a:t>
            </a:r>
            <a:r>
              <a:rPr sz="2200" b="1" spc="10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rows</a:t>
            </a:r>
            <a:r>
              <a:rPr sz="2200" b="1" spc="9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and</a:t>
            </a:r>
            <a:r>
              <a:rPr sz="2200" b="1" spc="8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columns</a:t>
            </a:r>
            <a:r>
              <a:rPr sz="2200" b="1" spc="10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of</a:t>
            </a:r>
            <a:r>
              <a:rPr sz="2200" b="1" spc="8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matrix:</a:t>
            </a:r>
            <a:r>
              <a:rPr sz="2200" b="1" spc="135" dirty="0">
                <a:latin typeface="Times New Roman"/>
                <a:cs typeface="Times New Roman"/>
              </a:rPr>
              <a:t> </a:t>
            </a:r>
            <a:r>
              <a:rPr sz="2200" b="1" spc="-25" dirty="0">
                <a:latin typeface="Times New Roman"/>
                <a:cs typeface="Times New Roman"/>
              </a:rPr>
              <a:t>"; </a:t>
            </a:r>
            <a:r>
              <a:rPr sz="2200" b="1" dirty="0">
                <a:latin typeface="Times New Roman"/>
                <a:cs typeface="Times New Roman"/>
              </a:rPr>
              <a:t>cin</a:t>
            </a:r>
            <a:r>
              <a:rPr sz="2200" b="1" spc="9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&gt;&gt;</a:t>
            </a:r>
            <a:r>
              <a:rPr sz="2200" b="1" spc="7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r</a:t>
            </a:r>
            <a:r>
              <a:rPr sz="2200" b="1" spc="6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&gt;&gt;</a:t>
            </a:r>
            <a:r>
              <a:rPr sz="2200" b="1" spc="8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c;//</a:t>
            </a:r>
            <a:r>
              <a:rPr sz="2200" b="1" spc="10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Storing</a:t>
            </a:r>
            <a:r>
              <a:rPr sz="2200" b="1" spc="10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element</a:t>
            </a:r>
            <a:r>
              <a:rPr sz="2200" b="1" spc="13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of</a:t>
            </a:r>
            <a:r>
              <a:rPr sz="2200" b="1" spc="75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matrix</a:t>
            </a:r>
            <a:endParaRPr sz="2200">
              <a:latin typeface="Times New Roman"/>
              <a:cs typeface="Times New Roman"/>
            </a:endParaRPr>
          </a:p>
          <a:p>
            <a:pPr marL="12700" marR="189230">
              <a:lnSpc>
                <a:spcPct val="100000"/>
              </a:lnSpc>
              <a:spcBef>
                <a:spcPts val="1395"/>
              </a:spcBef>
            </a:pPr>
            <a:r>
              <a:rPr sz="2200" b="1" dirty="0">
                <a:latin typeface="Times New Roman"/>
                <a:cs typeface="Times New Roman"/>
              </a:rPr>
              <a:t>cout</a:t>
            </a:r>
            <a:r>
              <a:rPr sz="2200" b="1" spc="10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&lt;&lt;</a:t>
            </a:r>
            <a:r>
              <a:rPr sz="2200" b="1" spc="7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endl</a:t>
            </a:r>
            <a:r>
              <a:rPr sz="2200" b="1" spc="9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&lt;&lt;</a:t>
            </a:r>
            <a:r>
              <a:rPr sz="2200" b="1" spc="7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"Enter</a:t>
            </a:r>
            <a:r>
              <a:rPr sz="2200" b="1" spc="10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elements</a:t>
            </a:r>
            <a:r>
              <a:rPr sz="2200" b="1" spc="14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of</a:t>
            </a:r>
            <a:r>
              <a:rPr sz="2200" b="1" spc="7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matrix:</a:t>
            </a:r>
            <a:r>
              <a:rPr sz="2200" b="1" spc="114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"</a:t>
            </a:r>
            <a:r>
              <a:rPr sz="2200" b="1" spc="65" dirty="0">
                <a:latin typeface="Times New Roman"/>
                <a:cs typeface="Times New Roman"/>
              </a:rPr>
              <a:t> </a:t>
            </a:r>
            <a:r>
              <a:rPr sz="2200" b="1" spc="-25" dirty="0">
                <a:latin typeface="Times New Roman"/>
                <a:cs typeface="Times New Roman"/>
              </a:rPr>
              <a:t>&lt;&lt; </a:t>
            </a:r>
            <a:r>
              <a:rPr sz="2200" b="1" spc="-10" dirty="0">
                <a:latin typeface="Times New Roman"/>
                <a:cs typeface="Times New Roman"/>
              </a:rPr>
              <a:t>endl;</a:t>
            </a:r>
            <a:endParaRPr sz="2200">
              <a:latin typeface="Times New Roman"/>
              <a:cs typeface="Times New Roman"/>
            </a:endParaRPr>
          </a:p>
          <a:p>
            <a:pPr marL="12700" marR="3720465">
              <a:lnSpc>
                <a:spcPct val="153200"/>
              </a:lnSpc>
            </a:pPr>
            <a:r>
              <a:rPr sz="2200" b="1" dirty="0">
                <a:latin typeface="Times New Roman"/>
                <a:cs typeface="Times New Roman"/>
              </a:rPr>
              <a:t>for(i</a:t>
            </a:r>
            <a:r>
              <a:rPr sz="2200" b="1" spc="8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=</a:t>
            </a:r>
            <a:r>
              <a:rPr sz="2200" b="1" spc="4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0;</a:t>
            </a:r>
            <a:r>
              <a:rPr sz="2200" b="1" spc="6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i</a:t>
            </a:r>
            <a:r>
              <a:rPr sz="2200" b="1" spc="6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&lt;</a:t>
            </a:r>
            <a:r>
              <a:rPr sz="2200" b="1" spc="6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r;</a:t>
            </a:r>
            <a:r>
              <a:rPr sz="2200" b="1" spc="60" dirty="0">
                <a:latin typeface="Times New Roman"/>
                <a:cs typeface="Times New Roman"/>
              </a:rPr>
              <a:t> </a:t>
            </a:r>
            <a:r>
              <a:rPr sz="2200" b="1" spc="-20" dirty="0">
                <a:latin typeface="Times New Roman"/>
                <a:cs typeface="Times New Roman"/>
              </a:rPr>
              <a:t>++i) </a:t>
            </a:r>
            <a:r>
              <a:rPr sz="2200" b="1" dirty="0">
                <a:latin typeface="Times New Roman"/>
                <a:cs typeface="Times New Roman"/>
              </a:rPr>
              <a:t>for(j</a:t>
            </a:r>
            <a:r>
              <a:rPr sz="2200" b="1" spc="8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=</a:t>
            </a:r>
            <a:r>
              <a:rPr sz="2200" b="1" spc="5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0;</a:t>
            </a:r>
            <a:r>
              <a:rPr sz="2200" b="1" spc="6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j</a:t>
            </a:r>
            <a:r>
              <a:rPr sz="2200" b="1" spc="6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&lt;</a:t>
            </a:r>
            <a:r>
              <a:rPr sz="2200" b="1" spc="4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c;</a:t>
            </a:r>
            <a:r>
              <a:rPr sz="2200" b="1" spc="70" dirty="0">
                <a:latin typeface="Times New Roman"/>
                <a:cs typeface="Times New Roman"/>
              </a:rPr>
              <a:t> </a:t>
            </a:r>
            <a:r>
              <a:rPr sz="2200" b="1" spc="-20" dirty="0">
                <a:latin typeface="Times New Roman"/>
                <a:cs typeface="Times New Roman"/>
              </a:rPr>
              <a:t>++j)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2200" b="1" spc="-50" dirty="0">
                <a:latin typeface="Times New Roman"/>
                <a:cs typeface="Times New Roman"/>
              </a:rPr>
              <a:t>{</a:t>
            </a:r>
            <a:endParaRPr sz="22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1405"/>
              </a:spcBef>
            </a:pPr>
            <a:r>
              <a:rPr sz="2200" b="1" dirty="0">
                <a:latin typeface="Times New Roman"/>
                <a:cs typeface="Times New Roman"/>
              </a:rPr>
              <a:t>cout</a:t>
            </a:r>
            <a:r>
              <a:rPr sz="2200" b="1" spc="7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&lt;&lt;</a:t>
            </a:r>
            <a:r>
              <a:rPr sz="2200" b="1" spc="6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"Enter</a:t>
            </a:r>
            <a:r>
              <a:rPr sz="2200" b="1" spc="9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elements</a:t>
            </a:r>
            <a:r>
              <a:rPr sz="2200" b="1" spc="11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a"</a:t>
            </a:r>
            <a:r>
              <a:rPr sz="2200" b="1" spc="7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&lt;&lt;</a:t>
            </a:r>
            <a:r>
              <a:rPr sz="2200" b="1" spc="6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i</a:t>
            </a:r>
            <a:r>
              <a:rPr sz="2200" b="1" spc="7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+</a:t>
            </a:r>
            <a:r>
              <a:rPr sz="2200" b="1" spc="5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1</a:t>
            </a:r>
            <a:r>
              <a:rPr sz="2200" b="1" spc="7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&lt;&lt;</a:t>
            </a:r>
            <a:r>
              <a:rPr sz="2200" b="1" spc="6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j</a:t>
            </a:r>
            <a:r>
              <a:rPr sz="2200" b="1" spc="6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+</a:t>
            </a:r>
            <a:r>
              <a:rPr sz="2200" b="1" spc="5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1</a:t>
            </a:r>
            <a:r>
              <a:rPr sz="2200" b="1" spc="7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&lt;&lt;</a:t>
            </a:r>
            <a:r>
              <a:rPr sz="2200" b="1" spc="60" dirty="0">
                <a:latin typeface="Times New Roman"/>
                <a:cs typeface="Times New Roman"/>
              </a:rPr>
              <a:t> </a:t>
            </a:r>
            <a:r>
              <a:rPr sz="2200" b="1" spc="-25" dirty="0">
                <a:latin typeface="Times New Roman"/>
                <a:cs typeface="Times New Roman"/>
              </a:rPr>
              <a:t>": ";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00"/>
              </a:spcBef>
            </a:pPr>
            <a:r>
              <a:rPr sz="2200" b="1" dirty="0">
                <a:latin typeface="Times New Roman"/>
                <a:cs typeface="Times New Roman"/>
              </a:rPr>
              <a:t>cin</a:t>
            </a:r>
            <a:r>
              <a:rPr sz="2200" b="1" spc="8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&gt;&gt;</a:t>
            </a:r>
            <a:r>
              <a:rPr sz="2200" b="1" spc="60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a[i][j];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2200" b="1" dirty="0">
                <a:latin typeface="Times New Roman"/>
                <a:cs typeface="Times New Roman"/>
              </a:rPr>
              <a:t>}</a:t>
            </a:r>
            <a:r>
              <a:rPr sz="2200" b="1" spc="7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//</a:t>
            </a:r>
            <a:r>
              <a:rPr sz="2200" b="1" spc="8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Displaying</a:t>
            </a:r>
            <a:r>
              <a:rPr sz="2200" b="1" spc="114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the</a:t>
            </a:r>
            <a:r>
              <a:rPr sz="2200" b="1" spc="9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matrix</a:t>
            </a:r>
            <a:r>
              <a:rPr sz="2200" b="1" spc="130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a[][]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05"/>
              </a:spcBef>
            </a:pPr>
            <a:r>
              <a:rPr sz="2200" b="1" dirty="0">
                <a:latin typeface="Times New Roman"/>
                <a:cs typeface="Times New Roman"/>
              </a:rPr>
              <a:t>cout</a:t>
            </a:r>
            <a:r>
              <a:rPr sz="2200" b="1" spc="8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&lt;&lt;</a:t>
            </a:r>
            <a:r>
              <a:rPr sz="2200" b="1" spc="7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endl</a:t>
            </a:r>
            <a:r>
              <a:rPr sz="2200" b="1" spc="9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&lt;&lt;</a:t>
            </a:r>
            <a:r>
              <a:rPr sz="2200" b="1" spc="7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"Entered</a:t>
            </a:r>
            <a:r>
              <a:rPr sz="2200" b="1" spc="114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Matrix:</a:t>
            </a:r>
            <a:r>
              <a:rPr sz="2200" b="1" spc="10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"</a:t>
            </a:r>
            <a:r>
              <a:rPr sz="2200" b="1" spc="8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&lt;&lt;</a:t>
            </a:r>
            <a:r>
              <a:rPr sz="2200" b="1" spc="75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endl;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739" y="8936228"/>
            <a:ext cx="237426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dirty="0">
                <a:latin typeface="Times New Roman"/>
                <a:cs typeface="Times New Roman"/>
              </a:rPr>
              <a:t>for(i</a:t>
            </a:r>
            <a:r>
              <a:rPr sz="2200" b="1" spc="8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=</a:t>
            </a:r>
            <a:r>
              <a:rPr sz="2200" b="1" spc="4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0;</a:t>
            </a:r>
            <a:r>
              <a:rPr sz="2200" b="1" spc="6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i</a:t>
            </a:r>
            <a:r>
              <a:rPr sz="2200" b="1" spc="6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&lt;</a:t>
            </a:r>
            <a:r>
              <a:rPr sz="2200" b="1" spc="6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r;</a:t>
            </a:r>
            <a:r>
              <a:rPr sz="2200" b="1" spc="60" dirty="0">
                <a:latin typeface="Times New Roman"/>
                <a:cs typeface="Times New Roman"/>
              </a:rPr>
              <a:t> </a:t>
            </a:r>
            <a:r>
              <a:rPr sz="2200" b="1" spc="-20" dirty="0">
                <a:latin typeface="Times New Roman"/>
                <a:cs typeface="Times New Roman"/>
              </a:rPr>
              <a:t>++i)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8739" y="9448292"/>
            <a:ext cx="242125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dirty="0">
                <a:latin typeface="Times New Roman"/>
                <a:cs typeface="Times New Roman"/>
              </a:rPr>
              <a:t>for(j</a:t>
            </a:r>
            <a:r>
              <a:rPr sz="2200" b="1" spc="8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=</a:t>
            </a:r>
            <a:r>
              <a:rPr sz="2200" b="1" spc="5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0;</a:t>
            </a:r>
            <a:r>
              <a:rPr sz="2200" b="1" spc="6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j</a:t>
            </a:r>
            <a:r>
              <a:rPr sz="2200" b="1" spc="6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&lt;</a:t>
            </a:r>
            <a:r>
              <a:rPr sz="2200" b="1" spc="4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c;</a:t>
            </a:r>
            <a:r>
              <a:rPr sz="2200" b="1" spc="70" dirty="0">
                <a:latin typeface="Times New Roman"/>
                <a:cs typeface="Times New Roman"/>
              </a:rPr>
              <a:t> </a:t>
            </a:r>
            <a:r>
              <a:rPr sz="2200" b="1" spc="-20" dirty="0">
                <a:latin typeface="Times New Roman"/>
                <a:cs typeface="Times New Roman"/>
              </a:rPr>
              <a:t>++j)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05702" y="-155041"/>
            <a:ext cx="6106160" cy="9594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244850">
              <a:lnSpc>
                <a:spcPct val="153200"/>
              </a:lnSpc>
              <a:spcBef>
                <a:spcPts val="100"/>
              </a:spcBef>
            </a:pPr>
            <a:r>
              <a:rPr sz="2200" b="1" dirty="0">
                <a:solidFill>
                  <a:srgbClr val="5C5C5C"/>
                </a:solidFill>
                <a:latin typeface="Times New Roman"/>
                <a:cs typeface="Times New Roman"/>
              </a:rPr>
              <a:t>{</a:t>
            </a:r>
            <a:r>
              <a:rPr sz="2200" b="1" spc="40" dirty="0">
                <a:solidFill>
                  <a:srgbClr val="5C5C5C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5C5C5C"/>
                </a:solidFill>
                <a:latin typeface="Times New Roman"/>
                <a:cs typeface="Times New Roman"/>
              </a:rPr>
              <a:t>cout</a:t>
            </a:r>
            <a:r>
              <a:rPr sz="2200" b="1" spc="90" dirty="0">
                <a:solidFill>
                  <a:srgbClr val="5C5C5C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5C5C5C"/>
                </a:solidFill>
                <a:latin typeface="Times New Roman"/>
                <a:cs typeface="Times New Roman"/>
              </a:rPr>
              <a:t>&lt;&lt;</a:t>
            </a:r>
            <a:r>
              <a:rPr sz="2200" b="1" spc="55" dirty="0">
                <a:solidFill>
                  <a:srgbClr val="5C5C5C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5C5C5C"/>
                </a:solidFill>
                <a:latin typeface="Times New Roman"/>
                <a:cs typeface="Times New Roman"/>
              </a:rPr>
              <a:t>"</a:t>
            </a:r>
            <a:r>
              <a:rPr sz="2200" b="1" spc="65" dirty="0">
                <a:solidFill>
                  <a:srgbClr val="5C5C5C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5C5C5C"/>
                </a:solidFill>
                <a:latin typeface="Times New Roman"/>
                <a:cs typeface="Times New Roman"/>
              </a:rPr>
              <a:t>"</a:t>
            </a:r>
            <a:r>
              <a:rPr sz="2200" b="1" spc="65" dirty="0">
                <a:solidFill>
                  <a:srgbClr val="5C5C5C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5C5C5C"/>
                </a:solidFill>
                <a:latin typeface="Times New Roman"/>
                <a:cs typeface="Times New Roman"/>
              </a:rPr>
              <a:t>&lt;&lt;</a:t>
            </a:r>
            <a:r>
              <a:rPr sz="2200" b="1" spc="55" dirty="0">
                <a:solidFill>
                  <a:srgbClr val="5C5C5C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5C5C5C"/>
                </a:solidFill>
                <a:latin typeface="Times New Roman"/>
                <a:cs typeface="Times New Roman"/>
              </a:rPr>
              <a:t>a[i][j]; </a:t>
            </a:r>
            <a:r>
              <a:rPr sz="2200" b="1" dirty="0">
                <a:solidFill>
                  <a:srgbClr val="5C5C5C"/>
                </a:solidFill>
                <a:latin typeface="Times New Roman"/>
                <a:cs typeface="Times New Roman"/>
              </a:rPr>
              <a:t>if(j</a:t>
            </a:r>
            <a:r>
              <a:rPr sz="2200" b="1" spc="85" dirty="0">
                <a:solidFill>
                  <a:srgbClr val="5C5C5C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5C5C5C"/>
                </a:solidFill>
                <a:latin typeface="Times New Roman"/>
                <a:cs typeface="Times New Roman"/>
              </a:rPr>
              <a:t>==</a:t>
            </a:r>
            <a:r>
              <a:rPr sz="2200" b="1" spc="55" dirty="0">
                <a:solidFill>
                  <a:srgbClr val="5C5C5C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5C5C5C"/>
                </a:solidFill>
                <a:latin typeface="Times New Roman"/>
                <a:cs typeface="Times New Roman"/>
              </a:rPr>
              <a:t>c</a:t>
            </a:r>
            <a:r>
              <a:rPr sz="2200" b="1" spc="85" dirty="0">
                <a:solidFill>
                  <a:srgbClr val="5C5C5C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5C5C5C"/>
                </a:solidFill>
                <a:latin typeface="Times New Roman"/>
                <a:cs typeface="Times New Roman"/>
              </a:rPr>
              <a:t>-</a:t>
            </a:r>
            <a:r>
              <a:rPr sz="2200" b="1" spc="65" dirty="0">
                <a:solidFill>
                  <a:srgbClr val="5C5C5C"/>
                </a:solidFill>
                <a:latin typeface="Times New Roman"/>
                <a:cs typeface="Times New Roman"/>
              </a:rPr>
              <a:t> </a:t>
            </a:r>
            <a:r>
              <a:rPr sz="2200" b="1" spc="-25" dirty="0">
                <a:solidFill>
                  <a:srgbClr val="5C5C5C"/>
                </a:solidFill>
                <a:latin typeface="Times New Roman"/>
                <a:cs typeface="Times New Roman"/>
              </a:rPr>
              <a:t>1)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80"/>
              </a:spcBef>
            </a:pPr>
            <a:r>
              <a:rPr sz="2200" b="1" dirty="0">
                <a:solidFill>
                  <a:srgbClr val="5C5C5C"/>
                </a:solidFill>
                <a:latin typeface="Times New Roman"/>
                <a:cs typeface="Times New Roman"/>
              </a:rPr>
              <a:t>cout</a:t>
            </a:r>
            <a:r>
              <a:rPr sz="2200" b="1" spc="90" dirty="0">
                <a:solidFill>
                  <a:srgbClr val="5C5C5C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5C5C5C"/>
                </a:solidFill>
                <a:latin typeface="Times New Roman"/>
                <a:cs typeface="Times New Roman"/>
              </a:rPr>
              <a:t>&lt;&lt;</a:t>
            </a:r>
            <a:r>
              <a:rPr sz="2200" b="1" spc="80" dirty="0">
                <a:solidFill>
                  <a:srgbClr val="5C5C5C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5C5C5C"/>
                </a:solidFill>
                <a:latin typeface="Times New Roman"/>
                <a:cs typeface="Times New Roman"/>
              </a:rPr>
              <a:t>endl</a:t>
            </a:r>
            <a:r>
              <a:rPr sz="2200" b="1" spc="95" dirty="0">
                <a:solidFill>
                  <a:srgbClr val="5C5C5C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5C5C5C"/>
                </a:solidFill>
                <a:latin typeface="Times New Roman"/>
                <a:cs typeface="Times New Roman"/>
              </a:rPr>
              <a:t>&lt;&lt;</a:t>
            </a:r>
            <a:r>
              <a:rPr sz="2200" b="1" spc="80" dirty="0">
                <a:solidFill>
                  <a:srgbClr val="5C5C5C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5C5C5C"/>
                </a:solidFill>
                <a:latin typeface="Times New Roman"/>
                <a:cs typeface="Times New Roman"/>
              </a:rPr>
              <a:t>endl;</a:t>
            </a:r>
            <a:r>
              <a:rPr sz="2200" b="1" spc="114" dirty="0">
                <a:solidFill>
                  <a:srgbClr val="5C5C5C"/>
                </a:solidFill>
                <a:latin typeface="Times New Roman"/>
                <a:cs typeface="Times New Roman"/>
              </a:rPr>
              <a:t> </a:t>
            </a:r>
            <a:r>
              <a:rPr sz="2800" b="1" spc="-50" dirty="0">
                <a:solidFill>
                  <a:srgbClr val="5C5C5C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  <a:p>
            <a:pPr marL="12700" marR="109855">
              <a:lnSpc>
                <a:spcPct val="100000"/>
              </a:lnSpc>
              <a:spcBef>
                <a:spcPts val="1415"/>
              </a:spcBef>
            </a:pPr>
            <a:r>
              <a:rPr sz="2200" b="1" dirty="0">
                <a:latin typeface="Times New Roman"/>
                <a:cs typeface="Times New Roman"/>
              </a:rPr>
              <a:t>//</a:t>
            </a:r>
            <a:r>
              <a:rPr sz="2200" b="1" spc="9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Finding</a:t>
            </a:r>
            <a:r>
              <a:rPr sz="2200" b="1" spc="12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transpose</a:t>
            </a:r>
            <a:r>
              <a:rPr sz="2200" b="1" spc="114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of</a:t>
            </a:r>
            <a:r>
              <a:rPr sz="2200" b="1" spc="9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matrix</a:t>
            </a:r>
            <a:r>
              <a:rPr sz="2200" b="1" spc="13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a[][]</a:t>
            </a:r>
            <a:r>
              <a:rPr sz="2200" b="1" spc="114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and</a:t>
            </a:r>
            <a:r>
              <a:rPr sz="2200" b="1" spc="9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storing</a:t>
            </a:r>
            <a:r>
              <a:rPr sz="2200" b="1" spc="114" dirty="0">
                <a:latin typeface="Times New Roman"/>
                <a:cs typeface="Times New Roman"/>
              </a:rPr>
              <a:t> </a:t>
            </a:r>
            <a:r>
              <a:rPr sz="2200" b="1" spc="-25" dirty="0">
                <a:latin typeface="Times New Roman"/>
                <a:cs typeface="Times New Roman"/>
              </a:rPr>
              <a:t>it </a:t>
            </a:r>
            <a:r>
              <a:rPr sz="2200" b="1" dirty="0">
                <a:latin typeface="Times New Roman"/>
                <a:cs typeface="Times New Roman"/>
              </a:rPr>
              <a:t>infor(i</a:t>
            </a:r>
            <a:r>
              <a:rPr sz="2200" b="1" spc="11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=</a:t>
            </a:r>
            <a:r>
              <a:rPr sz="2200" b="1" spc="5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0;</a:t>
            </a:r>
            <a:r>
              <a:rPr sz="2200" b="1" spc="6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i</a:t>
            </a:r>
            <a:r>
              <a:rPr sz="2200" b="1" spc="7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&lt;</a:t>
            </a:r>
            <a:r>
              <a:rPr sz="2200" b="1" spc="5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r;</a:t>
            </a:r>
            <a:r>
              <a:rPr sz="2200" b="1" spc="75" dirty="0">
                <a:latin typeface="Times New Roman"/>
                <a:cs typeface="Times New Roman"/>
              </a:rPr>
              <a:t> </a:t>
            </a:r>
            <a:r>
              <a:rPr sz="2200" b="1" spc="-20" dirty="0">
                <a:latin typeface="Times New Roman"/>
                <a:cs typeface="Times New Roman"/>
              </a:rPr>
              <a:t>++i)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10"/>
              </a:spcBef>
            </a:pPr>
            <a:r>
              <a:rPr sz="2200" b="1" dirty="0">
                <a:latin typeface="Times New Roman"/>
                <a:cs typeface="Times New Roman"/>
              </a:rPr>
              <a:t>for(j</a:t>
            </a:r>
            <a:r>
              <a:rPr sz="2200" b="1" spc="8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=</a:t>
            </a:r>
            <a:r>
              <a:rPr sz="2200" b="1" spc="5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0;</a:t>
            </a:r>
            <a:r>
              <a:rPr sz="2200" b="1" spc="6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j</a:t>
            </a:r>
            <a:r>
              <a:rPr sz="2200" b="1" spc="6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&lt;</a:t>
            </a:r>
            <a:r>
              <a:rPr sz="2200" b="1" spc="4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c;</a:t>
            </a:r>
            <a:r>
              <a:rPr sz="2200" b="1" spc="70" dirty="0">
                <a:latin typeface="Times New Roman"/>
                <a:cs typeface="Times New Roman"/>
              </a:rPr>
              <a:t> </a:t>
            </a:r>
            <a:r>
              <a:rPr sz="2200" b="1" spc="-20" dirty="0">
                <a:latin typeface="Times New Roman"/>
                <a:cs typeface="Times New Roman"/>
              </a:rPr>
              <a:t>++j)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90"/>
              </a:spcBef>
            </a:pPr>
            <a:r>
              <a:rPr sz="2200" b="1" spc="-50" dirty="0">
                <a:latin typeface="Times New Roman"/>
                <a:cs typeface="Times New Roman"/>
              </a:rPr>
              <a:t>{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05"/>
              </a:spcBef>
            </a:pPr>
            <a:r>
              <a:rPr sz="2200" b="1" spc="-10" dirty="0">
                <a:latin typeface="Times New Roman"/>
                <a:cs typeface="Times New Roman"/>
              </a:rPr>
              <a:t>trans[j][i]=a[i][j];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05"/>
              </a:spcBef>
            </a:pPr>
            <a:r>
              <a:rPr sz="2200" b="1" spc="-50" dirty="0">
                <a:latin typeface="Times New Roman"/>
                <a:cs typeface="Times New Roman"/>
              </a:rPr>
              <a:t>}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2200" b="1" dirty="0">
                <a:latin typeface="Times New Roman"/>
                <a:cs typeface="Times New Roman"/>
              </a:rPr>
              <a:t>//</a:t>
            </a:r>
            <a:r>
              <a:rPr sz="2200" b="1" spc="9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Displaying</a:t>
            </a:r>
            <a:r>
              <a:rPr sz="2200" b="1" spc="13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the</a:t>
            </a:r>
            <a:r>
              <a:rPr sz="2200" b="1" spc="155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transpose</a:t>
            </a:r>
            <a:endParaRPr sz="2200">
              <a:latin typeface="Times New Roman"/>
              <a:cs typeface="Times New Roman"/>
            </a:endParaRPr>
          </a:p>
          <a:p>
            <a:pPr marL="12700" marR="5080">
              <a:lnSpc>
                <a:spcPct val="153200"/>
              </a:lnSpc>
            </a:pPr>
            <a:r>
              <a:rPr sz="2200" b="1" dirty="0">
                <a:latin typeface="Times New Roman"/>
                <a:cs typeface="Times New Roman"/>
              </a:rPr>
              <a:t>cout</a:t>
            </a:r>
            <a:r>
              <a:rPr sz="2200" b="1" spc="9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&lt;&lt;</a:t>
            </a:r>
            <a:r>
              <a:rPr sz="2200" b="1" spc="7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endl</a:t>
            </a:r>
            <a:r>
              <a:rPr sz="2200" b="1" spc="9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&lt;&lt;</a:t>
            </a:r>
            <a:r>
              <a:rPr sz="2200" b="1" spc="7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"Transpose</a:t>
            </a:r>
            <a:r>
              <a:rPr sz="2200" b="1" spc="10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of</a:t>
            </a:r>
            <a:r>
              <a:rPr sz="2200" b="1" spc="8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Matrix:</a:t>
            </a:r>
            <a:r>
              <a:rPr sz="2200" b="1" spc="10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"</a:t>
            </a:r>
            <a:r>
              <a:rPr sz="2200" b="1" spc="8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&lt;&lt;</a:t>
            </a:r>
            <a:r>
              <a:rPr sz="2200" b="1" spc="75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endl; </a:t>
            </a:r>
            <a:r>
              <a:rPr sz="2200" b="1" dirty="0">
                <a:latin typeface="Times New Roman"/>
                <a:cs typeface="Times New Roman"/>
              </a:rPr>
              <a:t>for(i</a:t>
            </a:r>
            <a:r>
              <a:rPr sz="2200" b="1" spc="8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=</a:t>
            </a:r>
            <a:r>
              <a:rPr sz="2200" b="1" spc="4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0;</a:t>
            </a:r>
            <a:r>
              <a:rPr sz="2200" b="1" spc="6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i</a:t>
            </a:r>
            <a:r>
              <a:rPr sz="2200" b="1" spc="6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&lt;</a:t>
            </a:r>
            <a:r>
              <a:rPr sz="2200" b="1" spc="6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c;</a:t>
            </a:r>
            <a:r>
              <a:rPr sz="2200" b="1" spc="60" dirty="0">
                <a:latin typeface="Times New Roman"/>
                <a:cs typeface="Times New Roman"/>
              </a:rPr>
              <a:t> </a:t>
            </a:r>
            <a:r>
              <a:rPr sz="2200" b="1" spc="-20" dirty="0">
                <a:latin typeface="Times New Roman"/>
                <a:cs typeface="Times New Roman"/>
              </a:rPr>
              <a:t>++i)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90"/>
              </a:spcBef>
            </a:pPr>
            <a:r>
              <a:rPr sz="2200" b="1" dirty="0">
                <a:latin typeface="Times New Roman"/>
                <a:cs typeface="Times New Roman"/>
              </a:rPr>
              <a:t>for(j</a:t>
            </a:r>
            <a:r>
              <a:rPr sz="2200" b="1" spc="8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=</a:t>
            </a:r>
            <a:r>
              <a:rPr sz="2200" b="1" spc="5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0;</a:t>
            </a:r>
            <a:r>
              <a:rPr sz="2200" b="1" spc="6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j</a:t>
            </a:r>
            <a:r>
              <a:rPr sz="2200" b="1" spc="6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&lt;</a:t>
            </a:r>
            <a:r>
              <a:rPr sz="2200" b="1" spc="4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r;</a:t>
            </a:r>
            <a:r>
              <a:rPr sz="2200" b="1" spc="70" dirty="0">
                <a:latin typeface="Times New Roman"/>
                <a:cs typeface="Times New Roman"/>
              </a:rPr>
              <a:t> </a:t>
            </a:r>
            <a:r>
              <a:rPr sz="2200" b="1" spc="-20" dirty="0">
                <a:latin typeface="Times New Roman"/>
                <a:cs typeface="Times New Roman"/>
              </a:rPr>
              <a:t>++j)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05"/>
              </a:spcBef>
            </a:pPr>
            <a:r>
              <a:rPr sz="2200" b="1" spc="-50" dirty="0">
                <a:latin typeface="Times New Roman"/>
                <a:cs typeface="Times New Roman"/>
              </a:rPr>
              <a:t>{</a:t>
            </a:r>
            <a:endParaRPr sz="2200">
              <a:latin typeface="Times New Roman"/>
              <a:cs typeface="Times New Roman"/>
            </a:endParaRPr>
          </a:p>
          <a:p>
            <a:pPr marL="12700" marR="2937510">
              <a:lnSpc>
                <a:spcPct val="152700"/>
              </a:lnSpc>
              <a:spcBef>
                <a:spcPts val="15"/>
              </a:spcBef>
            </a:pPr>
            <a:r>
              <a:rPr sz="2200" b="1" dirty="0">
                <a:latin typeface="Times New Roman"/>
                <a:cs typeface="Times New Roman"/>
              </a:rPr>
              <a:t>cout</a:t>
            </a:r>
            <a:r>
              <a:rPr sz="2200" b="1" spc="7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&lt;&lt;</a:t>
            </a:r>
            <a:r>
              <a:rPr sz="2200" b="1" spc="5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"</a:t>
            </a:r>
            <a:r>
              <a:rPr sz="2200" b="1" spc="6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"</a:t>
            </a:r>
            <a:r>
              <a:rPr sz="2200" b="1" spc="5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&lt;&lt;</a:t>
            </a:r>
            <a:r>
              <a:rPr sz="2200" b="1" spc="55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trans[i][j]; </a:t>
            </a:r>
            <a:r>
              <a:rPr sz="2200" b="1" dirty="0">
                <a:latin typeface="Times New Roman"/>
                <a:cs typeface="Times New Roman"/>
              </a:rPr>
              <a:t>if(j</a:t>
            </a:r>
            <a:r>
              <a:rPr sz="2200" b="1" spc="8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==</a:t>
            </a:r>
            <a:r>
              <a:rPr sz="2200" b="1" spc="5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r</a:t>
            </a:r>
            <a:r>
              <a:rPr sz="2200" b="1" spc="8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-</a:t>
            </a:r>
            <a:r>
              <a:rPr sz="2200" b="1" spc="65" dirty="0">
                <a:latin typeface="Times New Roman"/>
                <a:cs typeface="Times New Roman"/>
              </a:rPr>
              <a:t> </a:t>
            </a:r>
            <a:r>
              <a:rPr sz="2200" b="1" spc="-25" dirty="0">
                <a:latin typeface="Times New Roman"/>
                <a:cs typeface="Times New Roman"/>
              </a:rPr>
              <a:t>1)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05"/>
              </a:spcBef>
            </a:pPr>
            <a:r>
              <a:rPr sz="2200" b="1" dirty="0">
                <a:latin typeface="Times New Roman"/>
                <a:cs typeface="Times New Roman"/>
              </a:rPr>
              <a:t>cout</a:t>
            </a:r>
            <a:r>
              <a:rPr sz="2200" b="1" spc="8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&lt;&lt;</a:t>
            </a:r>
            <a:r>
              <a:rPr sz="2200" b="1" spc="7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endl</a:t>
            </a:r>
            <a:r>
              <a:rPr sz="2200" b="1" spc="8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&lt;&lt;</a:t>
            </a:r>
            <a:r>
              <a:rPr sz="2200" b="1" spc="70" dirty="0">
                <a:latin typeface="Times New Roman"/>
                <a:cs typeface="Times New Roman"/>
              </a:rPr>
              <a:t> </a:t>
            </a:r>
            <a:r>
              <a:rPr sz="2200" b="1" spc="-20" dirty="0">
                <a:latin typeface="Times New Roman"/>
                <a:cs typeface="Times New Roman"/>
              </a:rPr>
              <a:t>endl;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05"/>
              </a:spcBef>
            </a:pPr>
            <a:r>
              <a:rPr sz="2200" b="1" spc="-50" dirty="0">
                <a:latin typeface="Times New Roman"/>
                <a:cs typeface="Times New Roman"/>
              </a:rPr>
              <a:t>}</a:t>
            </a:r>
            <a:endParaRPr sz="2200">
              <a:latin typeface="Times New Roman"/>
              <a:cs typeface="Times New Roman"/>
            </a:endParaRPr>
          </a:p>
          <a:p>
            <a:pPr marR="165735" algn="r">
              <a:lnSpc>
                <a:spcPct val="100000"/>
              </a:lnSpc>
              <a:spcBef>
                <a:spcPts val="1245"/>
              </a:spcBef>
            </a:pPr>
            <a:r>
              <a:rPr sz="1700" i="1" spc="-25" dirty="0">
                <a:solidFill>
                  <a:srgbClr val="585858"/>
                </a:solidFill>
                <a:latin typeface="Verdana"/>
                <a:cs typeface="Verdana"/>
              </a:rPr>
              <a:t>95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505702" y="9173971"/>
            <a:ext cx="139382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270000" algn="l"/>
              </a:tabLst>
            </a:pPr>
            <a:r>
              <a:rPr sz="2200" b="1" dirty="0">
                <a:latin typeface="Times New Roman"/>
                <a:cs typeface="Times New Roman"/>
              </a:rPr>
              <a:t>return</a:t>
            </a:r>
            <a:r>
              <a:rPr sz="2200" b="1" spc="114" dirty="0">
                <a:latin typeface="Times New Roman"/>
                <a:cs typeface="Times New Roman"/>
              </a:rPr>
              <a:t> </a:t>
            </a:r>
            <a:r>
              <a:rPr sz="2200" b="1" spc="-25" dirty="0">
                <a:latin typeface="Times New Roman"/>
                <a:cs typeface="Times New Roman"/>
              </a:rPr>
              <a:t>0;</a:t>
            </a:r>
            <a:r>
              <a:rPr sz="2200" b="1" dirty="0">
                <a:latin typeface="Times New Roman"/>
                <a:cs typeface="Times New Roman"/>
              </a:rPr>
              <a:t>	</a:t>
            </a:r>
            <a:r>
              <a:rPr sz="2200" b="1" spc="-50" dirty="0">
                <a:latin typeface="Times New Roman"/>
                <a:cs typeface="Times New Roman"/>
              </a:rPr>
              <a:t>}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269037" y="0"/>
            <a:ext cx="9525" cy="9753600"/>
          </a:xfrm>
          <a:custGeom>
            <a:avLst/>
            <a:gdLst/>
            <a:ahLst/>
            <a:cxnLst/>
            <a:rect l="l" t="t" r="r" b="b"/>
            <a:pathLst>
              <a:path w="9525" h="9753600">
                <a:moveTo>
                  <a:pt x="9525" y="0"/>
                </a:moveTo>
                <a:lnTo>
                  <a:pt x="0" y="0"/>
                </a:lnTo>
                <a:lnTo>
                  <a:pt x="0" y="9753600"/>
                </a:lnTo>
                <a:lnTo>
                  <a:pt x="9525" y="9753600"/>
                </a:lnTo>
                <a:lnTo>
                  <a:pt x="9525" y="0"/>
                </a:lnTo>
                <a:close/>
              </a:path>
            </a:pathLst>
          </a:custGeom>
          <a:solidFill>
            <a:srgbClr val="5C71B1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2178030" y="9154464"/>
            <a:ext cx="2724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i="1" spc="-85" dirty="0">
                <a:solidFill>
                  <a:srgbClr val="585858"/>
                </a:solidFill>
                <a:latin typeface="Verdana"/>
                <a:cs typeface="Verdana"/>
              </a:rPr>
              <a:t>96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8739" y="22352"/>
            <a:ext cx="417195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MULTIPLICATION</a:t>
            </a:r>
            <a:r>
              <a:rPr sz="2400" spc="20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12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TWO </a:t>
            </a:r>
            <a:r>
              <a:rPr sz="2400" spc="-10" dirty="0">
                <a:latin typeface="Times New Roman"/>
                <a:cs typeface="Times New Roman"/>
              </a:rPr>
              <a:t>POLYNOMIAL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739" y="933653"/>
            <a:ext cx="6161405" cy="83077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4077335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latin typeface="Times New Roman"/>
                <a:cs typeface="Times New Roman"/>
              </a:rPr>
              <a:t>#include&lt;math.h&gt; #include&lt;stdio.h&gt; #include&lt;conio.h&gt; </a:t>
            </a:r>
            <a:r>
              <a:rPr sz="2000" b="1" dirty="0">
                <a:latin typeface="Times New Roman"/>
                <a:cs typeface="Times New Roman"/>
              </a:rPr>
              <a:t>#define</a:t>
            </a:r>
            <a:r>
              <a:rPr sz="2000" b="1" spc="1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MAX</a:t>
            </a:r>
            <a:r>
              <a:rPr sz="2000" b="1" spc="125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17 </a:t>
            </a:r>
            <a:r>
              <a:rPr sz="2000" b="1" dirty="0">
                <a:latin typeface="Times New Roman"/>
                <a:cs typeface="Times New Roman"/>
              </a:rPr>
              <a:t>void</a:t>
            </a:r>
            <a:r>
              <a:rPr sz="2000" b="1" spc="1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init(int</a:t>
            </a:r>
            <a:r>
              <a:rPr sz="2000" b="1" spc="14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p[]); </a:t>
            </a:r>
            <a:r>
              <a:rPr sz="2000" b="1" dirty="0">
                <a:latin typeface="Times New Roman"/>
                <a:cs typeface="Times New Roman"/>
              </a:rPr>
              <a:t>void</a:t>
            </a:r>
            <a:r>
              <a:rPr sz="2000" b="1" spc="1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read(int</a:t>
            </a:r>
            <a:r>
              <a:rPr sz="2000" b="1" spc="14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p[]); </a:t>
            </a:r>
            <a:r>
              <a:rPr sz="2000" b="1" dirty="0">
                <a:latin typeface="Times New Roman"/>
                <a:cs typeface="Times New Roman"/>
              </a:rPr>
              <a:t>void</a:t>
            </a:r>
            <a:r>
              <a:rPr sz="2000" b="1" spc="16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print(int</a:t>
            </a:r>
            <a:r>
              <a:rPr sz="2000" b="1" spc="15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p[]);</a:t>
            </a:r>
            <a:endParaRPr sz="2000">
              <a:latin typeface="Times New Roman"/>
              <a:cs typeface="Times New Roman"/>
            </a:endParaRPr>
          </a:p>
          <a:p>
            <a:pPr marL="12700" marR="1794510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latin typeface="Times New Roman"/>
                <a:cs typeface="Times New Roman"/>
              </a:rPr>
              <a:t>void</a:t>
            </a:r>
            <a:r>
              <a:rPr sz="2000" b="1" spc="17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add(int</a:t>
            </a:r>
            <a:r>
              <a:rPr sz="2000" b="1" spc="16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p1[],int</a:t>
            </a:r>
            <a:r>
              <a:rPr sz="2000" b="1" spc="1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p2[],int</a:t>
            </a:r>
            <a:r>
              <a:rPr sz="2000" b="1" spc="16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p3[]);</a:t>
            </a:r>
            <a:r>
              <a:rPr sz="2000" b="1" spc="500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void</a:t>
            </a:r>
            <a:r>
              <a:rPr sz="2000" b="1" spc="20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multiply(int</a:t>
            </a:r>
            <a:r>
              <a:rPr sz="2000" b="1" spc="19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p1[],int</a:t>
            </a:r>
            <a:r>
              <a:rPr sz="2000" b="1" spc="18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p2[],int</a:t>
            </a:r>
            <a:r>
              <a:rPr sz="2000" b="1" spc="19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p3[]);</a:t>
            </a:r>
            <a:endParaRPr sz="20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1390"/>
              </a:spcBef>
            </a:pPr>
            <a:r>
              <a:rPr sz="2000" b="1" dirty="0">
                <a:latin typeface="Times New Roman"/>
                <a:cs typeface="Times New Roman"/>
              </a:rPr>
              <a:t>/*Polynomial</a:t>
            </a:r>
            <a:r>
              <a:rPr sz="2000" b="1" spc="10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is</a:t>
            </a:r>
            <a:r>
              <a:rPr sz="2000" b="1" spc="1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stored</a:t>
            </a:r>
            <a:r>
              <a:rPr sz="2000" b="1" spc="1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</a:t>
            </a:r>
            <a:r>
              <a:rPr sz="2000" b="1" spc="1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</a:t>
            </a:r>
            <a:r>
              <a:rPr sz="2000" b="1" spc="1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array,</a:t>
            </a:r>
            <a:r>
              <a:rPr sz="2000" b="1" spc="1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p[i]</a:t>
            </a:r>
            <a:r>
              <a:rPr sz="2000" b="1" spc="1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gives</a:t>
            </a:r>
            <a:r>
              <a:rPr sz="2000" b="1" spc="13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coefficient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7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x^i</a:t>
            </a:r>
            <a:r>
              <a:rPr sz="2000" b="1" spc="80" dirty="0">
                <a:latin typeface="Times New Roman"/>
                <a:cs typeface="Times New Roman"/>
              </a:rPr>
              <a:t> </a:t>
            </a:r>
            <a:r>
              <a:rPr sz="2000" b="1" spc="-50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marL="12700" marR="521334" indent="133985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a</a:t>
            </a:r>
            <a:r>
              <a:rPr sz="2000" b="1" spc="1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polynomial</a:t>
            </a:r>
            <a:r>
              <a:rPr sz="2000" b="1" spc="10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3x^2</a:t>
            </a:r>
            <a:r>
              <a:rPr sz="2000" b="1" spc="1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+</a:t>
            </a:r>
            <a:r>
              <a:rPr sz="2000" b="1" spc="1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12x^4</a:t>
            </a:r>
            <a:r>
              <a:rPr sz="2000" b="1" spc="1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will</a:t>
            </a:r>
            <a:r>
              <a:rPr sz="2000" b="1" spc="1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be</a:t>
            </a:r>
            <a:r>
              <a:rPr sz="2000" b="1" spc="1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represented</a:t>
            </a:r>
            <a:r>
              <a:rPr sz="2000" b="1" spc="140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as </a:t>
            </a:r>
            <a:r>
              <a:rPr sz="2000" b="1" spc="-10" dirty="0">
                <a:latin typeface="Times New Roman"/>
                <a:cs typeface="Times New Roman"/>
              </a:rPr>
              <a:t>(0,0,3,0,12,0,0,….)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spc="-25" dirty="0">
                <a:latin typeface="Times New Roman"/>
                <a:cs typeface="Times New Roman"/>
              </a:rPr>
              <a:t>*/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05"/>
              </a:spcBef>
            </a:pPr>
            <a:r>
              <a:rPr sz="2000" b="1" dirty="0">
                <a:latin typeface="Times New Roman"/>
                <a:cs typeface="Times New Roman"/>
              </a:rPr>
              <a:t>void</a:t>
            </a:r>
            <a:r>
              <a:rPr sz="2000" b="1" spc="114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main()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spc="-50" dirty="0">
                <a:latin typeface="Times New Roman"/>
                <a:cs typeface="Times New Roman"/>
              </a:rPr>
              <a:t>{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latin typeface="Times New Roman"/>
                <a:cs typeface="Times New Roman"/>
              </a:rPr>
              <a:t>int</a:t>
            </a:r>
            <a:r>
              <a:rPr sz="2000" b="1" spc="9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p1[MAX],p2[MAX],p3[MAX];</a:t>
            </a:r>
            <a:endParaRPr sz="2000">
              <a:latin typeface="Times New Roman"/>
              <a:cs typeface="Times New Roman"/>
            </a:endParaRPr>
          </a:p>
          <a:p>
            <a:pPr marL="12700" marR="4972050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int</a:t>
            </a:r>
            <a:r>
              <a:rPr sz="2000" b="1" spc="9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option; </a:t>
            </a:r>
            <a:r>
              <a:rPr sz="2000" b="1" spc="-25" dirty="0">
                <a:latin typeface="Times New Roman"/>
                <a:cs typeface="Times New Roman"/>
              </a:rPr>
              <a:t>do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spc="-50" dirty="0">
                <a:latin typeface="Times New Roman"/>
                <a:cs typeface="Times New Roman"/>
              </a:rPr>
              <a:t>{</a:t>
            </a:r>
            <a:endParaRPr sz="2000">
              <a:latin typeface="Times New Roman"/>
              <a:cs typeface="Times New Roman"/>
            </a:endParaRPr>
          </a:p>
          <a:p>
            <a:pPr marL="12700" marR="1858645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printf(“nn1</a:t>
            </a:r>
            <a:r>
              <a:rPr sz="2000" b="1" spc="1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:</a:t>
            </a:r>
            <a:r>
              <a:rPr sz="2000" b="1" spc="1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create</a:t>
            </a:r>
            <a:r>
              <a:rPr sz="2000" b="1" spc="1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1’st</a:t>
            </a:r>
            <a:r>
              <a:rPr sz="2000" b="1" spc="12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polynomial”); </a:t>
            </a:r>
            <a:r>
              <a:rPr sz="2000" b="1" dirty="0">
                <a:latin typeface="Times New Roman"/>
                <a:cs typeface="Times New Roman"/>
              </a:rPr>
              <a:t>printf(“n2</a:t>
            </a:r>
            <a:r>
              <a:rPr sz="2000" b="1" spc="1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:</a:t>
            </a:r>
            <a:r>
              <a:rPr sz="2000" b="1" spc="1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create</a:t>
            </a:r>
            <a:r>
              <a:rPr sz="2000" b="1" spc="1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2’nd</a:t>
            </a:r>
            <a:r>
              <a:rPr sz="2000" b="1" spc="14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polynomial”); </a:t>
            </a:r>
            <a:r>
              <a:rPr sz="2000" b="1" dirty="0">
                <a:latin typeface="Times New Roman"/>
                <a:cs typeface="Times New Roman"/>
              </a:rPr>
              <a:t>printf(“n3</a:t>
            </a:r>
            <a:r>
              <a:rPr sz="2000" b="1" spc="1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:</a:t>
            </a:r>
            <a:r>
              <a:rPr sz="2000" b="1" spc="1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Add</a:t>
            </a:r>
            <a:r>
              <a:rPr sz="2000" b="1" spc="12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polynomials”); </a:t>
            </a:r>
            <a:r>
              <a:rPr sz="2000" b="1" dirty="0">
                <a:latin typeface="Times New Roman"/>
                <a:cs typeface="Times New Roman"/>
              </a:rPr>
              <a:t>printf(“n4</a:t>
            </a:r>
            <a:r>
              <a:rPr sz="2000" b="1" spc="1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:</a:t>
            </a:r>
            <a:r>
              <a:rPr sz="2000" b="1" spc="1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Multiply</a:t>
            </a:r>
            <a:r>
              <a:rPr sz="2000" b="1" spc="17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polynomials”); </a:t>
            </a:r>
            <a:r>
              <a:rPr sz="2000" b="1" dirty="0">
                <a:latin typeface="Times New Roman"/>
                <a:cs typeface="Times New Roman"/>
              </a:rPr>
              <a:t>printf(“n5</a:t>
            </a:r>
            <a:r>
              <a:rPr sz="2000" b="1" spc="1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:</a:t>
            </a:r>
            <a:r>
              <a:rPr sz="2000" b="1" spc="13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Quit”);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printf(“nEnter</a:t>
            </a:r>
            <a:r>
              <a:rPr sz="2000" b="1" spc="19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your</a:t>
            </a:r>
            <a:r>
              <a:rPr sz="2000" b="1" spc="19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choice</a:t>
            </a:r>
            <a:r>
              <a:rPr sz="2000" b="1" spc="190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latin typeface="Times New Roman"/>
                <a:cs typeface="Times New Roman"/>
              </a:rPr>
              <a:t>:”);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8739" y="9215119"/>
            <a:ext cx="25387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10" dirty="0">
                <a:latin typeface="Times New Roman"/>
                <a:cs typeface="Times New Roman"/>
              </a:rPr>
              <a:t>scanf(“%d”,&amp;option)</a:t>
            </a:r>
            <a:r>
              <a:rPr sz="2800" i="1" spc="-10" dirty="0">
                <a:latin typeface="Arial"/>
                <a:cs typeface="Arial"/>
              </a:rPr>
              <a:t>;</a:t>
            </a:r>
            <a:endParaRPr sz="2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29502" y="23876"/>
            <a:ext cx="4328795" cy="773810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10" dirty="0">
                <a:latin typeface="Times New Roman"/>
                <a:cs typeface="Times New Roman"/>
              </a:rPr>
              <a:t>switch(option)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200" b="1" spc="-50" dirty="0">
                <a:latin typeface="Times New Roman"/>
                <a:cs typeface="Times New Roman"/>
              </a:rPr>
              <a:t>{</a:t>
            </a:r>
            <a:endParaRPr sz="2200">
              <a:latin typeface="Times New Roman"/>
              <a:cs typeface="Times New Roman"/>
            </a:endParaRPr>
          </a:p>
          <a:p>
            <a:pPr marL="12700" marR="1536065" algn="just">
              <a:lnSpc>
                <a:spcPct val="100000"/>
              </a:lnSpc>
            </a:pPr>
            <a:r>
              <a:rPr sz="2200" b="1" dirty="0">
                <a:latin typeface="Times New Roman"/>
                <a:cs typeface="Times New Roman"/>
              </a:rPr>
              <a:t>case</a:t>
            </a:r>
            <a:r>
              <a:rPr sz="2200" b="1" spc="90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1:read(p1);break; </a:t>
            </a:r>
            <a:r>
              <a:rPr sz="2200" b="1" dirty="0">
                <a:latin typeface="Times New Roman"/>
                <a:cs typeface="Times New Roman"/>
              </a:rPr>
              <a:t>case</a:t>
            </a:r>
            <a:r>
              <a:rPr sz="2200" b="1" spc="75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2:read(p2);break; </a:t>
            </a:r>
            <a:r>
              <a:rPr sz="2200" b="1" dirty="0">
                <a:latin typeface="Times New Roman"/>
                <a:cs typeface="Times New Roman"/>
              </a:rPr>
              <a:t>case</a:t>
            </a:r>
            <a:r>
              <a:rPr sz="2200" b="1" spc="75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3:add(p1,p2,p3);</a:t>
            </a:r>
            <a:endParaRPr sz="2200">
              <a:latin typeface="Times New Roman"/>
              <a:cs typeface="Times New Roman"/>
            </a:endParaRPr>
          </a:p>
          <a:p>
            <a:pPr marL="452755" marR="113030">
              <a:lnSpc>
                <a:spcPct val="100000"/>
              </a:lnSpc>
            </a:pPr>
            <a:r>
              <a:rPr sz="2200" b="1" dirty="0">
                <a:latin typeface="Times New Roman"/>
                <a:cs typeface="Times New Roman"/>
              </a:rPr>
              <a:t>printf(“n1’st</a:t>
            </a:r>
            <a:r>
              <a:rPr sz="2200" b="1" spc="19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polynomial</a:t>
            </a:r>
            <a:r>
              <a:rPr sz="2200" b="1" spc="22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-&gt;</a:t>
            </a:r>
            <a:r>
              <a:rPr sz="2200" b="1" spc="145" dirty="0">
                <a:latin typeface="Times New Roman"/>
                <a:cs typeface="Times New Roman"/>
              </a:rPr>
              <a:t> </a:t>
            </a:r>
            <a:r>
              <a:rPr sz="2200" b="1" spc="-25" dirty="0">
                <a:latin typeface="Times New Roman"/>
                <a:cs typeface="Times New Roman"/>
              </a:rPr>
              <a:t>“); </a:t>
            </a:r>
            <a:r>
              <a:rPr sz="2200" b="1" spc="-10" dirty="0">
                <a:latin typeface="Times New Roman"/>
                <a:cs typeface="Times New Roman"/>
              </a:rPr>
              <a:t>print(p1);</a:t>
            </a:r>
            <a:endParaRPr sz="2200">
              <a:latin typeface="Times New Roman"/>
              <a:cs typeface="Times New Roman"/>
            </a:endParaRPr>
          </a:p>
          <a:p>
            <a:pPr marL="452755" marR="5080">
              <a:lnSpc>
                <a:spcPct val="100000"/>
              </a:lnSpc>
            </a:pPr>
            <a:r>
              <a:rPr sz="2200" b="1" dirty="0">
                <a:latin typeface="Times New Roman"/>
                <a:cs typeface="Times New Roman"/>
              </a:rPr>
              <a:t>printf(“n2’nd</a:t>
            </a:r>
            <a:r>
              <a:rPr sz="2200" b="1" spc="18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polynomial</a:t>
            </a:r>
            <a:r>
              <a:rPr sz="2200" b="1" spc="229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-&gt;</a:t>
            </a:r>
            <a:r>
              <a:rPr sz="2200" b="1" spc="120" dirty="0">
                <a:latin typeface="Times New Roman"/>
                <a:cs typeface="Times New Roman"/>
              </a:rPr>
              <a:t> </a:t>
            </a:r>
            <a:r>
              <a:rPr sz="2200" b="1" spc="-25" dirty="0">
                <a:latin typeface="Times New Roman"/>
                <a:cs typeface="Times New Roman"/>
              </a:rPr>
              <a:t>“); </a:t>
            </a:r>
            <a:r>
              <a:rPr sz="2200" b="1" spc="-10" dirty="0">
                <a:latin typeface="Times New Roman"/>
                <a:cs typeface="Times New Roman"/>
              </a:rPr>
              <a:t>print(p2);</a:t>
            </a:r>
            <a:endParaRPr sz="2200">
              <a:latin typeface="Times New Roman"/>
              <a:cs typeface="Times New Roman"/>
            </a:endParaRPr>
          </a:p>
          <a:p>
            <a:pPr marL="452755" marR="1481455">
              <a:lnSpc>
                <a:spcPct val="100000"/>
              </a:lnSpc>
              <a:spcBef>
                <a:spcPts val="5"/>
              </a:spcBef>
            </a:pPr>
            <a:r>
              <a:rPr sz="2200" b="1" dirty="0">
                <a:latin typeface="Times New Roman"/>
                <a:cs typeface="Times New Roman"/>
              </a:rPr>
              <a:t>printf(“n</a:t>
            </a:r>
            <a:r>
              <a:rPr sz="2200" b="1" spc="13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Sum</a:t>
            </a:r>
            <a:r>
              <a:rPr sz="2200" b="1" spc="8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=</a:t>
            </a:r>
            <a:r>
              <a:rPr sz="2200" b="1" spc="75" dirty="0">
                <a:latin typeface="Times New Roman"/>
                <a:cs typeface="Times New Roman"/>
              </a:rPr>
              <a:t> </a:t>
            </a:r>
            <a:r>
              <a:rPr sz="2200" b="1" spc="-25" dirty="0">
                <a:latin typeface="Times New Roman"/>
                <a:cs typeface="Times New Roman"/>
              </a:rPr>
              <a:t>“); </a:t>
            </a:r>
            <a:r>
              <a:rPr sz="2200" b="1" spc="-10" dirty="0">
                <a:latin typeface="Times New Roman"/>
                <a:cs typeface="Times New Roman"/>
              </a:rPr>
              <a:t>print(p3);</a:t>
            </a:r>
            <a:endParaRPr sz="2200">
              <a:latin typeface="Times New Roman"/>
              <a:cs typeface="Times New Roman"/>
            </a:endParaRPr>
          </a:p>
          <a:p>
            <a:pPr marL="452755">
              <a:lnSpc>
                <a:spcPct val="100000"/>
              </a:lnSpc>
            </a:pPr>
            <a:r>
              <a:rPr sz="2200" b="1" spc="-10" dirty="0">
                <a:latin typeface="Times New Roman"/>
                <a:cs typeface="Times New Roman"/>
              </a:rPr>
              <a:t>break;</a:t>
            </a:r>
            <a:endParaRPr sz="2200">
              <a:latin typeface="Times New Roman"/>
              <a:cs typeface="Times New Roman"/>
            </a:endParaRPr>
          </a:p>
          <a:p>
            <a:pPr marL="452755" marR="113030" indent="-440690">
              <a:lnSpc>
                <a:spcPct val="100000"/>
              </a:lnSpc>
            </a:pPr>
            <a:r>
              <a:rPr sz="2200" b="1" dirty="0">
                <a:latin typeface="Times New Roman"/>
                <a:cs typeface="Times New Roman"/>
              </a:rPr>
              <a:t>case</a:t>
            </a:r>
            <a:r>
              <a:rPr sz="2200" b="1" spc="75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4:multiply(p1,p2,p3); </a:t>
            </a:r>
            <a:r>
              <a:rPr sz="2200" b="1" dirty="0">
                <a:latin typeface="Times New Roman"/>
                <a:cs typeface="Times New Roman"/>
              </a:rPr>
              <a:t>printf(“n1’st</a:t>
            </a:r>
            <a:r>
              <a:rPr sz="2200" b="1" spc="19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polynomial</a:t>
            </a:r>
            <a:r>
              <a:rPr sz="2200" b="1" spc="229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-&gt;</a:t>
            </a:r>
            <a:r>
              <a:rPr sz="2200" b="1" spc="145" dirty="0">
                <a:latin typeface="Times New Roman"/>
                <a:cs typeface="Times New Roman"/>
              </a:rPr>
              <a:t> </a:t>
            </a:r>
            <a:r>
              <a:rPr sz="2200" b="1" spc="-25" dirty="0">
                <a:latin typeface="Times New Roman"/>
                <a:cs typeface="Times New Roman"/>
              </a:rPr>
              <a:t>“); </a:t>
            </a:r>
            <a:r>
              <a:rPr sz="2200" b="1" spc="-10" dirty="0">
                <a:latin typeface="Times New Roman"/>
                <a:cs typeface="Times New Roman"/>
              </a:rPr>
              <a:t>print(p1);</a:t>
            </a:r>
            <a:endParaRPr sz="2200">
              <a:latin typeface="Times New Roman"/>
              <a:cs typeface="Times New Roman"/>
            </a:endParaRPr>
          </a:p>
          <a:p>
            <a:pPr marL="452755" marR="5080">
              <a:lnSpc>
                <a:spcPct val="100000"/>
              </a:lnSpc>
            </a:pPr>
            <a:r>
              <a:rPr sz="2200" b="1" dirty="0">
                <a:latin typeface="Times New Roman"/>
                <a:cs typeface="Times New Roman"/>
              </a:rPr>
              <a:t>printf(“n2’nd</a:t>
            </a:r>
            <a:r>
              <a:rPr sz="2200" b="1" spc="18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polynomial</a:t>
            </a:r>
            <a:r>
              <a:rPr sz="2200" b="1" spc="229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-&gt;</a:t>
            </a:r>
            <a:r>
              <a:rPr sz="2200" b="1" spc="120" dirty="0">
                <a:latin typeface="Times New Roman"/>
                <a:cs typeface="Times New Roman"/>
              </a:rPr>
              <a:t> </a:t>
            </a:r>
            <a:r>
              <a:rPr sz="2200" b="1" spc="-25" dirty="0">
                <a:latin typeface="Times New Roman"/>
                <a:cs typeface="Times New Roman"/>
              </a:rPr>
              <a:t>“); </a:t>
            </a:r>
            <a:r>
              <a:rPr sz="2200" b="1" spc="-10" dirty="0">
                <a:latin typeface="Times New Roman"/>
                <a:cs typeface="Times New Roman"/>
              </a:rPr>
              <a:t>print(p2);</a:t>
            </a:r>
            <a:endParaRPr sz="2200">
              <a:latin typeface="Times New Roman"/>
              <a:cs typeface="Times New Roman"/>
            </a:endParaRPr>
          </a:p>
          <a:p>
            <a:pPr marL="452755">
              <a:lnSpc>
                <a:spcPct val="100000"/>
              </a:lnSpc>
            </a:pPr>
            <a:r>
              <a:rPr sz="2200" b="1" dirty="0">
                <a:latin typeface="Times New Roman"/>
                <a:cs typeface="Times New Roman"/>
              </a:rPr>
              <a:t>printf(“n</a:t>
            </a:r>
            <a:r>
              <a:rPr sz="2200" b="1" spc="14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Product</a:t>
            </a:r>
            <a:r>
              <a:rPr sz="2200" b="1" spc="13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=</a:t>
            </a:r>
            <a:r>
              <a:rPr sz="2200" b="1" spc="80" dirty="0">
                <a:latin typeface="Times New Roman"/>
                <a:cs typeface="Times New Roman"/>
              </a:rPr>
              <a:t> </a:t>
            </a:r>
            <a:r>
              <a:rPr sz="2200" b="1" spc="-25" dirty="0">
                <a:latin typeface="Times New Roman"/>
                <a:cs typeface="Times New Roman"/>
              </a:rPr>
              <a:t>“);</a:t>
            </a:r>
            <a:endParaRPr sz="2200">
              <a:latin typeface="Times New Roman"/>
              <a:cs typeface="Times New Roman"/>
            </a:endParaRPr>
          </a:p>
          <a:p>
            <a:pPr marL="452755">
              <a:lnSpc>
                <a:spcPct val="100000"/>
              </a:lnSpc>
              <a:spcBef>
                <a:spcPts val="5"/>
              </a:spcBef>
            </a:pPr>
            <a:r>
              <a:rPr sz="2200" b="1" spc="-10" dirty="0">
                <a:latin typeface="Times New Roman"/>
                <a:cs typeface="Times New Roman"/>
              </a:rPr>
              <a:t>print(p3);</a:t>
            </a:r>
            <a:endParaRPr sz="2200">
              <a:latin typeface="Times New Roman"/>
              <a:cs typeface="Times New Roman"/>
            </a:endParaRPr>
          </a:p>
          <a:p>
            <a:pPr marL="452755">
              <a:lnSpc>
                <a:spcPct val="100000"/>
              </a:lnSpc>
            </a:pPr>
            <a:r>
              <a:rPr sz="2200" b="1" spc="-10" dirty="0">
                <a:latin typeface="Times New Roman"/>
                <a:cs typeface="Times New Roman"/>
              </a:rPr>
              <a:t>break;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200" b="1" spc="-50" dirty="0">
                <a:latin typeface="Times New Roman"/>
                <a:cs typeface="Times New Roman"/>
              </a:rPr>
              <a:t>}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200" b="1" spc="-10" dirty="0">
                <a:latin typeface="Times New Roman"/>
                <a:cs typeface="Times New Roman"/>
              </a:rPr>
              <a:t>}while(option!=5);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200" b="1" spc="-50" dirty="0">
                <a:latin typeface="Times New Roman"/>
                <a:cs typeface="Times New Roman"/>
              </a:rPr>
              <a:t>}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235700" y="33528"/>
            <a:ext cx="227965" cy="9720580"/>
          </a:xfrm>
          <a:custGeom>
            <a:avLst/>
            <a:gdLst/>
            <a:ahLst/>
            <a:cxnLst/>
            <a:rect l="l" t="t" r="r" b="b"/>
            <a:pathLst>
              <a:path w="227964" h="9720580">
                <a:moveTo>
                  <a:pt x="0" y="0"/>
                </a:moveTo>
                <a:lnTo>
                  <a:pt x="227814" y="9720072"/>
                </a:lnTo>
              </a:path>
            </a:pathLst>
          </a:custGeom>
          <a:ln w="9525">
            <a:solidFill>
              <a:srgbClr val="5C71B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178030" y="9154464"/>
            <a:ext cx="2724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i="1" spc="-85" dirty="0">
                <a:solidFill>
                  <a:srgbClr val="585858"/>
                </a:solidFill>
                <a:latin typeface="Verdana"/>
                <a:cs typeface="Verdana"/>
              </a:rPr>
              <a:t>97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8739" y="20827"/>
            <a:ext cx="484632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Times New Roman"/>
                <a:cs typeface="Times New Roman"/>
              </a:rPr>
              <a:t>MULTIPLICATION</a:t>
            </a:r>
            <a:r>
              <a:rPr sz="2800" spc="1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13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TWO </a:t>
            </a:r>
            <a:r>
              <a:rPr sz="2800" spc="-10" dirty="0">
                <a:latin typeface="Times New Roman"/>
                <a:cs typeface="Times New Roman"/>
              </a:rPr>
              <a:t>POLYNOMIAL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739" y="1055877"/>
            <a:ext cx="5385435" cy="87439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dirty="0">
                <a:latin typeface="Times New Roman"/>
                <a:cs typeface="Times New Roman"/>
              </a:rPr>
              <a:t>void</a:t>
            </a:r>
            <a:r>
              <a:rPr sz="2200" b="1" spc="10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read(int</a:t>
            </a:r>
            <a:r>
              <a:rPr sz="2200" b="1" spc="135" dirty="0">
                <a:latin typeface="Times New Roman"/>
                <a:cs typeface="Times New Roman"/>
              </a:rPr>
              <a:t> </a:t>
            </a:r>
            <a:r>
              <a:rPr sz="2200" b="1" spc="-20" dirty="0">
                <a:latin typeface="Times New Roman"/>
                <a:cs typeface="Times New Roman"/>
              </a:rPr>
              <a:t>p[])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200" b="1" spc="-50" dirty="0">
                <a:latin typeface="Times New Roman"/>
                <a:cs typeface="Times New Roman"/>
              </a:rPr>
              <a:t>{</a:t>
            </a:r>
            <a:endParaRPr sz="2200">
              <a:latin typeface="Times New Roman"/>
              <a:cs typeface="Times New Roman"/>
            </a:endParaRPr>
          </a:p>
          <a:p>
            <a:pPr marL="12700" marR="2910205">
              <a:lnSpc>
                <a:spcPct val="100000"/>
              </a:lnSpc>
            </a:pPr>
            <a:r>
              <a:rPr sz="2200" b="1" dirty="0">
                <a:latin typeface="Times New Roman"/>
                <a:cs typeface="Times New Roman"/>
              </a:rPr>
              <a:t>int</a:t>
            </a:r>
            <a:r>
              <a:rPr sz="2200" b="1" spc="7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n,</a:t>
            </a:r>
            <a:r>
              <a:rPr sz="2200" b="1" spc="5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i,</a:t>
            </a:r>
            <a:r>
              <a:rPr sz="2200" b="1" spc="65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power,coeff; init(p);</a:t>
            </a:r>
            <a:endParaRPr sz="2200">
              <a:latin typeface="Times New Roman"/>
              <a:cs typeface="Times New Roman"/>
            </a:endParaRPr>
          </a:p>
          <a:p>
            <a:pPr marL="12700" marR="847090">
              <a:lnSpc>
                <a:spcPct val="100000"/>
              </a:lnSpc>
            </a:pPr>
            <a:r>
              <a:rPr sz="2200" b="1" dirty="0">
                <a:latin typeface="Times New Roman"/>
                <a:cs typeface="Times New Roman"/>
              </a:rPr>
              <a:t>printf(“n</a:t>
            </a:r>
            <a:r>
              <a:rPr sz="2200" b="1" spc="14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Enter</a:t>
            </a:r>
            <a:r>
              <a:rPr sz="2200" b="1" spc="114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number</a:t>
            </a:r>
            <a:r>
              <a:rPr sz="2200" b="1" spc="12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of</a:t>
            </a:r>
            <a:r>
              <a:rPr sz="2200" b="1" spc="9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terms</a:t>
            </a:r>
            <a:r>
              <a:rPr sz="2200" b="1" spc="110" dirty="0">
                <a:latin typeface="Times New Roman"/>
                <a:cs typeface="Times New Roman"/>
              </a:rPr>
              <a:t> </a:t>
            </a:r>
            <a:r>
              <a:rPr sz="2200" b="1" spc="-20" dirty="0">
                <a:latin typeface="Times New Roman"/>
                <a:cs typeface="Times New Roman"/>
              </a:rPr>
              <a:t>:”); </a:t>
            </a:r>
            <a:r>
              <a:rPr sz="2200" b="1" spc="-10" dirty="0">
                <a:latin typeface="Times New Roman"/>
                <a:cs typeface="Times New Roman"/>
              </a:rPr>
              <a:t>scanf(“%d”,&amp;n);</a:t>
            </a:r>
            <a:endParaRPr sz="2200">
              <a:latin typeface="Times New Roman"/>
              <a:cs typeface="Times New Roman"/>
            </a:endParaRPr>
          </a:p>
          <a:p>
            <a:pPr marL="12700" marR="3211830">
              <a:lnSpc>
                <a:spcPct val="100000"/>
              </a:lnSpc>
              <a:spcBef>
                <a:spcPts val="5"/>
              </a:spcBef>
            </a:pPr>
            <a:r>
              <a:rPr sz="2200" b="1" dirty="0">
                <a:latin typeface="Times New Roman"/>
                <a:cs typeface="Times New Roman"/>
              </a:rPr>
              <a:t>/*</a:t>
            </a:r>
            <a:r>
              <a:rPr sz="2200" b="1" spc="6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read</a:t>
            </a:r>
            <a:r>
              <a:rPr sz="2200" b="1" spc="6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n</a:t>
            </a:r>
            <a:r>
              <a:rPr sz="2200" b="1" spc="6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terms</a:t>
            </a:r>
            <a:r>
              <a:rPr sz="2200" b="1" spc="95" dirty="0">
                <a:latin typeface="Times New Roman"/>
                <a:cs typeface="Times New Roman"/>
              </a:rPr>
              <a:t> </a:t>
            </a:r>
            <a:r>
              <a:rPr sz="2200" b="1" spc="-25" dirty="0">
                <a:latin typeface="Times New Roman"/>
                <a:cs typeface="Times New Roman"/>
              </a:rPr>
              <a:t>*/ </a:t>
            </a:r>
            <a:r>
              <a:rPr sz="2200" b="1" dirty="0">
                <a:latin typeface="Times New Roman"/>
                <a:cs typeface="Times New Roman"/>
              </a:rPr>
              <a:t>for</a:t>
            </a:r>
            <a:r>
              <a:rPr sz="2200" b="1" spc="80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(i=0;i&lt;n;i++)</a:t>
            </a:r>
            <a:endParaRPr sz="22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tabLst>
                <a:tab pos="638810" algn="l"/>
                <a:tab pos="4284980" algn="l"/>
              </a:tabLst>
            </a:pPr>
            <a:r>
              <a:rPr sz="2200" b="1" spc="-50" dirty="0">
                <a:latin typeface="Times New Roman"/>
                <a:cs typeface="Times New Roman"/>
              </a:rPr>
              <a:t>{</a:t>
            </a:r>
            <a:r>
              <a:rPr sz="2200" b="1" dirty="0">
                <a:latin typeface="Times New Roman"/>
                <a:cs typeface="Times New Roman"/>
              </a:rPr>
              <a:t>	printf(“nenter</a:t>
            </a:r>
            <a:r>
              <a:rPr sz="2200" b="1" spc="18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a</a:t>
            </a:r>
            <a:r>
              <a:rPr sz="2200" b="1" spc="125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term(power</a:t>
            </a:r>
            <a:r>
              <a:rPr sz="2200" b="1" dirty="0">
                <a:latin typeface="Times New Roman"/>
                <a:cs typeface="Times New Roman"/>
              </a:rPr>
              <a:t>	</a:t>
            </a:r>
            <a:r>
              <a:rPr sz="2200" b="1" spc="-10" dirty="0">
                <a:latin typeface="Times New Roman"/>
                <a:cs typeface="Times New Roman"/>
              </a:rPr>
              <a:t>coeff.)”); scanf(“%d%d”,&amp;power,&amp;coeff); p[power]=coeff;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200" b="1" spc="-50" dirty="0">
                <a:latin typeface="Times New Roman"/>
                <a:cs typeface="Times New Roman"/>
              </a:rPr>
              <a:t>}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200" b="1" spc="-50" dirty="0">
                <a:latin typeface="Times New Roman"/>
                <a:cs typeface="Times New Roman"/>
              </a:rPr>
              <a:t>}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200" b="1" dirty="0">
                <a:latin typeface="Times New Roman"/>
                <a:cs typeface="Times New Roman"/>
              </a:rPr>
              <a:t>void</a:t>
            </a:r>
            <a:r>
              <a:rPr sz="2200" b="1" spc="11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print(int</a:t>
            </a:r>
            <a:r>
              <a:rPr sz="2200" b="1" spc="155" dirty="0">
                <a:latin typeface="Times New Roman"/>
                <a:cs typeface="Times New Roman"/>
              </a:rPr>
              <a:t> </a:t>
            </a:r>
            <a:r>
              <a:rPr sz="2200" b="1" spc="-20" dirty="0">
                <a:latin typeface="Times New Roman"/>
                <a:cs typeface="Times New Roman"/>
              </a:rPr>
              <a:t>p[])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200" b="1" spc="-50" dirty="0">
                <a:latin typeface="Times New Roman"/>
                <a:cs typeface="Times New Roman"/>
              </a:rPr>
              <a:t>{</a:t>
            </a:r>
            <a:endParaRPr sz="2200">
              <a:latin typeface="Times New Roman"/>
              <a:cs typeface="Times New Roman"/>
            </a:endParaRPr>
          </a:p>
          <a:p>
            <a:pPr marL="12700" marR="2909570">
              <a:lnSpc>
                <a:spcPct val="100000"/>
              </a:lnSpc>
              <a:spcBef>
                <a:spcPts val="5"/>
              </a:spcBef>
            </a:pPr>
            <a:r>
              <a:rPr sz="2200" b="1" dirty="0">
                <a:latin typeface="Times New Roman"/>
                <a:cs typeface="Times New Roman"/>
              </a:rPr>
              <a:t>int</a:t>
            </a:r>
            <a:r>
              <a:rPr sz="2200" b="1" spc="75" dirty="0">
                <a:latin typeface="Times New Roman"/>
                <a:cs typeface="Times New Roman"/>
              </a:rPr>
              <a:t> </a:t>
            </a:r>
            <a:r>
              <a:rPr sz="2200" b="1" spc="-25" dirty="0">
                <a:latin typeface="Times New Roman"/>
                <a:cs typeface="Times New Roman"/>
              </a:rPr>
              <a:t>i; </a:t>
            </a:r>
            <a:r>
              <a:rPr sz="2200" b="1" spc="-10" dirty="0">
                <a:latin typeface="Times New Roman"/>
                <a:cs typeface="Times New Roman"/>
              </a:rPr>
              <a:t>for(i=0;i&lt;MAX;i++) if(p[i]!=0)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2449195" algn="l"/>
              </a:tabLst>
            </a:pPr>
            <a:r>
              <a:rPr sz="2200" b="1" spc="-10" dirty="0">
                <a:latin typeface="Times New Roman"/>
                <a:cs typeface="Times New Roman"/>
              </a:rPr>
              <a:t>printf(“%dX^%d</a:t>
            </a:r>
            <a:r>
              <a:rPr sz="2200" b="1" dirty="0">
                <a:latin typeface="Times New Roman"/>
                <a:cs typeface="Times New Roman"/>
              </a:rPr>
              <a:t>	</a:t>
            </a:r>
            <a:r>
              <a:rPr sz="2200" b="1" spc="-10" dirty="0">
                <a:latin typeface="Times New Roman"/>
                <a:cs typeface="Times New Roman"/>
              </a:rPr>
              <a:t>“,p[i],i);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200" b="1" spc="-50" dirty="0">
                <a:latin typeface="Times New Roman"/>
                <a:cs typeface="Times New Roman"/>
              </a:rPr>
              <a:t>}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200" b="1" dirty="0">
                <a:latin typeface="Times New Roman"/>
                <a:cs typeface="Times New Roman"/>
              </a:rPr>
              <a:t>void</a:t>
            </a:r>
            <a:r>
              <a:rPr sz="2200" b="1" spc="9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add(int</a:t>
            </a:r>
            <a:r>
              <a:rPr sz="2200" b="1" spc="114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p1[],</a:t>
            </a:r>
            <a:r>
              <a:rPr sz="2200" b="1" spc="11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int</a:t>
            </a:r>
            <a:r>
              <a:rPr sz="2200" b="1" spc="9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p2[],</a:t>
            </a:r>
            <a:r>
              <a:rPr sz="2200" b="1" spc="11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int</a:t>
            </a:r>
            <a:r>
              <a:rPr sz="2200" b="1" spc="100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p3[])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200" b="1" spc="-50" dirty="0">
                <a:latin typeface="Times New Roman"/>
                <a:cs typeface="Times New Roman"/>
              </a:rPr>
              <a:t>{</a:t>
            </a:r>
            <a:endParaRPr sz="2200">
              <a:latin typeface="Times New Roman"/>
              <a:cs typeface="Times New Roman"/>
            </a:endParaRPr>
          </a:p>
          <a:p>
            <a:pPr marL="306705" marR="2615565">
              <a:lnSpc>
                <a:spcPct val="100000"/>
              </a:lnSpc>
            </a:pPr>
            <a:r>
              <a:rPr sz="2200" b="1" dirty="0">
                <a:latin typeface="Times New Roman"/>
                <a:cs typeface="Times New Roman"/>
              </a:rPr>
              <a:t>int</a:t>
            </a:r>
            <a:r>
              <a:rPr sz="2200" b="1" spc="65" dirty="0">
                <a:latin typeface="Times New Roman"/>
                <a:cs typeface="Times New Roman"/>
              </a:rPr>
              <a:t> </a:t>
            </a:r>
            <a:r>
              <a:rPr sz="2200" b="1" spc="-25" dirty="0">
                <a:latin typeface="Times New Roman"/>
                <a:cs typeface="Times New Roman"/>
              </a:rPr>
              <a:t>i; </a:t>
            </a:r>
            <a:r>
              <a:rPr sz="2200" b="1" spc="-10" dirty="0">
                <a:latin typeface="Times New Roman"/>
                <a:cs typeface="Times New Roman"/>
              </a:rPr>
              <a:t>for(i=0;i&lt;MAX;i++)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200" b="1" spc="-10" dirty="0">
                <a:latin typeface="Times New Roman"/>
                <a:cs typeface="Times New Roman"/>
              </a:rPr>
              <a:t>p</a:t>
            </a:r>
            <a:r>
              <a:rPr sz="2200" b="1" spc="-5" dirty="0">
                <a:latin typeface="Times New Roman"/>
                <a:cs typeface="Times New Roman"/>
              </a:rPr>
              <a:t>3</a:t>
            </a:r>
            <a:r>
              <a:rPr sz="2200" b="1" spc="-10" dirty="0">
                <a:latin typeface="Times New Roman"/>
                <a:cs typeface="Times New Roman"/>
              </a:rPr>
              <a:t>[i]</a:t>
            </a:r>
            <a:r>
              <a:rPr sz="2200" b="1" spc="-15" dirty="0">
                <a:latin typeface="Times New Roman"/>
                <a:cs typeface="Times New Roman"/>
              </a:rPr>
              <a:t>=</a:t>
            </a:r>
            <a:r>
              <a:rPr sz="2200" b="1" spc="-10" dirty="0">
                <a:latin typeface="Times New Roman"/>
                <a:cs typeface="Times New Roman"/>
              </a:rPr>
              <a:t>p</a:t>
            </a:r>
            <a:r>
              <a:rPr sz="2200" b="1" spc="-994" dirty="0">
                <a:latin typeface="Times New Roman"/>
                <a:cs typeface="Times New Roman"/>
              </a:rPr>
              <a:t>1</a:t>
            </a:r>
            <a:r>
              <a:rPr sz="2550" i="1" spc="-97" baseline="3267" dirty="0">
                <a:solidFill>
                  <a:srgbClr val="585858"/>
                </a:solidFill>
                <a:latin typeface="Verdana"/>
                <a:cs typeface="Verdana"/>
              </a:rPr>
              <a:t>P</a:t>
            </a:r>
            <a:r>
              <a:rPr sz="2200" b="1" spc="-725" dirty="0">
                <a:latin typeface="Times New Roman"/>
                <a:cs typeface="Times New Roman"/>
              </a:rPr>
              <a:t>[</a:t>
            </a:r>
            <a:r>
              <a:rPr sz="2550" i="1" spc="-630" baseline="3267" dirty="0">
                <a:solidFill>
                  <a:srgbClr val="585858"/>
                </a:solidFill>
                <a:latin typeface="Verdana"/>
                <a:cs typeface="Verdana"/>
              </a:rPr>
              <a:t>R</a:t>
            </a:r>
            <a:r>
              <a:rPr sz="2200" b="1" spc="-295" dirty="0">
                <a:latin typeface="Times New Roman"/>
                <a:cs typeface="Times New Roman"/>
              </a:rPr>
              <a:t>i</a:t>
            </a:r>
            <a:r>
              <a:rPr sz="2550" i="1" spc="-1687" baseline="3267" dirty="0">
                <a:solidFill>
                  <a:srgbClr val="585858"/>
                </a:solidFill>
                <a:latin typeface="Verdana"/>
                <a:cs typeface="Verdana"/>
              </a:rPr>
              <a:t>O</a:t>
            </a:r>
            <a:r>
              <a:rPr sz="2200" b="1" spc="5" dirty="0">
                <a:latin typeface="Times New Roman"/>
                <a:cs typeface="Times New Roman"/>
              </a:rPr>
              <a:t>]</a:t>
            </a:r>
            <a:r>
              <a:rPr sz="2200" b="1" spc="-835" dirty="0">
                <a:latin typeface="Times New Roman"/>
                <a:cs typeface="Times New Roman"/>
              </a:rPr>
              <a:t>+</a:t>
            </a:r>
            <a:r>
              <a:rPr sz="2550" i="1" spc="-67" baseline="3267" dirty="0">
                <a:solidFill>
                  <a:srgbClr val="585858"/>
                </a:solidFill>
                <a:latin typeface="Verdana"/>
                <a:cs typeface="Verdana"/>
              </a:rPr>
              <a:t>F</a:t>
            </a:r>
            <a:r>
              <a:rPr sz="2200" b="1" spc="-1240" dirty="0">
                <a:latin typeface="Times New Roman"/>
                <a:cs typeface="Times New Roman"/>
              </a:rPr>
              <a:t>p</a:t>
            </a:r>
            <a:r>
              <a:rPr sz="2550" i="1" spc="-44" baseline="3267" dirty="0">
                <a:solidFill>
                  <a:srgbClr val="585858"/>
                </a:solidFill>
                <a:latin typeface="Verdana"/>
                <a:cs typeface="Verdana"/>
              </a:rPr>
              <a:t>.</a:t>
            </a:r>
            <a:r>
              <a:rPr sz="2550" i="1" spc="44" baseline="3267" dirty="0">
                <a:solidFill>
                  <a:srgbClr val="585858"/>
                </a:solidFill>
                <a:latin typeface="Verdana"/>
                <a:cs typeface="Verdana"/>
              </a:rPr>
              <a:t> </a:t>
            </a:r>
            <a:r>
              <a:rPr sz="2550" i="1" spc="-1507" baseline="3267" dirty="0">
                <a:solidFill>
                  <a:srgbClr val="585858"/>
                </a:solidFill>
                <a:latin typeface="Verdana"/>
                <a:cs typeface="Verdana"/>
              </a:rPr>
              <a:t>A</a:t>
            </a:r>
            <a:r>
              <a:rPr sz="2200" b="1" spc="-35" dirty="0">
                <a:latin typeface="Times New Roman"/>
                <a:cs typeface="Times New Roman"/>
              </a:rPr>
              <a:t>2</a:t>
            </a:r>
            <a:r>
              <a:rPr sz="2550" i="1" spc="-1875" baseline="3267" dirty="0">
                <a:solidFill>
                  <a:srgbClr val="585858"/>
                </a:solidFill>
                <a:latin typeface="Verdana"/>
                <a:cs typeface="Verdana"/>
              </a:rPr>
              <a:t>N</a:t>
            </a:r>
            <a:r>
              <a:rPr sz="2200" b="1" spc="5" dirty="0">
                <a:latin typeface="Times New Roman"/>
                <a:cs typeface="Times New Roman"/>
              </a:rPr>
              <a:t>[</a:t>
            </a:r>
            <a:r>
              <a:rPr sz="2200" b="1" spc="-155" dirty="0">
                <a:latin typeface="Times New Roman"/>
                <a:cs typeface="Times New Roman"/>
              </a:rPr>
              <a:t>i</a:t>
            </a:r>
            <a:r>
              <a:rPr sz="2550" i="1" spc="-1545" baseline="3267" dirty="0">
                <a:solidFill>
                  <a:srgbClr val="585858"/>
                </a:solidFill>
                <a:latin typeface="Verdana"/>
                <a:cs typeface="Verdana"/>
              </a:rPr>
              <a:t>A</a:t>
            </a:r>
            <a:r>
              <a:rPr sz="2200" b="1" spc="20" dirty="0">
                <a:latin typeface="Times New Roman"/>
                <a:cs typeface="Times New Roman"/>
              </a:rPr>
              <a:t>]</a:t>
            </a:r>
            <a:r>
              <a:rPr sz="2200" b="1" spc="-405" dirty="0">
                <a:latin typeface="Times New Roman"/>
                <a:cs typeface="Times New Roman"/>
              </a:rPr>
              <a:t>;</a:t>
            </a:r>
            <a:r>
              <a:rPr sz="2550" i="1" spc="7" baseline="3267" dirty="0">
                <a:solidFill>
                  <a:srgbClr val="585858"/>
                </a:solidFill>
                <a:latin typeface="Verdana"/>
                <a:cs typeface="Verdana"/>
              </a:rPr>
              <a:t>N</a:t>
            </a:r>
            <a:r>
              <a:rPr sz="2550" i="1" spc="-22" baseline="3267" dirty="0">
                <a:solidFill>
                  <a:srgbClr val="585858"/>
                </a:solidFill>
                <a:latin typeface="Verdana"/>
                <a:cs typeface="Verdana"/>
              </a:rPr>
              <a:t>D</a:t>
            </a:r>
            <a:r>
              <a:rPr sz="2550" i="1" spc="44" baseline="3267" dirty="0">
                <a:solidFill>
                  <a:srgbClr val="585858"/>
                </a:solidFill>
                <a:latin typeface="Verdana"/>
                <a:cs typeface="Verdana"/>
              </a:rPr>
              <a:t> </a:t>
            </a:r>
            <a:r>
              <a:rPr sz="2550" i="1" spc="-30" baseline="3267" dirty="0">
                <a:solidFill>
                  <a:srgbClr val="585858"/>
                </a:solidFill>
                <a:latin typeface="Verdana"/>
                <a:cs typeface="Verdana"/>
              </a:rPr>
              <a:t>GHARU</a:t>
            </a:r>
            <a:endParaRPr sz="2550" baseline="3267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2200" b="1" spc="-50" dirty="0">
                <a:latin typeface="Times New Roman"/>
                <a:cs typeface="Times New Roman"/>
              </a:rPr>
              <a:t>}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29502" y="23876"/>
            <a:ext cx="4932680" cy="53251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85800" algn="l"/>
              </a:tabLst>
            </a:pPr>
            <a:r>
              <a:rPr sz="2200" b="1" spc="-20" dirty="0">
                <a:latin typeface="Times New Roman"/>
                <a:cs typeface="Times New Roman"/>
              </a:rPr>
              <a:t>void</a:t>
            </a:r>
            <a:r>
              <a:rPr sz="2200" b="1" dirty="0">
                <a:latin typeface="Times New Roman"/>
                <a:cs typeface="Times New Roman"/>
              </a:rPr>
              <a:t>	multiply(int</a:t>
            </a:r>
            <a:r>
              <a:rPr sz="2200" b="1" spc="15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p1[],</a:t>
            </a:r>
            <a:r>
              <a:rPr sz="2200" b="1" spc="12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int</a:t>
            </a:r>
            <a:r>
              <a:rPr sz="2200" b="1" spc="114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p2[],</a:t>
            </a:r>
            <a:r>
              <a:rPr sz="2200" b="1" spc="114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int</a:t>
            </a:r>
            <a:r>
              <a:rPr sz="2200" b="1" spc="114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p3[])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200" b="1" spc="-50" dirty="0">
                <a:latin typeface="Times New Roman"/>
                <a:cs typeface="Times New Roman"/>
              </a:rPr>
              <a:t>{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200" b="1" dirty="0">
                <a:latin typeface="Times New Roman"/>
                <a:cs typeface="Times New Roman"/>
              </a:rPr>
              <a:t>int</a:t>
            </a:r>
            <a:r>
              <a:rPr sz="2200" b="1" spc="75" dirty="0">
                <a:latin typeface="Times New Roman"/>
                <a:cs typeface="Times New Roman"/>
              </a:rPr>
              <a:t> </a:t>
            </a:r>
            <a:r>
              <a:rPr sz="2200" b="1" spc="-20" dirty="0">
                <a:latin typeface="Times New Roman"/>
                <a:cs typeface="Times New Roman"/>
              </a:rPr>
              <a:t>i,j;</a:t>
            </a:r>
            <a:endParaRPr sz="2200">
              <a:latin typeface="Times New Roman"/>
              <a:cs typeface="Times New Roman"/>
            </a:endParaRPr>
          </a:p>
          <a:p>
            <a:pPr marL="12700" marR="2410460">
              <a:lnSpc>
                <a:spcPct val="100000"/>
              </a:lnSpc>
            </a:pPr>
            <a:r>
              <a:rPr sz="2200" b="1" spc="-10" dirty="0">
                <a:latin typeface="Times New Roman"/>
                <a:cs typeface="Times New Roman"/>
              </a:rPr>
              <a:t>init(p3); for(i=0;i&lt;MAX;i++) for(j=0;j&lt;MAX;j++)</a:t>
            </a:r>
            <a:endParaRPr sz="2200">
              <a:latin typeface="Times New Roman"/>
              <a:cs typeface="Times New Roman"/>
            </a:endParaRPr>
          </a:p>
          <a:p>
            <a:pPr marL="231775">
              <a:lnSpc>
                <a:spcPct val="100000"/>
              </a:lnSpc>
            </a:pPr>
            <a:r>
              <a:rPr sz="2200" b="1" spc="-10" dirty="0">
                <a:latin typeface="Times New Roman"/>
                <a:cs typeface="Times New Roman"/>
              </a:rPr>
              <a:t>p3[i+j]=p3[i+j]+p1[i]*p2[j];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200" b="1" spc="-50" dirty="0">
                <a:latin typeface="Times New Roman"/>
                <a:cs typeface="Times New Roman"/>
              </a:rPr>
              <a:t>}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200" b="1" dirty="0">
                <a:latin typeface="Times New Roman"/>
                <a:cs typeface="Times New Roman"/>
              </a:rPr>
              <a:t>void</a:t>
            </a:r>
            <a:r>
              <a:rPr sz="2200" b="1" spc="11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init(int</a:t>
            </a:r>
            <a:r>
              <a:rPr sz="2200" b="1" spc="140" dirty="0">
                <a:latin typeface="Times New Roman"/>
                <a:cs typeface="Times New Roman"/>
              </a:rPr>
              <a:t> </a:t>
            </a:r>
            <a:r>
              <a:rPr sz="2200" b="1" spc="-20" dirty="0">
                <a:latin typeface="Times New Roman"/>
                <a:cs typeface="Times New Roman"/>
              </a:rPr>
              <a:t>p[])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200" b="1" spc="-50" dirty="0">
                <a:latin typeface="Times New Roman"/>
                <a:cs typeface="Times New Roman"/>
              </a:rPr>
              <a:t>{</a:t>
            </a:r>
            <a:endParaRPr sz="2200">
              <a:latin typeface="Times New Roman"/>
              <a:cs typeface="Times New Roman"/>
            </a:endParaRPr>
          </a:p>
          <a:p>
            <a:pPr marL="306705" marR="2163445">
              <a:lnSpc>
                <a:spcPct val="100000"/>
              </a:lnSpc>
            </a:pPr>
            <a:r>
              <a:rPr sz="2200" b="1" dirty="0">
                <a:latin typeface="Times New Roman"/>
                <a:cs typeface="Times New Roman"/>
              </a:rPr>
              <a:t>int</a:t>
            </a:r>
            <a:r>
              <a:rPr sz="2200" b="1" spc="65" dirty="0">
                <a:latin typeface="Times New Roman"/>
                <a:cs typeface="Times New Roman"/>
              </a:rPr>
              <a:t> </a:t>
            </a:r>
            <a:r>
              <a:rPr sz="2200" b="1" spc="-25" dirty="0">
                <a:latin typeface="Times New Roman"/>
                <a:cs typeface="Times New Roman"/>
              </a:rPr>
              <a:t>i; </a:t>
            </a:r>
            <a:r>
              <a:rPr sz="2200" b="1" spc="-10" dirty="0">
                <a:latin typeface="Times New Roman"/>
                <a:cs typeface="Times New Roman"/>
              </a:rPr>
              <a:t>for(i=0;i&lt;MAX;i++)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200" b="1" spc="-10" dirty="0">
                <a:latin typeface="Times New Roman"/>
                <a:cs typeface="Times New Roman"/>
              </a:rPr>
              <a:t>p[i]=0;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200" b="1" spc="-50" dirty="0">
                <a:latin typeface="Times New Roman"/>
                <a:cs typeface="Times New Roman"/>
              </a:rPr>
              <a:t>}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05"/>
              </a:spcBef>
            </a:pPr>
            <a:r>
              <a:rPr sz="2800" i="1" spc="-10" dirty="0">
                <a:latin typeface="Arial"/>
                <a:cs typeface="Arial"/>
              </a:rPr>
              <a:t>*******END******</a:t>
            </a:r>
            <a:endParaRPr sz="28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045200" y="0"/>
            <a:ext cx="0" cy="9753600"/>
          </a:xfrm>
          <a:custGeom>
            <a:avLst/>
            <a:gdLst/>
            <a:ahLst/>
            <a:cxnLst/>
            <a:rect l="l" t="t" r="r" b="b"/>
            <a:pathLst>
              <a:path h="9753600">
                <a:moveTo>
                  <a:pt x="0" y="0"/>
                </a:moveTo>
                <a:lnTo>
                  <a:pt x="0" y="9753599"/>
                </a:lnTo>
              </a:path>
            </a:pathLst>
          </a:custGeom>
          <a:ln w="9525">
            <a:solidFill>
              <a:srgbClr val="5C71B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2178030" y="9154464"/>
            <a:ext cx="2724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i="1" spc="-85" dirty="0">
                <a:solidFill>
                  <a:srgbClr val="585858"/>
                </a:solidFill>
                <a:latin typeface="Verdana"/>
                <a:cs typeface="Verdana"/>
              </a:rPr>
              <a:t>98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8739" y="19303"/>
            <a:ext cx="5958205" cy="1002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Times New Roman"/>
                <a:cs typeface="Times New Roman"/>
              </a:rPr>
              <a:t>FIND</a:t>
            </a:r>
            <a:r>
              <a:rPr sz="3200" spc="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SIMPLE</a:t>
            </a:r>
            <a:r>
              <a:rPr sz="3200" spc="1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TRANSPOSE</a:t>
            </a:r>
            <a:r>
              <a:rPr sz="3200" spc="100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OF </a:t>
            </a:r>
            <a:r>
              <a:rPr sz="3200" spc="-10" dirty="0">
                <a:latin typeface="Times New Roman"/>
                <a:cs typeface="Times New Roman"/>
              </a:rPr>
              <a:t>MATRIX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739" y="1001624"/>
            <a:ext cx="6317615" cy="805243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3930015">
              <a:lnSpc>
                <a:spcPct val="158200"/>
              </a:lnSpc>
              <a:spcBef>
                <a:spcPts val="95"/>
              </a:spcBef>
            </a:pPr>
            <a:r>
              <a:rPr sz="2000" b="1" dirty="0">
                <a:latin typeface="Times New Roman"/>
                <a:cs typeface="Times New Roman"/>
              </a:rPr>
              <a:t>#include</a:t>
            </a:r>
            <a:r>
              <a:rPr sz="2000" b="1" spc="204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&lt;iostream&gt; </a:t>
            </a:r>
            <a:r>
              <a:rPr sz="2000" b="1" dirty="0">
                <a:latin typeface="Times New Roman"/>
                <a:cs typeface="Times New Roman"/>
              </a:rPr>
              <a:t>using</a:t>
            </a:r>
            <a:r>
              <a:rPr sz="2000" b="1" spc="17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namespace</a:t>
            </a:r>
            <a:r>
              <a:rPr sz="2000" b="1" spc="170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latin typeface="Times New Roman"/>
                <a:cs typeface="Times New Roman"/>
              </a:rPr>
              <a:t>std; </a:t>
            </a:r>
            <a:r>
              <a:rPr sz="2000" b="1" dirty="0">
                <a:latin typeface="Times New Roman"/>
                <a:cs typeface="Times New Roman"/>
              </a:rPr>
              <a:t>int</a:t>
            </a:r>
            <a:r>
              <a:rPr sz="2000" b="1" spc="9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main()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05"/>
              </a:spcBef>
            </a:pPr>
            <a:r>
              <a:rPr sz="2000" b="1" spc="-50" dirty="0">
                <a:latin typeface="Times New Roman"/>
                <a:cs typeface="Times New Roman"/>
              </a:rPr>
              <a:t>{</a:t>
            </a:r>
            <a:endParaRPr sz="2000">
              <a:latin typeface="Times New Roman"/>
              <a:cs typeface="Times New Roman"/>
            </a:endParaRPr>
          </a:p>
          <a:p>
            <a:pPr marL="280670">
              <a:lnSpc>
                <a:spcPct val="100000"/>
              </a:lnSpc>
              <a:spcBef>
                <a:spcPts val="1390"/>
              </a:spcBef>
            </a:pPr>
            <a:r>
              <a:rPr sz="2000" b="1" dirty="0">
                <a:latin typeface="Times New Roman"/>
                <a:cs typeface="Times New Roman"/>
              </a:rPr>
              <a:t>int</a:t>
            </a:r>
            <a:r>
              <a:rPr sz="2000" b="1" spc="1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a[10][10],</a:t>
            </a:r>
            <a:r>
              <a:rPr sz="2000" b="1" spc="114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trans[10][10],</a:t>
            </a:r>
            <a:r>
              <a:rPr sz="2000" b="1" spc="114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r,</a:t>
            </a:r>
            <a:r>
              <a:rPr sz="2000" b="1" spc="1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c,</a:t>
            </a:r>
            <a:r>
              <a:rPr sz="2000" b="1" spc="1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i,</a:t>
            </a:r>
            <a:r>
              <a:rPr sz="2000" b="1" spc="150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j;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10"/>
              </a:spcBef>
            </a:pPr>
            <a:endParaRPr sz="2000">
              <a:latin typeface="Times New Roman"/>
              <a:cs typeface="Times New Roman"/>
            </a:endParaRPr>
          </a:p>
          <a:p>
            <a:pPr marL="280670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cout</a:t>
            </a:r>
            <a:r>
              <a:rPr sz="2000" b="1" spc="114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&lt;&lt;</a:t>
            </a:r>
            <a:r>
              <a:rPr sz="2000" b="1" spc="114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"Enter</a:t>
            </a:r>
            <a:r>
              <a:rPr sz="2000" b="1" spc="1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rows</a:t>
            </a:r>
            <a:r>
              <a:rPr sz="2000" b="1" spc="1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114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columns</a:t>
            </a:r>
            <a:r>
              <a:rPr sz="2000" b="1" spc="114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10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matrix:</a:t>
            </a:r>
            <a:r>
              <a:rPr sz="2000" b="1" spc="100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";</a:t>
            </a:r>
            <a:endParaRPr sz="2000">
              <a:latin typeface="Times New Roman"/>
              <a:cs typeface="Times New Roman"/>
            </a:endParaRPr>
          </a:p>
          <a:p>
            <a:pPr marL="280670">
              <a:lnSpc>
                <a:spcPct val="100000"/>
              </a:lnSpc>
              <a:spcBef>
                <a:spcPts val="1395"/>
              </a:spcBef>
            </a:pPr>
            <a:r>
              <a:rPr sz="2000" b="1" dirty="0">
                <a:latin typeface="Times New Roman"/>
                <a:cs typeface="Times New Roman"/>
              </a:rPr>
              <a:t>cin</a:t>
            </a:r>
            <a:r>
              <a:rPr sz="2000" b="1" spc="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&gt;&gt;</a:t>
            </a:r>
            <a:r>
              <a:rPr sz="2000" b="1" spc="7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</a:t>
            </a:r>
            <a:r>
              <a:rPr sz="2000" b="1" spc="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&gt;&gt;</a:t>
            </a:r>
            <a:r>
              <a:rPr sz="2000" b="1" spc="60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c;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05"/>
              </a:spcBef>
            </a:pPr>
            <a:endParaRPr sz="2000">
              <a:latin typeface="Times New Roman"/>
              <a:cs typeface="Times New Roman"/>
            </a:endParaRPr>
          </a:p>
          <a:p>
            <a:pPr marL="280670" marR="5080" indent="-268605">
              <a:lnSpc>
                <a:spcPct val="158300"/>
              </a:lnSpc>
              <a:spcBef>
                <a:spcPts val="5"/>
              </a:spcBef>
            </a:pPr>
            <a:r>
              <a:rPr sz="2000" b="1" dirty="0">
                <a:latin typeface="Times New Roman"/>
                <a:cs typeface="Times New Roman"/>
              </a:rPr>
              <a:t>//Storing</a:t>
            </a:r>
            <a:r>
              <a:rPr sz="2000" b="1" spc="1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element</a:t>
            </a:r>
            <a:r>
              <a:rPr sz="2000" b="1" spc="1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1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matrix</a:t>
            </a:r>
            <a:r>
              <a:rPr sz="2000" b="1" spc="18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enter</a:t>
            </a:r>
            <a:r>
              <a:rPr sz="2000" b="1" spc="1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by</a:t>
            </a:r>
            <a:r>
              <a:rPr sz="2000" b="1" spc="1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user</a:t>
            </a:r>
            <a:r>
              <a:rPr sz="2000" b="1" spc="1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</a:t>
            </a:r>
            <a:r>
              <a:rPr sz="2000" b="1" spc="1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array</a:t>
            </a:r>
            <a:r>
              <a:rPr sz="2000" b="1" spc="114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a[][]. </a:t>
            </a:r>
            <a:r>
              <a:rPr sz="2000" b="1" dirty="0">
                <a:latin typeface="Times New Roman"/>
                <a:cs typeface="Times New Roman"/>
              </a:rPr>
              <a:t>cout</a:t>
            </a:r>
            <a:r>
              <a:rPr sz="2000" b="1" spc="10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&lt;&lt;</a:t>
            </a:r>
            <a:r>
              <a:rPr sz="2000" b="1" spc="10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endl</a:t>
            </a:r>
            <a:r>
              <a:rPr sz="2000" b="1" spc="10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&lt;&lt;</a:t>
            </a:r>
            <a:r>
              <a:rPr sz="2000" b="1" spc="114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"Enter</a:t>
            </a:r>
            <a:r>
              <a:rPr sz="2000" b="1" spc="114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elements</a:t>
            </a:r>
            <a:r>
              <a:rPr sz="2000" b="1" spc="10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9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matrix:</a:t>
            </a:r>
            <a:r>
              <a:rPr sz="2000" b="1" spc="9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"</a:t>
            </a:r>
            <a:r>
              <a:rPr sz="2000" b="1" spc="10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&lt;&lt;</a:t>
            </a:r>
            <a:r>
              <a:rPr sz="2000" b="1" spc="10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endl; </a:t>
            </a:r>
            <a:r>
              <a:rPr sz="2000" b="1" dirty="0">
                <a:latin typeface="Times New Roman"/>
                <a:cs typeface="Times New Roman"/>
              </a:rPr>
              <a:t>for(i</a:t>
            </a:r>
            <a:r>
              <a:rPr sz="2000" b="1" spc="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=</a:t>
            </a:r>
            <a:r>
              <a:rPr sz="2000" b="1" spc="7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0;</a:t>
            </a:r>
            <a:r>
              <a:rPr sz="2000" b="1" spc="8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</a:t>
            </a:r>
            <a:r>
              <a:rPr sz="2000" b="1" spc="6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&lt;</a:t>
            </a:r>
            <a:r>
              <a:rPr sz="2000" b="1" spc="7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r;</a:t>
            </a:r>
            <a:r>
              <a:rPr sz="2000" b="1" spc="75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latin typeface="Times New Roman"/>
                <a:cs typeface="Times New Roman"/>
              </a:rPr>
              <a:t>++i)</a:t>
            </a:r>
            <a:endParaRPr sz="2000">
              <a:latin typeface="Times New Roman"/>
              <a:cs typeface="Times New Roman"/>
            </a:endParaRPr>
          </a:p>
          <a:p>
            <a:pPr marL="280670">
              <a:lnSpc>
                <a:spcPct val="100000"/>
              </a:lnSpc>
              <a:spcBef>
                <a:spcPts val="1400"/>
              </a:spcBef>
            </a:pPr>
            <a:r>
              <a:rPr sz="2000" b="1" dirty="0">
                <a:latin typeface="Times New Roman"/>
                <a:cs typeface="Times New Roman"/>
              </a:rPr>
              <a:t>for(j</a:t>
            </a:r>
            <a:r>
              <a:rPr sz="2000" b="1" spc="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=</a:t>
            </a:r>
            <a:r>
              <a:rPr sz="2000" b="1" spc="7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0;</a:t>
            </a:r>
            <a:r>
              <a:rPr sz="2000" b="1" spc="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j</a:t>
            </a:r>
            <a:r>
              <a:rPr sz="2000" b="1" spc="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&lt;</a:t>
            </a:r>
            <a:r>
              <a:rPr sz="2000" b="1" spc="8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c;</a:t>
            </a:r>
            <a:r>
              <a:rPr sz="2000" b="1" spc="60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latin typeface="Times New Roman"/>
                <a:cs typeface="Times New Roman"/>
              </a:rPr>
              <a:t>++j)</a:t>
            </a:r>
            <a:endParaRPr sz="2000">
              <a:latin typeface="Times New Roman"/>
              <a:cs typeface="Times New Roman"/>
            </a:endParaRPr>
          </a:p>
          <a:p>
            <a:pPr marL="280670">
              <a:lnSpc>
                <a:spcPct val="100000"/>
              </a:lnSpc>
              <a:spcBef>
                <a:spcPts val="1395"/>
              </a:spcBef>
            </a:pPr>
            <a:r>
              <a:rPr sz="2000" b="1" spc="-50" dirty="0">
                <a:latin typeface="Times New Roman"/>
                <a:cs typeface="Times New Roman"/>
              </a:rPr>
              <a:t>{</a:t>
            </a:r>
            <a:endParaRPr sz="2000">
              <a:latin typeface="Times New Roman"/>
              <a:cs typeface="Times New Roman"/>
            </a:endParaRPr>
          </a:p>
          <a:p>
            <a:pPr marL="548640">
              <a:lnSpc>
                <a:spcPct val="100000"/>
              </a:lnSpc>
              <a:spcBef>
                <a:spcPts val="1405"/>
              </a:spcBef>
            </a:pPr>
            <a:r>
              <a:rPr sz="2000" b="1" dirty="0">
                <a:latin typeface="Times New Roman"/>
                <a:cs typeface="Times New Roman"/>
              </a:rPr>
              <a:t>cout</a:t>
            </a:r>
            <a:r>
              <a:rPr sz="2000" b="1" spc="7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&lt;&lt;</a:t>
            </a:r>
            <a:r>
              <a:rPr sz="2000" b="1" spc="7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"Enter</a:t>
            </a:r>
            <a:r>
              <a:rPr sz="2000" b="1" spc="8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elements</a:t>
            </a:r>
            <a:r>
              <a:rPr sz="2000" b="1" spc="7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a"</a:t>
            </a:r>
            <a:r>
              <a:rPr sz="2000" b="1" spc="8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&lt;&lt;</a:t>
            </a:r>
            <a:r>
              <a:rPr sz="2000" b="1" spc="7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</a:t>
            </a:r>
            <a:r>
              <a:rPr sz="2000" b="1" spc="7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+</a:t>
            </a:r>
            <a:r>
              <a:rPr sz="2000" b="1" spc="7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1</a:t>
            </a:r>
            <a:r>
              <a:rPr sz="2000" b="1" spc="8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&lt;&lt;</a:t>
            </a:r>
            <a:r>
              <a:rPr sz="2000" b="1" spc="7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j</a:t>
            </a:r>
            <a:r>
              <a:rPr sz="2000" b="1" spc="8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+</a:t>
            </a:r>
            <a:r>
              <a:rPr sz="2000" b="1" spc="7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1</a:t>
            </a:r>
            <a:r>
              <a:rPr sz="2000" b="1" spc="8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&lt;&lt;</a:t>
            </a:r>
            <a:r>
              <a:rPr sz="2000" b="1" spc="75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":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spc="-25" dirty="0">
                <a:latin typeface="Times New Roman"/>
                <a:cs typeface="Times New Roman"/>
              </a:rPr>
              <a:t>";</a:t>
            </a:r>
            <a:endParaRPr sz="2000">
              <a:latin typeface="Times New Roman"/>
              <a:cs typeface="Times New Roman"/>
            </a:endParaRPr>
          </a:p>
          <a:p>
            <a:pPr marL="548640">
              <a:lnSpc>
                <a:spcPct val="100000"/>
              </a:lnSpc>
              <a:spcBef>
                <a:spcPts val="1405"/>
              </a:spcBef>
            </a:pPr>
            <a:r>
              <a:rPr sz="2000" b="1" dirty="0">
                <a:latin typeface="Times New Roman"/>
                <a:cs typeface="Times New Roman"/>
              </a:rPr>
              <a:t>cin</a:t>
            </a:r>
            <a:r>
              <a:rPr sz="2000" b="1" spc="7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&gt;&gt;</a:t>
            </a:r>
            <a:r>
              <a:rPr sz="2000" b="1" spc="8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a[i][j];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6963" y="9204452"/>
            <a:ext cx="12573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50" dirty="0">
                <a:latin typeface="Times New Roman"/>
                <a:cs typeface="Times New Roman"/>
              </a:rPr>
              <a:t>}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10502" y="-153823"/>
            <a:ext cx="5725160" cy="8053705"/>
          </a:xfrm>
          <a:prstGeom prst="rect">
            <a:avLst/>
          </a:prstGeom>
        </p:spPr>
        <p:txBody>
          <a:bodyPr vert="horz" wrap="square" lIns="0" tIns="1905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0"/>
              </a:spcBef>
            </a:pPr>
            <a:r>
              <a:rPr sz="2000" b="1" dirty="0">
                <a:latin typeface="Times New Roman"/>
                <a:cs typeface="Times New Roman"/>
              </a:rPr>
              <a:t>//</a:t>
            </a:r>
            <a:r>
              <a:rPr sz="2000" b="1" spc="1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Displaying</a:t>
            </a:r>
            <a:r>
              <a:rPr sz="2000" b="1" spc="1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1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matrix</a:t>
            </a:r>
            <a:r>
              <a:rPr sz="2000" b="1" spc="130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latin typeface="Times New Roman"/>
                <a:cs typeface="Times New Roman"/>
              </a:rPr>
              <a:t>a[][]</a:t>
            </a:r>
            <a:endParaRPr sz="2000">
              <a:latin typeface="Times New Roman"/>
              <a:cs typeface="Times New Roman"/>
            </a:endParaRPr>
          </a:p>
          <a:p>
            <a:pPr marL="280670">
              <a:lnSpc>
                <a:spcPct val="100000"/>
              </a:lnSpc>
              <a:spcBef>
                <a:spcPts val="1405"/>
              </a:spcBef>
            </a:pPr>
            <a:r>
              <a:rPr sz="2000" b="1" dirty="0">
                <a:latin typeface="Times New Roman"/>
                <a:cs typeface="Times New Roman"/>
              </a:rPr>
              <a:t>cout</a:t>
            </a:r>
            <a:r>
              <a:rPr sz="2000" b="1" spc="10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&lt;&lt;</a:t>
            </a:r>
            <a:r>
              <a:rPr sz="2000" b="1" spc="10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endl</a:t>
            </a:r>
            <a:r>
              <a:rPr sz="2000" b="1" spc="9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&lt;&lt;</a:t>
            </a:r>
            <a:r>
              <a:rPr sz="2000" b="1" spc="114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"Entered</a:t>
            </a:r>
            <a:r>
              <a:rPr sz="2000" b="1" spc="1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Matrix:</a:t>
            </a:r>
            <a:r>
              <a:rPr sz="2000" b="1" spc="8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"</a:t>
            </a:r>
            <a:r>
              <a:rPr sz="2000" b="1" spc="10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&lt;&lt;</a:t>
            </a:r>
            <a:r>
              <a:rPr sz="2000" b="1" spc="114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endl;</a:t>
            </a:r>
            <a:endParaRPr sz="2000">
              <a:latin typeface="Times New Roman"/>
              <a:cs typeface="Times New Roman"/>
            </a:endParaRPr>
          </a:p>
          <a:p>
            <a:pPr marL="280670">
              <a:lnSpc>
                <a:spcPct val="100000"/>
              </a:lnSpc>
              <a:spcBef>
                <a:spcPts val="1395"/>
              </a:spcBef>
            </a:pPr>
            <a:r>
              <a:rPr sz="2000" b="1" dirty="0">
                <a:latin typeface="Times New Roman"/>
                <a:cs typeface="Times New Roman"/>
              </a:rPr>
              <a:t>for(i</a:t>
            </a:r>
            <a:r>
              <a:rPr sz="2000" b="1" spc="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=</a:t>
            </a:r>
            <a:r>
              <a:rPr sz="2000" b="1" spc="6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0;</a:t>
            </a:r>
            <a:r>
              <a:rPr sz="2000" b="1" spc="8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</a:t>
            </a:r>
            <a:r>
              <a:rPr sz="2000" b="1" spc="6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&lt;</a:t>
            </a:r>
            <a:r>
              <a:rPr sz="2000" b="1" spc="6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r;</a:t>
            </a:r>
            <a:r>
              <a:rPr sz="2000" b="1" spc="75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latin typeface="Times New Roman"/>
                <a:cs typeface="Times New Roman"/>
              </a:rPr>
              <a:t>++i)</a:t>
            </a:r>
            <a:endParaRPr sz="2000">
              <a:latin typeface="Times New Roman"/>
              <a:cs typeface="Times New Roman"/>
            </a:endParaRPr>
          </a:p>
          <a:p>
            <a:pPr marL="548640">
              <a:lnSpc>
                <a:spcPct val="100000"/>
              </a:lnSpc>
              <a:spcBef>
                <a:spcPts val="1405"/>
              </a:spcBef>
            </a:pPr>
            <a:r>
              <a:rPr sz="2000" b="1" dirty="0">
                <a:latin typeface="Times New Roman"/>
                <a:cs typeface="Times New Roman"/>
              </a:rPr>
              <a:t>for(j</a:t>
            </a:r>
            <a:r>
              <a:rPr sz="2000" b="1" spc="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=</a:t>
            </a:r>
            <a:r>
              <a:rPr sz="2000" b="1" spc="7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0;</a:t>
            </a:r>
            <a:r>
              <a:rPr sz="2000" b="1" spc="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j</a:t>
            </a:r>
            <a:r>
              <a:rPr sz="2000" b="1" spc="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&lt;</a:t>
            </a:r>
            <a:r>
              <a:rPr sz="2000" b="1" spc="8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c;</a:t>
            </a:r>
            <a:r>
              <a:rPr sz="2000" b="1" spc="60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latin typeface="Times New Roman"/>
                <a:cs typeface="Times New Roman"/>
              </a:rPr>
              <a:t>++j)</a:t>
            </a:r>
            <a:endParaRPr sz="2000">
              <a:latin typeface="Times New Roman"/>
              <a:cs typeface="Times New Roman"/>
            </a:endParaRPr>
          </a:p>
          <a:p>
            <a:pPr marL="548640">
              <a:lnSpc>
                <a:spcPct val="100000"/>
              </a:lnSpc>
              <a:spcBef>
                <a:spcPts val="1405"/>
              </a:spcBef>
            </a:pPr>
            <a:r>
              <a:rPr sz="2000" b="1" spc="-50" dirty="0">
                <a:latin typeface="Times New Roman"/>
                <a:cs typeface="Times New Roman"/>
              </a:rPr>
              <a:t>{</a:t>
            </a:r>
            <a:endParaRPr sz="2000">
              <a:latin typeface="Times New Roman"/>
              <a:cs typeface="Times New Roman"/>
            </a:endParaRPr>
          </a:p>
          <a:p>
            <a:pPr marL="817244" marR="2479040">
              <a:lnSpc>
                <a:spcPts val="3800"/>
              </a:lnSpc>
              <a:spcBef>
                <a:spcPts val="355"/>
              </a:spcBef>
            </a:pPr>
            <a:r>
              <a:rPr sz="2000" b="1" dirty="0">
                <a:latin typeface="Times New Roman"/>
                <a:cs typeface="Times New Roman"/>
              </a:rPr>
              <a:t>cout</a:t>
            </a:r>
            <a:r>
              <a:rPr sz="2000" b="1" spc="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&lt;&lt;</a:t>
            </a:r>
            <a:r>
              <a:rPr sz="2000" b="1" spc="6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"</a:t>
            </a:r>
            <a:r>
              <a:rPr sz="2000" b="1" spc="7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"</a:t>
            </a:r>
            <a:r>
              <a:rPr sz="2000" b="1" spc="7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&lt;&lt;</a:t>
            </a:r>
            <a:r>
              <a:rPr sz="2000" b="1" spc="7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a[i][j]; </a:t>
            </a:r>
            <a:r>
              <a:rPr sz="2000" b="1" dirty="0">
                <a:latin typeface="Times New Roman"/>
                <a:cs typeface="Times New Roman"/>
              </a:rPr>
              <a:t>if(j</a:t>
            </a:r>
            <a:r>
              <a:rPr sz="2000" b="1" spc="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==</a:t>
            </a:r>
            <a:r>
              <a:rPr sz="2000" b="1" spc="6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</a:t>
            </a:r>
            <a:r>
              <a:rPr sz="2000" b="1" spc="9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-</a:t>
            </a:r>
            <a:r>
              <a:rPr sz="2000" b="1" spc="80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1)</a:t>
            </a:r>
            <a:endParaRPr sz="2000">
              <a:latin typeface="Times New Roman"/>
              <a:cs typeface="Times New Roman"/>
            </a:endParaRPr>
          </a:p>
          <a:p>
            <a:pPr marL="1085215">
              <a:lnSpc>
                <a:spcPct val="100000"/>
              </a:lnSpc>
              <a:spcBef>
                <a:spcPts val="1045"/>
              </a:spcBef>
            </a:pPr>
            <a:r>
              <a:rPr sz="2000" b="1" dirty="0">
                <a:latin typeface="Times New Roman"/>
                <a:cs typeface="Times New Roman"/>
              </a:rPr>
              <a:t>cout</a:t>
            </a:r>
            <a:r>
              <a:rPr sz="2000" b="1" spc="9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&lt;&lt;</a:t>
            </a:r>
            <a:r>
              <a:rPr sz="2000" b="1" spc="9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endl</a:t>
            </a:r>
            <a:r>
              <a:rPr sz="2000" b="1" spc="8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&lt;&lt;</a:t>
            </a:r>
            <a:r>
              <a:rPr sz="2000" b="1" spc="100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latin typeface="Times New Roman"/>
                <a:cs typeface="Times New Roman"/>
              </a:rPr>
              <a:t>endl;</a:t>
            </a:r>
            <a:endParaRPr sz="2000">
              <a:latin typeface="Times New Roman"/>
              <a:cs typeface="Times New Roman"/>
            </a:endParaRPr>
          </a:p>
          <a:p>
            <a:pPr marL="548640">
              <a:lnSpc>
                <a:spcPct val="100000"/>
              </a:lnSpc>
              <a:spcBef>
                <a:spcPts val="1395"/>
              </a:spcBef>
            </a:pPr>
            <a:r>
              <a:rPr sz="2000" b="1" spc="-50" dirty="0">
                <a:latin typeface="Times New Roman"/>
                <a:cs typeface="Times New Roman"/>
              </a:rPr>
              <a:t>}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05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5080" indent="267970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latin typeface="Times New Roman"/>
                <a:cs typeface="Times New Roman"/>
              </a:rPr>
              <a:t>//</a:t>
            </a:r>
            <a:r>
              <a:rPr sz="2000" b="1" spc="1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Finding</a:t>
            </a:r>
            <a:r>
              <a:rPr sz="2000" b="1" spc="1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transpose</a:t>
            </a:r>
            <a:r>
              <a:rPr sz="2000" b="1" spc="114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1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matrix</a:t>
            </a:r>
            <a:r>
              <a:rPr sz="2000" b="1" spc="1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a[][]</a:t>
            </a:r>
            <a:r>
              <a:rPr sz="2000" b="1" spc="1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1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storing</a:t>
            </a:r>
            <a:r>
              <a:rPr sz="2000" b="1" spc="145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it </a:t>
            </a:r>
            <a:r>
              <a:rPr sz="2000" b="1" dirty="0">
                <a:latin typeface="Times New Roman"/>
                <a:cs typeface="Times New Roman"/>
              </a:rPr>
              <a:t>in</a:t>
            </a:r>
            <a:r>
              <a:rPr sz="2000" b="1" spc="10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array</a:t>
            </a:r>
            <a:r>
              <a:rPr sz="2000" b="1" spc="10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trans[][].</a:t>
            </a:r>
            <a:endParaRPr sz="2000">
              <a:latin typeface="Times New Roman"/>
              <a:cs typeface="Times New Roman"/>
            </a:endParaRPr>
          </a:p>
          <a:p>
            <a:pPr marL="548640" marR="2988310" indent="-268605">
              <a:lnSpc>
                <a:spcPts val="3810"/>
              </a:lnSpc>
              <a:spcBef>
                <a:spcPts val="340"/>
              </a:spcBef>
            </a:pPr>
            <a:r>
              <a:rPr sz="2000" b="1" dirty="0">
                <a:latin typeface="Times New Roman"/>
                <a:cs typeface="Times New Roman"/>
              </a:rPr>
              <a:t>for(i</a:t>
            </a:r>
            <a:r>
              <a:rPr sz="2000" b="1" spc="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=</a:t>
            </a:r>
            <a:r>
              <a:rPr sz="2000" b="1" spc="7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0;</a:t>
            </a:r>
            <a:r>
              <a:rPr sz="2000" b="1" spc="8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</a:t>
            </a:r>
            <a:r>
              <a:rPr sz="2000" b="1" spc="6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&lt;</a:t>
            </a:r>
            <a:r>
              <a:rPr sz="2000" b="1" spc="7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r;</a:t>
            </a:r>
            <a:r>
              <a:rPr sz="2000" b="1" spc="75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latin typeface="Times New Roman"/>
                <a:cs typeface="Times New Roman"/>
              </a:rPr>
              <a:t>++i) </a:t>
            </a:r>
            <a:r>
              <a:rPr sz="2000" b="1" dirty="0">
                <a:latin typeface="Times New Roman"/>
                <a:cs typeface="Times New Roman"/>
              </a:rPr>
              <a:t>for(j</a:t>
            </a:r>
            <a:r>
              <a:rPr sz="2000" b="1" spc="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=</a:t>
            </a:r>
            <a:r>
              <a:rPr sz="2000" b="1" spc="7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0;</a:t>
            </a:r>
            <a:r>
              <a:rPr sz="2000" b="1" spc="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j</a:t>
            </a:r>
            <a:r>
              <a:rPr sz="2000" b="1" spc="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&lt;</a:t>
            </a:r>
            <a:r>
              <a:rPr sz="2000" b="1" spc="8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c;</a:t>
            </a:r>
            <a:r>
              <a:rPr sz="2000" b="1" spc="60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latin typeface="Times New Roman"/>
                <a:cs typeface="Times New Roman"/>
              </a:rPr>
              <a:t>++j)</a:t>
            </a:r>
            <a:endParaRPr sz="2000">
              <a:latin typeface="Times New Roman"/>
              <a:cs typeface="Times New Roman"/>
            </a:endParaRPr>
          </a:p>
          <a:p>
            <a:pPr marL="548640">
              <a:lnSpc>
                <a:spcPct val="100000"/>
              </a:lnSpc>
              <a:spcBef>
                <a:spcPts val="1040"/>
              </a:spcBef>
            </a:pPr>
            <a:r>
              <a:rPr sz="2000" b="1" spc="-50" dirty="0">
                <a:latin typeface="Times New Roman"/>
                <a:cs typeface="Times New Roman"/>
              </a:rPr>
              <a:t>{</a:t>
            </a:r>
            <a:endParaRPr sz="2000">
              <a:latin typeface="Times New Roman"/>
              <a:cs typeface="Times New Roman"/>
            </a:endParaRPr>
          </a:p>
          <a:p>
            <a:pPr marL="817244">
              <a:lnSpc>
                <a:spcPct val="100000"/>
              </a:lnSpc>
              <a:spcBef>
                <a:spcPts val="1395"/>
              </a:spcBef>
            </a:pPr>
            <a:r>
              <a:rPr sz="2000" b="1" spc="-10" dirty="0">
                <a:latin typeface="Times New Roman"/>
                <a:cs typeface="Times New Roman"/>
              </a:rPr>
              <a:t>trans[j][i]=a[i][j];</a:t>
            </a:r>
            <a:endParaRPr sz="2000">
              <a:latin typeface="Times New Roman"/>
              <a:cs typeface="Times New Roman"/>
            </a:endParaRPr>
          </a:p>
          <a:p>
            <a:pPr marL="548640">
              <a:lnSpc>
                <a:spcPct val="100000"/>
              </a:lnSpc>
              <a:spcBef>
                <a:spcPts val="1400"/>
              </a:spcBef>
            </a:pPr>
            <a:r>
              <a:rPr sz="2000" b="1" spc="-50" dirty="0">
                <a:latin typeface="Times New Roman"/>
                <a:cs typeface="Times New Roman"/>
              </a:rPr>
              <a:t>}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578600" y="0"/>
            <a:ext cx="0" cy="9753600"/>
          </a:xfrm>
          <a:custGeom>
            <a:avLst/>
            <a:gdLst/>
            <a:ahLst/>
            <a:cxnLst/>
            <a:rect l="l" t="t" r="r" b="b"/>
            <a:pathLst>
              <a:path h="9753600">
                <a:moveTo>
                  <a:pt x="0" y="0"/>
                </a:moveTo>
                <a:lnTo>
                  <a:pt x="0" y="9753599"/>
                </a:lnTo>
              </a:path>
            </a:pathLst>
          </a:custGeom>
          <a:ln w="9525">
            <a:solidFill>
              <a:srgbClr val="5C71B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2178030" y="9154464"/>
            <a:ext cx="2724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i="1" spc="-85" dirty="0">
                <a:solidFill>
                  <a:srgbClr val="585858"/>
                </a:solidFill>
                <a:latin typeface="Verdana"/>
                <a:cs typeface="Verdana"/>
              </a:rPr>
              <a:t>99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8739" y="19303"/>
            <a:ext cx="5958205" cy="1002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Times New Roman"/>
                <a:cs typeface="Times New Roman"/>
              </a:rPr>
              <a:t>FIND</a:t>
            </a:r>
            <a:r>
              <a:rPr sz="3200" spc="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SIMPLE</a:t>
            </a:r>
            <a:r>
              <a:rPr sz="3200" spc="1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TRANSPOSE</a:t>
            </a:r>
            <a:r>
              <a:rPr sz="3200" spc="100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OF </a:t>
            </a:r>
            <a:r>
              <a:rPr sz="3200" spc="-10" dirty="0">
                <a:latin typeface="Times New Roman"/>
                <a:cs typeface="Times New Roman"/>
              </a:rPr>
              <a:t>MATRIX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739" y="1840738"/>
            <a:ext cx="6343015" cy="7104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//</a:t>
            </a:r>
            <a:r>
              <a:rPr sz="2400" b="1" spc="1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Displaying</a:t>
            </a:r>
            <a:r>
              <a:rPr sz="2400" b="1" spc="19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1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transpose,i.e,</a:t>
            </a:r>
            <a:r>
              <a:rPr sz="2400" b="1" spc="18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Displaying</a:t>
            </a:r>
            <a:r>
              <a:rPr sz="2400" b="1" spc="17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array trans[][].</a:t>
            </a:r>
            <a:endParaRPr sz="2400">
              <a:latin typeface="Times New Roman"/>
              <a:cs typeface="Times New Roman"/>
            </a:endParaRPr>
          </a:p>
          <a:p>
            <a:pPr marL="330835">
              <a:lnSpc>
                <a:spcPct val="100000"/>
              </a:lnSpc>
              <a:spcBef>
                <a:spcPts val="1405"/>
              </a:spcBef>
            </a:pPr>
            <a:r>
              <a:rPr sz="2400" b="1" dirty="0">
                <a:latin typeface="Times New Roman"/>
                <a:cs typeface="Times New Roman"/>
              </a:rPr>
              <a:t>cout</a:t>
            </a:r>
            <a:r>
              <a:rPr sz="2400" b="1" spc="10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&lt;&lt;</a:t>
            </a:r>
            <a:r>
              <a:rPr sz="2400" b="1" spc="7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endl</a:t>
            </a:r>
            <a:r>
              <a:rPr sz="2400" b="1" spc="10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&lt;&lt;</a:t>
            </a:r>
            <a:r>
              <a:rPr sz="2400" b="1" spc="7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"Transpose</a:t>
            </a:r>
            <a:r>
              <a:rPr sz="2400" b="1" spc="1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of</a:t>
            </a:r>
            <a:r>
              <a:rPr sz="2400" b="1" spc="9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Matrix:</a:t>
            </a:r>
            <a:r>
              <a:rPr sz="2400" b="1" spc="8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"</a:t>
            </a:r>
            <a:r>
              <a:rPr sz="2400" b="1" spc="85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latin typeface="Times New Roman"/>
                <a:cs typeface="Times New Roman"/>
              </a:rPr>
              <a:t>&lt;&lt;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b="1" spc="-10" dirty="0">
                <a:latin typeface="Times New Roman"/>
                <a:cs typeface="Times New Roman"/>
              </a:rPr>
              <a:t>endl;</a:t>
            </a:r>
            <a:endParaRPr sz="2400">
              <a:latin typeface="Times New Roman"/>
              <a:cs typeface="Times New Roman"/>
            </a:endParaRPr>
          </a:p>
          <a:p>
            <a:pPr marL="650875" marR="3079115" indent="-320040">
              <a:lnSpc>
                <a:spcPct val="148400"/>
              </a:lnSpc>
              <a:spcBef>
                <a:spcPts val="10"/>
              </a:spcBef>
            </a:pPr>
            <a:r>
              <a:rPr sz="2400" b="1" dirty="0">
                <a:latin typeface="Times New Roman"/>
                <a:cs typeface="Times New Roman"/>
              </a:rPr>
              <a:t>for(i</a:t>
            </a:r>
            <a:r>
              <a:rPr sz="2400" b="1" spc="6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=</a:t>
            </a:r>
            <a:r>
              <a:rPr sz="2400" b="1" spc="7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0;</a:t>
            </a:r>
            <a:r>
              <a:rPr sz="2400" b="1" spc="6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</a:t>
            </a:r>
            <a:r>
              <a:rPr sz="2400" b="1" spc="6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&lt;</a:t>
            </a:r>
            <a:r>
              <a:rPr sz="2400" b="1" spc="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c;</a:t>
            </a:r>
            <a:r>
              <a:rPr sz="2400" b="1" spc="75" dirty="0">
                <a:latin typeface="Times New Roman"/>
                <a:cs typeface="Times New Roman"/>
              </a:rPr>
              <a:t> </a:t>
            </a:r>
            <a:r>
              <a:rPr sz="2400" b="1" spc="-20" dirty="0">
                <a:latin typeface="Times New Roman"/>
                <a:cs typeface="Times New Roman"/>
              </a:rPr>
              <a:t>++i) </a:t>
            </a:r>
            <a:r>
              <a:rPr sz="2400" b="1" dirty="0">
                <a:latin typeface="Times New Roman"/>
                <a:cs typeface="Times New Roman"/>
              </a:rPr>
              <a:t>for(j</a:t>
            </a:r>
            <a:r>
              <a:rPr sz="2400" b="1" spc="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=</a:t>
            </a:r>
            <a:r>
              <a:rPr sz="2400" b="1" spc="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0;</a:t>
            </a:r>
            <a:r>
              <a:rPr sz="2400" b="1" spc="7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j</a:t>
            </a:r>
            <a:r>
              <a:rPr sz="2400" b="1" spc="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&lt;</a:t>
            </a:r>
            <a:r>
              <a:rPr sz="2400" b="1" spc="7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r;</a:t>
            </a:r>
            <a:r>
              <a:rPr sz="2400" b="1" spc="60" dirty="0">
                <a:latin typeface="Times New Roman"/>
                <a:cs typeface="Times New Roman"/>
              </a:rPr>
              <a:t> </a:t>
            </a:r>
            <a:r>
              <a:rPr sz="2400" b="1" spc="-20" dirty="0">
                <a:latin typeface="Times New Roman"/>
                <a:cs typeface="Times New Roman"/>
              </a:rPr>
              <a:t>++j)</a:t>
            </a:r>
            <a:endParaRPr sz="2400">
              <a:latin typeface="Times New Roman"/>
              <a:cs typeface="Times New Roman"/>
            </a:endParaRPr>
          </a:p>
          <a:p>
            <a:pPr marL="650875">
              <a:lnSpc>
                <a:spcPct val="100000"/>
              </a:lnSpc>
              <a:spcBef>
                <a:spcPts val="1405"/>
              </a:spcBef>
            </a:pPr>
            <a:r>
              <a:rPr sz="2400" b="1" spc="-50" dirty="0">
                <a:latin typeface="Times New Roman"/>
                <a:cs typeface="Times New Roman"/>
              </a:rPr>
              <a:t>{</a:t>
            </a:r>
            <a:endParaRPr sz="2400">
              <a:latin typeface="Times New Roman"/>
              <a:cs typeface="Times New Roman"/>
            </a:endParaRPr>
          </a:p>
          <a:p>
            <a:pPr marL="969644" marR="1938655">
              <a:lnSpc>
                <a:spcPct val="148300"/>
              </a:lnSpc>
              <a:spcBef>
                <a:spcPts val="15"/>
              </a:spcBef>
            </a:pPr>
            <a:r>
              <a:rPr sz="2400" b="1" dirty="0">
                <a:latin typeface="Times New Roman"/>
                <a:cs typeface="Times New Roman"/>
              </a:rPr>
              <a:t>cout</a:t>
            </a:r>
            <a:r>
              <a:rPr sz="2400" b="1" spc="6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&lt;&lt;</a:t>
            </a:r>
            <a:r>
              <a:rPr sz="2400" b="1" spc="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"</a:t>
            </a:r>
            <a:r>
              <a:rPr sz="2400" b="1" spc="7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"</a:t>
            </a:r>
            <a:r>
              <a:rPr sz="2400" b="1" spc="6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&lt;&lt;</a:t>
            </a:r>
            <a:r>
              <a:rPr sz="2400" b="1" spc="5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trans[i][j]; </a:t>
            </a:r>
            <a:r>
              <a:rPr sz="2400" b="1" dirty="0">
                <a:latin typeface="Times New Roman"/>
                <a:cs typeface="Times New Roman"/>
              </a:rPr>
              <a:t>if(j</a:t>
            </a:r>
            <a:r>
              <a:rPr sz="2400" b="1" spc="6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==</a:t>
            </a:r>
            <a:r>
              <a:rPr sz="2400" b="1" spc="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r</a:t>
            </a:r>
            <a:r>
              <a:rPr sz="2400" b="1" spc="8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-</a:t>
            </a:r>
            <a:r>
              <a:rPr sz="2400" b="1" spc="75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latin typeface="Times New Roman"/>
                <a:cs typeface="Times New Roman"/>
              </a:rPr>
              <a:t>1)</a:t>
            </a:r>
            <a:endParaRPr sz="2400">
              <a:latin typeface="Times New Roman"/>
              <a:cs typeface="Times New Roman"/>
            </a:endParaRPr>
          </a:p>
          <a:p>
            <a:pPr marL="1288415">
              <a:lnSpc>
                <a:spcPct val="100000"/>
              </a:lnSpc>
              <a:spcBef>
                <a:spcPts val="1405"/>
              </a:spcBef>
            </a:pPr>
            <a:r>
              <a:rPr sz="2400" b="1" dirty="0">
                <a:latin typeface="Times New Roman"/>
                <a:cs typeface="Times New Roman"/>
              </a:rPr>
              <a:t>cout</a:t>
            </a:r>
            <a:r>
              <a:rPr sz="2400" b="1" spc="9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&lt;&lt;</a:t>
            </a:r>
            <a:r>
              <a:rPr sz="2400" b="1" spc="6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endl</a:t>
            </a:r>
            <a:r>
              <a:rPr sz="2400" b="1" spc="8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&lt;&lt;</a:t>
            </a:r>
            <a:r>
              <a:rPr sz="2400" b="1" spc="60" dirty="0">
                <a:latin typeface="Times New Roman"/>
                <a:cs typeface="Times New Roman"/>
              </a:rPr>
              <a:t> </a:t>
            </a:r>
            <a:r>
              <a:rPr sz="2400" b="1" spc="-20" dirty="0">
                <a:latin typeface="Times New Roman"/>
                <a:cs typeface="Times New Roman"/>
              </a:rPr>
              <a:t>endl;</a:t>
            </a:r>
            <a:endParaRPr sz="2400">
              <a:latin typeface="Times New Roman"/>
              <a:cs typeface="Times New Roman"/>
            </a:endParaRPr>
          </a:p>
          <a:p>
            <a:pPr marL="650875">
              <a:lnSpc>
                <a:spcPct val="100000"/>
              </a:lnSpc>
              <a:spcBef>
                <a:spcPts val="1405"/>
              </a:spcBef>
            </a:pPr>
            <a:r>
              <a:rPr sz="2400" b="1" spc="-50" dirty="0"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2400">
              <a:latin typeface="Times New Roman"/>
              <a:cs typeface="Times New Roman"/>
            </a:endParaRPr>
          </a:p>
          <a:p>
            <a:pPr marL="330835">
              <a:lnSpc>
                <a:spcPct val="100000"/>
              </a:lnSpc>
            </a:pPr>
            <a:r>
              <a:rPr sz="2400" b="1" dirty="0">
                <a:latin typeface="Times New Roman"/>
                <a:cs typeface="Times New Roman"/>
              </a:rPr>
              <a:t>return</a:t>
            </a:r>
            <a:r>
              <a:rPr sz="2400" b="1" spc="130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latin typeface="Times New Roman"/>
                <a:cs typeface="Times New Roman"/>
              </a:rPr>
              <a:t>0;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05"/>
              </a:spcBef>
            </a:pPr>
            <a:r>
              <a:rPr sz="2400" b="1" spc="-50" dirty="0"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178030" y="9154464"/>
            <a:ext cx="39624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i="1" spc="-95" dirty="0">
                <a:solidFill>
                  <a:srgbClr val="585858"/>
                </a:solidFill>
                <a:latin typeface="Verdana"/>
                <a:cs typeface="Verdana"/>
              </a:rPr>
              <a:t>100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94097" y="13208"/>
            <a:ext cx="381063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10" dirty="0">
                <a:latin typeface="Times New Roman"/>
                <a:cs typeface="Times New Roman"/>
              </a:rPr>
              <a:t>REFERENCES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4538" y="454414"/>
            <a:ext cx="12558395" cy="8633460"/>
          </a:xfrm>
          <a:prstGeom prst="rect">
            <a:avLst/>
          </a:prstGeom>
        </p:spPr>
        <p:txBody>
          <a:bodyPr vert="horz" wrap="square" lIns="0" tIns="191135" rIns="0" bIns="0" rtlCol="0">
            <a:spAutoFit/>
          </a:bodyPr>
          <a:lstStyle/>
          <a:p>
            <a:pPr marL="527685" indent="-514984">
              <a:lnSpc>
                <a:spcPct val="100000"/>
              </a:lnSpc>
              <a:spcBef>
                <a:spcPts val="1505"/>
              </a:spcBef>
              <a:buClr>
                <a:srgbClr val="5C5C5C"/>
              </a:buClr>
              <a:buAutoNum type="arabicPeriod"/>
              <a:tabLst>
                <a:tab pos="527685" algn="l"/>
              </a:tabLst>
            </a:pPr>
            <a:r>
              <a:rPr sz="2800" i="1" u="sng" dirty="0">
                <a:solidFill>
                  <a:srgbClr val="3399FF"/>
                </a:solidFill>
                <a:uFill>
                  <a:solidFill>
                    <a:srgbClr val="3399FF"/>
                  </a:solidFill>
                </a:uFill>
                <a:latin typeface="Arial"/>
                <a:cs typeface="Arial"/>
                <a:hlinkClick r:id="rId2"/>
              </a:rPr>
              <a:t>https://dotnettutorials.net/lesson/array-abstract-data-type-in-</a:t>
            </a:r>
            <a:r>
              <a:rPr sz="2800" i="1" u="sng" spc="-25" dirty="0">
                <a:solidFill>
                  <a:srgbClr val="3399FF"/>
                </a:solidFill>
                <a:uFill>
                  <a:solidFill>
                    <a:srgbClr val="3399FF"/>
                  </a:solidFill>
                </a:uFill>
                <a:latin typeface="Arial"/>
                <a:cs typeface="Arial"/>
                <a:hlinkClick r:id="rId2"/>
              </a:rPr>
              <a:t>c/</a:t>
            </a:r>
            <a:endParaRPr sz="2800">
              <a:latin typeface="Arial"/>
              <a:cs typeface="Arial"/>
            </a:endParaRPr>
          </a:p>
          <a:p>
            <a:pPr marL="527685" indent="-514984">
              <a:lnSpc>
                <a:spcPct val="100000"/>
              </a:lnSpc>
              <a:spcBef>
                <a:spcPts val="1405"/>
              </a:spcBef>
              <a:buClr>
                <a:srgbClr val="5C5C5C"/>
              </a:buClr>
              <a:buAutoNum type="arabicPeriod"/>
              <a:tabLst>
                <a:tab pos="527685" algn="l"/>
              </a:tabLst>
            </a:pPr>
            <a:r>
              <a:rPr sz="2800" i="1" u="sng" dirty="0">
                <a:solidFill>
                  <a:srgbClr val="3399FF"/>
                </a:solidFill>
                <a:uFill>
                  <a:solidFill>
                    <a:srgbClr val="3399FF"/>
                  </a:solidFill>
                </a:uFill>
                <a:latin typeface="Arial"/>
                <a:cs typeface="Arial"/>
                <a:hlinkClick r:id="rId3"/>
              </a:rPr>
              <a:t>https://www.tutorialspoint.com/adt-array-representation-in-data-</a:t>
            </a:r>
            <a:r>
              <a:rPr sz="2800" i="1" u="sng" spc="-10" dirty="0">
                <a:solidFill>
                  <a:srgbClr val="3399FF"/>
                </a:solidFill>
                <a:uFill>
                  <a:solidFill>
                    <a:srgbClr val="3399FF"/>
                  </a:solidFill>
                </a:uFill>
                <a:latin typeface="Arial"/>
                <a:cs typeface="Arial"/>
                <a:hlinkClick r:id="rId3"/>
              </a:rPr>
              <a:t>structure</a:t>
            </a:r>
            <a:endParaRPr sz="2800">
              <a:latin typeface="Arial"/>
              <a:cs typeface="Arial"/>
            </a:endParaRPr>
          </a:p>
          <a:p>
            <a:pPr marL="527685" marR="920750" indent="-515620">
              <a:lnSpc>
                <a:spcPct val="100000"/>
              </a:lnSpc>
              <a:spcBef>
                <a:spcPts val="1390"/>
              </a:spcBef>
              <a:buClr>
                <a:srgbClr val="5C5C5C"/>
              </a:buClr>
              <a:buAutoNum type="arabicPeriod"/>
              <a:tabLst>
                <a:tab pos="527685" algn="l"/>
              </a:tabLst>
            </a:pPr>
            <a:r>
              <a:rPr sz="2800" i="1" u="sng" dirty="0">
                <a:solidFill>
                  <a:srgbClr val="3399FF"/>
                </a:solidFill>
                <a:uFill>
                  <a:solidFill>
                    <a:srgbClr val="3399FF"/>
                  </a:solidFill>
                </a:uFill>
                <a:latin typeface="Arial"/>
                <a:cs typeface="Arial"/>
                <a:hlinkClick r:id="rId4"/>
              </a:rPr>
              <a:t>https://www.codingninjas.com/studio/library/c-program-to-merge-</a:t>
            </a:r>
            <a:r>
              <a:rPr sz="2800" i="1" u="sng" spc="-20" dirty="0">
                <a:solidFill>
                  <a:srgbClr val="3399FF"/>
                </a:solidFill>
                <a:uFill>
                  <a:solidFill>
                    <a:srgbClr val="3399FF"/>
                  </a:solidFill>
                </a:uFill>
                <a:latin typeface="Arial"/>
                <a:cs typeface="Arial"/>
                <a:hlinkClick r:id="rId4"/>
              </a:rPr>
              <a:t>two-</a:t>
            </a:r>
            <a:r>
              <a:rPr sz="2800" i="1" spc="-20" dirty="0">
                <a:solidFill>
                  <a:srgbClr val="3399FF"/>
                </a:solidFill>
                <a:latin typeface="Arial"/>
                <a:cs typeface="Arial"/>
              </a:rPr>
              <a:t> </a:t>
            </a:r>
            <a:r>
              <a:rPr sz="2800" i="1" u="sng" dirty="0">
                <a:solidFill>
                  <a:srgbClr val="3399FF"/>
                </a:solidFill>
                <a:uFill>
                  <a:solidFill>
                    <a:srgbClr val="3399FF"/>
                  </a:solidFill>
                </a:uFill>
                <a:latin typeface="Arial"/>
                <a:cs typeface="Arial"/>
                <a:hlinkClick r:id="rId4"/>
              </a:rPr>
              <a:t>sorted-array-in-ascending-</a:t>
            </a:r>
            <a:r>
              <a:rPr sz="2800" i="1" u="sng" spc="-10" dirty="0">
                <a:solidFill>
                  <a:srgbClr val="3399FF"/>
                </a:solidFill>
                <a:uFill>
                  <a:solidFill>
                    <a:srgbClr val="3399FF"/>
                  </a:solidFill>
                </a:uFill>
                <a:latin typeface="Arial"/>
                <a:cs typeface="Arial"/>
                <a:hlinkClick r:id="rId4"/>
              </a:rPr>
              <a:t>order</a:t>
            </a:r>
            <a:endParaRPr sz="2800">
              <a:latin typeface="Arial"/>
              <a:cs typeface="Arial"/>
            </a:endParaRPr>
          </a:p>
          <a:p>
            <a:pPr marL="527685" indent="-514984">
              <a:lnSpc>
                <a:spcPct val="100000"/>
              </a:lnSpc>
              <a:spcBef>
                <a:spcPts val="1410"/>
              </a:spcBef>
              <a:buClr>
                <a:srgbClr val="5C5C5C"/>
              </a:buClr>
              <a:buAutoNum type="arabicPeriod"/>
              <a:tabLst>
                <a:tab pos="527685" algn="l"/>
              </a:tabLst>
            </a:pPr>
            <a:r>
              <a:rPr sz="2800" i="1" u="sng" dirty="0">
                <a:solidFill>
                  <a:srgbClr val="3399FF"/>
                </a:solidFill>
                <a:uFill>
                  <a:solidFill>
                    <a:srgbClr val="3399FF"/>
                  </a:solidFill>
                </a:uFill>
                <a:latin typeface="Arial"/>
                <a:cs typeface="Arial"/>
                <a:hlinkClick r:id="rId5"/>
              </a:rPr>
              <a:t>https://quescol.com/interview-preparation/merge-two-arrays-</a:t>
            </a:r>
            <a:r>
              <a:rPr sz="2800" i="1" u="sng" spc="-10" dirty="0">
                <a:solidFill>
                  <a:srgbClr val="3399FF"/>
                </a:solidFill>
                <a:uFill>
                  <a:solidFill>
                    <a:srgbClr val="3399FF"/>
                  </a:solidFill>
                </a:uFill>
                <a:latin typeface="Arial"/>
                <a:cs typeface="Arial"/>
                <a:hlinkClick r:id="rId5"/>
              </a:rPr>
              <a:t>python</a:t>
            </a:r>
            <a:endParaRPr sz="2800">
              <a:latin typeface="Arial"/>
              <a:cs typeface="Arial"/>
            </a:endParaRPr>
          </a:p>
          <a:p>
            <a:pPr marL="527685" indent="-514984">
              <a:lnSpc>
                <a:spcPct val="100000"/>
              </a:lnSpc>
              <a:spcBef>
                <a:spcPts val="1405"/>
              </a:spcBef>
              <a:buClr>
                <a:srgbClr val="5C5C5C"/>
              </a:buClr>
              <a:buAutoNum type="arabicPeriod"/>
              <a:tabLst>
                <a:tab pos="527685" algn="l"/>
              </a:tabLst>
            </a:pPr>
            <a:r>
              <a:rPr sz="2800" i="1" u="sng" dirty="0">
                <a:solidFill>
                  <a:srgbClr val="3399FF"/>
                </a:solidFill>
                <a:uFill>
                  <a:solidFill>
                    <a:srgbClr val="3399FF"/>
                  </a:solidFill>
                </a:uFill>
                <a:latin typeface="Arial"/>
                <a:cs typeface="Arial"/>
                <a:hlinkClick r:id="rId6"/>
              </a:rPr>
              <a:t>https://www.faceprep.in/data-structures/introduction-to-</a:t>
            </a:r>
            <a:r>
              <a:rPr sz="2800" i="1" u="sng" spc="-10" dirty="0">
                <a:solidFill>
                  <a:srgbClr val="3399FF"/>
                </a:solidFill>
                <a:uFill>
                  <a:solidFill>
                    <a:srgbClr val="3399FF"/>
                  </a:solidFill>
                </a:uFill>
                <a:latin typeface="Arial"/>
                <a:cs typeface="Arial"/>
                <a:hlinkClick r:id="rId6"/>
              </a:rPr>
              <a:t>arrays/</a:t>
            </a:r>
            <a:endParaRPr sz="2800">
              <a:latin typeface="Arial"/>
              <a:cs typeface="Arial"/>
            </a:endParaRPr>
          </a:p>
          <a:p>
            <a:pPr marL="527685" marR="26034" indent="-515620">
              <a:lnSpc>
                <a:spcPct val="100000"/>
              </a:lnSpc>
              <a:spcBef>
                <a:spcPts val="1390"/>
              </a:spcBef>
              <a:buClr>
                <a:srgbClr val="5C5C5C"/>
              </a:buClr>
              <a:buAutoNum type="arabicPeriod"/>
              <a:tabLst>
                <a:tab pos="527685" algn="l"/>
              </a:tabLst>
            </a:pPr>
            <a:r>
              <a:rPr sz="2800" i="1" u="sng" dirty="0">
                <a:solidFill>
                  <a:srgbClr val="3399FF"/>
                </a:solidFill>
                <a:uFill>
                  <a:solidFill>
                    <a:srgbClr val="3399FF"/>
                  </a:solidFill>
                </a:uFill>
                <a:latin typeface="Arial"/>
                <a:cs typeface="Arial"/>
                <a:hlinkClick r:id="rId7"/>
              </a:rPr>
              <a:t>https://www.geeksforgeeks.org/calculation-of-address-of-element-of-1-d-</a:t>
            </a:r>
            <a:r>
              <a:rPr sz="2800" i="1" u="sng" spc="-25" dirty="0">
                <a:solidFill>
                  <a:srgbClr val="3399FF"/>
                </a:solidFill>
                <a:uFill>
                  <a:solidFill>
                    <a:srgbClr val="3399FF"/>
                  </a:solidFill>
                </a:uFill>
                <a:latin typeface="Arial"/>
                <a:cs typeface="Arial"/>
                <a:hlinkClick r:id="rId7"/>
              </a:rPr>
              <a:t>2-</a:t>
            </a:r>
            <a:r>
              <a:rPr sz="2800" i="1" spc="-25" dirty="0">
                <a:solidFill>
                  <a:srgbClr val="3399FF"/>
                </a:solidFill>
                <a:latin typeface="Arial"/>
                <a:cs typeface="Arial"/>
              </a:rPr>
              <a:t> </a:t>
            </a:r>
            <a:r>
              <a:rPr sz="2800" i="1" u="sng" dirty="0">
                <a:solidFill>
                  <a:srgbClr val="3399FF"/>
                </a:solidFill>
                <a:uFill>
                  <a:solidFill>
                    <a:srgbClr val="3399FF"/>
                  </a:solidFill>
                </a:uFill>
                <a:latin typeface="Arial"/>
                <a:cs typeface="Arial"/>
                <a:hlinkClick r:id="rId7"/>
              </a:rPr>
              <a:t>d-and-3-d-using-row-major-and-column-major-</a:t>
            </a:r>
            <a:r>
              <a:rPr sz="2800" i="1" u="sng" spc="-10" dirty="0">
                <a:solidFill>
                  <a:srgbClr val="3399FF"/>
                </a:solidFill>
                <a:uFill>
                  <a:solidFill>
                    <a:srgbClr val="3399FF"/>
                  </a:solidFill>
                </a:uFill>
                <a:latin typeface="Arial"/>
                <a:cs typeface="Arial"/>
                <a:hlinkClick r:id="rId7"/>
              </a:rPr>
              <a:t>order/</a:t>
            </a:r>
            <a:endParaRPr sz="2800">
              <a:latin typeface="Arial"/>
              <a:cs typeface="Arial"/>
            </a:endParaRPr>
          </a:p>
          <a:p>
            <a:pPr marL="527685" marR="5080" indent="-515620">
              <a:lnSpc>
                <a:spcPct val="100000"/>
              </a:lnSpc>
              <a:spcBef>
                <a:spcPts val="1405"/>
              </a:spcBef>
              <a:buClr>
                <a:srgbClr val="5C5C5C"/>
              </a:buClr>
              <a:buAutoNum type="arabicPeriod"/>
              <a:tabLst>
                <a:tab pos="527685" algn="l"/>
              </a:tabLst>
            </a:pPr>
            <a:r>
              <a:rPr sz="2800" i="1" u="sng" spc="15" dirty="0">
                <a:solidFill>
                  <a:srgbClr val="3399FF"/>
                </a:solidFill>
                <a:uFill>
                  <a:solidFill>
                    <a:srgbClr val="3399FF"/>
                  </a:solidFill>
                </a:uFill>
                <a:latin typeface="Arial"/>
                <a:cs typeface="Arial"/>
                <a:hlinkClick r:id="rId8"/>
              </a:rPr>
              <a:t>https://www.w3schools.in/data-structures/polynomials-using-linked-list-</a:t>
            </a:r>
            <a:r>
              <a:rPr sz="2800" i="1" spc="-10" dirty="0">
                <a:solidFill>
                  <a:srgbClr val="3399FF"/>
                </a:solidFill>
                <a:latin typeface="Arial"/>
                <a:cs typeface="Arial"/>
              </a:rPr>
              <a:t> </a:t>
            </a:r>
            <a:r>
              <a:rPr sz="2800" i="1" u="sng" spc="5" dirty="0">
                <a:solidFill>
                  <a:srgbClr val="3399FF"/>
                </a:solidFill>
                <a:uFill>
                  <a:solidFill>
                    <a:srgbClr val="3399FF"/>
                  </a:solidFill>
                </a:uFill>
                <a:latin typeface="Arial"/>
                <a:cs typeface="Arial"/>
                <a:hlinkClick r:id="rId8"/>
              </a:rPr>
              <a:t>and-</a:t>
            </a:r>
            <a:r>
              <a:rPr sz="2800" i="1" spc="-10" dirty="0">
                <a:solidFill>
                  <a:srgbClr val="3399FF"/>
                </a:solidFill>
                <a:latin typeface="Arial"/>
                <a:cs typeface="Arial"/>
              </a:rPr>
              <a:t> </a:t>
            </a:r>
            <a:r>
              <a:rPr sz="2800" i="1" u="sng" spc="15" dirty="0">
                <a:solidFill>
                  <a:srgbClr val="3399FF"/>
                </a:solidFill>
                <a:uFill>
                  <a:solidFill>
                    <a:srgbClr val="3399FF"/>
                  </a:solidFill>
                </a:uFill>
                <a:latin typeface="Arial"/>
                <a:cs typeface="Arial"/>
                <a:hlinkClick r:id="rId8"/>
              </a:rPr>
              <a:t>arrays#:~:text=Representation%20of%20Polynomials%20Using%20Arrays</a:t>
            </a:r>
            <a:r>
              <a:rPr sz="2800" i="1" spc="-10" dirty="0">
                <a:solidFill>
                  <a:srgbClr val="3399FF"/>
                </a:solidFill>
                <a:latin typeface="Arial"/>
                <a:cs typeface="Arial"/>
              </a:rPr>
              <a:t> </a:t>
            </a:r>
            <a:r>
              <a:rPr sz="2800" i="1" u="sng" spc="10" dirty="0">
                <a:solidFill>
                  <a:srgbClr val="3399FF"/>
                </a:solidFill>
                <a:uFill>
                  <a:solidFill>
                    <a:srgbClr val="3399FF"/>
                  </a:solidFill>
                </a:uFill>
                <a:latin typeface="Arial"/>
                <a:cs typeface="Arial"/>
                <a:hlinkClick r:id="rId8"/>
              </a:rPr>
              <a:t>&amp;text=The%20simple%20way%20is%20to,Exponent</a:t>
            </a:r>
            <a:endParaRPr sz="2800">
              <a:latin typeface="Arial"/>
              <a:cs typeface="Arial"/>
            </a:endParaRPr>
          </a:p>
          <a:p>
            <a:pPr marL="527685" marR="2969260" indent="-515620">
              <a:lnSpc>
                <a:spcPct val="100000"/>
              </a:lnSpc>
              <a:spcBef>
                <a:spcPts val="1410"/>
              </a:spcBef>
              <a:buClr>
                <a:srgbClr val="5C5C5C"/>
              </a:buClr>
              <a:buAutoNum type="arabicPeriod"/>
              <a:tabLst>
                <a:tab pos="527685" algn="l"/>
              </a:tabLst>
            </a:pPr>
            <a:r>
              <a:rPr sz="2800" i="1" u="sng" spc="-10" dirty="0">
                <a:solidFill>
                  <a:srgbClr val="3399FF"/>
                </a:solidFill>
                <a:uFill>
                  <a:solidFill>
                    <a:srgbClr val="3399FF"/>
                  </a:solidFill>
                </a:uFill>
                <a:latin typeface="Arial"/>
                <a:cs typeface="Arial"/>
                <a:hlinkClick r:id="rId9"/>
              </a:rPr>
              <a:t>https://www.bartleby.com/subject/engineering/computer-</a:t>
            </a:r>
            <a:r>
              <a:rPr sz="2800" i="1" spc="700" dirty="0">
                <a:solidFill>
                  <a:srgbClr val="3399FF"/>
                </a:solidFill>
                <a:latin typeface="Arial"/>
                <a:cs typeface="Arial"/>
              </a:rPr>
              <a:t> </a:t>
            </a:r>
            <a:r>
              <a:rPr sz="2800" i="1" u="sng" dirty="0">
                <a:solidFill>
                  <a:srgbClr val="3399FF"/>
                </a:solidFill>
                <a:uFill>
                  <a:solidFill>
                    <a:srgbClr val="3399FF"/>
                  </a:solidFill>
                </a:uFill>
                <a:latin typeface="Arial"/>
                <a:cs typeface="Arial"/>
                <a:hlinkClick r:id="rId9"/>
              </a:rPr>
              <a:t>science/concepts/representation-of-</a:t>
            </a:r>
            <a:r>
              <a:rPr sz="2800" i="1" u="sng" spc="-10" dirty="0">
                <a:solidFill>
                  <a:srgbClr val="3399FF"/>
                </a:solidFill>
                <a:uFill>
                  <a:solidFill>
                    <a:srgbClr val="3399FF"/>
                  </a:solidFill>
                </a:uFill>
                <a:latin typeface="Arial"/>
                <a:cs typeface="Arial"/>
                <a:hlinkClick r:id="rId9"/>
              </a:rPr>
              <a:t>polynomial</a:t>
            </a:r>
            <a:endParaRPr sz="2800">
              <a:latin typeface="Arial"/>
              <a:cs typeface="Arial"/>
            </a:endParaRPr>
          </a:p>
          <a:p>
            <a:pPr marL="527685" indent="-514984">
              <a:lnSpc>
                <a:spcPct val="100000"/>
              </a:lnSpc>
              <a:spcBef>
                <a:spcPts val="1390"/>
              </a:spcBef>
              <a:buClr>
                <a:srgbClr val="5C5C5C"/>
              </a:buClr>
              <a:buAutoNum type="arabicPeriod"/>
              <a:tabLst>
                <a:tab pos="527685" algn="l"/>
              </a:tabLst>
            </a:pPr>
            <a:r>
              <a:rPr sz="2800" i="1" u="sng" dirty="0">
                <a:solidFill>
                  <a:srgbClr val="3399FF"/>
                </a:solidFill>
                <a:uFill>
                  <a:solidFill>
                    <a:srgbClr val="3399FF"/>
                  </a:solidFill>
                </a:uFill>
                <a:latin typeface="Arial"/>
                <a:cs typeface="Arial"/>
                <a:hlinkClick r:id="rId10"/>
              </a:rPr>
              <a:t>https://www.geeksforgeeks.org/sparse-matrix-</a:t>
            </a:r>
            <a:r>
              <a:rPr sz="2800" i="1" u="sng" spc="-10" dirty="0">
                <a:solidFill>
                  <a:srgbClr val="3399FF"/>
                </a:solidFill>
                <a:uFill>
                  <a:solidFill>
                    <a:srgbClr val="3399FF"/>
                  </a:solidFill>
                </a:uFill>
                <a:latin typeface="Arial"/>
                <a:cs typeface="Arial"/>
                <a:hlinkClick r:id="rId10"/>
              </a:rPr>
              <a:t>representation/</a:t>
            </a:r>
            <a:endParaRPr sz="2800">
              <a:latin typeface="Arial"/>
              <a:cs typeface="Arial"/>
            </a:endParaRPr>
          </a:p>
          <a:p>
            <a:pPr marL="527050" indent="-514350">
              <a:lnSpc>
                <a:spcPct val="100000"/>
              </a:lnSpc>
              <a:spcBef>
                <a:spcPts val="1405"/>
              </a:spcBef>
              <a:buClr>
                <a:srgbClr val="5C5C5C"/>
              </a:buClr>
              <a:buAutoNum type="arabicPeriod"/>
              <a:tabLst>
                <a:tab pos="527050" algn="l"/>
              </a:tabLst>
            </a:pPr>
            <a:r>
              <a:rPr sz="2800" i="1" u="sng" dirty="0">
                <a:solidFill>
                  <a:srgbClr val="3399FF"/>
                </a:solidFill>
                <a:uFill>
                  <a:solidFill>
                    <a:srgbClr val="3399FF"/>
                  </a:solidFill>
                </a:uFill>
                <a:latin typeface="Arial"/>
                <a:cs typeface="Arial"/>
                <a:hlinkClick r:id="rId11"/>
              </a:rPr>
              <a:t>https://byjus.com/maths/transpose-of-a-</a:t>
            </a:r>
            <a:r>
              <a:rPr sz="2800" i="1" u="sng" spc="-10" dirty="0">
                <a:solidFill>
                  <a:srgbClr val="3399FF"/>
                </a:solidFill>
                <a:uFill>
                  <a:solidFill>
                    <a:srgbClr val="3399FF"/>
                  </a:solidFill>
                </a:uFill>
                <a:latin typeface="Arial"/>
                <a:cs typeface="Arial"/>
                <a:hlinkClick r:id="rId11"/>
              </a:rPr>
              <a:t>matrix/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9138" y="9241028"/>
            <a:ext cx="84950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i="1" spc="15" dirty="0">
                <a:solidFill>
                  <a:srgbClr val="5C5C5C"/>
                </a:solidFill>
                <a:latin typeface="Arial"/>
                <a:cs typeface="Arial"/>
              </a:rPr>
              <a:t>11</a:t>
            </a:r>
            <a:r>
              <a:rPr sz="2800" i="1" spc="90" dirty="0">
                <a:solidFill>
                  <a:srgbClr val="5C5C5C"/>
                </a:solidFill>
                <a:latin typeface="Arial"/>
                <a:cs typeface="Arial"/>
              </a:rPr>
              <a:t>.</a:t>
            </a:r>
            <a:r>
              <a:rPr sz="2800" i="1" spc="-160" dirty="0">
                <a:solidFill>
                  <a:srgbClr val="3399FF"/>
                </a:solidFill>
                <a:latin typeface="Arial"/>
                <a:cs typeface="Arial"/>
                <a:hlinkClick r:id="rId12"/>
              </a:rPr>
              <a:t>h</a:t>
            </a:r>
            <a:r>
              <a:rPr sz="2550" i="1" spc="-1320" baseline="57189" dirty="0">
                <a:solidFill>
                  <a:srgbClr val="585858"/>
                </a:solidFill>
                <a:latin typeface="Verdana"/>
                <a:cs typeface="Verdana"/>
              </a:rPr>
              <a:t>P</a:t>
            </a:r>
            <a:r>
              <a:rPr sz="2800" i="1" spc="10" dirty="0">
                <a:solidFill>
                  <a:srgbClr val="3399FF"/>
                </a:solidFill>
                <a:latin typeface="Arial"/>
                <a:cs typeface="Arial"/>
                <a:hlinkClick r:id="rId12"/>
              </a:rPr>
              <a:t>t</a:t>
            </a:r>
            <a:r>
              <a:rPr sz="2800" i="1" spc="-730" dirty="0">
                <a:solidFill>
                  <a:srgbClr val="3399FF"/>
                </a:solidFill>
                <a:latin typeface="Arial"/>
                <a:cs typeface="Arial"/>
                <a:hlinkClick r:id="rId12"/>
              </a:rPr>
              <a:t>t</a:t>
            </a:r>
            <a:r>
              <a:rPr sz="2550" i="1" spc="-532" baseline="57189" dirty="0">
                <a:solidFill>
                  <a:srgbClr val="585858"/>
                </a:solidFill>
                <a:latin typeface="Verdana"/>
                <a:cs typeface="Verdana"/>
              </a:rPr>
              <a:t>R</a:t>
            </a:r>
            <a:r>
              <a:rPr sz="2800" i="1" spc="-1275" dirty="0">
                <a:solidFill>
                  <a:srgbClr val="3399FF"/>
                </a:solidFill>
                <a:latin typeface="Arial"/>
                <a:cs typeface="Arial"/>
                <a:hlinkClick r:id="rId12"/>
              </a:rPr>
              <a:t>p</a:t>
            </a:r>
            <a:r>
              <a:rPr sz="2550" i="1" spc="-322" baseline="57189" dirty="0">
                <a:solidFill>
                  <a:srgbClr val="585858"/>
                </a:solidFill>
                <a:latin typeface="Verdana"/>
                <a:cs typeface="Verdana"/>
              </a:rPr>
              <a:t>O</a:t>
            </a:r>
            <a:r>
              <a:rPr sz="2800" i="1" spc="-1200" dirty="0">
                <a:solidFill>
                  <a:srgbClr val="3399FF"/>
                </a:solidFill>
                <a:latin typeface="Arial"/>
                <a:cs typeface="Arial"/>
                <a:hlinkClick r:id="rId12"/>
              </a:rPr>
              <a:t>s</a:t>
            </a:r>
            <a:r>
              <a:rPr sz="2550" i="1" spc="7" baseline="57189" dirty="0">
                <a:solidFill>
                  <a:srgbClr val="585858"/>
                </a:solidFill>
                <a:latin typeface="Verdana"/>
                <a:cs typeface="Verdana"/>
              </a:rPr>
              <a:t>F</a:t>
            </a:r>
            <a:r>
              <a:rPr sz="2550" i="1" spc="-270" baseline="57189" dirty="0">
                <a:solidFill>
                  <a:srgbClr val="585858"/>
                </a:solidFill>
                <a:latin typeface="Verdana"/>
                <a:cs typeface="Verdana"/>
              </a:rPr>
              <a:t>.</a:t>
            </a:r>
            <a:r>
              <a:rPr sz="2800" i="1" spc="-125" dirty="0">
                <a:solidFill>
                  <a:srgbClr val="3399FF"/>
                </a:solidFill>
                <a:latin typeface="Arial"/>
                <a:cs typeface="Arial"/>
                <a:hlinkClick r:id="rId12"/>
              </a:rPr>
              <a:t>:</a:t>
            </a:r>
            <a:r>
              <a:rPr sz="2550" i="1" spc="-1597" baseline="57189" dirty="0">
                <a:solidFill>
                  <a:srgbClr val="585858"/>
                </a:solidFill>
                <a:latin typeface="Verdana"/>
                <a:cs typeface="Verdana"/>
              </a:rPr>
              <a:t>A</a:t>
            </a:r>
            <a:r>
              <a:rPr sz="2800" i="1" spc="10" dirty="0">
                <a:solidFill>
                  <a:srgbClr val="3399FF"/>
                </a:solidFill>
                <a:latin typeface="Arial"/>
                <a:cs typeface="Arial"/>
                <a:hlinkClick r:id="rId12"/>
              </a:rPr>
              <a:t>/</a:t>
            </a:r>
            <a:r>
              <a:rPr sz="2800" i="1" spc="-445" dirty="0">
                <a:solidFill>
                  <a:srgbClr val="3399FF"/>
                </a:solidFill>
                <a:latin typeface="Arial"/>
                <a:cs typeface="Arial"/>
                <a:hlinkClick r:id="rId12"/>
              </a:rPr>
              <a:t>/</a:t>
            </a:r>
            <a:r>
              <a:rPr sz="2550" i="1" spc="-1245" baseline="57189" dirty="0">
                <a:solidFill>
                  <a:srgbClr val="585858"/>
                </a:solidFill>
                <a:latin typeface="Verdana"/>
                <a:cs typeface="Verdana"/>
              </a:rPr>
              <a:t>N</a:t>
            </a:r>
            <a:r>
              <a:rPr sz="2800" i="1" spc="-1235" dirty="0">
                <a:solidFill>
                  <a:srgbClr val="3399FF"/>
                </a:solidFill>
                <a:latin typeface="Arial"/>
                <a:cs typeface="Arial"/>
                <a:hlinkClick r:id="rId12"/>
              </a:rPr>
              <a:t>w</a:t>
            </a:r>
            <a:r>
              <a:rPr sz="2550" i="1" spc="-82" baseline="57189" dirty="0">
                <a:solidFill>
                  <a:srgbClr val="585858"/>
                </a:solidFill>
                <a:latin typeface="Verdana"/>
                <a:cs typeface="Verdana"/>
              </a:rPr>
              <a:t>A</a:t>
            </a:r>
            <a:r>
              <a:rPr sz="2800" i="1" spc="-1995" dirty="0">
                <a:solidFill>
                  <a:srgbClr val="3399FF"/>
                </a:solidFill>
                <a:latin typeface="Arial"/>
                <a:cs typeface="Arial"/>
                <a:hlinkClick r:id="rId12"/>
              </a:rPr>
              <a:t>w</a:t>
            </a:r>
            <a:r>
              <a:rPr sz="2550" i="1" spc="7" baseline="57189" dirty="0">
                <a:solidFill>
                  <a:srgbClr val="585858"/>
                </a:solidFill>
                <a:latin typeface="Verdana"/>
                <a:cs typeface="Verdana"/>
              </a:rPr>
              <a:t>N</a:t>
            </a:r>
            <a:r>
              <a:rPr sz="2550" i="1" spc="-914" baseline="57189" dirty="0">
                <a:solidFill>
                  <a:srgbClr val="585858"/>
                </a:solidFill>
                <a:latin typeface="Verdana"/>
                <a:cs typeface="Verdana"/>
              </a:rPr>
              <a:t>D</a:t>
            </a:r>
            <a:r>
              <a:rPr sz="2800" i="1" spc="-930" dirty="0">
                <a:solidFill>
                  <a:srgbClr val="3399FF"/>
                </a:solidFill>
                <a:latin typeface="Arial"/>
                <a:cs typeface="Arial"/>
                <a:hlinkClick r:id="rId12"/>
              </a:rPr>
              <a:t>w</a:t>
            </a:r>
            <a:r>
              <a:rPr sz="2550" i="1" spc="-772" baseline="57189" dirty="0">
                <a:solidFill>
                  <a:srgbClr val="585858"/>
                </a:solidFill>
                <a:latin typeface="Verdana"/>
                <a:cs typeface="Verdana"/>
              </a:rPr>
              <a:t>G</a:t>
            </a:r>
            <a:r>
              <a:rPr sz="2800" i="1" spc="-210" dirty="0">
                <a:solidFill>
                  <a:srgbClr val="3399FF"/>
                </a:solidFill>
                <a:latin typeface="Arial"/>
                <a:cs typeface="Arial"/>
                <a:hlinkClick r:id="rId12"/>
              </a:rPr>
              <a:t>.</a:t>
            </a:r>
            <a:r>
              <a:rPr sz="2550" i="1" spc="-1589" baseline="57189" dirty="0">
                <a:solidFill>
                  <a:srgbClr val="585858"/>
                </a:solidFill>
                <a:latin typeface="Verdana"/>
                <a:cs typeface="Verdana"/>
              </a:rPr>
              <a:t>H</a:t>
            </a:r>
            <a:r>
              <a:rPr sz="2800" i="1" spc="-450" dirty="0">
                <a:solidFill>
                  <a:srgbClr val="3399FF"/>
                </a:solidFill>
                <a:latin typeface="Arial"/>
                <a:cs typeface="Arial"/>
                <a:hlinkClick r:id="rId12"/>
              </a:rPr>
              <a:t>y</a:t>
            </a:r>
            <a:r>
              <a:rPr sz="2550" i="1" spc="-1147" baseline="57189" dirty="0">
                <a:solidFill>
                  <a:srgbClr val="585858"/>
                </a:solidFill>
                <a:latin typeface="Verdana"/>
                <a:cs typeface="Verdana"/>
              </a:rPr>
              <a:t>A</a:t>
            </a:r>
            <a:r>
              <a:rPr sz="2800" i="1" spc="-760" dirty="0">
                <a:solidFill>
                  <a:srgbClr val="3399FF"/>
                </a:solidFill>
                <a:latin typeface="Arial"/>
                <a:cs typeface="Arial"/>
                <a:hlinkClick r:id="rId12"/>
              </a:rPr>
              <a:t>o</a:t>
            </a:r>
            <a:r>
              <a:rPr sz="2550" i="1" spc="-509" baseline="57189" dirty="0">
                <a:solidFill>
                  <a:srgbClr val="585858"/>
                </a:solidFill>
                <a:latin typeface="Verdana"/>
                <a:cs typeface="Verdana"/>
              </a:rPr>
              <a:t>R</a:t>
            </a:r>
            <a:r>
              <a:rPr sz="2800" i="1" spc="-1290" dirty="0">
                <a:solidFill>
                  <a:srgbClr val="3399FF"/>
                </a:solidFill>
                <a:latin typeface="Arial"/>
                <a:cs typeface="Arial"/>
                <a:hlinkClick r:id="rId12"/>
              </a:rPr>
              <a:t>u</a:t>
            </a:r>
            <a:r>
              <a:rPr sz="2550" i="1" spc="-22" baseline="57189" dirty="0">
                <a:solidFill>
                  <a:srgbClr val="585858"/>
                </a:solidFill>
                <a:latin typeface="Verdana"/>
                <a:cs typeface="Verdana"/>
              </a:rPr>
              <a:t>U</a:t>
            </a:r>
            <a:r>
              <a:rPr sz="2550" i="1" spc="-225" baseline="57189" dirty="0">
                <a:solidFill>
                  <a:srgbClr val="585858"/>
                </a:solidFill>
                <a:latin typeface="Verdana"/>
                <a:cs typeface="Verdana"/>
              </a:rPr>
              <a:t> </a:t>
            </a:r>
            <a:r>
              <a:rPr sz="2800" i="1" spc="-10" dirty="0">
                <a:solidFill>
                  <a:srgbClr val="3399FF"/>
                </a:solidFill>
                <a:latin typeface="Arial"/>
                <a:cs typeface="Arial"/>
                <a:hlinkClick r:id="rId12"/>
              </a:rPr>
              <a:t>tube.com/watch?v=zXioPdQXf9A</a:t>
            </a:r>
            <a:endParaRPr sz="28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22452" y="9642347"/>
            <a:ext cx="7908290" cy="18415"/>
          </a:xfrm>
          <a:custGeom>
            <a:avLst/>
            <a:gdLst/>
            <a:ahLst/>
            <a:cxnLst/>
            <a:rect l="l" t="t" r="r" b="b"/>
            <a:pathLst>
              <a:path w="7908290" h="18415">
                <a:moveTo>
                  <a:pt x="7908036" y="0"/>
                </a:moveTo>
                <a:lnTo>
                  <a:pt x="0" y="0"/>
                </a:lnTo>
                <a:lnTo>
                  <a:pt x="0" y="18287"/>
                </a:lnTo>
                <a:lnTo>
                  <a:pt x="7908036" y="18287"/>
                </a:lnTo>
                <a:lnTo>
                  <a:pt x="7908036" y="0"/>
                </a:lnTo>
                <a:close/>
              </a:path>
            </a:pathLst>
          </a:custGeom>
          <a:solidFill>
            <a:srgbClr val="3399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761796" y="1756156"/>
            <a:ext cx="11157585" cy="18694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100" dirty="0">
                <a:solidFill>
                  <a:srgbClr val="00AF50"/>
                </a:solidFill>
              </a:rPr>
              <a:t>THANK</a:t>
            </a:r>
            <a:r>
              <a:rPr sz="12100" spc="-445" dirty="0">
                <a:solidFill>
                  <a:srgbClr val="00AF50"/>
                </a:solidFill>
              </a:rPr>
              <a:t> </a:t>
            </a:r>
            <a:r>
              <a:rPr sz="12100" spc="-10" dirty="0">
                <a:solidFill>
                  <a:srgbClr val="00AF50"/>
                </a:solidFill>
              </a:rPr>
              <a:t>YOU!!!</a:t>
            </a:r>
            <a:endParaRPr sz="12100" dirty="0"/>
          </a:p>
        </p:txBody>
      </p:sp>
      <p:sp>
        <p:nvSpPr>
          <p:cNvPr id="13" name="object 13"/>
          <p:cNvSpPr txBox="1"/>
          <p:nvPr/>
        </p:nvSpPr>
        <p:spPr>
          <a:xfrm>
            <a:off x="12116181" y="8956344"/>
            <a:ext cx="145415" cy="803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i="1" spc="-80" dirty="0">
                <a:solidFill>
                  <a:srgbClr val="585858"/>
                </a:solidFill>
                <a:latin typeface="Verdana"/>
                <a:cs typeface="Verdana"/>
              </a:rPr>
              <a:t>1</a:t>
            </a:r>
            <a:endParaRPr sz="17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700" i="1" spc="-80" dirty="0">
                <a:solidFill>
                  <a:srgbClr val="585858"/>
                </a:solidFill>
                <a:latin typeface="Verdana"/>
                <a:cs typeface="Verdana"/>
              </a:rPr>
              <a:t>0</a:t>
            </a:r>
            <a:endParaRPr sz="17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700" i="1" spc="-80" dirty="0">
                <a:solidFill>
                  <a:srgbClr val="585858"/>
                </a:solidFill>
                <a:latin typeface="Verdana"/>
                <a:cs typeface="Verdana"/>
              </a:rPr>
              <a:t>1</a:t>
            </a:r>
            <a:endParaRPr sz="1700">
              <a:latin typeface="Verdana"/>
              <a:cs typeface="Verdan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-18644" y="0"/>
            <a:ext cx="13039090" cy="9757410"/>
            <a:chOff x="-18644" y="0"/>
            <a:chExt cx="13039090" cy="9757410"/>
          </a:xfrm>
        </p:grpSpPr>
        <p:sp>
          <p:nvSpPr>
            <p:cNvPr id="15" name="object 15"/>
            <p:cNvSpPr/>
            <p:nvPr/>
          </p:nvSpPr>
          <p:spPr>
            <a:xfrm>
              <a:off x="19455" y="0"/>
              <a:ext cx="12985115" cy="65405"/>
            </a:xfrm>
            <a:custGeom>
              <a:avLst/>
              <a:gdLst/>
              <a:ahLst/>
              <a:cxnLst/>
              <a:rect l="l" t="t" r="r" b="b"/>
              <a:pathLst>
                <a:path w="12985115" h="65405">
                  <a:moveTo>
                    <a:pt x="0" y="0"/>
                  </a:moveTo>
                  <a:lnTo>
                    <a:pt x="0" y="65277"/>
                  </a:lnTo>
                  <a:lnTo>
                    <a:pt x="12984837" y="65277"/>
                  </a:lnTo>
                  <a:lnTo>
                    <a:pt x="1298483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0" y="27178"/>
              <a:ext cx="13004800" cy="9726930"/>
            </a:xfrm>
            <a:custGeom>
              <a:avLst/>
              <a:gdLst/>
              <a:ahLst/>
              <a:cxnLst/>
              <a:rect l="l" t="t" r="r" b="b"/>
              <a:pathLst>
                <a:path w="13004800" h="9726930">
                  <a:moveTo>
                    <a:pt x="0" y="9691949"/>
                  </a:moveTo>
                  <a:lnTo>
                    <a:pt x="13004800" y="9691949"/>
                  </a:lnTo>
                </a:path>
                <a:path w="13004800" h="9726930">
                  <a:moveTo>
                    <a:pt x="19455" y="0"/>
                  </a:moveTo>
                  <a:lnTo>
                    <a:pt x="19456" y="9691951"/>
                  </a:lnTo>
                </a:path>
                <a:path w="13004800" h="9726930">
                  <a:moveTo>
                    <a:pt x="12982067" y="34417"/>
                  </a:moveTo>
                  <a:lnTo>
                    <a:pt x="12982067" y="9726423"/>
                  </a:lnTo>
                </a:path>
              </a:pathLst>
            </a:custGeom>
            <a:ln w="762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3233</TotalTime>
  <Words>5214</Words>
  <Application>Microsoft Office PowerPoint</Application>
  <PresentationFormat>Custom</PresentationFormat>
  <Paragraphs>985</Paragraphs>
  <Slides>101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101</vt:i4>
      </vt:variant>
    </vt:vector>
  </HeadingPairs>
  <TitlesOfParts>
    <vt:vector size="112" baseType="lpstr">
      <vt:lpstr>Arial</vt:lpstr>
      <vt:lpstr>Arial MT</vt:lpstr>
      <vt:lpstr>Calibri</vt:lpstr>
      <vt:lpstr>Constantia</vt:lpstr>
      <vt:lpstr>Courier New</vt:lpstr>
      <vt:lpstr>Palatino Linotype</vt:lpstr>
      <vt:lpstr>Tahoma</vt:lpstr>
      <vt:lpstr>Times New Roman</vt:lpstr>
      <vt:lpstr>Verdana</vt:lpstr>
      <vt:lpstr>Wingdings</vt:lpstr>
      <vt:lpstr>Office Theme</vt:lpstr>
      <vt:lpstr>“Linear Data Structure using Squential Organization”</vt:lpstr>
      <vt:lpstr>SYLLABUS</vt:lpstr>
      <vt:lpstr>SEQUENTIAL ORGANIZATION</vt:lpstr>
      <vt:lpstr>Linear Data Structure Using Sequential Organization</vt:lpstr>
      <vt:lpstr>Sequential Organization</vt:lpstr>
      <vt:lpstr>Advantages of Sequential Organization</vt:lpstr>
      <vt:lpstr>Disadvantages of Sequential Organization</vt:lpstr>
      <vt:lpstr>Array</vt:lpstr>
      <vt:lpstr>Array</vt:lpstr>
      <vt:lpstr>Array</vt:lpstr>
      <vt:lpstr>Introduction to arrays</vt:lpstr>
      <vt:lpstr>Characteristics of array</vt:lpstr>
      <vt:lpstr>Advantage of Array Data Structure</vt:lpstr>
      <vt:lpstr>Advantage of Array Data Structure</vt:lpstr>
      <vt:lpstr>Applications of Arrays</vt:lpstr>
      <vt:lpstr>Applications of Arrays</vt:lpstr>
      <vt:lpstr>Abstract Data Type as an Array</vt:lpstr>
      <vt:lpstr>Abstract Data Type as an Array</vt:lpstr>
      <vt:lpstr>Abstract Data Type as an Array</vt:lpstr>
      <vt:lpstr>OPERATION OF ARRAY</vt:lpstr>
      <vt:lpstr>MERGING OF TWO ARRAY</vt:lpstr>
      <vt:lpstr>MERGING OF TWO ARRAY</vt:lpstr>
      <vt:lpstr>MERGING OF TWO ARRAY</vt:lpstr>
      <vt:lpstr>Reverse Array in Python</vt:lpstr>
      <vt:lpstr>Count key using Array in Python</vt:lpstr>
      <vt:lpstr>Ex-Arrays</vt:lpstr>
      <vt:lpstr>Output will be</vt:lpstr>
      <vt:lpstr>Copy operation</vt:lpstr>
      <vt:lpstr>Output</vt:lpstr>
      <vt:lpstr>Delete operation</vt:lpstr>
      <vt:lpstr>Delete operation</vt:lpstr>
      <vt:lpstr>Inserting an element</vt:lpstr>
      <vt:lpstr>Inserting an element</vt:lpstr>
      <vt:lpstr>Sort an array</vt:lpstr>
      <vt:lpstr>Reverse array in C #include &lt;stdio.h&gt;</vt:lpstr>
      <vt:lpstr>Sort element using array</vt:lpstr>
      <vt:lpstr>Storage Representation of Array</vt:lpstr>
      <vt:lpstr>Storage Representation of Array</vt:lpstr>
      <vt:lpstr>Storage Representation of Array</vt:lpstr>
      <vt:lpstr>1-D &amp; 2-D dimensional Arrays Syntax</vt:lpstr>
      <vt:lpstr>Storage Representation of Array</vt:lpstr>
      <vt:lpstr>m-no of rows n-no of columns</vt:lpstr>
      <vt:lpstr>for(i=0;i&lt;m;i++)</vt:lpstr>
      <vt:lpstr>1-D ADDRESS CALCULATION</vt:lpstr>
      <vt:lpstr>1-D ADDRESS CALCULATION</vt:lpstr>
      <vt:lpstr>1-D ADDRESS CALCULATION</vt:lpstr>
      <vt:lpstr>Memory Representation and Calculation</vt:lpstr>
      <vt:lpstr>ADDRESS CALCULATION</vt:lpstr>
      <vt:lpstr>2-D ADDRESS CALCULATION</vt:lpstr>
      <vt:lpstr>Row major &amp; Col major Representation</vt:lpstr>
      <vt:lpstr>Row-major representation</vt:lpstr>
      <vt:lpstr>CONCEPT OF ORDERED LIST</vt:lpstr>
      <vt:lpstr>PowerPoint Presentation</vt:lpstr>
      <vt:lpstr>SINGLE VARIABLE POLYNOMIAL</vt:lpstr>
      <vt:lpstr>SINGLE VARIABLE POLYNOMIAL</vt:lpstr>
      <vt:lpstr>Polynomial Addition using Array</vt:lpstr>
      <vt:lpstr>Single Variable Polynomial</vt:lpstr>
      <vt:lpstr>Polynomial Representation on array</vt:lpstr>
      <vt:lpstr>Polynomial Representaiton</vt:lpstr>
      <vt:lpstr>PowerPoint Presentation</vt:lpstr>
      <vt:lpstr>Polynomial by using Array</vt:lpstr>
      <vt:lpstr>Polynomial by using Array</vt:lpstr>
      <vt:lpstr>Polynomial by using structure</vt:lpstr>
      <vt:lpstr>Addition of Two Polynomial Given two polynomials represented by two arrays, write a function that adds given two polynomials.</vt:lpstr>
      <vt:lpstr>Addition of Two Polynomial</vt:lpstr>
      <vt:lpstr>Substraction of Two Polynomial</vt:lpstr>
      <vt:lpstr>SPARSE MATRIX</vt:lpstr>
      <vt:lpstr>SPARSE MATRIX</vt:lpstr>
      <vt:lpstr>SPARSE MATRIX Array representation Method 1: Using Arrays:</vt:lpstr>
      <vt:lpstr>Sparse Logical Matrix</vt:lpstr>
      <vt:lpstr>Sparse matrix and its representation</vt:lpstr>
      <vt:lpstr>Transpose Of Sparse Matrix</vt:lpstr>
      <vt:lpstr>Transpose Of Sparse Matrix</vt:lpstr>
      <vt:lpstr>Transpose Of Sparse Matrix</vt:lpstr>
      <vt:lpstr>Transpose Of Sparse Matrix</vt:lpstr>
      <vt:lpstr>Time complexity of manual technique is O (mn).</vt:lpstr>
      <vt:lpstr>Sparse matrix transpose</vt:lpstr>
      <vt:lpstr>Simple Sparse matrix transpose</vt:lpstr>
      <vt:lpstr>Python code to transpose of matrix</vt:lpstr>
      <vt:lpstr>Advantages of matrix</vt:lpstr>
      <vt:lpstr>Disadvantages of matrix</vt:lpstr>
      <vt:lpstr>Fast Transpose Of Sparse Matrix</vt:lpstr>
      <vt:lpstr>Fast Transpose Of Sparse Matrix</vt:lpstr>
      <vt:lpstr>Fast Sparse matrix transpose</vt:lpstr>
      <vt:lpstr>Fast Sparse matrix transpose</vt:lpstr>
      <vt:lpstr>String Manipulation Using Array</vt:lpstr>
      <vt:lpstr>PowerPoint Presentation</vt:lpstr>
      <vt:lpstr>PowerPoint Presentation</vt:lpstr>
      <vt:lpstr>Write a program to reverse string.</vt:lpstr>
      <vt:lpstr>/* C++ Program - Concatenate String using inbuilt function */</vt:lpstr>
      <vt:lpstr>/* C++ Program - Concatenate String without using inbuilt function */</vt:lpstr>
      <vt:lpstr>Find length of string without using strlen function #include&lt;iostream&gt; using namespace std; int main()</vt:lpstr>
      <vt:lpstr>/* C++ Program - Compare Two String */</vt:lpstr>
      <vt:lpstr>#include &lt;iostream&gt; #include &lt;string.h&gt; using namespace std; int main()</vt:lpstr>
      <vt:lpstr>SIMPLE TRANSPOSE OF MATRIX IN C++</vt:lpstr>
      <vt:lpstr>MULTIPLICATION OF TWO POLYNOMIAL</vt:lpstr>
      <vt:lpstr>MULTIPLICATION OF TWO POLYNOMIAL</vt:lpstr>
      <vt:lpstr>FIND SIMPLE TRANSPOSE OF MATRIX</vt:lpstr>
      <vt:lpstr>FIND SIMPLE TRANSPOSE OF MATRIX</vt:lpstr>
      <vt:lpstr>REFERENCES</vt:lpstr>
      <vt:lpstr>THANK YOU!!!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Pune vIdyarthi Griha’s College Of Engineering,Nashik  Seminar On  Apple Technology                                       By-Irfan Khatik</dc:title>
  <dc:creator>RENUKANAND</dc:creator>
  <cp:lastModifiedBy>admin</cp:lastModifiedBy>
  <cp:revision>4</cp:revision>
  <dcterms:created xsi:type="dcterms:W3CDTF">2025-07-22T03:55:19Z</dcterms:created>
  <dcterms:modified xsi:type="dcterms:W3CDTF">2025-09-15T06:28:03Z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2023-10-01T00:00:00Z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2025-07-22T00:00:00Z</vt:filetime>
  </property>
  <property fmtid="{D5CDD505-2E9C-101B-9397-08002B2CF9AE}" pid="5" name="Producer">
    <vt:lpwstr>Microsoft® PowerPoint® 2010</vt:lpwstr>
  </property>
</Properties>
</file>